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comments/modernComment_7FFFFF4D_150B129C.xml" ContentType="application/vnd.ms-powerpoint.comment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comments/modernComment_7FFFFF51_46F9569B.xml" ContentType="application/vnd.ms-powerpoint.comment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9.xml" ContentType="application/vnd.openxmlformats-officedocument.themeOverr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comments/modernComment_7FFFFF52_9F04812C.xml" ContentType="application/vnd.ms-powerpoint.comment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0.xml" ContentType="application/vnd.openxmlformats-officedocument.themeOverr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4.xml" ContentType="application/vnd.openxmlformats-officedocument.themeOverr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16.xml" ContentType="application/vnd.openxmlformats-officedocument.drawingml.chart+xml"/>
  <Override PartName="/ppt/theme/themeOverride15.xml" ContentType="application/vnd.openxmlformats-officedocument.themeOverride+xml"/>
  <Override PartName="/ppt/charts/chart17.xml" ContentType="application/vnd.openxmlformats-officedocument.drawingml.chart+xml"/>
  <Override PartName="/ppt/theme/themeOverride16.xml" ContentType="application/vnd.openxmlformats-officedocument.themeOverr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98" r:id="rId5"/>
    <p:sldId id="260" r:id="rId6"/>
    <p:sldId id="2147483477" r:id="rId7"/>
    <p:sldId id="2147483478" r:id="rId8"/>
    <p:sldId id="2147483470" r:id="rId9"/>
    <p:sldId id="2147483471" r:id="rId10"/>
    <p:sldId id="2147483468" r:id="rId11"/>
    <p:sldId id="2147483469" r:id="rId12"/>
    <p:sldId id="2147483466" r:id="rId13"/>
    <p:sldId id="2147483473" r:id="rId14"/>
    <p:sldId id="2147483474" r:id="rId15"/>
    <p:sldId id="2147483472" r:id="rId16"/>
    <p:sldId id="2147483476" r:id="rId1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AE2E61-2A72-57DF-CA82-86DCCEE808CB}" name="Acosta Tapia, Carlos Alberto" initials="CA" userId="S::cacostat@intercorp.com.pe::40a41923-b266-4aa3-ad37-c95215514ec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C"/>
    <a:srgbClr val="00A651"/>
    <a:srgbClr val="2F7C5F"/>
    <a:srgbClr val="EFF7F2"/>
    <a:srgbClr val="6FC38A"/>
    <a:srgbClr val="E9F5EE"/>
    <a:srgbClr val="E4EFE8"/>
    <a:srgbClr val="E0A800"/>
    <a:srgbClr val="00B050"/>
    <a:srgbClr val="FDF6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94" autoAdjust="0"/>
  </p:normalViewPr>
  <p:slideViewPr>
    <p:cSldViewPr snapToGrid="0">
      <p:cViewPr>
        <p:scale>
          <a:sx n="75" d="100"/>
          <a:sy n="75" d="100"/>
        </p:scale>
        <p:origin x="2814" y="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osta Tapia, Carlos Alberto" userId="40a41923-b266-4aa3-ad37-c95215514ec5" providerId="ADAL" clId="{803AD938-9FAC-45B7-914B-385633715FF5}"/>
    <pc:docChg chg="modSld">
      <pc:chgData name="Acosta Tapia, Carlos Alberto" userId="40a41923-b266-4aa3-ad37-c95215514ec5" providerId="ADAL" clId="{803AD938-9FAC-45B7-914B-385633715FF5}" dt="2026-07-13T21:08:07.350" v="0" actId="14100"/>
      <pc:docMkLst>
        <pc:docMk/>
      </pc:docMkLst>
      <pc:sldChg chg="modSp mod">
        <pc:chgData name="Acosta Tapia, Carlos Alberto" userId="40a41923-b266-4aa3-ad37-c95215514ec5" providerId="ADAL" clId="{803AD938-9FAC-45B7-914B-385633715FF5}" dt="2026-07-13T21:08:07.350" v="0" actId="14100"/>
        <pc:sldMkLst>
          <pc:docMk/>
          <pc:sldMk cId="3441831256" sldId="2147483476"/>
        </pc:sldMkLst>
        <pc:graphicFrameChg chg="mod">
          <ac:chgData name="Acosta Tapia, Carlos Alberto" userId="40a41923-b266-4aa3-ad37-c95215514ec5" providerId="ADAL" clId="{803AD938-9FAC-45B7-914B-385633715FF5}" dt="2026-07-13T21:08:07.350" v="0" actId="14100"/>
          <ac:graphicFrameMkLst>
            <pc:docMk/>
            <pc:sldMk cId="3441831256" sldId="2147483476"/>
            <ac:graphicFrameMk id="14" creationId="{00000000-0008-0000-0200-000003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CARLOS\Documents\2026\GDM\Calibraci&#243;n\Comportamental%20PP%20Reenganche\ENTREGA_REE_FINAL\Reportes\resumen_mensual_Reenganche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Users\CARLOS\Documents\2026\GDM\Calibraci&#243;n\Comportamental%20PP%20Reenganche\ENTREGA_REE_FINAL\Reportes\grupos_trimestral_vf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6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7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8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9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Microsoft_Excel_Worksheet10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package" Target="../embeddings/Microsoft_Excel_Worksheet11.xlsx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15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6746666666666667E-2"/>
          <c:y val="4.2777778609463954E-2"/>
          <c:w val="0.92591999999999997"/>
          <c:h val="0.56659076512181339"/>
        </c:manualLayout>
      </c:layout>
      <c:lineChart>
        <c:grouping val="standard"/>
        <c:varyColors val="0"/>
        <c:ser>
          <c:idx val="0"/>
          <c:order val="0"/>
          <c:tx>
            <c:strRef>
              <c:f>GLOBAL!$F$1</c:f>
              <c:strCache>
                <c:ptCount val="1"/>
                <c:pt idx="0">
                  <c:v>RD_12m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002060"/>
              </a:solidFill>
              <a:ln w="9525">
                <a:noFill/>
              </a:ln>
              <a:effectLst/>
            </c:spPr>
          </c:marker>
          <c:cat>
            <c:strRef>
              <c:f>GLOBAL!$A$2:$A$29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GLOBAL!$F$2:$F$29</c:f>
              <c:numCache>
                <c:formatCode>0.00%</c:formatCode>
                <c:ptCount val="28"/>
                <c:pt idx="0">
                  <c:v>3.8783269961977188E-2</c:v>
                </c:pt>
                <c:pt idx="1">
                  <c:v>3.028118240807498E-2</c:v>
                </c:pt>
                <c:pt idx="2">
                  <c:v>3.047091412742382E-2</c:v>
                </c:pt>
                <c:pt idx="3">
                  <c:v>2.763157894736842E-2</c:v>
                </c:pt>
                <c:pt idx="4">
                  <c:v>3.0807660283097421E-2</c:v>
                </c:pt>
                <c:pt idx="5">
                  <c:v>3.059071729957806E-2</c:v>
                </c:pt>
                <c:pt idx="6">
                  <c:v>3.0105777054515871E-2</c:v>
                </c:pt>
                <c:pt idx="7">
                  <c:v>3.4548944337811902E-2</c:v>
                </c:pt>
                <c:pt idx="8">
                  <c:v>4.7433903576982892E-2</c:v>
                </c:pt>
                <c:pt idx="9">
                  <c:v>3.5687732342007443E-2</c:v>
                </c:pt>
                <c:pt idx="10">
                  <c:v>2.9215358931552589E-2</c:v>
                </c:pt>
                <c:pt idx="11">
                  <c:v>4.4926413632842763E-2</c:v>
                </c:pt>
                <c:pt idx="12">
                  <c:v>4.1737168640721939E-2</c:v>
                </c:pt>
                <c:pt idx="13">
                  <c:v>2.647545504688362E-2</c:v>
                </c:pt>
                <c:pt idx="14">
                  <c:v>2.5352112676056339E-2</c:v>
                </c:pt>
                <c:pt idx="15">
                  <c:v>2.321083172147002E-2</c:v>
                </c:pt>
                <c:pt idx="16">
                  <c:v>2.8786840301576421E-2</c:v>
                </c:pt>
                <c:pt idx="17">
                  <c:v>3.0053034767236302E-2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48-4138-8D86-0D6785C29799}"/>
            </c:ext>
          </c:extLst>
        </c:ser>
        <c:ser>
          <c:idx val="1"/>
          <c:order val="1"/>
          <c:tx>
            <c:strRef>
              <c:f>GLOBAL!$I$1</c:f>
              <c:strCache>
                <c:ptCount val="1"/>
                <c:pt idx="0">
                  <c:v>LI</c:v>
                </c:pt>
              </c:strCache>
            </c:strRef>
          </c:tx>
          <c:spPr>
            <a:ln w="22225" cap="rnd">
              <a:solidFill>
                <a:sysClr val="window" lastClr="FFFFFF">
                  <a:lumMod val="65000"/>
                </a:sys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GLOBAL!$A$2:$A$29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GLOBAL!$I$2:$I$29</c:f>
              <c:numCache>
                <c:formatCode>0.00%</c:formatCode>
                <c:ptCount val="28"/>
                <c:pt idx="0">
                  <c:v>0.19057771002313073</c:v>
                </c:pt>
                <c:pt idx="1">
                  <c:v>0.18360560490403888</c:v>
                </c:pt>
                <c:pt idx="2">
                  <c:v>0.19405958143954072</c:v>
                </c:pt>
                <c:pt idx="3">
                  <c:v>0.16952124192370827</c:v>
                </c:pt>
                <c:pt idx="4">
                  <c:v>0.18062398846909958</c:v>
                </c:pt>
                <c:pt idx="5">
                  <c:v>0.18372524810861976</c:v>
                </c:pt>
                <c:pt idx="6">
                  <c:v>0.1829098572928381</c:v>
                </c:pt>
                <c:pt idx="7">
                  <c:v>0.15779065834827513</c:v>
                </c:pt>
                <c:pt idx="8">
                  <c:v>0.17930328233698603</c:v>
                </c:pt>
                <c:pt idx="9">
                  <c:v>0.14505467551046244</c:v>
                </c:pt>
                <c:pt idx="10">
                  <c:v>0.18018342828684217</c:v>
                </c:pt>
                <c:pt idx="11">
                  <c:v>0.19509965004002874</c:v>
                </c:pt>
                <c:pt idx="12">
                  <c:v>0.18068584595286538</c:v>
                </c:pt>
                <c:pt idx="13">
                  <c:v>0.17162338082695844</c:v>
                </c:pt>
                <c:pt idx="14">
                  <c:v>0.17919985965719901</c:v>
                </c:pt>
                <c:pt idx="15">
                  <c:v>0.16646718281841033</c:v>
                </c:pt>
                <c:pt idx="16">
                  <c:v>0.16154963789557847</c:v>
                </c:pt>
                <c:pt idx="17">
                  <c:v>0.16832173490109964</c:v>
                </c:pt>
                <c:pt idx="18">
                  <c:v>0.1740050018044276</c:v>
                </c:pt>
                <c:pt idx="19">
                  <c:v>0.16327999565510776</c:v>
                </c:pt>
                <c:pt idx="20">
                  <c:v>0.17102225609944804</c:v>
                </c:pt>
                <c:pt idx="21">
                  <c:v>0.15794425919832941</c:v>
                </c:pt>
                <c:pt idx="22">
                  <c:v>0.15777973003764689</c:v>
                </c:pt>
                <c:pt idx="23">
                  <c:v>0.16056593302963626</c:v>
                </c:pt>
                <c:pt idx="24">
                  <c:v>0.15471949229641707</c:v>
                </c:pt>
                <c:pt idx="25">
                  <c:v>0.15778960367849942</c:v>
                </c:pt>
                <c:pt idx="26">
                  <c:v>0.1496615231532519</c:v>
                </c:pt>
                <c:pt idx="27">
                  <c:v>0.14741488478573608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D48-4138-8D86-0D6785C29799}"/>
            </c:ext>
          </c:extLst>
        </c:ser>
        <c:ser>
          <c:idx val="2"/>
          <c:order val="2"/>
          <c:tx>
            <c:strRef>
              <c:f>GLOBAL!$J$1</c:f>
              <c:strCache>
                <c:ptCount val="1"/>
                <c:pt idx="0">
                  <c:v>LS</c:v>
                </c:pt>
              </c:strCache>
            </c:strRef>
          </c:tx>
          <c:spPr>
            <a:ln w="22225" cap="rnd">
              <a:solidFill>
                <a:sysClr val="window" lastClr="FFFFFF">
                  <a:lumMod val="65000"/>
                </a:sys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GLOBAL!$A$2:$A$29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GLOBAL!$J$2:$J$29</c:f>
              <c:numCache>
                <c:formatCode>0.00%</c:formatCode>
                <c:ptCount val="28"/>
                <c:pt idx="0">
                  <c:v>0.26025215674666952</c:v>
                </c:pt>
                <c:pt idx="1">
                  <c:v>0.25190458416624872</c:v>
                </c:pt>
                <c:pt idx="2">
                  <c:v>0.26440221159920757</c:v>
                </c:pt>
                <c:pt idx="3">
                  <c:v>0.23488364954753563</c:v>
                </c:pt>
                <c:pt idx="4">
                  <c:v>0.24831919431775196</c:v>
                </c:pt>
                <c:pt idx="5">
                  <c:v>0.25204825859500624</c:v>
                </c:pt>
                <c:pt idx="6">
                  <c:v>0.25106879123976916</c:v>
                </c:pt>
                <c:pt idx="7">
                  <c:v>0.22053773609682251</c:v>
                </c:pt>
                <c:pt idx="8">
                  <c:v>0.24672802055766091</c:v>
                </c:pt>
                <c:pt idx="9">
                  <c:v>0.20477647495603918</c:v>
                </c:pt>
                <c:pt idx="10">
                  <c:v>0.24778861929360102</c:v>
                </c:pt>
                <c:pt idx="11">
                  <c:v>0.26563949108673435</c:v>
                </c:pt>
                <c:pt idx="12">
                  <c:v>0.24839367386291711</c:v>
                </c:pt>
                <c:pt idx="13">
                  <c:v>0.23743787838791727</c:v>
                </c:pt>
                <c:pt idx="14">
                  <c:v>0.2466033389797877</c:v>
                </c:pt>
                <c:pt idx="15">
                  <c:v>0.23116392428967258</c:v>
                </c:pt>
                <c:pt idx="16">
                  <c:v>0.22515214641589462</c:v>
                </c:pt>
                <c:pt idx="17">
                  <c:v>0.23342395396771209</c:v>
                </c:pt>
                <c:pt idx="18">
                  <c:v>0.24032576102709691</c:v>
                </c:pt>
                <c:pt idx="19">
                  <c:v>0.22727071985120159</c:v>
                </c:pt>
                <c:pt idx="20">
                  <c:v>0.23670797837961977</c:v>
                </c:pt>
                <c:pt idx="21">
                  <c:v>0.22072661906668539</c:v>
                </c:pt>
                <c:pt idx="22">
                  <c:v>0.22052429648382316</c:v>
                </c:pt>
                <c:pt idx="23">
                  <c:v>0.22394618569355668</c:v>
                </c:pt>
                <c:pt idx="24">
                  <c:v>0.21675520326160713</c:v>
                </c:pt>
                <c:pt idx="25">
                  <c:v>0.22053643907238504</c:v>
                </c:pt>
                <c:pt idx="26">
                  <c:v>0.21050073304571293</c:v>
                </c:pt>
                <c:pt idx="27">
                  <c:v>0.20771249706663372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D48-4138-8D86-0D6785C29799}"/>
            </c:ext>
          </c:extLst>
        </c:ser>
        <c:ser>
          <c:idx val="10"/>
          <c:order val="3"/>
          <c:tx>
            <c:strRef>
              <c:f>GLOBAL!$R$1</c:f>
              <c:strCache>
                <c:ptCount val="1"/>
                <c:pt idx="0">
                  <c:v>RD_PROY_V1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GLOBAL!$A$2:$A$29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GLOBAL!$R$2:$R$29</c:f>
              <c:numCache>
                <c:formatCode>0.00%</c:formatCode>
                <c:ptCount val="28"/>
                <c:pt idx="18">
                  <c:v>2.9437733983188521E-2</c:v>
                </c:pt>
                <c:pt idx="19">
                  <c:v>3.2960016237919353E-2</c:v>
                </c:pt>
                <c:pt idx="20">
                  <c:v>2.774302620456465E-2</c:v>
                </c:pt>
                <c:pt idx="21">
                  <c:v>3.046419470206908E-2</c:v>
                </c:pt>
                <c:pt idx="22">
                  <c:v>2.7408269007084689E-2</c:v>
                </c:pt>
                <c:pt idx="23">
                  <c:v>3.1607720342898209E-2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D48-4138-8D86-0D6785C29799}"/>
            </c:ext>
          </c:extLst>
        </c:ser>
        <c:ser>
          <c:idx val="12"/>
          <c:order val="4"/>
          <c:tx>
            <c:strRef>
              <c:f>GLOBAL!$V$1</c:f>
              <c:strCache>
                <c:ptCount val="1"/>
                <c:pt idx="0">
                  <c:v>pd</c:v>
                </c:pt>
              </c:strCache>
            </c:strRef>
          </c:tx>
          <c:spPr>
            <a:ln w="25400" cap="rnd">
              <a:solidFill>
                <a:sysClr val="window" lastClr="FFFFFF">
                  <a:lumMod val="65000"/>
                </a:sysClr>
              </a:solidFill>
              <a:round/>
            </a:ln>
            <a:effectLst/>
          </c:spPr>
          <c:marker>
            <c:symbol val="none"/>
          </c:marker>
          <c:cat>
            <c:strRef>
              <c:f>GLOBAL!$A$2:$A$29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GLOBAL!$V$2:$V$29</c:f>
              <c:numCache>
                <c:formatCode>General</c:formatCode>
                <c:ptCount val="28"/>
                <c:pt idx="0">
                  <c:v>0.22444451051099601</c:v>
                </c:pt>
                <c:pt idx="1">
                  <c:v>0.21677137248524281</c:v>
                </c:pt>
                <c:pt idx="2">
                  <c:v>0.22826758135371511</c:v>
                </c:pt>
                <c:pt idx="3">
                  <c:v>0.20119595568607221</c:v>
                </c:pt>
                <c:pt idx="4">
                  <c:v>0.21348257791653341</c:v>
                </c:pt>
                <c:pt idx="5">
                  <c:v>0.21690324868564459</c:v>
                </c:pt>
                <c:pt idx="6">
                  <c:v>0.2160043457634814</c:v>
                </c:pt>
                <c:pt idx="7">
                  <c:v>0.18814338367261721</c:v>
                </c:pt>
                <c:pt idx="8">
                  <c:v>0.21202437260908291</c:v>
                </c:pt>
                <c:pt idx="9">
                  <c:v>0.17388461912061931</c:v>
                </c:pt>
                <c:pt idx="10">
                  <c:v>0.2129962492236416</c:v>
                </c:pt>
                <c:pt idx="11">
                  <c:v>0.22940843668711791</c:v>
                </c:pt>
                <c:pt idx="12">
                  <c:v>0.2135508537248054</c:v>
                </c:pt>
                <c:pt idx="13">
                  <c:v>0.2035271687438637</c:v>
                </c:pt>
                <c:pt idx="14">
                  <c:v>0.21191014514496639</c:v>
                </c:pt>
                <c:pt idx="15">
                  <c:v>0.19780490603297951</c:v>
                </c:pt>
                <c:pt idx="16">
                  <c:v>0.1923341763208998</c:v>
                </c:pt>
                <c:pt idx="17">
                  <c:v>0.19986468675220259</c:v>
                </c:pt>
                <c:pt idx="18">
                  <c:v>0.20616551364364549</c:v>
                </c:pt>
                <c:pt idx="19">
                  <c:v>0.19426068736382479</c:v>
                </c:pt>
                <c:pt idx="20">
                  <c:v>0.20286077640707029</c:v>
                </c:pt>
                <c:pt idx="21">
                  <c:v>0.1883147835823438</c:v>
                </c:pt>
                <c:pt idx="22">
                  <c:v>0.1881311885005599</c:v>
                </c:pt>
                <c:pt idx="23">
                  <c:v>0.191238225025577</c:v>
                </c:pt>
                <c:pt idx="24">
                  <c:v>0.18471354782150809</c:v>
                </c:pt>
                <c:pt idx="25">
                  <c:v>0.18814220674345189</c:v>
                </c:pt>
                <c:pt idx="26">
                  <c:v>0.17905314694102181</c:v>
                </c:pt>
                <c:pt idx="27">
                  <c:v>0.1765341572358278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9D48-4138-8D86-0D6785C297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30076703"/>
        <c:axId val="2130075743"/>
      </c:lineChart>
      <c:catAx>
        <c:axId val="213007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5743"/>
        <c:crosses val="autoZero"/>
        <c:auto val="1"/>
        <c:lblAlgn val="ctr"/>
        <c:lblOffset val="100"/>
        <c:noMultiLvlLbl val="0"/>
      </c:catAx>
      <c:valAx>
        <c:axId val="2130075743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6703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9764566840737196E-2"/>
          <c:y val="0.82338718728658633"/>
          <c:w val="0.9170940708692793"/>
          <c:h val="0.149603098754079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s-PE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6746666666666667E-2"/>
          <c:y val="4.2777778609463954E-2"/>
          <c:w val="0.92591999999999997"/>
          <c:h val="0.60618131528436447"/>
        </c:manualLayout>
      </c:layout>
      <c:lineChart>
        <c:grouping val="standard"/>
        <c:varyColors val="0"/>
        <c:ser>
          <c:idx val="1"/>
          <c:order val="0"/>
          <c:tx>
            <c:strRef>
              <c:f>GLOBAL!$G$1</c:f>
              <c:strCache>
                <c:ptCount val="1"/>
                <c:pt idx="0">
                  <c:v>LI</c:v>
                </c:pt>
              </c:strCache>
            </c:strRef>
          </c:tx>
          <c:spPr>
            <a:ln w="22225" cap="rnd">
              <a:solidFill>
                <a:srgbClr val="00A651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GLOBAL!$A$2:$A$29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GLOBAL!$G$2:$G$29</c:f>
              <c:numCache>
                <c:formatCode>0.00%</c:formatCode>
                <c:ptCount val="28"/>
                <c:pt idx="0">
                  <c:v>4.2979707523855118E-2</c:v>
                </c:pt>
                <c:pt idx="1">
                  <c:v>3.1501219525922462E-2</c:v>
                </c:pt>
                <c:pt idx="2">
                  <c:v>2.7287831940930613E-2</c:v>
                </c:pt>
                <c:pt idx="3">
                  <c:v>2.1085167028993396E-2</c:v>
                </c:pt>
                <c:pt idx="4">
                  <c:v>2.5386569629528091E-2</c:v>
                </c:pt>
                <c:pt idx="5">
                  <c:v>2.4084321451439298E-2</c:v>
                </c:pt>
                <c:pt idx="6">
                  <c:v>2.4263409691055608E-2</c:v>
                </c:pt>
                <c:pt idx="7">
                  <c:v>2.5429826873528533E-2</c:v>
                </c:pt>
                <c:pt idx="8">
                  <c:v>3.0935130403299656E-2</c:v>
                </c:pt>
                <c:pt idx="9">
                  <c:v>2.5047590635627438E-2</c:v>
                </c:pt>
                <c:pt idx="10">
                  <c:v>3.0575187344702329E-2</c:v>
                </c:pt>
                <c:pt idx="11">
                  <c:v>3.4865655893298604E-2</c:v>
                </c:pt>
                <c:pt idx="12">
                  <c:v>2.9344892268774278E-2</c:v>
                </c:pt>
                <c:pt idx="13">
                  <c:v>2.0828947411505729E-2</c:v>
                </c:pt>
                <c:pt idx="14">
                  <c:v>2.2199989372954299E-2</c:v>
                </c:pt>
                <c:pt idx="15">
                  <c:v>2.03689776458249E-2</c:v>
                </c:pt>
                <c:pt idx="16">
                  <c:v>1.9348748817960209E-2</c:v>
                </c:pt>
                <c:pt idx="17">
                  <c:v>2.0265353846756054E-2</c:v>
                </c:pt>
                <c:pt idx="18">
                  <c:v>2.0933016618443597E-2</c:v>
                </c:pt>
                <c:pt idx="19">
                  <c:v>2.3564860721935598E-2</c:v>
                </c:pt>
                <c:pt idx="20">
                  <c:v>2.7053540653519881E-2</c:v>
                </c:pt>
                <c:pt idx="21">
                  <c:v>2.3992760329838339E-2</c:v>
                </c:pt>
                <c:pt idx="22">
                  <c:v>2.4307726081369267E-2</c:v>
                </c:pt>
                <c:pt idx="23">
                  <c:v>2.6794966061595735E-2</c:v>
                </c:pt>
                <c:pt idx="24">
                  <c:v>2.2559314362825308E-2</c:v>
                </c:pt>
                <c:pt idx="25">
                  <c:v>1.8850725425552058E-2</c:v>
                </c:pt>
                <c:pt idx="26">
                  <c:v>1.7667872108379713E-2</c:v>
                </c:pt>
                <c:pt idx="27">
                  <c:v>1.7183411265319685E-2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BA3-4A62-AC08-7AB7D5B2CEB1}"/>
            </c:ext>
          </c:extLst>
        </c:ser>
        <c:ser>
          <c:idx val="2"/>
          <c:order val="1"/>
          <c:tx>
            <c:strRef>
              <c:f>GLOBAL!$H$1</c:f>
              <c:strCache>
                <c:ptCount val="1"/>
                <c:pt idx="0">
                  <c:v>LS</c:v>
                </c:pt>
              </c:strCache>
            </c:strRef>
          </c:tx>
          <c:spPr>
            <a:ln w="22225" cap="rnd">
              <a:solidFill>
                <a:srgbClr val="00A651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GLOBAL!$A$2:$A$29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GLOBAL!$H$2:$H$29</c:f>
              <c:numCache>
                <c:formatCode>0.00%</c:formatCode>
                <c:ptCount val="28"/>
                <c:pt idx="0">
                  <c:v>6.8916800399379127E-2</c:v>
                </c:pt>
                <c:pt idx="1">
                  <c:v>5.1977687163145735E-2</c:v>
                </c:pt>
                <c:pt idx="2">
                  <c:v>4.5606068620157994E-2</c:v>
                </c:pt>
                <c:pt idx="3">
                  <c:v>3.6038288346070937E-2</c:v>
                </c:pt>
                <c:pt idx="4">
                  <c:v>4.2698860583804857E-2</c:v>
                </c:pt>
                <c:pt idx="5">
                  <c:v>4.0695075897375997E-2</c:v>
                </c:pt>
                <c:pt idx="6">
                  <c:v>4.0971267914512569E-2</c:v>
                </c:pt>
                <c:pt idx="7">
                  <c:v>4.2765242289348068E-2</c:v>
                </c:pt>
                <c:pt idx="8">
                  <c:v>5.1126988313363091E-2</c:v>
                </c:pt>
                <c:pt idx="9">
                  <c:v>4.2178277080856572E-2</c:v>
                </c:pt>
                <c:pt idx="10">
                  <c:v>5.0585242621049131E-2</c:v>
                </c:pt>
                <c:pt idx="11">
                  <c:v>5.7001823167654189E-2</c:v>
                </c:pt>
                <c:pt idx="12">
                  <c:v>4.8728525996170675E-2</c:v>
                </c:pt>
                <c:pt idx="13">
                  <c:v>3.5637568707192618E-2</c:v>
                </c:pt>
                <c:pt idx="14">
                  <c:v>3.7776403423301845E-2</c:v>
                </c:pt>
                <c:pt idx="15">
                  <c:v>3.4916986845700583E-2</c:v>
                </c:pt>
                <c:pt idx="16">
                  <c:v>3.3313045399192276E-2</c:v>
                </c:pt>
                <c:pt idx="17">
                  <c:v>3.4754435334317421E-2</c:v>
                </c:pt>
                <c:pt idx="18">
                  <c:v>3.5800387103418076E-2</c:v>
                </c:pt>
                <c:pt idx="19">
                  <c:v>3.989279979671019E-2</c:v>
                </c:pt>
                <c:pt idx="20">
                  <c:v>4.5248946541059307E-2</c:v>
                </c:pt>
                <c:pt idx="21">
                  <c:v>4.0553790633526987E-2</c:v>
                </c:pt>
                <c:pt idx="22">
                  <c:v>4.1039581900960291E-2</c:v>
                </c:pt>
                <c:pt idx="23">
                  <c:v>4.4854447213217651E-2</c:v>
                </c:pt>
                <c:pt idx="24">
                  <c:v>3.833478941628124E-2</c:v>
                </c:pt>
                <c:pt idx="25">
                  <c:v>3.2527155967219515E-2</c:v>
                </c:pt>
                <c:pt idx="26">
                  <c:v>3.0652543041542822E-2</c:v>
                </c:pt>
                <c:pt idx="27">
                  <c:v>2.9881363121375699E-2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BA3-4A62-AC08-7AB7D5B2CEB1}"/>
            </c:ext>
          </c:extLst>
        </c:ser>
        <c:ser>
          <c:idx val="12"/>
          <c:order val="2"/>
          <c:tx>
            <c:strRef>
              <c:f>GLOBAL!$AD$1</c:f>
              <c:strCache>
                <c:ptCount val="1"/>
                <c:pt idx="0">
                  <c:v>pd_pit</c:v>
                </c:pt>
              </c:strCache>
            </c:strRef>
          </c:tx>
          <c:spPr>
            <a:ln w="25400" cap="rnd">
              <a:solidFill>
                <a:srgbClr val="00A651"/>
              </a:solidFill>
              <a:round/>
            </a:ln>
            <a:effectLst/>
          </c:spPr>
          <c:marker>
            <c:symbol val="none"/>
          </c:marker>
          <c:cat>
            <c:strRef>
              <c:f>GLOBAL!$A$2:$A$29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GLOBAL!$AD$2:$AD$29</c:f>
              <c:numCache>
                <c:formatCode>0.00%</c:formatCode>
                <c:ptCount val="28"/>
                <c:pt idx="0">
                  <c:v>5.5188460596200792E-2</c:v>
                </c:pt>
                <c:pt idx="1">
                  <c:v>4.1086749831534423E-2</c:v>
                </c:pt>
                <c:pt idx="2">
                  <c:v>3.5842071894813698E-2</c:v>
                </c:pt>
                <c:pt idx="3">
                  <c:v>2.8038252937590349E-2</c:v>
                </c:pt>
                <c:pt idx="4">
                  <c:v>3.3461269516631753E-2</c:v>
                </c:pt>
                <c:pt idx="5">
                  <c:v>3.1825041353574023E-2</c:v>
                </c:pt>
                <c:pt idx="6">
                  <c:v>3.2050335458797728E-2</c:v>
                </c:pt>
                <c:pt idx="7">
                  <c:v>3.3515541918089732E-2</c:v>
                </c:pt>
                <c:pt idx="8">
                  <c:v>4.0384476389584839E-2</c:v>
                </c:pt>
                <c:pt idx="9">
                  <c:v>3.3035798550415212E-2</c:v>
                </c:pt>
                <c:pt idx="10">
                  <c:v>3.9937570869456221E-2</c:v>
                </c:pt>
                <c:pt idx="11">
                  <c:v>4.5246436085300469E-2</c:v>
                </c:pt>
                <c:pt idx="12">
                  <c:v>3.8407812647206448E-2</c:v>
                </c:pt>
                <c:pt idx="13">
                  <c:v>2.7713477266616601E-2</c:v>
                </c:pt>
                <c:pt idx="14">
                  <c:v>2.9448981557576689E-2</c:v>
                </c:pt>
                <c:pt idx="15">
                  <c:v>2.712990696574321E-2</c:v>
                </c:pt>
                <c:pt idx="16">
                  <c:v>2.5833045606430141E-2</c:v>
                </c:pt>
                <c:pt idx="17">
                  <c:v>2.699834328423581E-2</c:v>
                </c:pt>
                <c:pt idx="18">
                  <c:v>2.7845417163593851E-2</c:v>
                </c:pt>
                <c:pt idx="19">
                  <c:v>3.1171046954733911E-2</c:v>
                </c:pt>
                <c:pt idx="20">
                  <c:v>3.5549186705177933E-2</c:v>
                </c:pt>
                <c:pt idx="21">
                  <c:v>3.1709822286579363E-2</c:v>
                </c:pt>
                <c:pt idx="22">
                  <c:v>3.2106071975689161E-2</c:v>
                </c:pt>
                <c:pt idx="23">
                  <c:v>3.5225784809330557E-2</c:v>
                </c:pt>
                <c:pt idx="24">
                  <c:v>2.9902875527924339E-2</c:v>
                </c:pt>
                <c:pt idx="25">
                  <c:v>2.5198703053382121E-2</c:v>
                </c:pt>
                <c:pt idx="26">
                  <c:v>2.3688559728260221E-2</c:v>
                </c:pt>
                <c:pt idx="27">
                  <c:v>2.3068568249367469E-2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BA3-4A62-AC08-7AB7D5B2CEB1}"/>
            </c:ext>
          </c:extLst>
        </c:ser>
        <c:ser>
          <c:idx val="0"/>
          <c:order val="3"/>
          <c:tx>
            <c:strRef>
              <c:f>GLOBAL!$F$1</c:f>
              <c:strCache>
                <c:ptCount val="1"/>
                <c:pt idx="0">
                  <c:v>RD_12m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002060"/>
              </a:solidFill>
              <a:ln w="9525">
                <a:noFill/>
              </a:ln>
              <a:effectLst/>
            </c:spPr>
          </c:marker>
          <c:cat>
            <c:strRef>
              <c:f>GLOBAL!$A$2:$A$29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GLOBAL!$F$2:$F$29</c:f>
              <c:numCache>
                <c:formatCode>0.00%</c:formatCode>
                <c:ptCount val="28"/>
                <c:pt idx="0">
                  <c:v>3.8783269961977188E-2</c:v>
                </c:pt>
                <c:pt idx="1">
                  <c:v>3.028118240807498E-2</c:v>
                </c:pt>
                <c:pt idx="2">
                  <c:v>3.047091412742382E-2</c:v>
                </c:pt>
                <c:pt idx="3">
                  <c:v>2.763157894736842E-2</c:v>
                </c:pt>
                <c:pt idx="4">
                  <c:v>3.0807660283097421E-2</c:v>
                </c:pt>
                <c:pt idx="5">
                  <c:v>3.059071729957806E-2</c:v>
                </c:pt>
                <c:pt idx="6">
                  <c:v>3.0105777054515871E-2</c:v>
                </c:pt>
                <c:pt idx="7">
                  <c:v>3.4548944337811902E-2</c:v>
                </c:pt>
                <c:pt idx="8">
                  <c:v>4.7433903576982892E-2</c:v>
                </c:pt>
                <c:pt idx="9">
                  <c:v>3.5687732342007443E-2</c:v>
                </c:pt>
                <c:pt idx="10">
                  <c:v>2.9215358931552589E-2</c:v>
                </c:pt>
                <c:pt idx="11">
                  <c:v>4.4926413632842763E-2</c:v>
                </c:pt>
                <c:pt idx="12">
                  <c:v>4.1737168640721939E-2</c:v>
                </c:pt>
                <c:pt idx="13">
                  <c:v>2.647545504688362E-2</c:v>
                </c:pt>
                <c:pt idx="14">
                  <c:v>2.5352112676056339E-2</c:v>
                </c:pt>
                <c:pt idx="15">
                  <c:v>2.321083172147002E-2</c:v>
                </c:pt>
                <c:pt idx="16">
                  <c:v>2.8786840301576421E-2</c:v>
                </c:pt>
                <c:pt idx="17">
                  <c:v>3.0053034767236302E-2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BA3-4A62-AC08-7AB7D5B2CEB1}"/>
            </c:ext>
          </c:extLst>
        </c:ser>
        <c:ser>
          <c:idx val="10"/>
          <c:order val="4"/>
          <c:tx>
            <c:strRef>
              <c:f>GLOBAL!$R$1</c:f>
              <c:strCache>
                <c:ptCount val="1"/>
                <c:pt idx="0">
                  <c:v>RD_PROY_V1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GLOBAL!$A$2:$A$29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GLOBAL!$R$2:$R$29</c:f>
              <c:numCache>
                <c:formatCode>0.00%</c:formatCode>
                <c:ptCount val="28"/>
                <c:pt idx="18">
                  <c:v>2.9437733983188521E-2</c:v>
                </c:pt>
                <c:pt idx="19">
                  <c:v>3.2960016237919353E-2</c:v>
                </c:pt>
                <c:pt idx="20">
                  <c:v>2.774302620456465E-2</c:v>
                </c:pt>
                <c:pt idx="21">
                  <c:v>3.046419470206908E-2</c:v>
                </c:pt>
                <c:pt idx="22">
                  <c:v>2.7408269007084689E-2</c:v>
                </c:pt>
                <c:pt idx="23">
                  <c:v>3.1607720342898209E-2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BA3-4A62-AC08-7AB7D5B2CE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30076703"/>
        <c:axId val="2130075743"/>
      </c:lineChart>
      <c:catAx>
        <c:axId val="213007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5743"/>
        <c:crosses val="autoZero"/>
        <c:auto val="1"/>
        <c:lblAlgn val="ctr"/>
        <c:lblOffset val="100"/>
        <c:noMultiLvlLbl val="0"/>
      </c:catAx>
      <c:valAx>
        <c:axId val="2130075743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6703"/>
        <c:crosses val="autoZero"/>
        <c:crossBetween val="between"/>
        <c:majorUnit val="2.5000000000000005E-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5502459419576974E-2"/>
          <c:y val="0.84150654103914724"/>
          <c:w val="0.89202597338884038"/>
          <c:h val="0.149603098754079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s-PE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4049536684686668E-2"/>
          <c:y val="5.8314581202131288E-2"/>
          <c:w val="0.92591999999999997"/>
          <c:h val="0.49015409746396443"/>
        </c:manualLayout>
      </c:layout>
      <c:lineChart>
        <c:grouping val="standard"/>
        <c:varyColors val="0"/>
        <c:ser>
          <c:idx val="1"/>
          <c:order val="0"/>
          <c:tx>
            <c:strRef>
              <c:f>tipo_ingreso_dep!$F$1</c:f>
              <c:strCache>
                <c:ptCount val="1"/>
                <c:pt idx="0">
                  <c:v>LI</c:v>
                </c:pt>
              </c:strCache>
            </c:strRef>
          </c:tx>
          <c:spPr>
            <a:ln w="22225" cap="rnd">
              <a:solidFill>
                <a:srgbClr val="00B05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tipo_ingreso_dep!$F$2:$F$29</c:f>
              <c:numCache>
                <c:formatCode>0.00%</c:formatCode>
                <c:ptCount val="28"/>
                <c:pt idx="0">
                  <c:v>2.908879270236979E-2</c:v>
                </c:pt>
                <c:pt idx="1">
                  <c:v>2.1386524701115763E-2</c:v>
                </c:pt>
                <c:pt idx="2">
                  <c:v>1.8661981216048302E-2</c:v>
                </c:pt>
                <c:pt idx="3">
                  <c:v>1.4224297273539232E-2</c:v>
                </c:pt>
                <c:pt idx="4">
                  <c:v>1.63279755362256E-2</c:v>
                </c:pt>
                <c:pt idx="5">
                  <c:v>1.6895132398482306E-2</c:v>
                </c:pt>
                <c:pt idx="6">
                  <c:v>1.9472587215547794E-2</c:v>
                </c:pt>
                <c:pt idx="7">
                  <c:v>2.0588675532645366E-2</c:v>
                </c:pt>
                <c:pt idx="8">
                  <c:v>2.78085113036768E-2</c:v>
                </c:pt>
                <c:pt idx="9">
                  <c:v>2.1765194100173312E-2</c:v>
                </c:pt>
                <c:pt idx="10">
                  <c:v>2.7047914481833465E-2</c:v>
                </c:pt>
                <c:pt idx="11">
                  <c:v>3.0837366589450178E-2</c:v>
                </c:pt>
                <c:pt idx="12">
                  <c:v>2.7368136829901486E-2</c:v>
                </c:pt>
                <c:pt idx="13">
                  <c:v>1.8291278210573244E-2</c:v>
                </c:pt>
                <c:pt idx="14">
                  <c:v>2.0369236050758414E-2</c:v>
                </c:pt>
                <c:pt idx="15">
                  <c:v>2.0058177288662285E-2</c:v>
                </c:pt>
                <c:pt idx="16">
                  <c:v>1.8725047133482685E-2</c:v>
                </c:pt>
                <c:pt idx="17">
                  <c:v>1.9064002481926121E-2</c:v>
                </c:pt>
                <c:pt idx="18">
                  <c:v>1.9966370244737477E-2</c:v>
                </c:pt>
                <c:pt idx="19">
                  <c:v>2.0491105676773886E-2</c:v>
                </c:pt>
                <c:pt idx="20">
                  <c:v>2.397129541071346E-2</c:v>
                </c:pt>
                <c:pt idx="21">
                  <c:v>1.9973176734819843E-2</c:v>
                </c:pt>
                <c:pt idx="22">
                  <c:v>2.0533129395800587E-2</c:v>
                </c:pt>
                <c:pt idx="23">
                  <c:v>2.3476551050468863E-2</c:v>
                </c:pt>
                <c:pt idx="24">
                  <c:v>2.0969121227046417E-2</c:v>
                </c:pt>
                <c:pt idx="25">
                  <c:v>1.6984171948303851E-2</c:v>
                </c:pt>
                <c:pt idx="26">
                  <c:v>1.4043259274091833E-2</c:v>
                </c:pt>
                <c:pt idx="27">
                  <c:v>1.3413823910738325E-2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740-42E6-975A-3CDCD19450CB}"/>
            </c:ext>
          </c:extLst>
        </c:ser>
        <c:ser>
          <c:idx val="2"/>
          <c:order val="1"/>
          <c:tx>
            <c:strRef>
              <c:f>tipo_ingreso_dep!$G$1</c:f>
              <c:strCache>
                <c:ptCount val="1"/>
                <c:pt idx="0">
                  <c:v>LS</c:v>
                </c:pt>
              </c:strCache>
            </c:strRef>
          </c:tx>
          <c:spPr>
            <a:ln w="22225" cap="rnd">
              <a:solidFill>
                <a:srgbClr val="00B05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tipo_ingreso_dep!$G$2:$G$29</c:f>
              <c:numCache>
                <c:formatCode>0.00%</c:formatCode>
                <c:ptCount val="28"/>
                <c:pt idx="0">
                  <c:v>4.8341035182819445E-2</c:v>
                </c:pt>
                <c:pt idx="1">
                  <c:v>3.6508998113732045E-2</c:v>
                </c:pt>
                <c:pt idx="2">
                  <c:v>3.2228798376590005E-2</c:v>
                </c:pt>
                <c:pt idx="3">
                  <c:v>2.5124217296882311E-2</c:v>
                </c:pt>
                <c:pt idx="4">
                  <c:v>2.8514611446445275E-2</c:v>
                </c:pt>
                <c:pt idx="5">
                  <c:v>2.9421502178598787E-2</c:v>
                </c:pt>
                <c:pt idx="6">
                  <c:v>3.35081620291438E-2</c:v>
                </c:pt>
                <c:pt idx="7">
                  <c:v>3.5261356581834963E-2</c:v>
                </c:pt>
                <c:pt idx="8">
                  <c:v>4.6398615182001224E-2</c:v>
                </c:pt>
                <c:pt idx="9">
                  <c:v>3.7099552472017565E-2</c:v>
                </c:pt>
                <c:pt idx="10">
                  <c:v>4.524036692873868E-2</c:v>
                </c:pt>
                <c:pt idx="11">
                  <c:v>5.0979909955956228E-2</c:v>
                </c:pt>
                <c:pt idx="12">
                  <c:v>4.5728403079236812E-2</c:v>
                </c:pt>
                <c:pt idx="13">
                  <c:v>3.1641968897007357E-2</c:v>
                </c:pt>
                <c:pt idx="14">
                  <c:v>3.4917392097702039E-2</c:v>
                </c:pt>
                <c:pt idx="15">
                  <c:v>3.4429202758210181E-2</c:v>
                </c:pt>
                <c:pt idx="16">
                  <c:v>3.232852176718138E-2</c:v>
                </c:pt>
                <c:pt idx="17">
                  <c:v>3.2863950948667751E-2</c:v>
                </c:pt>
                <c:pt idx="18">
                  <c:v>3.4284977661429676E-2</c:v>
                </c:pt>
                <c:pt idx="19">
                  <c:v>3.5108462887858204E-2</c:v>
                </c:pt>
                <c:pt idx="20">
                  <c:v>4.0520661025048831E-2</c:v>
                </c:pt>
                <c:pt idx="21">
                  <c:v>3.4295672566893788E-2</c:v>
                </c:pt>
                <c:pt idx="22">
                  <c:v>3.5174323413588053E-2</c:v>
                </c:pt>
                <c:pt idx="23">
                  <c:v>3.9756237783389686E-2</c:v>
                </c:pt>
                <c:pt idx="24">
                  <c:v>3.5856855140139192E-2</c:v>
                </c:pt>
                <c:pt idx="25">
                  <c:v>2.9563615796352697E-2</c:v>
                </c:pt>
                <c:pt idx="26">
                  <c:v>2.4830371455034687E-2</c:v>
                </c:pt>
                <c:pt idx="27">
                  <c:v>2.3805996365274761E-2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740-42E6-975A-3CDCD19450CB}"/>
            </c:ext>
          </c:extLst>
        </c:ser>
        <c:ser>
          <c:idx val="12"/>
          <c:order val="2"/>
          <c:tx>
            <c:strRef>
              <c:f>tipo_ingreso_dep!$AC$1</c:f>
              <c:strCache>
                <c:ptCount val="1"/>
                <c:pt idx="0">
                  <c:v>pd_cal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tipo_ingreso_dep!$AC$2:$AC$29</c:f>
              <c:numCache>
                <c:formatCode>0.00%</c:formatCode>
                <c:ptCount val="28"/>
                <c:pt idx="0">
                  <c:v>3.808893587598447E-2</c:v>
                </c:pt>
                <c:pt idx="1">
                  <c:v>2.84199790186845E-2</c:v>
                </c:pt>
                <c:pt idx="2">
                  <c:v>2.4958070035435341E-2</c:v>
                </c:pt>
                <c:pt idx="3">
                  <c:v>1.9261269420360431E-2</c:v>
                </c:pt>
                <c:pt idx="4">
                  <c:v>2.197162070428715E-2</c:v>
                </c:pt>
                <c:pt idx="5">
                  <c:v>2.26992187864163E-2</c:v>
                </c:pt>
                <c:pt idx="6">
                  <c:v>2.5990648760426491E-2</c:v>
                </c:pt>
                <c:pt idx="7">
                  <c:v>2.7408726010556338E-2</c:v>
                </c:pt>
                <c:pt idx="8">
                  <c:v>3.6492478745136378E-2</c:v>
                </c:pt>
                <c:pt idx="9">
                  <c:v>2.8899234036485689E-2</c:v>
                </c:pt>
                <c:pt idx="10">
                  <c:v>3.5542151790365448E-2</c:v>
                </c:pt>
                <c:pt idx="11">
                  <c:v>4.0263121476250503E-2</c:v>
                </c:pt>
                <c:pt idx="12">
                  <c:v>3.5942428638761209E-2</c:v>
                </c:pt>
                <c:pt idx="13">
                  <c:v>2.4485087501954501E-2</c:v>
                </c:pt>
                <c:pt idx="14">
                  <c:v>2.713023500008218E-2</c:v>
                </c:pt>
                <c:pt idx="15">
                  <c:v>2.6735200528978671E-2</c:v>
                </c:pt>
                <c:pt idx="16">
                  <c:v>2.5038487723111971E-2</c:v>
                </c:pt>
                <c:pt idx="17">
                  <c:v>2.5470463433494309E-2</c:v>
                </c:pt>
                <c:pt idx="18">
                  <c:v>2.66185476565888E-2</c:v>
                </c:pt>
                <c:pt idx="19">
                  <c:v>2.7284919222821349E-2</c:v>
                </c:pt>
                <c:pt idx="20">
                  <c:v>3.1682807770676613E-2</c:v>
                </c:pt>
                <c:pt idx="21">
                  <c:v>2.6627197152383611E-2</c:v>
                </c:pt>
                <c:pt idx="22">
                  <c:v>2.7338247066373451E-2</c:v>
                </c:pt>
                <c:pt idx="23">
                  <c:v>3.105979007501343E-2</c:v>
                </c:pt>
                <c:pt idx="24">
                  <c:v>2.7891182866787771E-2</c:v>
                </c:pt>
                <c:pt idx="25">
                  <c:v>2.2813332386449559E-2</c:v>
                </c:pt>
                <c:pt idx="26">
                  <c:v>1.902712056663072E-2</c:v>
                </c:pt>
                <c:pt idx="27">
                  <c:v>1.8211845555609691E-2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5740-42E6-975A-3CDCD19450CB}"/>
            </c:ext>
          </c:extLst>
        </c:ser>
        <c:ser>
          <c:idx val="0"/>
          <c:order val="3"/>
          <c:tx>
            <c:strRef>
              <c:f>tipo_ingreso_dep!$E$1</c:f>
              <c:strCache>
                <c:ptCount val="1"/>
                <c:pt idx="0">
                  <c:v>RD_12m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002060"/>
              </a:solidFill>
              <a:ln w="9525">
                <a:noFill/>
              </a:ln>
              <a:effectLst/>
            </c:spPr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tipo_ingreso_dep!$E$2:$E$29</c:f>
              <c:numCache>
                <c:formatCode>0.00%</c:formatCode>
                <c:ptCount val="28"/>
                <c:pt idx="0">
                  <c:v>1.7500000000000002E-2</c:v>
                </c:pt>
                <c:pt idx="1">
                  <c:v>1.157407407407407E-2</c:v>
                </c:pt>
                <c:pt idx="2">
                  <c:v>1.8018018018018021E-2</c:v>
                </c:pt>
                <c:pt idx="3">
                  <c:v>9.1533180778032037E-3</c:v>
                </c:pt>
                <c:pt idx="4">
                  <c:v>1.488095238095238E-2</c:v>
                </c:pt>
                <c:pt idx="5">
                  <c:v>2.5477707006369432E-2</c:v>
                </c:pt>
                <c:pt idx="6">
                  <c:v>2.7542372881355932E-2</c:v>
                </c:pt>
                <c:pt idx="7">
                  <c:v>4.0506329113924051E-2</c:v>
                </c:pt>
                <c:pt idx="8">
                  <c:v>4.4088176352705413E-2</c:v>
                </c:pt>
                <c:pt idx="9">
                  <c:v>3.1315240083507313E-2</c:v>
                </c:pt>
                <c:pt idx="10">
                  <c:v>2.723735408560311E-2</c:v>
                </c:pt>
                <c:pt idx="11">
                  <c:v>4.9090909090909088E-2</c:v>
                </c:pt>
                <c:pt idx="12">
                  <c:v>3.889585947302384E-2</c:v>
                </c:pt>
                <c:pt idx="13">
                  <c:v>2.3936170212765961E-2</c:v>
                </c:pt>
                <c:pt idx="14">
                  <c:v>2.616279069767442E-2</c:v>
                </c:pt>
                <c:pt idx="15">
                  <c:v>3.650793650793651E-2</c:v>
                </c:pt>
                <c:pt idx="16">
                  <c:v>2.9605263157894739E-2</c:v>
                </c:pt>
                <c:pt idx="17">
                  <c:v>3.7202380952380952E-2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740-42E6-975A-3CDCD19450CB}"/>
            </c:ext>
          </c:extLst>
        </c:ser>
        <c:ser>
          <c:idx val="10"/>
          <c:order val="4"/>
          <c:tx>
            <c:strRef>
              <c:f>tipo_ingreso_dep!$Q$1</c:f>
              <c:strCache>
                <c:ptCount val="1"/>
                <c:pt idx="0">
                  <c:v>RD_PROY_V1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tipo_ingreso_dep!$Q$2:$Q$29</c:f>
              <c:numCache>
                <c:formatCode>0.00%</c:formatCode>
                <c:ptCount val="28"/>
                <c:pt idx="18">
                  <c:v>2.3942831884485049E-2</c:v>
                </c:pt>
                <c:pt idx="19">
                  <c:v>3.3221949015404657E-2</c:v>
                </c:pt>
                <c:pt idx="20">
                  <c:v>2.1186440677966101E-2</c:v>
                </c:pt>
                <c:pt idx="21">
                  <c:v>1.601694915254237E-2</c:v>
                </c:pt>
                <c:pt idx="22">
                  <c:v>1.8133333333333331E-2</c:v>
                </c:pt>
                <c:pt idx="23">
                  <c:v>4.0987654320987658E-2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740-42E6-975A-3CDCD19450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30076703"/>
        <c:axId val="2130075743"/>
      </c:lineChart>
      <c:catAx>
        <c:axId val="213007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5743"/>
        <c:crosses val="autoZero"/>
        <c:auto val="1"/>
        <c:lblAlgn val="ctr"/>
        <c:lblOffset val="100"/>
        <c:noMultiLvlLbl val="0"/>
      </c:catAx>
      <c:valAx>
        <c:axId val="2130075743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6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0591628717372305E-2"/>
          <c:y val="0.83636650125969791"/>
          <c:w val="0.93691832139747566"/>
          <c:h val="0.144621198793958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6746666666666667E-2"/>
          <c:y val="4.2777778609463954E-2"/>
          <c:w val="0.92591999999999997"/>
          <c:h val="0.55513536871837266"/>
        </c:manualLayout>
      </c:layout>
      <c:lineChart>
        <c:grouping val="standard"/>
        <c:varyColors val="0"/>
        <c:ser>
          <c:idx val="1"/>
          <c:order val="0"/>
          <c:tx>
            <c:strRef>
              <c:f>tipo_ingreso_dep!$AO$1</c:f>
              <c:strCache>
                <c:ptCount val="1"/>
                <c:pt idx="0">
                  <c:v>LI</c:v>
                </c:pt>
              </c:strCache>
            </c:strRef>
          </c:tx>
          <c:spPr>
            <a:ln w="22225" cap="rnd">
              <a:solidFill>
                <a:srgbClr val="00B05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tipo_ingreso_dep!$AO$2:$AO$29</c:f>
              <c:numCache>
                <c:formatCode>0.00%</c:formatCode>
                <c:ptCount val="28"/>
                <c:pt idx="0">
                  <c:v>4.9141204957322077E-2</c:v>
                </c:pt>
                <c:pt idx="1">
                  <c:v>3.6140547649043231E-2</c:v>
                </c:pt>
                <c:pt idx="2">
                  <c:v>3.1168898992558022E-2</c:v>
                </c:pt>
                <c:pt idx="3">
                  <c:v>2.3889491968040421E-2</c:v>
                </c:pt>
                <c:pt idx="4">
                  <c:v>2.8956617747104372E-2</c:v>
                </c:pt>
                <c:pt idx="5">
                  <c:v>2.7690217258916697E-2</c:v>
                </c:pt>
                <c:pt idx="6">
                  <c:v>2.7277080125205955E-2</c:v>
                </c:pt>
                <c:pt idx="7">
                  <c:v>2.8410652277879762E-2</c:v>
                </c:pt>
                <c:pt idx="8">
                  <c:v>3.2926813280881276E-2</c:v>
                </c:pt>
                <c:pt idx="9">
                  <c:v>2.6873324160980205E-2</c:v>
                </c:pt>
                <c:pt idx="10">
                  <c:v>3.3240872646639788E-2</c:v>
                </c:pt>
                <c:pt idx="11">
                  <c:v>3.7872913128252458E-2</c:v>
                </c:pt>
                <c:pt idx="12">
                  <c:v>3.0964590460839207E-2</c:v>
                </c:pt>
                <c:pt idx="13">
                  <c:v>2.2637547895620159E-2</c:v>
                </c:pt>
                <c:pt idx="14">
                  <c:v>2.3362917980277949E-2</c:v>
                </c:pt>
                <c:pt idx="15">
                  <c:v>2.058172037146833E-2</c:v>
                </c:pt>
                <c:pt idx="16">
                  <c:v>1.9794996822353923E-2</c:v>
                </c:pt>
                <c:pt idx="17">
                  <c:v>2.1055008852496459E-2</c:v>
                </c:pt>
                <c:pt idx="18">
                  <c:v>2.1511510205489744E-2</c:v>
                </c:pt>
                <c:pt idx="19">
                  <c:v>2.551909195956599E-2</c:v>
                </c:pt>
                <c:pt idx="20">
                  <c:v>2.8748220163384311E-2</c:v>
                </c:pt>
                <c:pt idx="21">
                  <c:v>2.5898369020011074E-2</c:v>
                </c:pt>
                <c:pt idx="22">
                  <c:v>2.576665556785581E-2</c:v>
                </c:pt>
                <c:pt idx="23">
                  <c:v>2.8084750957106708E-2</c:v>
                </c:pt>
                <c:pt idx="24">
                  <c:v>2.3179664772116818E-2</c:v>
                </c:pt>
                <c:pt idx="25">
                  <c:v>1.9763070126824839E-2</c:v>
                </c:pt>
                <c:pt idx="26">
                  <c:v>1.9026465555330146E-2</c:v>
                </c:pt>
                <c:pt idx="27">
                  <c:v>1.8448506738886414E-2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936-4F1B-9B3C-ECCC23B60D90}"/>
            </c:ext>
          </c:extLst>
        </c:ser>
        <c:ser>
          <c:idx val="2"/>
          <c:order val="1"/>
          <c:tx>
            <c:strRef>
              <c:f>tipo_ingreso_dep!$AP$1</c:f>
              <c:strCache>
                <c:ptCount val="1"/>
                <c:pt idx="0">
                  <c:v>LS</c:v>
                </c:pt>
              </c:strCache>
            </c:strRef>
          </c:tx>
          <c:spPr>
            <a:ln w="22225" cap="rnd">
              <a:solidFill>
                <a:srgbClr val="00B05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tipo_ingreso_dep!$AP$2:$AP$29</c:f>
              <c:numCache>
                <c:formatCode>0.00%</c:formatCode>
                <c:ptCount val="28"/>
                <c:pt idx="0">
                  <c:v>7.7798460343164288E-2</c:v>
                </c:pt>
                <c:pt idx="1">
                  <c:v>5.8892066081424915E-2</c:v>
                </c:pt>
                <c:pt idx="2">
                  <c:v>5.1478481207052645E-2</c:v>
                </c:pt>
                <c:pt idx="3">
                  <c:v>4.0394376137111852E-2</c:v>
                </c:pt>
                <c:pt idx="4">
                  <c:v>4.8140911797190801E-2</c:v>
                </c:pt>
                <c:pt idx="5">
                  <c:v>4.6218688228080014E-2</c:v>
                </c:pt>
                <c:pt idx="6">
                  <c:v>4.5589686809460475E-2</c:v>
                </c:pt>
                <c:pt idx="7">
                  <c:v>4.7313282735305495E-2</c:v>
                </c:pt>
                <c:pt idx="8">
                  <c:v>5.4113061486177019E-2</c:v>
                </c:pt>
                <c:pt idx="9">
                  <c:v>4.4974036184340906E-2</c:v>
                </c:pt>
                <c:pt idx="10">
                  <c:v>5.4582176625380598E-2</c:v>
                </c:pt>
                <c:pt idx="11">
                  <c:v>6.1449300390979469E-2</c:v>
                </c:pt>
                <c:pt idx="12">
                  <c:v>5.1171299345022118E-2</c:v>
                </c:pt>
                <c:pt idx="13">
                  <c:v>3.8456247162113898E-2</c:v>
                </c:pt>
                <c:pt idx="14">
                  <c:v>3.9580441010329877E-2</c:v>
                </c:pt>
                <c:pt idx="15">
                  <c:v>3.5250460044701323E-2</c:v>
                </c:pt>
                <c:pt idx="16">
                  <c:v>3.4015585923544492E-2</c:v>
                </c:pt>
                <c:pt idx="17">
                  <c:v>3.5991146525441685E-2</c:v>
                </c:pt>
                <c:pt idx="18">
                  <c:v>3.6704031201955187E-2</c:v>
                </c:pt>
                <c:pt idx="19">
                  <c:v>4.2902191033228038E-2</c:v>
                </c:pt>
                <c:pt idx="20">
                  <c:v>4.7825191450978952E-2</c:v>
                </c:pt>
                <c:pt idx="21">
                  <c:v>4.3483537802784578E-2</c:v>
                </c:pt>
                <c:pt idx="22">
                  <c:v>4.3281747923084674E-2</c:v>
                </c:pt>
                <c:pt idx="23">
                  <c:v>4.6818477730063132E-2</c:v>
                </c:pt>
                <c:pt idx="24">
                  <c:v>3.9296759995763375E-2</c:v>
                </c:pt>
                <c:pt idx="25">
                  <c:v>3.3965373772418463E-2</c:v>
                </c:pt>
                <c:pt idx="26">
                  <c:v>3.2804700995866222E-2</c:v>
                </c:pt>
                <c:pt idx="27">
                  <c:v>3.1891001401419955E-2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936-4F1B-9B3C-ECCC23B60D90}"/>
            </c:ext>
          </c:extLst>
        </c:ser>
        <c:ser>
          <c:idx val="12"/>
          <c:order val="2"/>
          <c:tx>
            <c:strRef>
              <c:f>tipo_ingreso_dep!$BL$1</c:f>
              <c:strCache>
                <c:ptCount val="1"/>
                <c:pt idx="0">
                  <c:v>pd_cal</c:v>
                </c:pt>
              </c:strCache>
            </c:strRef>
          </c:tx>
          <c:spPr>
            <a:ln w="254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tipo_ingreso_dep!$BL$2:$BL$29</c:f>
              <c:numCache>
                <c:formatCode>0.00%</c:formatCode>
                <c:ptCount val="28"/>
                <c:pt idx="0">
                  <c:v>6.2663662659683345E-2</c:v>
                </c:pt>
                <c:pt idx="1">
                  <c:v>4.6816639874624651E-2</c:v>
                </c:pt>
                <c:pt idx="2">
                  <c:v>4.0674568720377689E-2</c:v>
                </c:pt>
                <c:pt idx="3">
                  <c:v>3.1579842777876108E-2</c:v>
                </c:pt>
                <c:pt idx="4">
                  <c:v>3.7924300731600281E-2</c:v>
                </c:pt>
                <c:pt idx="5">
                  <c:v>3.6344770511440777E-2</c:v>
                </c:pt>
                <c:pt idx="6">
                  <c:v>3.5828634166368702E-2</c:v>
                </c:pt>
                <c:pt idx="7">
                  <c:v>3.724381438095787E-2</c:v>
                </c:pt>
                <c:pt idx="8">
                  <c:v>4.2852210601249108E-2</c:v>
                </c:pt>
                <c:pt idx="9">
                  <c:v>3.5323805943223797E-2</c:v>
                </c:pt>
                <c:pt idx="10">
                  <c:v>4.3240561230059517E-2</c:v>
                </c:pt>
                <c:pt idx="11">
                  <c:v>4.8945252596741068E-2</c:v>
                </c:pt>
                <c:pt idx="12">
                  <c:v>4.0421041186889703E-2</c:v>
                </c:pt>
                <c:pt idx="13">
                  <c:v>3.0001647957498691E-2</c:v>
                </c:pt>
                <c:pt idx="14">
                  <c:v>3.091659667400376E-2</c:v>
                </c:pt>
                <c:pt idx="15">
                  <c:v>2.7399901596754771E-2</c:v>
                </c:pt>
                <c:pt idx="16">
                  <c:v>2.6400720333877189E-2</c:v>
                </c:pt>
                <c:pt idx="17">
                  <c:v>2.8000036220526821E-2</c:v>
                </c:pt>
                <c:pt idx="18">
                  <c:v>2.857821337445747E-2</c:v>
                </c:pt>
                <c:pt idx="19">
                  <c:v>3.362752200478434E-2</c:v>
                </c:pt>
                <c:pt idx="20">
                  <c:v>3.7664639785260592E-2</c:v>
                </c:pt>
                <c:pt idx="21">
                  <c:v>3.4103077537317977E-2</c:v>
                </c:pt>
                <c:pt idx="22">
                  <c:v>3.3937971915231561E-2</c:v>
                </c:pt>
                <c:pt idx="23">
                  <c:v>3.6837272743808533E-2</c:v>
                </c:pt>
                <c:pt idx="24">
                  <c:v>3.0685593975303169E-2</c:v>
                </c:pt>
                <c:pt idx="25">
                  <c:v>2.6360128488995459E-2</c:v>
                </c:pt>
                <c:pt idx="26">
                  <c:v>2.5422644866088331E-2</c:v>
                </c:pt>
                <c:pt idx="27">
                  <c:v>2.4685756315743532E-2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936-4F1B-9B3C-ECCC23B60D90}"/>
            </c:ext>
          </c:extLst>
        </c:ser>
        <c:ser>
          <c:idx val="0"/>
          <c:order val="3"/>
          <c:tx>
            <c:strRef>
              <c:f>tipo_ingreso_dep!$AN$1</c:f>
              <c:strCache>
                <c:ptCount val="1"/>
                <c:pt idx="0">
                  <c:v>RD_12m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002060"/>
              </a:solidFill>
              <a:ln w="9525">
                <a:noFill/>
              </a:ln>
              <a:effectLst/>
            </c:spPr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tipo_ingreso_dep!$AN$2:$AN$28</c:f>
              <c:numCache>
                <c:formatCode>0.00%</c:formatCode>
                <c:ptCount val="27"/>
                <c:pt idx="0">
                  <c:v>4.8087431693989068E-2</c:v>
                </c:pt>
                <c:pt idx="1">
                  <c:v>3.8743455497382201E-2</c:v>
                </c:pt>
                <c:pt idx="2">
                  <c:v>3.5999999999999997E-2</c:v>
                </c:pt>
                <c:pt idx="3">
                  <c:v>3.5087719298245612E-2</c:v>
                </c:pt>
                <c:pt idx="4">
                  <c:v>3.6994219653179193E-2</c:v>
                </c:pt>
                <c:pt idx="5">
                  <c:v>3.3123028391167188E-2</c:v>
                </c:pt>
                <c:pt idx="6">
                  <c:v>3.1704095112285342E-2</c:v>
                </c:pt>
                <c:pt idx="7">
                  <c:v>3.0911901081916542E-2</c:v>
                </c:pt>
                <c:pt idx="8">
                  <c:v>4.9555273189326558E-2</c:v>
                </c:pt>
                <c:pt idx="9">
                  <c:v>3.8106235565819858E-2</c:v>
                </c:pt>
                <c:pt idx="10">
                  <c:v>3.0701754385964911E-2</c:v>
                </c:pt>
                <c:pt idx="11">
                  <c:v>4.1835357624831308E-2</c:v>
                </c:pt>
                <c:pt idx="12">
                  <c:v>4.4057377049180328E-2</c:v>
                </c:pt>
                <c:pt idx="13">
                  <c:v>2.827521206409048E-2</c:v>
                </c:pt>
                <c:pt idx="14">
                  <c:v>2.4839006439742409E-2</c:v>
                </c:pt>
                <c:pt idx="15">
                  <c:v>1.4115092290988059E-2</c:v>
                </c:pt>
                <c:pt idx="16">
                  <c:v>2.8202115158636899E-2</c:v>
                </c:pt>
                <c:pt idx="17">
                  <c:v>2.5365853658536591E-2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936-4F1B-9B3C-ECCC23B60D90}"/>
            </c:ext>
          </c:extLst>
        </c:ser>
        <c:ser>
          <c:idx val="10"/>
          <c:order val="4"/>
          <c:tx>
            <c:strRef>
              <c:f>tipo_ingreso_dep!$AZ$1</c:f>
              <c:strCache>
                <c:ptCount val="1"/>
                <c:pt idx="0">
                  <c:v>RD_PROY_V1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tipo_ingreso_dep!$AZ$2:$AZ$28</c:f>
              <c:numCache>
                <c:formatCode>0.00%</c:formatCode>
                <c:ptCount val="27"/>
                <c:pt idx="18">
                  <c:v>3.0561471442400779E-2</c:v>
                </c:pt>
                <c:pt idx="19">
                  <c:v>3.4339432683184443E-2</c:v>
                </c:pt>
                <c:pt idx="20">
                  <c:v>2.8621108412453071E-2</c:v>
                </c:pt>
                <c:pt idx="21">
                  <c:v>3.586118590109013E-2</c:v>
                </c:pt>
                <c:pt idx="22">
                  <c:v>3.025335320417288E-2</c:v>
                </c:pt>
                <c:pt idx="23">
                  <c:v>3.2421826336115622E-2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936-4F1B-9B3C-ECCC23B60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30076703"/>
        <c:axId val="2130075743"/>
      </c:lineChart>
      <c:catAx>
        <c:axId val="213007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5743"/>
        <c:crosses val="autoZero"/>
        <c:auto val="1"/>
        <c:lblAlgn val="ctr"/>
        <c:lblOffset val="100"/>
        <c:noMultiLvlLbl val="0"/>
      </c:catAx>
      <c:valAx>
        <c:axId val="2130075743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6703"/>
        <c:crosses val="autoZero"/>
        <c:crossBetween val="between"/>
        <c:majorUnit val="4.0000000000000008E-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8218591598744899E-3"/>
          <c:y val="0.81807988769069295"/>
          <c:w val="0.97078602375211209"/>
          <c:h val="0.162907763681615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s-PE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6746666666666667E-2"/>
          <c:y val="4.2777778609463954E-2"/>
          <c:w val="0.92591999999999997"/>
          <c:h val="0.48071921439626486"/>
        </c:manualLayout>
      </c:layout>
      <c:lineChart>
        <c:grouping val="standard"/>
        <c:varyColors val="0"/>
        <c:ser>
          <c:idx val="0"/>
          <c:order val="0"/>
          <c:tx>
            <c:strRef>
              <c:f>tipo_ingreso_dep!$AN$1</c:f>
              <c:strCache>
                <c:ptCount val="1"/>
                <c:pt idx="0">
                  <c:v>RD_12m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002060"/>
              </a:solidFill>
              <a:ln w="9525">
                <a:noFill/>
              </a:ln>
              <a:effectLst/>
            </c:spPr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tipo_ingreso_dep!$AN$2:$AN$28</c:f>
              <c:numCache>
                <c:formatCode>0.00%</c:formatCode>
                <c:ptCount val="27"/>
                <c:pt idx="0">
                  <c:v>4.8087431693989068E-2</c:v>
                </c:pt>
                <c:pt idx="1">
                  <c:v>3.8743455497382201E-2</c:v>
                </c:pt>
                <c:pt idx="2">
                  <c:v>3.5999999999999997E-2</c:v>
                </c:pt>
                <c:pt idx="3">
                  <c:v>3.5087719298245612E-2</c:v>
                </c:pt>
                <c:pt idx="4">
                  <c:v>3.6994219653179193E-2</c:v>
                </c:pt>
                <c:pt idx="5">
                  <c:v>3.3123028391167188E-2</c:v>
                </c:pt>
                <c:pt idx="6">
                  <c:v>3.1704095112285342E-2</c:v>
                </c:pt>
                <c:pt idx="7">
                  <c:v>3.0911901081916542E-2</c:v>
                </c:pt>
                <c:pt idx="8">
                  <c:v>4.9555273189326558E-2</c:v>
                </c:pt>
                <c:pt idx="9">
                  <c:v>3.8106235565819858E-2</c:v>
                </c:pt>
                <c:pt idx="10">
                  <c:v>3.0701754385964911E-2</c:v>
                </c:pt>
                <c:pt idx="11">
                  <c:v>4.1835357624831308E-2</c:v>
                </c:pt>
                <c:pt idx="12">
                  <c:v>4.4057377049180328E-2</c:v>
                </c:pt>
                <c:pt idx="13">
                  <c:v>2.827521206409048E-2</c:v>
                </c:pt>
                <c:pt idx="14">
                  <c:v>2.4839006439742409E-2</c:v>
                </c:pt>
                <c:pt idx="15">
                  <c:v>1.4115092290988059E-2</c:v>
                </c:pt>
                <c:pt idx="16">
                  <c:v>2.8202115158636899E-2</c:v>
                </c:pt>
                <c:pt idx="17">
                  <c:v>2.5365853658536591E-2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00-4802-81A9-EED1D90F4B3F}"/>
            </c:ext>
          </c:extLst>
        </c:ser>
        <c:ser>
          <c:idx val="3"/>
          <c:order val="1"/>
          <c:tx>
            <c:strRef>
              <c:f>tipo_ingreso_dep!$AQ$1</c:f>
              <c:strCache>
                <c:ptCount val="1"/>
                <c:pt idx="0">
                  <c:v>LI</c:v>
                </c:pt>
              </c:strCache>
            </c:strRef>
          </c:tx>
          <c:spPr>
            <a:ln w="22225" cap="rnd">
              <a:solidFill>
                <a:sysClr val="window" lastClr="FFFFFF">
                  <a:lumMod val="65000"/>
                </a:sys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tipo_ingreso_dep!$AQ$2:$AQ$29</c:f>
              <c:numCache>
                <c:formatCode>0.00%</c:formatCode>
                <c:ptCount val="28"/>
                <c:pt idx="0">
                  <c:v>0.20542939445612662</c:v>
                </c:pt>
                <c:pt idx="1">
                  <c:v>0.19647648955867059</c:v>
                </c:pt>
                <c:pt idx="2">
                  <c:v>0.20690469899977759</c:v>
                </c:pt>
                <c:pt idx="3">
                  <c:v>0.17974334243314299</c:v>
                </c:pt>
                <c:pt idx="4">
                  <c:v>0.19349368520274543</c:v>
                </c:pt>
                <c:pt idx="5">
                  <c:v>0.19486017935056049</c:v>
                </c:pt>
                <c:pt idx="6">
                  <c:v>0.18854322289170095</c:v>
                </c:pt>
                <c:pt idx="7">
                  <c:v>0.16251337504979077</c:v>
                </c:pt>
                <c:pt idx="8">
                  <c:v>0.17650153360122908</c:v>
                </c:pt>
                <c:pt idx="9">
                  <c:v>0.14350773397938321</c:v>
                </c:pt>
                <c:pt idx="10">
                  <c:v>0.17798256770371951</c:v>
                </c:pt>
                <c:pt idx="11">
                  <c:v>0.1935601904801674</c:v>
                </c:pt>
                <c:pt idx="12">
                  <c:v>0.1749833387476766</c:v>
                </c:pt>
                <c:pt idx="13">
                  <c:v>0.17103336872887698</c:v>
                </c:pt>
                <c:pt idx="14">
                  <c:v>0.17499761814705864</c:v>
                </c:pt>
                <c:pt idx="15">
                  <c:v>0.15666803757475578</c:v>
                </c:pt>
                <c:pt idx="16">
                  <c:v>0.1552612987296329</c:v>
                </c:pt>
                <c:pt idx="17">
                  <c:v>0.16241353053959018</c:v>
                </c:pt>
                <c:pt idx="18">
                  <c:v>0.1657691925028551</c:v>
                </c:pt>
                <c:pt idx="19">
                  <c:v>0.16222164100765718</c:v>
                </c:pt>
                <c:pt idx="20">
                  <c:v>0.16953151751254208</c:v>
                </c:pt>
                <c:pt idx="21">
                  <c:v>0.15936441831769066</c:v>
                </c:pt>
                <c:pt idx="22">
                  <c:v>0.15850626551144489</c:v>
                </c:pt>
                <c:pt idx="23">
                  <c:v>0.15888372754485738</c:v>
                </c:pt>
                <c:pt idx="24">
                  <c:v>0.15087997272955619</c:v>
                </c:pt>
                <c:pt idx="25">
                  <c:v>0.15543271835870531</c:v>
                </c:pt>
                <c:pt idx="26">
                  <c:v>0.15227497336338117</c:v>
                </c:pt>
                <c:pt idx="27">
                  <c:v>0.14938078170489602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A00-4802-81A9-EED1D90F4B3F}"/>
            </c:ext>
          </c:extLst>
        </c:ser>
        <c:ser>
          <c:idx val="4"/>
          <c:order val="2"/>
          <c:tx>
            <c:strRef>
              <c:f>tipo_ingreso_dep!$AR$1</c:f>
              <c:strCache>
                <c:ptCount val="1"/>
                <c:pt idx="0">
                  <c:v>LS</c:v>
                </c:pt>
              </c:strCache>
            </c:strRef>
          </c:tx>
          <c:spPr>
            <a:ln w="22225" cap="rnd">
              <a:solidFill>
                <a:sysClr val="window" lastClr="FFFFFF">
                  <a:lumMod val="65000"/>
                </a:sys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tipo_ingreso_dep!$AR$2:$AR$29</c:f>
              <c:numCache>
                <c:formatCode>0.00%</c:formatCode>
                <c:ptCount val="28"/>
                <c:pt idx="0">
                  <c:v>0.27786955448802292</c:v>
                </c:pt>
                <c:pt idx="1">
                  <c:v>0.26727572557597223</c:v>
                </c:pt>
                <c:pt idx="2">
                  <c:v>0.27960775434903129</c:v>
                </c:pt>
                <c:pt idx="3">
                  <c:v>0.24725840820035716</c:v>
                </c:pt>
                <c:pt idx="4">
                  <c:v>0.26372855539869755</c:v>
                </c:pt>
                <c:pt idx="5">
                  <c:v>0.26535471010406098</c:v>
                </c:pt>
                <c:pt idx="6">
                  <c:v>0.25782150991707042</c:v>
                </c:pt>
                <c:pt idx="7">
                  <c:v>0.22633253273241244</c:v>
                </c:pt>
                <c:pt idx="8">
                  <c:v>0.24334628540074243</c:v>
                </c:pt>
                <c:pt idx="9">
                  <c:v>0.20284828670111318</c:v>
                </c:pt>
                <c:pt idx="10">
                  <c:v>0.24513496323790462</c:v>
                </c:pt>
                <c:pt idx="11">
                  <c:v>0.26380774163584997</c:v>
                </c:pt>
                <c:pt idx="12">
                  <c:v>0.24151025181415864</c:v>
                </c:pt>
                <c:pt idx="13">
                  <c:v>0.23672147525159684</c:v>
                </c:pt>
                <c:pt idx="14">
                  <c:v>0.24152753237863378</c:v>
                </c:pt>
                <c:pt idx="15">
                  <c:v>0.21915639579060872</c:v>
                </c:pt>
                <c:pt idx="16">
                  <c:v>0.21742332996703984</c:v>
                </c:pt>
                <c:pt idx="17">
                  <c:v>0.22621029324824721</c:v>
                </c:pt>
                <c:pt idx="18">
                  <c:v>0.23031231295950114</c:v>
                </c:pt>
                <c:pt idx="19">
                  <c:v>0.22597533065016273</c:v>
                </c:pt>
                <c:pt idx="20">
                  <c:v>0.23489614705194581</c:v>
                </c:pt>
                <c:pt idx="21">
                  <c:v>0.2224716634479669</c:v>
                </c:pt>
                <c:pt idx="22">
                  <c:v>0.22141747941148771</c:v>
                </c:pt>
                <c:pt idx="23">
                  <c:v>0.22188127387739018</c:v>
                </c:pt>
                <c:pt idx="24">
                  <c:v>0.21201028818007839</c:v>
                </c:pt>
                <c:pt idx="25">
                  <c:v>0.21763464176241223</c:v>
                </c:pt>
                <c:pt idx="26">
                  <c:v>0.21373632706045442</c:v>
                </c:pt>
                <c:pt idx="27">
                  <c:v>0.21015265745247416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A00-4802-81A9-EED1D90F4B3F}"/>
            </c:ext>
          </c:extLst>
        </c:ser>
        <c:ser>
          <c:idx val="10"/>
          <c:order val="3"/>
          <c:tx>
            <c:strRef>
              <c:f>tipo_ingreso_dep!$AZ$1</c:f>
              <c:strCache>
                <c:ptCount val="1"/>
                <c:pt idx="0">
                  <c:v>RD_PROY_V1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tipo_ingreso_dep!$AZ$2:$AZ$28</c:f>
              <c:numCache>
                <c:formatCode>0.00%</c:formatCode>
                <c:ptCount val="27"/>
                <c:pt idx="18">
                  <c:v>3.0561471442400779E-2</c:v>
                </c:pt>
                <c:pt idx="19">
                  <c:v>3.4339432683184443E-2</c:v>
                </c:pt>
                <c:pt idx="20">
                  <c:v>2.8621108412453071E-2</c:v>
                </c:pt>
                <c:pt idx="21">
                  <c:v>3.586118590109013E-2</c:v>
                </c:pt>
                <c:pt idx="22">
                  <c:v>3.025335320417288E-2</c:v>
                </c:pt>
                <c:pt idx="23">
                  <c:v>3.2421826336115622E-2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A00-4802-81A9-EED1D90F4B3F}"/>
            </c:ext>
          </c:extLst>
        </c:ser>
        <c:ser>
          <c:idx val="12"/>
          <c:order val="4"/>
          <c:tx>
            <c:strRef>
              <c:f>tipo_ingreso_dep!$BD$1</c:f>
              <c:strCache>
                <c:ptCount val="1"/>
                <c:pt idx="0">
                  <c:v>pd</c:v>
                </c:pt>
              </c:strCache>
            </c:strRef>
          </c:tx>
          <c:spPr>
            <a:ln w="25400" cap="rnd">
              <a:solidFill>
                <a:sysClr val="window" lastClr="FFFFFF">
                  <a:lumMod val="65000"/>
                </a:sysClr>
              </a:solidFill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tipo_ingreso_dep!$BD$2:$BD$29</c:f>
              <c:numCache>
                <c:formatCode>0.00%</c:formatCode>
                <c:ptCount val="28"/>
                <c:pt idx="0">
                  <c:v>0.24071139358820079</c:v>
                </c:pt>
                <c:pt idx="1">
                  <c:v>0.23091790168992329</c:v>
                </c:pt>
                <c:pt idx="2">
                  <c:v>0.24232163642436799</c:v>
                </c:pt>
                <c:pt idx="3">
                  <c:v>0.21251034588187709</c:v>
                </c:pt>
                <c:pt idx="4">
                  <c:v>0.22764662944342259</c:v>
                </c:pt>
                <c:pt idx="5">
                  <c:v>0.22914580628007269</c:v>
                </c:pt>
                <c:pt idx="6">
                  <c:v>0.22220793198105371</c:v>
                </c:pt>
                <c:pt idx="7">
                  <c:v>0.19340736509425729</c:v>
                </c:pt>
                <c:pt idx="8">
                  <c:v>0.2089279879900719</c:v>
                </c:pt>
                <c:pt idx="9">
                  <c:v>0.17214624036735809</c:v>
                </c:pt>
                <c:pt idx="10">
                  <c:v>0.2105652702824693</c:v>
                </c:pt>
                <c:pt idx="11">
                  <c:v>0.22771961296148099</c:v>
                </c:pt>
                <c:pt idx="12">
                  <c:v>0.20724845226498079</c:v>
                </c:pt>
                <c:pt idx="13">
                  <c:v>0.20287309732581099</c:v>
                </c:pt>
                <c:pt idx="14">
                  <c:v>0.20726425470965751</c:v>
                </c:pt>
                <c:pt idx="15">
                  <c:v>0.1868902731855597</c:v>
                </c:pt>
                <c:pt idx="16">
                  <c:v>0.18531901713225951</c:v>
                </c:pt>
                <c:pt idx="17">
                  <c:v>0.19329620490723101</c:v>
                </c:pt>
                <c:pt idx="18">
                  <c:v>0.19702919628800311</c:v>
                </c:pt>
                <c:pt idx="19">
                  <c:v>0.1930825526193046</c:v>
                </c:pt>
                <c:pt idx="20">
                  <c:v>0.2012073567107899</c:v>
                </c:pt>
                <c:pt idx="21">
                  <c:v>0.18989888454511331</c:v>
                </c:pt>
                <c:pt idx="22">
                  <c:v>0.18894180193885471</c:v>
                </c:pt>
                <c:pt idx="23">
                  <c:v>0.18936282919747821</c:v>
                </c:pt>
                <c:pt idx="24">
                  <c:v>0.18041807070117591</c:v>
                </c:pt>
                <c:pt idx="25">
                  <c:v>0.18551054407252321</c:v>
                </c:pt>
                <c:pt idx="26">
                  <c:v>0.18197971281327599</c:v>
                </c:pt>
                <c:pt idx="27">
                  <c:v>0.17873853398271669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3A00-4802-81A9-EED1D90F4B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30076703"/>
        <c:axId val="2130075743"/>
      </c:lineChart>
      <c:catAx>
        <c:axId val="213007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5743"/>
        <c:crosses val="autoZero"/>
        <c:auto val="1"/>
        <c:lblAlgn val="ctr"/>
        <c:lblOffset val="100"/>
        <c:noMultiLvlLbl val="0"/>
      </c:catAx>
      <c:valAx>
        <c:axId val="2130075743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6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111075622999222E-2"/>
          <c:y val="0.84053136250953775"/>
          <c:w val="0.96768961826440381"/>
          <c:h val="0.140456300224360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s-PE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6241388847478641E-2"/>
          <c:y val="4.5885202947524281E-2"/>
          <c:w val="0.92591999999999997"/>
          <c:h val="0.51676971797600957"/>
        </c:manualLayout>
      </c:layout>
      <c:lineChart>
        <c:grouping val="standard"/>
        <c:varyColors val="0"/>
        <c:ser>
          <c:idx val="0"/>
          <c:order val="0"/>
          <c:tx>
            <c:strRef>
              <c:f>tipo_ingreso_dep!$E$1</c:f>
              <c:strCache>
                <c:ptCount val="1"/>
                <c:pt idx="0">
                  <c:v>RD_12m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002060"/>
              </a:solidFill>
              <a:ln w="9525">
                <a:noFill/>
              </a:ln>
              <a:effectLst/>
            </c:spPr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tipo_ingreso_dep!$E$2:$E$29</c:f>
              <c:numCache>
                <c:formatCode>0.00%</c:formatCode>
                <c:ptCount val="28"/>
                <c:pt idx="0">
                  <c:v>1.7500000000000002E-2</c:v>
                </c:pt>
                <c:pt idx="1">
                  <c:v>1.157407407407407E-2</c:v>
                </c:pt>
                <c:pt idx="2">
                  <c:v>1.8018018018018021E-2</c:v>
                </c:pt>
                <c:pt idx="3">
                  <c:v>9.1533180778032037E-3</c:v>
                </c:pt>
                <c:pt idx="4">
                  <c:v>1.488095238095238E-2</c:v>
                </c:pt>
                <c:pt idx="5">
                  <c:v>2.5477707006369432E-2</c:v>
                </c:pt>
                <c:pt idx="6">
                  <c:v>2.7542372881355932E-2</c:v>
                </c:pt>
                <c:pt idx="7">
                  <c:v>4.0506329113924051E-2</c:v>
                </c:pt>
                <c:pt idx="8">
                  <c:v>4.4088176352705413E-2</c:v>
                </c:pt>
                <c:pt idx="9">
                  <c:v>3.1315240083507313E-2</c:v>
                </c:pt>
                <c:pt idx="10">
                  <c:v>2.723735408560311E-2</c:v>
                </c:pt>
                <c:pt idx="11">
                  <c:v>4.9090909090909088E-2</c:v>
                </c:pt>
                <c:pt idx="12">
                  <c:v>3.889585947302384E-2</c:v>
                </c:pt>
                <c:pt idx="13">
                  <c:v>2.3936170212765961E-2</c:v>
                </c:pt>
                <c:pt idx="14">
                  <c:v>2.616279069767442E-2</c:v>
                </c:pt>
                <c:pt idx="15">
                  <c:v>3.650793650793651E-2</c:v>
                </c:pt>
                <c:pt idx="16">
                  <c:v>2.9605263157894739E-2</c:v>
                </c:pt>
                <c:pt idx="17">
                  <c:v>3.7202380952380952E-2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36-4BDA-99B6-34EBDF1DD49C}"/>
            </c:ext>
          </c:extLst>
        </c:ser>
        <c:ser>
          <c:idx val="3"/>
          <c:order val="1"/>
          <c:tx>
            <c:strRef>
              <c:f>tipo_ingreso_dep!$H$1</c:f>
              <c:strCache>
                <c:ptCount val="1"/>
                <c:pt idx="0">
                  <c:v>LI</c:v>
                </c:pt>
              </c:strCache>
            </c:strRef>
          </c:tx>
          <c:spPr>
            <a:ln w="22225" cap="rnd">
              <a:solidFill>
                <a:schemeClr val="bg1">
                  <a:lumMod val="6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tipo_ingreso_dep!$H$2:$H$29</c:f>
              <c:numCache>
                <c:formatCode>0.00%</c:formatCode>
                <c:ptCount val="28"/>
                <c:pt idx="0">
                  <c:v>0.1569759219242933</c:v>
                </c:pt>
                <c:pt idx="1">
                  <c:v>0.15542182541557684</c:v>
                </c:pt>
                <c:pt idx="2">
                  <c:v>0.16539596601194609</c:v>
                </c:pt>
                <c:pt idx="3">
                  <c:v>0.144406090515798</c:v>
                </c:pt>
                <c:pt idx="4">
                  <c:v>0.14784672341161348</c:v>
                </c:pt>
                <c:pt idx="5">
                  <c:v>0.16141499309454826</c:v>
                </c:pt>
                <c:pt idx="6">
                  <c:v>0.17390514290717118</c:v>
                </c:pt>
                <c:pt idx="7">
                  <c:v>0.15007918559574457</c:v>
                </c:pt>
                <c:pt idx="8">
                  <c:v>0.18372942176597226</c:v>
                </c:pt>
                <c:pt idx="9">
                  <c:v>0.14785467216245335</c:v>
                </c:pt>
                <c:pt idx="10">
                  <c:v>0.18311565119928114</c:v>
                </c:pt>
                <c:pt idx="11">
                  <c:v>0.1971753570996754</c:v>
                </c:pt>
                <c:pt idx="12">
                  <c:v>0.18768942990906126</c:v>
                </c:pt>
                <c:pt idx="13">
                  <c:v>0.17245611223778984</c:v>
                </c:pt>
                <c:pt idx="14">
                  <c:v>0.18585574243815114</c:v>
                </c:pt>
                <c:pt idx="15">
                  <c:v>0.180876302413148</c:v>
                </c:pt>
                <c:pt idx="16">
                  <c:v>0.17038407116952034</c:v>
                </c:pt>
                <c:pt idx="17">
                  <c:v>0.17736580518722189</c:v>
                </c:pt>
                <c:pt idx="18">
                  <c:v>0.18786492971305871</c:v>
                </c:pt>
                <c:pt idx="19">
                  <c:v>0.16495542776309061</c:v>
                </c:pt>
                <c:pt idx="20">
                  <c:v>0.17374958334949872</c:v>
                </c:pt>
                <c:pt idx="21">
                  <c:v>0.15493158607722765</c:v>
                </c:pt>
                <c:pt idx="22">
                  <c:v>0.15589004392054204</c:v>
                </c:pt>
                <c:pt idx="23">
                  <c:v>0.16492123807084177</c:v>
                </c:pt>
                <c:pt idx="24">
                  <c:v>0.1646218307684322</c:v>
                </c:pt>
                <c:pt idx="25">
                  <c:v>0.16263897785556944</c:v>
                </c:pt>
                <c:pt idx="26">
                  <c:v>0.14265393888281891</c:v>
                </c:pt>
                <c:pt idx="27">
                  <c:v>0.14152319374573219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436-4BDA-99B6-34EBDF1DD49C}"/>
            </c:ext>
          </c:extLst>
        </c:ser>
        <c:ser>
          <c:idx val="4"/>
          <c:order val="2"/>
          <c:tx>
            <c:strRef>
              <c:f>tipo_ingreso_dep!$I$1</c:f>
              <c:strCache>
                <c:ptCount val="1"/>
                <c:pt idx="0">
                  <c:v>LS</c:v>
                </c:pt>
              </c:strCache>
            </c:strRef>
          </c:tx>
          <c:spPr>
            <a:ln w="22225" cap="rnd">
              <a:solidFill>
                <a:schemeClr val="bg1">
                  <a:lumMod val="65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tipo_ingreso_dep!$I$2:$I$29</c:f>
              <c:numCache>
                <c:formatCode>0.00%</c:formatCode>
                <c:ptCount val="28"/>
                <c:pt idx="0">
                  <c:v>0.21953538494678063</c:v>
                </c:pt>
                <c:pt idx="1">
                  <c:v>0.217621214905377</c:v>
                </c:pt>
                <c:pt idx="2">
                  <c:v>0.22985671447834105</c:v>
                </c:pt>
                <c:pt idx="3">
                  <c:v>0.20396841763630416</c:v>
                </c:pt>
                <c:pt idx="4">
                  <c:v>0.20824892934565667</c:v>
                </c:pt>
                <c:pt idx="5">
                  <c:v>0.2249871471352595</c:v>
                </c:pt>
                <c:pt idx="6">
                  <c:v>0.2402048008720799</c:v>
                </c:pt>
                <c:pt idx="7">
                  <c:v>0.21101838824399338</c:v>
                </c:pt>
                <c:pt idx="8">
                  <c:v>0.25205327029008828</c:v>
                </c:pt>
                <c:pt idx="9">
                  <c:v>0.20825880113304204</c:v>
                </c:pt>
                <c:pt idx="10">
                  <c:v>0.25131606212596991</c:v>
                </c:pt>
                <c:pt idx="11">
                  <c:v>0.26810553298051942</c:v>
                </c:pt>
                <c:pt idx="12">
                  <c:v>0.25680019354516337</c:v>
                </c:pt>
                <c:pt idx="13">
                  <c:v>0.23844833720258296</c:v>
                </c:pt>
                <c:pt idx="14">
                  <c:v>0.25460416027818844</c:v>
                </c:pt>
                <c:pt idx="15">
                  <c:v>0.24862296744852763</c:v>
                </c:pt>
                <c:pt idx="16">
                  <c:v>0.23593263803559636</c:v>
                </c:pt>
                <c:pt idx="17">
                  <c:v>0.24439037423682053</c:v>
                </c:pt>
                <c:pt idx="18">
                  <c:v>0.25701018988657842</c:v>
                </c:pt>
                <c:pt idx="19">
                  <c:v>0.22931874307392308</c:v>
                </c:pt>
                <c:pt idx="20">
                  <c:v>0.24001634804863164</c:v>
                </c:pt>
                <c:pt idx="21">
                  <c:v>0.21701678816720979</c:v>
                </c:pt>
                <c:pt idx="22">
                  <c:v>0.2181982214763302</c:v>
                </c:pt>
                <c:pt idx="23">
                  <c:v>0.22927698239332972</c:v>
                </c:pt>
                <c:pt idx="24">
                  <c:v>0.22891121678833409</c:v>
                </c:pt>
                <c:pt idx="25">
                  <c:v>0.22648629161496861</c:v>
                </c:pt>
                <c:pt idx="26">
                  <c:v>0.20178275665827419</c:v>
                </c:pt>
                <c:pt idx="27">
                  <c:v>0.20037014503018294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436-4BDA-99B6-34EBDF1DD49C}"/>
            </c:ext>
          </c:extLst>
        </c:ser>
        <c:ser>
          <c:idx val="10"/>
          <c:order val="3"/>
          <c:tx>
            <c:strRef>
              <c:f>tipo_ingreso_dep!$Q$1</c:f>
              <c:strCache>
                <c:ptCount val="1"/>
                <c:pt idx="0">
                  <c:v>RD_PROY_V1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tipo_ingreso_dep!$Q$2:$Q$29</c:f>
              <c:numCache>
                <c:formatCode>0.00%</c:formatCode>
                <c:ptCount val="28"/>
                <c:pt idx="18">
                  <c:v>2.3942831884485049E-2</c:v>
                </c:pt>
                <c:pt idx="19">
                  <c:v>3.3221949015404657E-2</c:v>
                </c:pt>
                <c:pt idx="20">
                  <c:v>2.1186440677966101E-2</c:v>
                </c:pt>
                <c:pt idx="21">
                  <c:v>1.601694915254237E-2</c:v>
                </c:pt>
                <c:pt idx="22">
                  <c:v>1.8133333333333331E-2</c:v>
                </c:pt>
                <c:pt idx="23">
                  <c:v>4.0987654320987658E-2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436-4BDA-99B6-34EBDF1DD49C}"/>
            </c:ext>
          </c:extLst>
        </c:ser>
        <c:ser>
          <c:idx val="12"/>
          <c:order val="4"/>
          <c:tx>
            <c:strRef>
              <c:f>tipo_ingreso_dep!$U$1</c:f>
              <c:strCache>
                <c:ptCount val="1"/>
                <c:pt idx="0">
                  <c:v>pd</c:v>
                </c:pt>
              </c:strCache>
            </c:strRef>
          </c:tx>
          <c:spPr>
            <a:ln w="25400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tipo_ingreso_dep!$A$2:$A$29</c:f>
              <c:strCache>
                <c:ptCount val="28"/>
                <c:pt idx="0">
                  <c:v>202401</c:v>
                </c:pt>
                <c:pt idx="1">
                  <c:v>202402</c:v>
                </c:pt>
                <c:pt idx="2">
                  <c:v>202403</c:v>
                </c:pt>
                <c:pt idx="3">
                  <c:v>202404</c:v>
                </c:pt>
                <c:pt idx="4">
                  <c:v>202405</c:v>
                </c:pt>
                <c:pt idx="5">
                  <c:v>202406</c:v>
                </c:pt>
                <c:pt idx="6">
                  <c:v>202407</c:v>
                </c:pt>
                <c:pt idx="7">
                  <c:v>202408</c:v>
                </c:pt>
                <c:pt idx="8">
                  <c:v>202409</c:v>
                </c:pt>
                <c:pt idx="9">
                  <c:v>202410</c:v>
                </c:pt>
                <c:pt idx="10">
                  <c:v>202411</c:v>
                </c:pt>
                <c:pt idx="11">
                  <c:v>202412</c:v>
                </c:pt>
                <c:pt idx="12">
                  <c:v>202501</c:v>
                </c:pt>
                <c:pt idx="13">
                  <c:v>202502</c:v>
                </c:pt>
                <c:pt idx="14">
                  <c:v>202503</c:v>
                </c:pt>
                <c:pt idx="15">
                  <c:v>202504</c:v>
                </c:pt>
                <c:pt idx="16">
                  <c:v>202505</c:v>
                </c:pt>
                <c:pt idx="17">
                  <c:v>202506</c:v>
                </c:pt>
                <c:pt idx="18">
                  <c:v>202507</c:v>
                </c:pt>
                <c:pt idx="19">
                  <c:v>202508</c:v>
                </c:pt>
                <c:pt idx="20">
                  <c:v>202509</c:v>
                </c:pt>
                <c:pt idx="21">
                  <c:v>202510</c:v>
                </c:pt>
                <c:pt idx="22">
                  <c:v>202511</c:v>
                </c:pt>
                <c:pt idx="23">
                  <c:v>202512</c:v>
                </c:pt>
                <c:pt idx="24">
                  <c:v>202601</c:v>
                </c:pt>
                <c:pt idx="25">
                  <c:v>202602</c:v>
                </c:pt>
                <c:pt idx="26">
                  <c:v>202603</c:v>
                </c:pt>
                <c:pt idx="27">
                  <c:v>202604</c:v>
                </c:pt>
              </c:strCache>
            </c:strRef>
          </c:cat>
          <c:val>
            <c:numRef>
              <c:f>tipo_ingreso_dep!$U$2:$U$29</c:f>
              <c:numCache>
                <c:formatCode>0.00%</c:formatCode>
                <c:ptCount val="28"/>
                <c:pt idx="0">
                  <c:v>0.18723401547188981</c:v>
                </c:pt>
                <c:pt idx="1">
                  <c:v>0.1854983738961922</c:v>
                </c:pt>
                <c:pt idx="2">
                  <c:v>0.19661430416756001</c:v>
                </c:pt>
                <c:pt idx="3">
                  <c:v>0.17315594520081659</c:v>
                </c:pt>
                <c:pt idx="4">
                  <c:v>0.17701857621784539</c:v>
                </c:pt>
                <c:pt idx="5">
                  <c:v>0.1921841992752388</c:v>
                </c:pt>
                <c:pt idx="6">
                  <c:v>0.20605495007131591</c:v>
                </c:pt>
                <c:pt idx="7">
                  <c:v>0.17952111536932319</c:v>
                </c:pt>
                <c:pt idx="8">
                  <c:v>0.21690784895209211</c:v>
                </c:pt>
                <c:pt idx="9">
                  <c:v>0.17702749177265301</c:v>
                </c:pt>
                <c:pt idx="10">
                  <c:v>0.216231248437186</c:v>
                </c:pt>
                <c:pt idx="11">
                  <c:v>0.23168374283383969</c:v>
                </c:pt>
                <c:pt idx="12">
                  <c:v>0.22126872552504229</c:v>
                </c:pt>
                <c:pt idx="13">
                  <c:v>0.20445000089087681</c:v>
                </c:pt>
                <c:pt idx="14">
                  <c:v>0.2192503819228456</c:v>
                </c:pt>
                <c:pt idx="15">
                  <c:v>0.2137610597670645</c:v>
                </c:pt>
                <c:pt idx="16">
                  <c:v>0.20215309156684211</c:v>
                </c:pt>
                <c:pt idx="17">
                  <c:v>0.20988357647109521</c:v>
                </c:pt>
                <c:pt idx="18">
                  <c:v>0.22146181158267059</c:v>
                </c:pt>
                <c:pt idx="19">
                  <c:v>0.19612448895322659</c:v>
                </c:pt>
                <c:pt idx="20">
                  <c:v>0.20588270449603471</c:v>
                </c:pt>
                <c:pt idx="21">
                  <c:v>0.1849505827241231</c:v>
                </c:pt>
                <c:pt idx="22">
                  <c:v>0.18602143192515799</c:v>
                </c:pt>
                <c:pt idx="23">
                  <c:v>0.19608647053673631</c:v>
                </c:pt>
                <c:pt idx="24">
                  <c:v>0.19575350711720341</c:v>
                </c:pt>
                <c:pt idx="25">
                  <c:v>0.19354719508622889</c:v>
                </c:pt>
                <c:pt idx="26">
                  <c:v>0.17118616943892509</c:v>
                </c:pt>
                <c:pt idx="27">
                  <c:v>0.1699139954903861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B436-4BDA-99B6-34EBDF1DD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30076703"/>
        <c:axId val="2130075743"/>
      </c:lineChart>
      <c:catAx>
        <c:axId val="2130076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5743"/>
        <c:crosses val="autoZero"/>
        <c:auto val="1"/>
        <c:lblAlgn val="ctr"/>
        <c:lblOffset val="100"/>
        <c:noMultiLvlLbl val="0"/>
      </c:catAx>
      <c:valAx>
        <c:axId val="2130075743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30076703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5503362963497068E-2"/>
          <c:y val="0.83636675147299189"/>
          <c:w val="0.96827865358981979"/>
          <c:h val="0.144621198793958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479376754165638"/>
          <c:y val="6.0185185185185182E-2"/>
          <c:w val="0.85441293133490614"/>
          <c:h val="0.75190615106390357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B_RD_PD!$A$3:$A$8</c:f>
              <c:strCache>
                <c:ptCount val="6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</c:strCache>
            </c:strRef>
          </c:cat>
          <c:val>
            <c:numRef>
              <c:f>B_RD_PD!$B$3:$B$8</c:f>
              <c:numCache>
                <c:formatCode>0.00%</c:formatCode>
                <c:ptCount val="6"/>
                <c:pt idx="0">
                  <c:v>1.17096018735363E-3</c:v>
                </c:pt>
                <c:pt idx="1">
                  <c:v>3.7558685446009389E-3</c:v>
                </c:pt>
                <c:pt idx="2">
                  <c:v>5.9031877213695386E-3</c:v>
                </c:pt>
                <c:pt idx="3">
                  <c:v>5.5928411633109623E-3</c:v>
                </c:pt>
                <c:pt idx="4">
                  <c:v>5.3156146179401996E-3</c:v>
                </c:pt>
                <c:pt idx="5">
                  <c:v>5.8214747736093147E-3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381-4E6D-8FF0-68A0272D47F0}"/>
            </c:ext>
          </c:extLst>
        </c:ser>
        <c:ser>
          <c:idx val="1"/>
          <c:order val="1"/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strRef>
              <c:f>B_RD_PD!$A$3:$A$8</c:f>
              <c:strCache>
                <c:ptCount val="6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</c:strCache>
            </c:strRef>
          </c:cat>
          <c:val>
            <c:numRef>
              <c:f>B_RD_PD!$C$3:$C$8</c:f>
              <c:numCache>
                <c:formatCode>0.00%</c:formatCode>
                <c:ptCount val="6"/>
                <c:pt idx="0">
                  <c:v>1.165254237288136E-2</c:v>
                </c:pt>
                <c:pt idx="1">
                  <c:v>1.6145307769929361E-2</c:v>
                </c:pt>
                <c:pt idx="2">
                  <c:v>1.2539184952978059E-2</c:v>
                </c:pt>
                <c:pt idx="3">
                  <c:v>1.8556701030927839E-2</c:v>
                </c:pt>
                <c:pt idx="4">
                  <c:v>1.4141414141414141E-2</c:v>
                </c:pt>
                <c:pt idx="5">
                  <c:v>2.2238163558106171E-2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381-4E6D-8FF0-68A0272D47F0}"/>
            </c:ext>
          </c:extLst>
        </c:ser>
        <c:ser>
          <c:idx val="2"/>
          <c:order val="2"/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strRef>
              <c:f>B_RD_PD!$A$3:$A$8</c:f>
              <c:strCache>
                <c:ptCount val="6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</c:strCache>
            </c:strRef>
          </c:cat>
          <c:val>
            <c:numRef>
              <c:f>B_RD_PD!$D$3:$D$8</c:f>
              <c:numCache>
                <c:formatCode>0.00%</c:formatCode>
                <c:ptCount val="6"/>
                <c:pt idx="0">
                  <c:v>3.0254777070063691E-2</c:v>
                </c:pt>
                <c:pt idx="1">
                  <c:v>3.4749034749034749E-2</c:v>
                </c:pt>
                <c:pt idx="2">
                  <c:v>3.5271687321258342E-2</c:v>
                </c:pt>
                <c:pt idx="3">
                  <c:v>3.1760435571687839E-2</c:v>
                </c:pt>
                <c:pt idx="4">
                  <c:v>3.7262872628726289E-2</c:v>
                </c:pt>
                <c:pt idx="5">
                  <c:v>3.5443037974683553E-2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381-4E6D-8FF0-68A0272D47F0}"/>
            </c:ext>
          </c:extLst>
        </c:ser>
        <c:ser>
          <c:idx val="3"/>
          <c:order val="3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B_RD_PD!$A$3:$A$8</c:f>
              <c:strCache>
                <c:ptCount val="6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</c:strCache>
            </c:strRef>
          </c:cat>
          <c:val>
            <c:numRef>
              <c:f>B_RD_PD!$E$3:$E$8</c:f>
              <c:numCache>
                <c:formatCode>0.00%</c:formatCode>
                <c:ptCount val="6"/>
                <c:pt idx="0">
                  <c:v>6.3043478260869562E-2</c:v>
                </c:pt>
                <c:pt idx="1">
                  <c:v>4.924242424242424E-2</c:v>
                </c:pt>
                <c:pt idx="2">
                  <c:v>7.8369905956112859E-2</c:v>
                </c:pt>
                <c:pt idx="3">
                  <c:v>5.0561797752808987E-2</c:v>
                </c:pt>
                <c:pt idx="4">
                  <c:v>7.3809523809523811E-2</c:v>
                </c:pt>
                <c:pt idx="5">
                  <c:v>7.0234113712374577E-2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1381-4E6D-8FF0-68A0272D47F0}"/>
            </c:ext>
          </c:extLst>
        </c:ser>
        <c:ser>
          <c:idx val="4"/>
          <c:order val="4"/>
          <c:spPr>
            <a:ln w="28575" cap="rnd">
              <a:solidFill>
                <a:schemeClr val="tx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B_RD_PD!$A$3:$A$8</c:f>
              <c:strCache>
                <c:ptCount val="6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</c:strCache>
            </c:strRef>
          </c:cat>
          <c:val>
            <c:numRef>
              <c:f>B_RD_PD!$F$3:$F$8</c:f>
              <c:numCache>
                <c:formatCode>0.00%</c:formatCode>
                <c:ptCount val="6"/>
                <c:pt idx="0">
                  <c:v>9.1772151898734181E-2</c:v>
                </c:pt>
                <c:pt idx="1">
                  <c:v>0.12460063897763581</c:v>
                </c:pt>
                <c:pt idx="2">
                  <c:v>0.14285714285714279</c:v>
                </c:pt>
                <c:pt idx="3">
                  <c:v>0.126953125</c:v>
                </c:pt>
                <c:pt idx="4">
                  <c:v>0.1113445378151261</c:v>
                </c:pt>
                <c:pt idx="5">
                  <c:v>9.187279151943463E-2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1381-4E6D-8FF0-68A0272D47F0}"/>
            </c:ext>
          </c:extLst>
        </c:ser>
        <c:ser>
          <c:idx val="5"/>
          <c:order val="5"/>
          <c:spPr>
            <a:ln w="28575" cap="rnd">
              <a:solidFill>
                <a:srgbClr val="00B05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B_RD_PD!$A$3:$A$8</c:f>
              <c:strCache>
                <c:ptCount val="6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</c:strCache>
            </c:strRef>
          </c:cat>
          <c:val>
            <c:numRef>
              <c:f>B_RD_PD!$G$3:$G$8</c:f>
              <c:numCache>
                <c:formatCode>0.00%</c:formatCode>
                <c:ptCount val="6"/>
                <c:pt idx="0">
                  <c:v>4.8965762674475664E-3</c:v>
                </c:pt>
                <c:pt idx="1">
                  <c:v>4.406534330237924E-3</c:v>
                </c:pt>
                <c:pt idx="2">
                  <c:v>4.9130620465029137E-3</c:v>
                </c:pt>
                <c:pt idx="3">
                  <c:v>4.9686154982163042E-3</c:v>
                </c:pt>
                <c:pt idx="4">
                  <c:v>4.6617165591983671E-3</c:v>
                </c:pt>
                <c:pt idx="5">
                  <c:v>4.7126776201888527E-3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1381-4E6D-8FF0-68A0272D47F0}"/>
            </c:ext>
          </c:extLst>
        </c:ser>
        <c:ser>
          <c:idx val="6"/>
          <c:order val="6"/>
          <c:spPr>
            <a:ln w="28575" cap="rnd">
              <a:solidFill>
                <a:srgbClr val="92D05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B_RD_PD!$A$3:$A$8</c:f>
              <c:strCache>
                <c:ptCount val="6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</c:strCache>
            </c:strRef>
          </c:cat>
          <c:val>
            <c:numRef>
              <c:f>B_RD_PD!$H$3:$H$8</c:f>
              <c:numCache>
                <c:formatCode>0.00%</c:formatCode>
                <c:ptCount val="6"/>
                <c:pt idx="0">
                  <c:v>1.601728040570911E-2</c:v>
                </c:pt>
                <c:pt idx="1">
                  <c:v>1.570281101244626E-2</c:v>
                </c:pt>
                <c:pt idx="2">
                  <c:v>1.5689285442355271E-2</c:v>
                </c:pt>
                <c:pt idx="3">
                  <c:v>1.578997217285192E-2</c:v>
                </c:pt>
                <c:pt idx="4">
                  <c:v>1.5671851529455941E-2</c:v>
                </c:pt>
                <c:pt idx="5">
                  <c:v>1.5942670963458701E-2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1381-4E6D-8FF0-68A0272D47F0}"/>
            </c:ext>
          </c:extLst>
        </c:ser>
        <c:ser>
          <c:idx val="7"/>
          <c:order val="7"/>
          <c:spPr>
            <a:ln w="28575" cap="rnd">
              <a:solidFill>
                <a:srgbClr val="FFFF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B_RD_PD!$A$3:$A$8</c:f>
              <c:strCache>
                <c:ptCount val="6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</c:strCache>
            </c:strRef>
          </c:cat>
          <c:val>
            <c:numRef>
              <c:f>B_RD_PD!$I$3:$I$8</c:f>
              <c:numCache>
                <c:formatCode>0.00%</c:formatCode>
                <c:ptCount val="6"/>
                <c:pt idx="0">
                  <c:v>3.7850221859656689E-2</c:v>
                </c:pt>
                <c:pt idx="1">
                  <c:v>3.6566450216255222E-2</c:v>
                </c:pt>
                <c:pt idx="2">
                  <c:v>3.6925116985667361E-2</c:v>
                </c:pt>
                <c:pt idx="3">
                  <c:v>3.7053765199013877E-2</c:v>
                </c:pt>
                <c:pt idx="4">
                  <c:v>3.6748885059017918E-2</c:v>
                </c:pt>
                <c:pt idx="5">
                  <c:v>3.6687451811413849E-2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1381-4E6D-8FF0-68A0272D47F0}"/>
            </c:ext>
          </c:extLst>
        </c:ser>
        <c:ser>
          <c:idx val="8"/>
          <c:order val="8"/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B_RD_PD!$A$3:$A$8</c:f>
              <c:strCache>
                <c:ptCount val="6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</c:strCache>
            </c:strRef>
          </c:cat>
          <c:val>
            <c:numRef>
              <c:f>B_RD_PD!$J$3:$J$8</c:f>
              <c:numCache>
                <c:formatCode>0.00%</c:formatCode>
                <c:ptCount val="6"/>
                <c:pt idx="0">
                  <c:v>6.7375935809480425E-2</c:v>
                </c:pt>
                <c:pt idx="1">
                  <c:v>6.6769601598328121E-2</c:v>
                </c:pt>
                <c:pt idx="2">
                  <c:v>6.6965316971792116E-2</c:v>
                </c:pt>
                <c:pt idx="3">
                  <c:v>6.7236108650113646E-2</c:v>
                </c:pt>
                <c:pt idx="4">
                  <c:v>6.7069983121697041E-2</c:v>
                </c:pt>
                <c:pt idx="5">
                  <c:v>6.7452679899593401E-2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1381-4E6D-8FF0-68A0272D47F0}"/>
            </c:ext>
          </c:extLst>
        </c:ser>
        <c:ser>
          <c:idx val="9"/>
          <c:order val="9"/>
          <c:spPr>
            <a:ln w="28575" cap="rnd">
              <a:solidFill>
                <a:schemeClr val="tx2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B_RD_PD!$A$3:$A$8</c:f>
              <c:strCache>
                <c:ptCount val="6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</c:strCache>
            </c:strRef>
          </c:cat>
          <c:val>
            <c:numRef>
              <c:f>B_RD_PD!$K$3:$K$8</c:f>
              <c:numCache>
                <c:formatCode>0.00%</c:formatCode>
                <c:ptCount val="6"/>
                <c:pt idx="0">
                  <c:v>0.13209066701419911</c:v>
                </c:pt>
                <c:pt idx="1">
                  <c:v>0.11888436529317439</c:v>
                </c:pt>
                <c:pt idx="2">
                  <c:v>0.1220132468592969</c:v>
                </c:pt>
                <c:pt idx="3">
                  <c:v>0.12922654051995011</c:v>
                </c:pt>
                <c:pt idx="4">
                  <c:v>0.1218068797760611</c:v>
                </c:pt>
                <c:pt idx="5">
                  <c:v>0.114601495359082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1381-4E6D-8FF0-68A0272D47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70307407"/>
        <c:axId val="1867084559"/>
      </c:lineChart>
      <c:catAx>
        <c:axId val="1870307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867084559"/>
        <c:crosses val="autoZero"/>
        <c:auto val="1"/>
        <c:lblAlgn val="ctr"/>
        <c:lblOffset val="100"/>
        <c:noMultiLvlLbl val="0"/>
      </c:catAx>
      <c:valAx>
        <c:axId val="1867084559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870307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9900481189851273E-2"/>
          <c:y val="6.0185185185185182E-2"/>
          <c:w val="0.87232174103237092"/>
          <c:h val="0.8416746864975212"/>
        </c:manualLayout>
      </c:layout>
      <c:barChart>
        <c:barDir val="col"/>
        <c:grouping val="percentStacked"/>
        <c:varyColors val="0"/>
        <c:ser>
          <c:idx val="0"/>
          <c:order val="0"/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B_N!$A$3:$A$11</c:f>
              <c:strCache>
                <c:ptCount val="9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  <c:pt idx="7">
                  <c:v>2025Q4</c:v>
                </c:pt>
                <c:pt idx="8">
                  <c:v>2026Q1</c:v>
                </c:pt>
              </c:strCache>
            </c:strRef>
          </c:cat>
          <c:val>
            <c:numRef>
              <c:f>B_N!$B$3:$B$11</c:f>
              <c:numCache>
                <c:formatCode>0.0%</c:formatCode>
                <c:ptCount val="9"/>
                <c:pt idx="0">
                  <c:v>0.20598166907863</c:v>
                </c:pt>
                <c:pt idx="1">
                  <c:v>0.29026982829108749</c:v>
                </c:pt>
                <c:pt idx="2">
                  <c:v>0.2381220129322463</c:v>
                </c:pt>
                <c:pt idx="3">
                  <c:v>0.23317683881064161</c:v>
                </c:pt>
                <c:pt idx="4">
                  <c:v>0.28067885117493468</c:v>
                </c:pt>
                <c:pt idx="5">
                  <c:v>0.32844699383896331</c:v>
                </c:pt>
                <c:pt idx="6">
                  <c:v>0.26454925827310771</c:v>
                </c:pt>
                <c:pt idx="7">
                  <c:v>0.24192854068015501</c:v>
                </c:pt>
                <c:pt idx="8">
                  <c:v>0.31735038181495301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C6-487A-AC43-AA0E2D58F076}"/>
            </c:ext>
          </c:extLst>
        </c:ser>
        <c:ser>
          <c:idx val="1"/>
          <c:order val="1"/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B_N!$A$3:$A$11</c:f>
              <c:strCache>
                <c:ptCount val="9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  <c:pt idx="7">
                  <c:v>2025Q4</c:v>
                </c:pt>
                <c:pt idx="8">
                  <c:v>2026Q1</c:v>
                </c:pt>
              </c:strCache>
            </c:strRef>
          </c:cat>
          <c:val>
            <c:numRef>
              <c:f>B_N!$C$3:$C$11</c:f>
              <c:numCache>
                <c:formatCode>0.0%</c:formatCode>
                <c:ptCount val="9"/>
                <c:pt idx="0">
                  <c:v>0.22768933912204531</c:v>
                </c:pt>
                <c:pt idx="1">
                  <c:v>0.27010084491687109</c:v>
                </c:pt>
                <c:pt idx="2">
                  <c:v>0.26904694967669379</c:v>
                </c:pt>
                <c:pt idx="3">
                  <c:v>0.25299947835159098</c:v>
                </c:pt>
                <c:pt idx="4">
                  <c:v>0.27694889966430442</c:v>
                </c:pt>
                <c:pt idx="5">
                  <c:v>0.29615466326747403</c:v>
                </c:pt>
                <c:pt idx="6">
                  <c:v>0.28432864206922792</c:v>
                </c:pt>
                <c:pt idx="7">
                  <c:v>0.28067154541541112</c:v>
                </c:pt>
                <c:pt idx="8">
                  <c:v>0.30491919730065709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C6-487A-AC43-AA0E2D58F076}"/>
            </c:ext>
          </c:extLst>
        </c:ser>
        <c:ser>
          <c:idx val="2"/>
          <c:order val="2"/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ysClr val="windowText" lastClr="000000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B_N!$A$3:$A$11</c:f>
              <c:strCache>
                <c:ptCount val="9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  <c:pt idx="7">
                  <c:v>2025Q4</c:v>
                </c:pt>
                <c:pt idx="8">
                  <c:v>2026Q1</c:v>
                </c:pt>
              </c:strCache>
            </c:strRef>
          </c:cat>
          <c:val>
            <c:numRef>
              <c:f>B_N!$D$3:$D$11</c:f>
              <c:numCache>
                <c:formatCode>0.0%</c:formatCode>
                <c:ptCount val="9"/>
                <c:pt idx="0">
                  <c:v>0.30294259527255191</c:v>
                </c:pt>
                <c:pt idx="1">
                  <c:v>0.28236576723902967</c:v>
                </c:pt>
                <c:pt idx="2">
                  <c:v>0.29491144222659538</c:v>
                </c:pt>
                <c:pt idx="3">
                  <c:v>0.28742827334376631</c:v>
                </c:pt>
                <c:pt idx="4">
                  <c:v>0.27527042148452069</c:v>
                </c:pt>
                <c:pt idx="5">
                  <c:v>0.25175270873167621</c:v>
                </c:pt>
                <c:pt idx="6">
                  <c:v>0.28546976036515792</c:v>
                </c:pt>
                <c:pt idx="7">
                  <c:v>0.3131726216099871</c:v>
                </c:pt>
                <c:pt idx="8">
                  <c:v>0.26425146510388919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C6-487A-AC43-AA0E2D58F076}"/>
            </c:ext>
          </c:extLst>
        </c:ser>
        <c:ser>
          <c:idx val="3"/>
          <c:order val="3"/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B_N!$A$3:$A$11</c:f>
              <c:strCache>
                <c:ptCount val="9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  <c:pt idx="7">
                  <c:v>2025Q4</c:v>
                </c:pt>
                <c:pt idx="8">
                  <c:v>2026Q1</c:v>
                </c:pt>
              </c:strCache>
            </c:strRef>
          </c:cat>
          <c:val>
            <c:numRef>
              <c:f>B_N!$E$3:$E$11</c:f>
              <c:numCache>
                <c:formatCode>0.0%</c:formatCode>
                <c:ptCount val="9"/>
                <c:pt idx="0">
                  <c:v>0.11095031355523401</c:v>
                </c:pt>
                <c:pt idx="1">
                  <c:v>7.1954210956663947E-2</c:v>
                </c:pt>
                <c:pt idx="2">
                  <c:v>8.9682316558897954E-2</c:v>
                </c:pt>
                <c:pt idx="3">
                  <c:v>9.2853416797078772E-2</c:v>
                </c:pt>
                <c:pt idx="4">
                  <c:v>7.8328981723237601E-2</c:v>
                </c:pt>
                <c:pt idx="5">
                  <c:v>6.3522413426811128E-2</c:v>
                </c:pt>
                <c:pt idx="6">
                  <c:v>7.8927348801825795E-2</c:v>
                </c:pt>
                <c:pt idx="7">
                  <c:v>7.8562204046491599E-2</c:v>
                </c:pt>
                <c:pt idx="8">
                  <c:v>6.3931806073521572E-2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6C6-487A-AC43-AA0E2D58F076}"/>
            </c:ext>
          </c:extLst>
        </c:ser>
        <c:ser>
          <c:idx val="4"/>
          <c:order val="4"/>
          <c:spPr>
            <a:solidFill>
              <a:schemeClr val="tx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B_N!$A$3:$A$11</c:f>
              <c:strCache>
                <c:ptCount val="9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  <c:pt idx="7">
                  <c:v>2025Q4</c:v>
                </c:pt>
                <c:pt idx="8">
                  <c:v>2026Q1</c:v>
                </c:pt>
              </c:strCache>
            </c:strRef>
          </c:cat>
          <c:val>
            <c:numRef>
              <c:f>B_N!$F$3:$F$11</c:f>
              <c:numCache>
                <c:formatCode>0.0%</c:formatCode>
                <c:ptCount val="9"/>
                <c:pt idx="0">
                  <c:v>0.15243608297153879</c:v>
                </c:pt>
                <c:pt idx="1">
                  <c:v>8.5309348596347784E-2</c:v>
                </c:pt>
                <c:pt idx="2">
                  <c:v>0.10823727860556651</c:v>
                </c:pt>
                <c:pt idx="3">
                  <c:v>0.1335419926969223</c:v>
                </c:pt>
                <c:pt idx="4">
                  <c:v>8.877284595300261E-2</c:v>
                </c:pt>
                <c:pt idx="5">
                  <c:v>6.0123220735075422E-2</c:v>
                </c:pt>
                <c:pt idx="6">
                  <c:v>8.6724990490680873E-2</c:v>
                </c:pt>
                <c:pt idx="7">
                  <c:v>8.5665088247955226E-2</c:v>
                </c:pt>
                <c:pt idx="8">
                  <c:v>4.9547149706979217E-2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6C6-487A-AC43-AA0E2D58F07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997305007"/>
        <c:axId val="1867121519"/>
      </c:barChart>
      <c:catAx>
        <c:axId val="199730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867121519"/>
        <c:crosses val="autoZero"/>
        <c:auto val="1"/>
        <c:lblAlgn val="ctr"/>
        <c:lblOffset val="100"/>
        <c:noMultiLvlLbl val="0"/>
      </c:catAx>
      <c:valAx>
        <c:axId val="1867121519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997305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RD12_PASIVERO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002060"/>
              </a:solidFill>
              <a:ln w="9525">
                <a:noFill/>
              </a:ln>
              <a:effectLst/>
            </c:spPr>
          </c:marker>
          <c:cat>
            <c:numRef>
              <c:f>Hoja1!$A$2:$A$65</c:f>
              <c:numCache>
                <c:formatCode>General</c:formatCode>
                <c:ptCount val="64"/>
                <c:pt idx="0">
                  <c:v>202001</c:v>
                </c:pt>
                <c:pt idx="1">
                  <c:v>202002</c:v>
                </c:pt>
                <c:pt idx="2">
                  <c:v>202003</c:v>
                </c:pt>
                <c:pt idx="3">
                  <c:v>202004</c:v>
                </c:pt>
                <c:pt idx="4">
                  <c:v>202005</c:v>
                </c:pt>
                <c:pt idx="5">
                  <c:v>202006</c:v>
                </c:pt>
                <c:pt idx="6">
                  <c:v>202007</c:v>
                </c:pt>
                <c:pt idx="7">
                  <c:v>202008</c:v>
                </c:pt>
                <c:pt idx="8">
                  <c:v>202009</c:v>
                </c:pt>
                <c:pt idx="9">
                  <c:v>202010</c:v>
                </c:pt>
                <c:pt idx="10">
                  <c:v>202011</c:v>
                </c:pt>
                <c:pt idx="11">
                  <c:v>202012</c:v>
                </c:pt>
                <c:pt idx="12">
                  <c:v>202101</c:v>
                </c:pt>
                <c:pt idx="13">
                  <c:v>202102</c:v>
                </c:pt>
                <c:pt idx="14">
                  <c:v>202103</c:v>
                </c:pt>
                <c:pt idx="15">
                  <c:v>202104</c:v>
                </c:pt>
                <c:pt idx="16">
                  <c:v>202105</c:v>
                </c:pt>
                <c:pt idx="17">
                  <c:v>202106</c:v>
                </c:pt>
                <c:pt idx="18">
                  <c:v>202107</c:v>
                </c:pt>
                <c:pt idx="19">
                  <c:v>202108</c:v>
                </c:pt>
                <c:pt idx="20">
                  <c:v>202109</c:v>
                </c:pt>
                <c:pt idx="21">
                  <c:v>202110</c:v>
                </c:pt>
                <c:pt idx="22">
                  <c:v>202111</c:v>
                </c:pt>
                <c:pt idx="23">
                  <c:v>202112</c:v>
                </c:pt>
                <c:pt idx="24">
                  <c:v>202201</c:v>
                </c:pt>
                <c:pt idx="25">
                  <c:v>202202</c:v>
                </c:pt>
                <c:pt idx="26">
                  <c:v>202203</c:v>
                </c:pt>
                <c:pt idx="27">
                  <c:v>202204</c:v>
                </c:pt>
                <c:pt idx="28">
                  <c:v>202205</c:v>
                </c:pt>
                <c:pt idx="29">
                  <c:v>202206</c:v>
                </c:pt>
                <c:pt idx="30">
                  <c:v>202207</c:v>
                </c:pt>
                <c:pt idx="31">
                  <c:v>202208</c:v>
                </c:pt>
                <c:pt idx="32">
                  <c:v>202209</c:v>
                </c:pt>
                <c:pt idx="33">
                  <c:v>202210</c:v>
                </c:pt>
                <c:pt idx="34">
                  <c:v>202211</c:v>
                </c:pt>
                <c:pt idx="35">
                  <c:v>202212</c:v>
                </c:pt>
                <c:pt idx="36">
                  <c:v>202301</c:v>
                </c:pt>
                <c:pt idx="37">
                  <c:v>202302</c:v>
                </c:pt>
                <c:pt idx="38">
                  <c:v>202303</c:v>
                </c:pt>
                <c:pt idx="39">
                  <c:v>202304</c:v>
                </c:pt>
                <c:pt idx="40">
                  <c:v>202305</c:v>
                </c:pt>
                <c:pt idx="41">
                  <c:v>202306</c:v>
                </c:pt>
                <c:pt idx="42">
                  <c:v>202307</c:v>
                </c:pt>
                <c:pt idx="43">
                  <c:v>202308</c:v>
                </c:pt>
                <c:pt idx="44">
                  <c:v>202309</c:v>
                </c:pt>
                <c:pt idx="45">
                  <c:v>202310</c:v>
                </c:pt>
                <c:pt idx="46">
                  <c:v>202311</c:v>
                </c:pt>
                <c:pt idx="47">
                  <c:v>202312</c:v>
                </c:pt>
                <c:pt idx="48">
                  <c:v>202401</c:v>
                </c:pt>
                <c:pt idx="49">
                  <c:v>202402</c:v>
                </c:pt>
                <c:pt idx="50">
                  <c:v>202403</c:v>
                </c:pt>
                <c:pt idx="51">
                  <c:v>202404</c:v>
                </c:pt>
                <c:pt idx="52">
                  <c:v>202405</c:v>
                </c:pt>
                <c:pt idx="53">
                  <c:v>202406</c:v>
                </c:pt>
                <c:pt idx="54">
                  <c:v>202407</c:v>
                </c:pt>
                <c:pt idx="55">
                  <c:v>202408</c:v>
                </c:pt>
                <c:pt idx="56">
                  <c:v>202409</c:v>
                </c:pt>
                <c:pt idx="57">
                  <c:v>202410</c:v>
                </c:pt>
                <c:pt idx="58">
                  <c:v>202411</c:v>
                </c:pt>
                <c:pt idx="59">
                  <c:v>202412</c:v>
                </c:pt>
                <c:pt idx="60">
                  <c:v>202501</c:v>
                </c:pt>
                <c:pt idx="61">
                  <c:v>202502</c:v>
                </c:pt>
                <c:pt idx="62">
                  <c:v>202503</c:v>
                </c:pt>
                <c:pt idx="63">
                  <c:v>202504</c:v>
                </c:pt>
              </c:numCache>
            </c:numRef>
          </c:cat>
          <c:val>
            <c:numRef>
              <c:f>Hoja1!$B$2:$B$65</c:f>
              <c:numCache>
                <c:formatCode>General</c:formatCode>
                <c:ptCount val="64"/>
                <c:pt idx="0">
                  <c:v>3.9142999999999999</c:v>
                </c:pt>
                <c:pt idx="1">
                  <c:v>3.8571</c:v>
                </c:pt>
                <c:pt idx="2">
                  <c:v>4.6544999999999996</c:v>
                </c:pt>
                <c:pt idx="3">
                  <c:v>5.7971000000000004</c:v>
                </c:pt>
                <c:pt idx="4">
                  <c:v>6.7035</c:v>
                </c:pt>
                <c:pt idx="5">
                  <c:v>7.1234999999999999</c:v>
                </c:pt>
                <c:pt idx="6">
                  <c:v>7.0046999999999997</c:v>
                </c:pt>
                <c:pt idx="7">
                  <c:v>7.4108000000000001</c:v>
                </c:pt>
                <c:pt idx="8">
                  <c:v>10.055199999999999</c:v>
                </c:pt>
                <c:pt idx="9">
                  <c:v>11.2538</c:v>
                </c:pt>
                <c:pt idx="10">
                  <c:v>12.8506</c:v>
                </c:pt>
                <c:pt idx="11">
                  <c:v>15.2362</c:v>
                </c:pt>
                <c:pt idx="12">
                  <c:v>15.4392</c:v>
                </c:pt>
                <c:pt idx="13">
                  <c:v>14.1129</c:v>
                </c:pt>
                <c:pt idx="14">
                  <c:v>12.8017</c:v>
                </c:pt>
                <c:pt idx="15">
                  <c:v>11.6092</c:v>
                </c:pt>
                <c:pt idx="16">
                  <c:v>11.474500000000001</c:v>
                </c:pt>
                <c:pt idx="17">
                  <c:v>11.052899999999999</c:v>
                </c:pt>
                <c:pt idx="18">
                  <c:v>9.5561000000000007</c:v>
                </c:pt>
                <c:pt idx="19">
                  <c:v>8.1849000000000007</c:v>
                </c:pt>
                <c:pt idx="20">
                  <c:v>8.1198999999999995</c:v>
                </c:pt>
                <c:pt idx="21">
                  <c:v>8.3102</c:v>
                </c:pt>
                <c:pt idx="22">
                  <c:v>8.2514000000000003</c:v>
                </c:pt>
                <c:pt idx="23">
                  <c:v>8.1941000000000006</c:v>
                </c:pt>
                <c:pt idx="24">
                  <c:v>8.8661999999999992</c:v>
                </c:pt>
                <c:pt idx="25">
                  <c:v>9.4290000000000003</c:v>
                </c:pt>
                <c:pt idx="26">
                  <c:v>9.9291</c:v>
                </c:pt>
                <c:pt idx="27">
                  <c:v>8.9129000000000005</c:v>
                </c:pt>
                <c:pt idx="28">
                  <c:v>9.8705999999999996</c:v>
                </c:pt>
                <c:pt idx="29">
                  <c:v>10.7653</c:v>
                </c:pt>
                <c:pt idx="30">
                  <c:v>12.2616</c:v>
                </c:pt>
                <c:pt idx="31">
                  <c:v>12.5906</c:v>
                </c:pt>
                <c:pt idx="32">
                  <c:v>14.087199999999999</c:v>
                </c:pt>
                <c:pt idx="33">
                  <c:v>14.1769</c:v>
                </c:pt>
                <c:pt idx="34">
                  <c:v>13.9732</c:v>
                </c:pt>
                <c:pt idx="35">
                  <c:v>14.629099999999999</c:v>
                </c:pt>
                <c:pt idx="36">
                  <c:v>14.7575</c:v>
                </c:pt>
                <c:pt idx="37">
                  <c:v>15.7508</c:v>
                </c:pt>
                <c:pt idx="38">
                  <c:v>16.410299999999999</c:v>
                </c:pt>
                <c:pt idx="39">
                  <c:v>17.814499999999999</c:v>
                </c:pt>
                <c:pt idx="40">
                  <c:v>18.639199999999999</c:v>
                </c:pt>
                <c:pt idx="41">
                  <c:v>19.658100000000001</c:v>
                </c:pt>
                <c:pt idx="42">
                  <c:v>19.115300000000001</c:v>
                </c:pt>
                <c:pt idx="43">
                  <c:v>19.710999999999999</c:v>
                </c:pt>
                <c:pt idx="44">
                  <c:v>18.7105</c:v>
                </c:pt>
                <c:pt idx="45">
                  <c:v>16.758199999999999</c:v>
                </c:pt>
                <c:pt idx="46">
                  <c:v>16.666699999999999</c:v>
                </c:pt>
                <c:pt idx="47">
                  <c:v>14.9444</c:v>
                </c:pt>
                <c:pt idx="48">
                  <c:v>12.880800000000001</c:v>
                </c:pt>
                <c:pt idx="49">
                  <c:v>10.772</c:v>
                </c:pt>
                <c:pt idx="50">
                  <c:v>8.6789000000000005</c:v>
                </c:pt>
                <c:pt idx="51">
                  <c:v>7.1581000000000001</c:v>
                </c:pt>
                <c:pt idx="52">
                  <c:v>6.9397000000000002</c:v>
                </c:pt>
                <c:pt idx="53">
                  <c:v>5.8007999999999997</c:v>
                </c:pt>
                <c:pt idx="54">
                  <c:v>5.3262</c:v>
                </c:pt>
                <c:pt idx="55">
                  <c:v>5.4332000000000003</c:v>
                </c:pt>
                <c:pt idx="56">
                  <c:v>5.0393999999999997</c:v>
                </c:pt>
                <c:pt idx="57">
                  <c:v>4.5160999999999998</c:v>
                </c:pt>
                <c:pt idx="58">
                  <c:v>4.2857000000000003</c:v>
                </c:pt>
                <c:pt idx="59">
                  <c:v>3.8820000000000001</c:v>
                </c:pt>
                <c:pt idx="60">
                  <c:v>3.6983999999999999</c:v>
                </c:pt>
                <c:pt idx="61">
                  <c:v>3.6145</c:v>
                </c:pt>
                <c:pt idx="62">
                  <c:v>3.6101000000000001</c:v>
                </c:pt>
                <c:pt idx="63">
                  <c:v>3.7543000000000002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52-4B60-B81B-85D837830A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7479999"/>
        <c:axId val="400204319"/>
      </c:lineChart>
      <c:lineChart>
        <c:grouping val="standard"/>
        <c:varyColors val="0"/>
        <c:ser>
          <c:idx val="1"/>
          <c:order val="1"/>
          <c:tx>
            <c:strRef>
              <c:f>Hoja1!$C$1</c:f>
              <c:strCache>
                <c:ptCount val="1"/>
                <c:pt idx="0">
                  <c:v>ft_PASIVERO</c:v>
                </c:pt>
              </c:strCache>
            </c:strRef>
          </c:tx>
          <c:spPr>
            <a:ln w="28575" cap="rnd">
              <a:solidFill>
                <a:srgbClr val="08979D"/>
              </a:solidFill>
              <a:round/>
            </a:ln>
            <a:effectLst/>
          </c:spPr>
          <c:marker>
            <c:symbol val="none"/>
          </c:marker>
          <c:val>
            <c:numRef>
              <c:f>Hoja1!$C$2:$C$65</c:f>
              <c:numCache>
                <c:formatCode>General</c:formatCode>
                <c:ptCount val="64"/>
                <c:pt idx="0">
                  <c:v>1.2605</c:v>
                </c:pt>
                <c:pt idx="1">
                  <c:v>1.2605</c:v>
                </c:pt>
                <c:pt idx="2">
                  <c:v>1.2605</c:v>
                </c:pt>
                <c:pt idx="3">
                  <c:v>1.2605</c:v>
                </c:pt>
                <c:pt idx="4">
                  <c:v>1.2605</c:v>
                </c:pt>
                <c:pt idx="5">
                  <c:v>1.2605</c:v>
                </c:pt>
                <c:pt idx="6">
                  <c:v>1.2605</c:v>
                </c:pt>
                <c:pt idx="7">
                  <c:v>1.2605</c:v>
                </c:pt>
                <c:pt idx="8">
                  <c:v>1.18</c:v>
                </c:pt>
                <c:pt idx="9">
                  <c:v>0.41860000000000003</c:v>
                </c:pt>
                <c:pt idx="10">
                  <c:v>3.27E-2</c:v>
                </c:pt>
                <c:pt idx="11">
                  <c:v>-0.1787</c:v>
                </c:pt>
                <c:pt idx="12">
                  <c:v>-0.37909999999999999</c:v>
                </c:pt>
                <c:pt idx="13">
                  <c:v>-0.33789999999999998</c:v>
                </c:pt>
                <c:pt idx="14">
                  <c:v>-0.36530000000000001</c:v>
                </c:pt>
                <c:pt idx="15">
                  <c:v>-0.3458</c:v>
                </c:pt>
                <c:pt idx="16">
                  <c:v>-0.16370000000000001</c:v>
                </c:pt>
                <c:pt idx="17">
                  <c:v>-7.9799999999999996E-2</c:v>
                </c:pt>
                <c:pt idx="18">
                  <c:v>-6.7000000000000004E-2</c:v>
                </c:pt>
                <c:pt idx="19">
                  <c:v>-1.41E-2</c:v>
                </c:pt>
                <c:pt idx="20">
                  <c:v>0.29809999999999998</c:v>
                </c:pt>
                <c:pt idx="21">
                  <c:v>0.79779999999999995</c:v>
                </c:pt>
                <c:pt idx="22">
                  <c:v>1.0645</c:v>
                </c:pt>
                <c:pt idx="23">
                  <c:v>0.99350000000000005</c:v>
                </c:pt>
                <c:pt idx="24">
                  <c:v>1.1187</c:v>
                </c:pt>
                <c:pt idx="25">
                  <c:v>1.0355000000000001</c:v>
                </c:pt>
                <c:pt idx="26">
                  <c:v>0.77029999999999998</c:v>
                </c:pt>
                <c:pt idx="27">
                  <c:v>0.57550000000000001</c:v>
                </c:pt>
                <c:pt idx="28">
                  <c:v>0.15540000000000001</c:v>
                </c:pt>
                <c:pt idx="29">
                  <c:v>-0.14899999999999999</c:v>
                </c:pt>
                <c:pt idx="30">
                  <c:v>-0.26190000000000002</c:v>
                </c:pt>
                <c:pt idx="31">
                  <c:v>-0.39090000000000003</c:v>
                </c:pt>
                <c:pt idx="32">
                  <c:v>-0.63149999999999995</c:v>
                </c:pt>
                <c:pt idx="33">
                  <c:v>-0.89270000000000005</c:v>
                </c:pt>
                <c:pt idx="34">
                  <c:v>-1.0691999999999999</c:v>
                </c:pt>
                <c:pt idx="35">
                  <c:v>-1.1220000000000001</c:v>
                </c:pt>
                <c:pt idx="36">
                  <c:v>-1.3415999999999999</c:v>
                </c:pt>
                <c:pt idx="37">
                  <c:v>-1.3909</c:v>
                </c:pt>
                <c:pt idx="38">
                  <c:v>-1.4137</c:v>
                </c:pt>
                <c:pt idx="39">
                  <c:v>-1.4137</c:v>
                </c:pt>
                <c:pt idx="40">
                  <c:v>-1.4098999999999999</c:v>
                </c:pt>
                <c:pt idx="41">
                  <c:v>-1.3194999999999999</c:v>
                </c:pt>
                <c:pt idx="42">
                  <c:v>-1.4137</c:v>
                </c:pt>
                <c:pt idx="43">
                  <c:v>-1.3089</c:v>
                </c:pt>
                <c:pt idx="44">
                  <c:v>-1.1494</c:v>
                </c:pt>
                <c:pt idx="45">
                  <c:v>-0.81140000000000001</c:v>
                </c:pt>
                <c:pt idx="46">
                  <c:v>-0.56399999999999995</c:v>
                </c:pt>
                <c:pt idx="47">
                  <c:v>-0.41070000000000001</c:v>
                </c:pt>
                <c:pt idx="48">
                  <c:v>-0.124</c:v>
                </c:pt>
                <c:pt idx="49">
                  <c:v>0.1124</c:v>
                </c:pt>
                <c:pt idx="50">
                  <c:v>0.32979999999999998</c:v>
                </c:pt>
                <c:pt idx="51">
                  <c:v>0.35670000000000002</c:v>
                </c:pt>
                <c:pt idx="52">
                  <c:v>0.52969999999999995</c:v>
                </c:pt>
                <c:pt idx="53">
                  <c:v>0.69430000000000003</c:v>
                </c:pt>
                <c:pt idx="54">
                  <c:v>0.86280000000000001</c:v>
                </c:pt>
                <c:pt idx="55">
                  <c:v>0.94069999999999998</c:v>
                </c:pt>
                <c:pt idx="56">
                  <c:v>1.0605</c:v>
                </c:pt>
                <c:pt idx="57">
                  <c:v>1.1446000000000001</c:v>
                </c:pt>
                <c:pt idx="58">
                  <c:v>1.1048</c:v>
                </c:pt>
                <c:pt idx="59">
                  <c:v>1.2084999999999999</c:v>
                </c:pt>
                <c:pt idx="60">
                  <c:v>1.2605</c:v>
                </c:pt>
                <c:pt idx="61">
                  <c:v>1.2605</c:v>
                </c:pt>
                <c:pt idx="62">
                  <c:v>1.2507999999999999</c:v>
                </c:pt>
                <c:pt idx="63">
                  <c:v>1.2605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952-4B60-B81B-85D837830A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2869839"/>
        <c:axId val="602866959"/>
      </c:lineChart>
      <c:catAx>
        <c:axId val="2117479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400204319"/>
        <c:crosses val="autoZero"/>
        <c:auto val="1"/>
        <c:lblAlgn val="ctr"/>
        <c:lblOffset val="100"/>
        <c:noMultiLvlLbl val="0"/>
      </c:catAx>
      <c:valAx>
        <c:axId val="400204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17479999"/>
        <c:crosses val="autoZero"/>
        <c:crossBetween val="between"/>
      </c:valAx>
      <c:valAx>
        <c:axId val="60286695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602869839"/>
        <c:crosses val="max"/>
        <c:crossBetween val="between"/>
      </c:valAx>
      <c:catAx>
        <c:axId val="602869839"/>
        <c:scaling>
          <c:orientation val="minMax"/>
        </c:scaling>
        <c:delete val="1"/>
        <c:axPos val="b"/>
        <c:majorTickMark val="out"/>
        <c:minorTickMark val="none"/>
        <c:tickLblPos val="nextTo"/>
        <c:crossAx val="60286695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Hoja1!$D$1</c:f>
              <c:strCache>
                <c:ptCount val="1"/>
                <c:pt idx="0">
                  <c:v>RD12_NATURAL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002060"/>
              </a:solidFill>
              <a:ln w="9525">
                <a:noFill/>
              </a:ln>
              <a:effectLst/>
            </c:spPr>
          </c:marker>
          <c:cat>
            <c:numRef>
              <c:f>Hoja1!$A$2:$A$65</c:f>
              <c:numCache>
                <c:formatCode>General</c:formatCode>
                <c:ptCount val="64"/>
                <c:pt idx="0">
                  <c:v>202001</c:v>
                </c:pt>
                <c:pt idx="1">
                  <c:v>202002</c:v>
                </c:pt>
                <c:pt idx="2">
                  <c:v>202003</c:v>
                </c:pt>
                <c:pt idx="3">
                  <c:v>202004</c:v>
                </c:pt>
                <c:pt idx="4">
                  <c:v>202005</c:v>
                </c:pt>
                <c:pt idx="5">
                  <c:v>202006</c:v>
                </c:pt>
                <c:pt idx="6">
                  <c:v>202007</c:v>
                </c:pt>
                <c:pt idx="7">
                  <c:v>202008</c:v>
                </c:pt>
                <c:pt idx="8">
                  <c:v>202009</c:v>
                </c:pt>
                <c:pt idx="9">
                  <c:v>202010</c:v>
                </c:pt>
                <c:pt idx="10">
                  <c:v>202011</c:v>
                </c:pt>
                <c:pt idx="11">
                  <c:v>202012</c:v>
                </c:pt>
                <c:pt idx="12">
                  <c:v>202101</c:v>
                </c:pt>
                <c:pt idx="13">
                  <c:v>202102</c:v>
                </c:pt>
                <c:pt idx="14">
                  <c:v>202103</c:v>
                </c:pt>
                <c:pt idx="15">
                  <c:v>202104</c:v>
                </c:pt>
                <c:pt idx="16">
                  <c:v>202105</c:v>
                </c:pt>
                <c:pt idx="17">
                  <c:v>202106</c:v>
                </c:pt>
                <c:pt idx="18">
                  <c:v>202107</c:v>
                </c:pt>
                <c:pt idx="19">
                  <c:v>202108</c:v>
                </c:pt>
                <c:pt idx="20">
                  <c:v>202109</c:v>
                </c:pt>
                <c:pt idx="21">
                  <c:v>202110</c:v>
                </c:pt>
                <c:pt idx="22">
                  <c:v>202111</c:v>
                </c:pt>
                <c:pt idx="23">
                  <c:v>202112</c:v>
                </c:pt>
                <c:pt idx="24">
                  <c:v>202201</c:v>
                </c:pt>
                <c:pt idx="25">
                  <c:v>202202</c:v>
                </c:pt>
                <c:pt idx="26">
                  <c:v>202203</c:v>
                </c:pt>
                <c:pt idx="27">
                  <c:v>202204</c:v>
                </c:pt>
                <c:pt idx="28">
                  <c:v>202205</c:v>
                </c:pt>
                <c:pt idx="29">
                  <c:v>202206</c:v>
                </c:pt>
                <c:pt idx="30">
                  <c:v>202207</c:v>
                </c:pt>
                <c:pt idx="31">
                  <c:v>202208</c:v>
                </c:pt>
                <c:pt idx="32">
                  <c:v>202209</c:v>
                </c:pt>
                <c:pt idx="33">
                  <c:v>202210</c:v>
                </c:pt>
                <c:pt idx="34">
                  <c:v>202211</c:v>
                </c:pt>
                <c:pt idx="35">
                  <c:v>202212</c:v>
                </c:pt>
                <c:pt idx="36">
                  <c:v>202301</c:v>
                </c:pt>
                <c:pt idx="37">
                  <c:v>202302</c:v>
                </c:pt>
                <c:pt idx="38">
                  <c:v>202303</c:v>
                </c:pt>
                <c:pt idx="39">
                  <c:v>202304</c:v>
                </c:pt>
                <c:pt idx="40">
                  <c:v>202305</c:v>
                </c:pt>
                <c:pt idx="41">
                  <c:v>202306</c:v>
                </c:pt>
                <c:pt idx="42">
                  <c:v>202307</c:v>
                </c:pt>
                <c:pt idx="43">
                  <c:v>202308</c:v>
                </c:pt>
                <c:pt idx="44">
                  <c:v>202309</c:v>
                </c:pt>
                <c:pt idx="45">
                  <c:v>202310</c:v>
                </c:pt>
                <c:pt idx="46">
                  <c:v>202311</c:v>
                </c:pt>
                <c:pt idx="47">
                  <c:v>202312</c:v>
                </c:pt>
                <c:pt idx="48">
                  <c:v>202401</c:v>
                </c:pt>
                <c:pt idx="49">
                  <c:v>202402</c:v>
                </c:pt>
                <c:pt idx="50">
                  <c:v>202403</c:v>
                </c:pt>
                <c:pt idx="51">
                  <c:v>202404</c:v>
                </c:pt>
                <c:pt idx="52">
                  <c:v>202405</c:v>
                </c:pt>
                <c:pt idx="53">
                  <c:v>202406</c:v>
                </c:pt>
                <c:pt idx="54">
                  <c:v>202407</c:v>
                </c:pt>
                <c:pt idx="55">
                  <c:v>202408</c:v>
                </c:pt>
                <c:pt idx="56">
                  <c:v>202409</c:v>
                </c:pt>
                <c:pt idx="57">
                  <c:v>202410</c:v>
                </c:pt>
                <c:pt idx="58">
                  <c:v>202411</c:v>
                </c:pt>
                <c:pt idx="59">
                  <c:v>202412</c:v>
                </c:pt>
                <c:pt idx="60">
                  <c:v>202501</c:v>
                </c:pt>
                <c:pt idx="61">
                  <c:v>202502</c:v>
                </c:pt>
                <c:pt idx="62">
                  <c:v>202503</c:v>
                </c:pt>
                <c:pt idx="63">
                  <c:v>202504</c:v>
                </c:pt>
              </c:numCache>
            </c:numRef>
          </c:cat>
          <c:val>
            <c:numRef>
              <c:f>Hoja1!$D$2:$D$65</c:f>
              <c:numCache>
                <c:formatCode>General</c:formatCode>
                <c:ptCount val="64"/>
                <c:pt idx="0">
                  <c:v>15.099500000000001</c:v>
                </c:pt>
                <c:pt idx="1">
                  <c:v>16.371099999999998</c:v>
                </c:pt>
                <c:pt idx="2">
                  <c:v>17.557700000000001</c:v>
                </c:pt>
                <c:pt idx="3">
                  <c:v>20.734300000000001</c:v>
                </c:pt>
                <c:pt idx="4">
                  <c:v>23.212900000000001</c:v>
                </c:pt>
                <c:pt idx="5">
                  <c:v>24.036000000000001</c:v>
                </c:pt>
                <c:pt idx="6">
                  <c:v>25.5626</c:v>
                </c:pt>
                <c:pt idx="7">
                  <c:v>26.7668</c:v>
                </c:pt>
                <c:pt idx="8">
                  <c:v>27.524999999999999</c:v>
                </c:pt>
                <c:pt idx="9">
                  <c:v>23.349699999999999</c:v>
                </c:pt>
                <c:pt idx="10">
                  <c:v>23.764199999999999</c:v>
                </c:pt>
                <c:pt idx="11">
                  <c:v>22.413799999999998</c:v>
                </c:pt>
                <c:pt idx="12">
                  <c:v>21.8261</c:v>
                </c:pt>
                <c:pt idx="13">
                  <c:v>18.891200000000001</c:v>
                </c:pt>
                <c:pt idx="14">
                  <c:v>18.086500000000001</c:v>
                </c:pt>
                <c:pt idx="15">
                  <c:v>18.181799999999999</c:v>
                </c:pt>
                <c:pt idx="16">
                  <c:v>18.7803</c:v>
                </c:pt>
                <c:pt idx="17">
                  <c:v>18.4345</c:v>
                </c:pt>
                <c:pt idx="18">
                  <c:v>18.349299999999999</c:v>
                </c:pt>
                <c:pt idx="19">
                  <c:v>17.121300000000002</c:v>
                </c:pt>
                <c:pt idx="20">
                  <c:v>16.7272</c:v>
                </c:pt>
                <c:pt idx="21">
                  <c:v>16.244</c:v>
                </c:pt>
                <c:pt idx="22">
                  <c:v>16.634499999999999</c:v>
                </c:pt>
                <c:pt idx="23">
                  <c:v>14.305400000000001</c:v>
                </c:pt>
                <c:pt idx="24">
                  <c:v>13.140499999999999</c:v>
                </c:pt>
                <c:pt idx="25">
                  <c:v>11.119199999999999</c:v>
                </c:pt>
                <c:pt idx="26">
                  <c:v>10.6181</c:v>
                </c:pt>
                <c:pt idx="27">
                  <c:v>10.9573</c:v>
                </c:pt>
                <c:pt idx="28">
                  <c:v>11.5139</c:v>
                </c:pt>
                <c:pt idx="29">
                  <c:v>12.9574</c:v>
                </c:pt>
                <c:pt idx="30">
                  <c:v>13.273199999999999</c:v>
                </c:pt>
                <c:pt idx="31">
                  <c:v>14.4831</c:v>
                </c:pt>
                <c:pt idx="32">
                  <c:v>15.911199999999999</c:v>
                </c:pt>
                <c:pt idx="33">
                  <c:v>17.756599999999999</c:v>
                </c:pt>
                <c:pt idx="34">
                  <c:v>18.3109</c:v>
                </c:pt>
                <c:pt idx="35">
                  <c:v>18.798100000000002</c:v>
                </c:pt>
                <c:pt idx="36">
                  <c:v>19.327400000000001</c:v>
                </c:pt>
                <c:pt idx="37">
                  <c:v>19.874700000000001</c:v>
                </c:pt>
                <c:pt idx="38">
                  <c:v>20.9209</c:v>
                </c:pt>
                <c:pt idx="39">
                  <c:v>22.2117</c:v>
                </c:pt>
                <c:pt idx="40">
                  <c:v>22.804200000000002</c:v>
                </c:pt>
                <c:pt idx="41">
                  <c:v>23.789899999999999</c:v>
                </c:pt>
                <c:pt idx="42">
                  <c:v>22.273299999999999</c:v>
                </c:pt>
                <c:pt idx="43">
                  <c:v>22.116399999999999</c:v>
                </c:pt>
                <c:pt idx="44">
                  <c:v>24.543299999999999</c:v>
                </c:pt>
                <c:pt idx="45">
                  <c:v>21.6022</c:v>
                </c:pt>
                <c:pt idx="46">
                  <c:v>23.320799999999998</c:v>
                </c:pt>
                <c:pt idx="47">
                  <c:v>20.244599999999998</c:v>
                </c:pt>
                <c:pt idx="48">
                  <c:v>20.6204</c:v>
                </c:pt>
                <c:pt idx="49">
                  <c:v>19.520399999999999</c:v>
                </c:pt>
                <c:pt idx="50">
                  <c:v>18.292100000000001</c:v>
                </c:pt>
                <c:pt idx="51">
                  <c:v>16.666699999999999</c:v>
                </c:pt>
                <c:pt idx="52">
                  <c:v>16.260200000000001</c:v>
                </c:pt>
                <c:pt idx="53">
                  <c:v>13.883800000000001</c:v>
                </c:pt>
                <c:pt idx="54">
                  <c:v>14.631</c:v>
                </c:pt>
                <c:pt idx="55">
                  <c:v>14.295299999999999</c:v>
                </c:pt>
                <c:pt idx="56">
                  <c:v>13.169</c:v>
                </c:pt>
                <c:pt idx="57">
                  <c:v>12.6996</c:v>
                </c:pt>
                <c:pt idx="58">
                  <c:v>11.6638</c:v>
                </c:pt>
                <c:pt idx="59">
                  <c:v>10.2813</c:v>
                </c:pt>
                <c:pt idx="60">
                  <c:v>10.069800000000001</c:v>
                </c:pt>
                <c:pt idx="61">
                  <c:v>9.7858999999999998</c:v>
                </c:pt>
                <c:pt idx="62">
                  <c:v>7.8029000000000002</c:v>
                </c:pt>
                <c:pt idx="63">
                  <c:v>7.3221999999999996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7F-4CB4-8608-473F517763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7479999"/>
        <c:axId val="400204319"/>
      </c:lineChart>
      <c:lineChart>
        <c:grouping val="standard"/>
        <c:varyColors val="0"/>
        <c:ser>
          <c:idx val="1"/>
          <c:order val="1"/>
          <c:tx>
            <c:strRef>
              <c:f>Hoja1!$E$1</c:f>
              <c:strCache>
                <c:ptCount val="1"/>
                <c:pt idx="0">
                  <c:v>ft_NATURAL</c:v>
                </c:pt>
              </c:strCache>
            </c:strRef>
          </c:tx>
          <c:spPr>
            <a:ln w="28575" cap="rnd">
              <a:solidFill>
                <a:srgbClr val="08979D"/>
              </a:solidFill>
              <a:round/>
            </a:ln>
            <a:effectLst/>
          </c:spPr>
          <c:marker>
            <c:symbol val="none"/>
          </c:marker>
          <c:cat>
            <c:numRef>
              <c:f>Hoja1!$A$2:$A$65</c:f>
              <c:numCache>
                <c:formatCode>General</c:formatCode>
                <c:ptCount val="64"/>
                <c:pt idx="0">
                  <c:v>202001</c:v>
                </c:pt>
                <c:pt idx="1">
                  <c:v>202002</c:v>
                </c:pt>
                <c:pt idx="2">
                  <c:v>202003</c:v>
                </c:pt>
                <c:pt idx="3">
                  <c:v>202004</c:v>
                </c:pt>
                <c:pt idx="4">
                  <c:v>202005</c:v>
                </c:pt>
                <c:pt idx="5">
                  <c:v>202006</c:v>
                </c:pt>
                <c:pt idx="6">
                  <c:v>202007</c:v>
                </c:pt>
                <c:pt idx="7">
                  <c:v>202008</c:v>
                </c:pt>
                <c:pt idx="8">
                  <c:v>202009</c:v>
                </c:pt>
                <c:pt idx="9">
                  <c:v>202010</c:v>
                </c:pt>
                <c:pt idx="10">
                  <c:v>202011</c:v>
                </c:pt>
                <c:pt idx="11">
                  <c:v>202012</c:v>
                </c:pt>
                <c:pt idx="12">
                  <c:v>202101</c:v>
                </c:pt>
                <c:pt idx="13">
                  <c:v>202102</c:v>
                </c:pt>
                <c:pt idx="14">
                  <c:v>202103</c:v>
                </c:pt>
                <c:pt idx="15">
                  <c:v>202104</c:v>
                </c:pt>
                <c:pt idx="16">
                  <c:v>202105</c:v>
                </c:pt>
                <c:pt idx="17">
                  <c:v>202106</c:v>
                </c:pt>
                <c:pt idx="18">
                  <c:v>202107</c:v>
                </c:pt>
                <c:pt idx="19">
                  <c:v>202108</c:v>
                </c:pt>
                <c:pt idx="20">
                  <c:v>202109</c:v>
                </c:pt>
                <c:pt idx="21">
                  <c:v>202110</c:v>
                </c:pt>
                <c:pt idx="22">
                  <c:v>202111</c:v>
                </c:pt>
                <c:pt idx="23">
                  <c:v>202112</c:v>
                </c:pt>
                <c:pt idx="24">
                  <c:v>202201</c:v>
                </c:pt>
                <c:pt idx="25">
                  <c:v>202202</c:v>
                </c:pt>
                <c:pt idx="26">
                  <c:v>202203</c:v>
                </c:pt>
                <c:pt idx="27">
                  <c:v>202204</c:v>
                </c:pt>
                <c:pt idx="28">
                  <c:v>202205</c:v>
                </c:pt>
                <c:pt idx="29">
                  <c:v>202206</c:v>
                </c:pt>
                <c:pt idx="30">
                  <c:v>202207</c:v>
                </c:pt>
                <c:pt idx="31">
                  <c:v>202208</c:v>
                </c:pt>
                <c:pt idx="32">
                  <c:v>202209</c:v>
                </c:pt>
                <c:pt idx="33">
                  <c:v>202210</c:v>
                </c:pt>
                <c:pt idx="34">
                  <c:v>202211</c:v>
                </c:pt>
                <c:pt idx="35">
                  <c:v>202212</c:v>
                </c:pt>
                <c:pt idx="36">
                  <c:v>202301</c:v>
                </c:pt>
                <c:pt idx="37">
                  <c:v>202302</c:v>
                </c:pt>
                <c:pt idx="38">
                  <c:v>202303</c:v>
                </c:pt>
                <c:pt idx="39">
                  <c:v>202304</c:v>
                </c:pt>
                <c:pt idx="40">
                  <c:v>202305</c:v>
                </c:pt>
                <c:pt idx="41">
                  <c:v>202306</c:v>
                </c:pt>
                <c:pt idx="42">
                  <c:v>202307</c:v>
                </c:pt>
                <c:pt idx="43">
                  <c:v>202308</c:v>
                </c:pt>
                <c:pt idx="44">
                  <c:v>202309</c:v>
                </c:pt>
                <c:pt idx="45">
                  <c:v>202310</c:v>
                </c:pt>
                <c:pt idx="46">
                  <c:v>202311</c:v>
                </c:pt>
                <c:pt idx="47">
                  <c:v>202312</c:v>
                </c:pt>
                <c:pt idx="48">
                  <c:v>202401</c:v>
                </c:pt>
                <c:pt idx="49">
                  <c:v>202402</c:v>
                </c:pt>
                <c:pt idx="50">
                  <c:v>202403</c:v>
                </c:pt>
                <c:pt idx="51">
                  <c:v>202404</c:v>
                </c:pt>
                <c:pt idx="52">
                  <c:v>202405</c:v>
                </c:pt>
                <c:pt idx="53">
                  <c:v>202406</c:v>
                </c:pt>
                <c:pt idx="54">
                  <c:v>202407</c:v>
                </c:pt>
                <c:pt idx="55">
                  <c:v>202408</c:v>
                </c:pt>
                <c:pt idx="56">
                  <c:v>202409</c:v>
                </c:pt>
                <c:pt idx="57">
                  <c:v>202410</c:v>
                </c:pt>
                <c:pt idx="58">
                  <c:v>202411</c:v>
                </c:pt>
                <c:pt idx="59">
                  <c:v>202412</c:v>
                </c:pt>
                <c:pt idx="60">
                  <c:v>202501</c:v>
                </c:pt>
                <c:pt idx="61">
                  <c:v>202502</c:v>
                </c:pt>
                <c:pt idx="62">
                  <c:v>202503</c:v>
                </c:pt>
                <c:pt idx="63">
                  <c:v>202504</c:v>
                </c:pt>
              </c:numCache>
            </c:numRef>
          </c:cat>
          <c:val>
            <c:numRef>
              <c:f>Hoja1!$E$2:$E$65</c:f>
              <c:numCache>
                <c:formatCode>General</c:formatCode>
                <c:ptCount val="64"/>
                <c:pt idx="0">
                  <c:v>1.9169</c:v>
                </c:pt>
                <c:pt idx="1">
                  <c:v>1.9169</c:v>
                </c:pt>
                <c:pt idx="2">
                  <c:v>1.9169</c:v>
                </c:pt>
                <c:pt idx="3">
                  <c:v>1.9169</c:v>
                </c:pt>
                <c:pt idx="4">
                  <c:v>1.9169</c:v>
                </c:pt>
                <c:pt idx="5">
                  <c:v>1.9169</c:v>
                </c:pt>
                <c:pt idx="6">
                  <c:v>1.9169</c:v>
                </c:pt>
                <c:pt idx="7">
                  <c:v>1.9169</c:v>
                </c:pt>
                <c:pt idx="8">
                  <c:v>1.9169</c:v>
                </c:pt>
                <c:pt idx="9">
                  <c:v>1.9169</c:v>
                </c:pt>
                <c:pt idx="10">
                  <c:v>1.244</c:v>
                </c:pt>
                <c:pt idx="11">
                  <c:v>0.41</c:v>
                </c:pt>
                <c:pt idx="12">
                  <c:v>-4.1300000000000003E-2</c:v>
                </c:pt>
                <c:pt idx="13">
                  <c:v>-0.35249999999999998</c:v>
                </c:pt>
                <c:pt idx="14">
                  <c:v>-0.50239999999999996</c:v>
                </c:pt>
                <c:pt idx="15">
                  <c:v>-0.51300000000000001</c:v>
                </c:pt>
                <c:pt idx="16">
                  <c:v>-0.4446</c:v>
                </c:pt>
                <c:pt idx="17">
                  <c:v>-0.38350000000000001</c:v>
                </c:pt>
                <c:pt idx="18">
                  <c:v>-0.41760000000000003</c:v>
                </c:pt>
                <c:pt idx="19">
                  <c:v>-0.67559999999999998</c:v>
                </c:pt>
                <c:pt idx="20">
                  <c:v>-0.77949999999999997</c:v>
                </c:pt>
                <c:pt idx="21">
                  <c:v>-0.15590000000000001</c:v>
                </c:pt>
                <c:pt idx="22">
                  <c:v>0.47560000000000002</c:v>
                </c:pt>
                <c:pt idx="23">
                  <c:v>1.1014999999999999</c:v>
                </c:pt>
                <c:pt idx="24">
                  <c:v>1.2870999999999999</c:v>
                </c:pt>
                <c:pt idx="25">
                  <c:v>1.431</c:v>
                </c:pt>
                <c:pt idx="26">
                  <c:v>1.2841</c:v>
                </c:pt>
                <c:pt idx="27">
                  <c:v>1.0065999999999999</c:v>
                </c:pt>
                <c:pt idx="28">
                  <c:v>0.80030000000000001</c:v>
                </c:pt>
                <c:pt idx="29">
                  <c:v>0.48159999999999997</c:v>
                </c:pt>
                <c:pt idx="30">
                  <c:v>0.23780000000000001</c:v>
                </c:pt>
                <c:pt idx="31">
                  <c:v>0.24210000000000001</c:v>
                </c:pt>
                <c:pt idx="32">
                  <c:v>0.17879999999999999</c:v>
                </c:pt>
                <c:pt idx="33">
                  <c:v>-0.155</c:v>
                </c:pt>
                <c:pt idx="34">
                  <c:v>-0.31169999999999998</c:v>
                </c:pt>
                <c:pt idx="35">
                  <c:v>-0.55059999999999998</c:v>
                </c:pt>
                <c:pt idx="36">
                  <c:v>-0.70040000000000002</c:v>
                </c:pt>
                <c:pt idx="37">
                  <c:v>-0.93459999999999999</c:v>
                </c:pt>
                <c:pt idx="38">
                  <c:v>-0.92959999999999998</c:v>
                </c:pt>
                <c:pt idx="39">
                  <c:v>-0.95109999999999995</c:v>
                </c:pt>
                <c:pt idx="40">
                  <c:v>-1.1466000000000001</c:v>
                </c:pt>
                <c:pt idx="41">
                  <c:v>-1.2104999999999999</c:v>
                </c:pt>
                <c:pt idx="42">
                  <c:v>-1.2104999999999999</c:v>
                </c:pt>
                <c:pt idx="43">
                  <c:v>-1.2104999999999999</c:v>
                </c:pt>
                <c:pt idx="44">
                  <c:v>-1.2104999999999999</c:v>
                </c:pt>
                <c:pt idx="45">
                  <c:v>-1.2104999999999999</c:v>
                </c:pt>
                <c:pt idx="46">
                  <c:v>-1.2104999999999999</c:v>
                </c:pt>
                <c:pt idx="47">
                  <c:v>-0.98880000000000001</c:v>
                </c:pt>
                <c:pt idx="48">
                  <c:v>-0.753</c:v>
                </c:pt>
                <c:pt idx="49">
                  <c:v>-0.46779999999999999</c:v>
                </c:pt>
                <c:pt idx="50">
                  <c:v>-0.21190000000000001</c:v>
                </c:pt>
                <c:pt idx="51">
                  <c:v>-4.7100000000000003E-2</c:v>
                </c:pt>
                <c:pt idx="52">
                  <c:v>9.4100000000000003E-2</c:v>
                </c:pt>
                <c:pt idx="53">
                  <c:v>0.16589999999999999</c:v>
                </c:pt>
                <c:pt idx="54">
                  <c:v>0.222</c:v>
                </c:pt>
                <c:pt idx="55">
                  <c:v>0.56720000000000004</c:v>
                </c:pt>
                <c:pt idx="56">
                  <c:v>0.74870000000000003</c:v>
                </c:pt>
                <c:pt idx="57">
                  <c:v>0.97560000000000002</c:v>
                </c:pt>
                <c:pt idx="58">
                  <c:v>1.1563000000000001</c:v>
                </c:pt>
                <c:pt idx="59">
                  <c:v>1.262</c:v>
                </c:pt>
                <c:pt idx="60">
                  <c:v>1.4520999999999999</c:v>
                </c:pt>
                <c:pt idx="61">
                  <c:v>1.6082000000000001</c:v>
                </c:pt>
                <c:pt idx="62">
                  <c:v>1.7915000000000001</c:v>
                </c:pt>
                <c:pt idx="63">
                  <c:v>1.9169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D7F-4CB4-8608-473F517763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2869839"/>
        <c:axId val="602866959"/>
      </c:lineChart>
      <c:catAx>
        <c:axId val="2117479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400204319"/>
        <c:crosses val="autoZero"/>
        <c:auto val="1"/>
        <c:lblAlgn val="ctr"/>
        <c:lblOffset val="100"/>
        <c:noMultiLvlLbl val="0"/>
      </c:catAx>
      <c:valAx>
        <c:axId val="400204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17479999"/>
        <c:crosses val="autoZero"/>
        <c:crossBetween val="between"/>
      </c:valAx>
      <c:valAx>
        <c:axId val="60286695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602869839"/>
        <c:crosses val="max"/>
        <c:crossBetween val="between"/>
      </c:valAx>
      <c:catAx>
        <c:axId val="60286983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0286695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Hoja1!$F$1</c:f>
              <c:strCache>
                <c:ptCount val="1"/>
                <c:pt idx="0">
                  <c:v>RD12_JURIDICA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002060"/>
              </a:solidFill>
              <a:ln w="9525">
                <a:noFill/>
              </a:ln>
              <a:effectLst/>
            </c:spPr>
          </c:marker>
          <c:cat>
            <c:numRef>
              <c:f>Hoja1!$A$2:$A$65</c:f>
              <c:numCache>
                <c:formatCode>General</c:formatCode>
                <c:ptCount val="64"/>
                <c:pt idx="0">
                  <c:v>202001</c:v>
                </c:pt>
                <c:pt idx="1">
                  <c:v>202002</c:v>
                </c:pt>
                <c:pt idx="2">
                  <c:v>202003</c:v>
                </c:pt>
                <c:pt idx="3">
                  <c:v>202004</c:v>
                </c:pt>
                <c:pt idx="4">
                  <c:v>202005</c:v>
                </c:pt>
                <c:pt idx="5">
                  <c:v>202006</c:v>
                </c:pt>
                <c:pt idx="6">
                  <c:v>202007</c:v>
                </c:pt>
                <c:pt idx="7">
                  <c:v>202008</c:v>
                </c:pt>
                <c:pt idx="8">
                  <c:v>202009</c:v>
                </c:pt>
                <c:pt idx="9">
                  <c:v>202010</c:v>
                </c:pt>
                <c:pt idx="10">
                  <c:v>202011</c:v>
                </c:pt>
                <c:pt idx="11">
                  <c:v>202012</c:v>
                </c:pt>
                <c:pt idx="12">
                  <c:v>202101</c:v>
                </c:pt>
                <c:pt idx="13">
                  <c:v>202102</c:v>
                </c:pt>
                <c:pt idx="14">
                  <c:v>202103</c:v>
                </c:pt>
                <c:pt idx="15">
                  <c:v>202104</c:v>
                </c:pt>
                <c:pt idx="16">
                  <c:v>202105</c:v>
                </c:pt>
                <c:pt idx="17">
                  <c:v>202106</c:v>
                </c:pt>
                <c:pt idx="18">
                  <c:v>202107</c:v>
                </c:pt>
                <c:pt idx="19">
                  <c:v>202108</c:v>
                </c:pt>
                <c:pt idx="20">
                  <c:v>202109</c:v>
                </c:pt>
                <c:pt idx="21">
                  <c:v>202110</c:v>
                </c:pt>
                <c:pt idx="22">
                  <c:v>202111</c:v>
                </c:pt>
                <c:pt idx="23">
                  <c:v>202112</c:v>
                </c:pt>
                <c:pt idx="24">
                  <c:v>202201</c:v>
                </c:pt>
                <c:pt idx="25">
                  <c:v>202202</c:v>
                </c:pt>
                <c:pt idx="26">
                  <c:v>202203</c:v>
                </c:pt>
                <c:pt idx="27">
                  <c:v>202204</c:v>
                </c:pt>
                <c:pt idx="28">
                  <c:v>202205</c:v>
                </c:pt>
                <c:pt idx="29">
                  <c:v>202206</c:v>
                </c:pt>
                <c:pt idx="30">
                  <c:v>202207</c:v>
                </c:pt>
                <c:pt idx="31">
                  <c:v>202208</c:v>
                </c:pt>
                <c:pt idx="32">
                  <c:v>202209</c:v>
                </c:pt>
                <c:pt idx="33">
                  <c:v>202210</c:v>
                </c:pt>
                <c:pt idx="34">
                  <c:v>202211</c:v>
                </c:pt>
                <c:pt idx="35">
                  <c:v>202212</c:v>
                </c:pt>
                <c:pt idx="36">
                  <c:v>202301</c:v>
                </c:pt>
                <c:pt idx="37">
                  <c:v>202302</c:v>
                </c:pt>
                <c:pt idx="38">
                  <c:v>202303</c:v>
                </c:pt>
                <c:pt idx="39">
                  <c:v>202304</c:v>
                </c:pt>
                <c:pt idx="40">
                  <c:v>202305</c:v>
                </c:pt>
                <c:pt idx="41">
                  <c:v>202306</c:v>
                </c:pt>
                <c:pt idx="42">
                  <c:v>202307</c:v>
                </c:pt>
                <c:pt idx="43">
                  <c:v>202308</c:v>
                </c:pt>
                <c:pt idx="44">
                  <c:v>202309</c:v>
                </c:pt>
                <c:pt idx="45">
                  <c:v>202310</c:v>
                </c:pt>
                <c:pt idx="46">
                  <c:v>202311</c:v>
                </c:pt>
                <c:pt idx="47">
                  <c:v>202312</c:v>
                </c:pt>
                <c:pt idx="48">
                  <c:v>202401</c:v>
                </c:pt>
                <c:pt idx="49">
                  <c:v>202402</c:v>
                </c:pt>
                <c:pt idx="50">
                  <c:v>202403</c:v>
                </c:pt>
                <c:pt idx="51">
                  <c:v>202404</c:v>
                </c:pt>
                <c:pt idx="52">
                  <c:v>202405</c:v>
                </c:pt>
                <c:pt idx="53">
                  <c:v>202406</c:v>
                </c:pt>
                <c:pt idx="54">
                  <c:v>202407</c:v>
                </c:pt>
                <c:pt idx="55">
                  <c:v>202408</c:v>
                </c:pt>
                <c:pt idx="56">
                  <c:v>202409</c:v>
                </c:pt>
                <c:pt idx="57">
                  <c:v>202410</c:v>
                </c:pt>
                <c:pt idx="58">
                  <c:v>202411</c:v>
                </c:pt>
                <c:pt idx="59">
                  <c:v>202412</c:v>
                </c:pt>
                <c:pt idx="60">
                  <c:v>202501</c:v>
                </c:pt>
                <c:pt idx="61">
                  <c:v>202502</c:v>
                </c:pt>
                <c:pt idx="62">
                  <c:v>202503</c:v>
                </c:pt>
                <c:pt idx="63">
                  <c:v>202504</c:v>
                </c:pt>
              </c:numCache>
            </c:numRef>
          </c:cat>
          <c:val>
            <c:numRef>
              <c:f>Hoja1!$F$2:$F$65</c:f>
              <c:numCache>
                <c:formatCode>General</c:formatCode>
                <c:ptCount val="64"/>
                <c:pt idx="0">
                  <c:v>5.5776000000000003</c:v>
                </c:pt>
                <c:pt idx="1">
                  <c:v>5.4344999999999999</c:v>
                </c:pt>
                <c:pt idx="2">
                  <c:v>6.4119999999999999</c:v>
                </c:pt>
                <c:pt idx="3">
                  <c:v>8.9450000000000003</c:v>
                </c:pt>
                <c:pt idx="4">
                  <c:v>10.9328</c:v>
                </c:pt>
                <c:pt idx="5">
                  <c:v>12.4773</c:v>
                </c:pt>
                <c:pt idx="6">
                  <c:v>14.6219</c:v>
                </c:pt>
                <c:pt idx="7">
                  <c:v>16.7453</c:v>
                </c:pt>
                <c:pt idx="8">
                  <c:v>18.504999999999999</c:v>
                </c:pt>
                <c:pt idx="9">
                  <c:v>16.5718</c:v>
                </c:pt>
                <c:pt idx="10">
                  <c:v>18.9986</c:v>
                </c:pt>
                <c:pt idx="11">
                  <c:v>18.8809</c:v>
                </c:pt>
                <c:pt idx="12">
                  <c:v>18.710100000000001</c:v>
                </c:pt>
                <c:pt idx="13">
                  <c:v>16.700099999999999</c:v>
                </c:pt>
                <c:pt idx="14">
                  <c:v>16.257999999999999</c:v>
                </c:pt>
                <c:pt idx="15">
                  <c:v>16.466899999999999</c:v>
                </c:pt>
                <c:pt idx="16">
                  <c:v>16.544499999999999</c:v>
                </c:pt>
                <c:pt idx="17">
                  <c:v>16.2178</c:v>
                </c:pt>
                <c:pt idx="18">
                  <c:v>14.9359</c:v>
                </c:pt>
                <c:pt idx="19">
                  <c:v>14.2996</c:v>
                </c:pt>
                <c:pt idx="20">
                  <c:v>13.273400000000001</c:v>
                </c:pt>
                <c:pt idx="21">
                  <c:v>11.913600000000001</c:v>
                </c:pt>
                <c:pt idx="22">
                  <c:v>11.6534</c:v>
                </c:pt>
                <c:pt idx="23">
                  <c:v>10.9221</c:v>
                </c:pt>
                <c:pt idx="24">
                  <c:v>11.090999999999999</c:v>
                </c:pt>
                <c:pt idx="25">
                  <c:v>11.056699999999999</c:v>
                </c:pt>
                <c:pt idx="26">
                  <c:v>12.5212</c:v>
                </c:pt>
                <c:pt idx="27">
                  <c:v>13.577400000000001</c:v>
                </c:pt>
                <c:pt idx="28">
                  <c:v>14.3386</c:v>
                </c:pt>
                <c:pt idx="29">
                  <c:v>15.2293</c:v>
                </c:pt>
                <c:pt idx="30">
                  <c:v>15.8172</c:v>
                </c:pt>
                <c:pt idx="31">
                  <c:v>16.821400000000001</c:v>
                </c:pt>
                <c:pt idx="32">
                  <c:v>17.892099999999999</c:v>
                </c:pt>
                <c:pt idx="33">
                  <c:v>18.526499999999999</c:v>
                </c:pt>
                <c:pt idx="34">
                  <c:v>18.895499999999998</c:v>
                </c:pt>
                <c:pt idx="35">
                  <c:v>19.0684</c:v>
                </c:pt>
                <c:pt idx="36">
                  <c:v>19.914300000000001</c:v>
                </c:pt>
                <c:pt idx="37">
                  <c:v>21.7822</c:v>
                </c:pt>
                <c:pt idx="38">
                  <c:v>22.924399999999999</c:v>
                </c:pt>
                <c:pt idx="39">
                  <c:v>24.3538</c:v>
                </c:pt>
                <c:pt idx="40">
                  <c:v>24.529599999999999</c:v>
                </c:pt>
                <c:pt idx="41">
                  <c:v>24.878499999999999</c:v>
                </c:pt>
                <c:pt idx="42">
                  <c:v>24.593499999999999</c:v>
                </c:pt>
                <c:pt idx="43">
                  <c:v>23.476800000000001</c:v>
                </c:pt>
                <c:pt idx="44">
                  <c:v>23.438400000000001</c:v>
                </c:pt>
                <c:pt idx="45">
                  <c:v>22.067399999999999</c:v>
                </c:pt>
                <c:pt idx="46">
                  <c:v>21.517499999999998</c:v>
                </c:pt>
                <c:pt idx="47">
                  <c:v>19.971</c:v>
                </c:pt>
                <c:pt idx="48">
                  <c:v>19.4467</c:v>
                </c:pt>
                <c:pt idx="49">
                  <c:v>19.386600000000001</c:v>
                </c:pt>
                <c:pt idx="50">
                  <c:v>16.772400000000001</c:v>
                </c:pt>
                <c:pt idx="51">
                  <c:v>15.128299999999999</c:v>
                </c:pt>
                <c:pt idx="52">
                  <c:v>14.1653</c:v>
                </c:pt>
                <c:pt idx="53">
                  <c:v>13.787000000000001</c:v>
                </c:pt>
                <c:pt idx="54">
                  <c:v>13.3127</c:v>
                </c:pt>
                <c:pt idx="55">
                  <c:v>12.263</c:v>
                </c:pt>
                <c:pt idx="56">
                  <c:v>12.697699999999999</c:v>
                </c:pt>
                <c:pt idx="57">
                  <c:v>11.6152</c:v>
                </c:pt>
                <c:pt idx="58">
                  <c:v>11.1373</c:v>
                </c:pt>
                <c:pt idx="59">
                  <c:v>10.390499999999999</c:v>
                </c:pt>
                <c:pt idx="60">
                  <c:v>11.1837</c:v>
                </c:pt>
                <c:pt idx="61">
                  <c:v>9.8644999999999996</c:v>
                </c:pt>
                <c:pt idx="62">
                  <c:v>9.4354999999999993</c:v>
                </c:pt>
                <c:pt idx="63">
                  <c:v>8.1036000000000001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CA-4F96-934D-AE89E8A225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7479999"/>
        <c:axId val="400204319"/>
      </c:lineChart>
      <c:lineChart>
        <c:grouping val="standard"/>
        <c:varyColors val="0"/>
        <c:ser>
          <c:idx val="1"/>
          <c:order val="1"/>
          <c:tx>
            <c:strRef>
              <c:f>Hoja1!$G$1</c:f>
              <c:strCache>
                <c:ptCount val="1"/>
                <c:pt idx="0">
                  <c:v>ft_JURIDICA</c:v>
                </c:pt>
              </c:strCache>
            </c:strRef>
          </c:tx>
          <c:spPr>
            <a:ln w="28575" cap="rnd">
              <a:solidFill>
                <a:srgbClr val="08979D"/>
              </a:solidFill>
              <a:round/>
            </a:ln>
            <a:effectLst/>
          </c:spPr>
          <c:marker>
            <c:symbol val="none"/>
          </c:marker>
          <c:cat>
            <c:numRef>
              <c:f>Hoja1!$A$2:$A$65</c:f>
              <c:numCache>
                <c:formatCode>General</c:formatCode>
                <c:ptCount val="64"/>
                <c:pt idx="0">
                  <c:v>202001</c:v>
                </c:pt>
                <c:pt idx="1">
                  <c:v>202002</c:v>
                </c:pt>
                <c:pt idx="2">
                  <c:v>202003</c:v>
                </c:pt>
                <c:pt idx="3">
                  <c:v>202004</c:v>
                </c:pt>
                <c:pt idx="4">
                  <c:v>202005</c:v>
                </c:pt>
                <c:pt idx="5">
                  <c:v>202006</c:v>
                </c:pt>
                <c:pt idx="6">
                  <c:v>202007</c:v>
                </c:pt>
                <c:pt idx="7">
                  <c:v>202008</c:v>
                </c:pt>
                <c:pt idx="8">
                  <c:v>202009</c:v>
                </c:pt>
                <c:pt idx="9">
                  <c:v>202010</c:v>
                </c:pt>
                <c:pt idx="10">
                  <c:v>202011</c:v>
                </c:pt>
                <c:pt idx="11">
                  <c:v>202012</c:v>
                </c:pt>
                <c:pt idx="12">
                  <c:v>202101</c:v>
                </c:pt>
                <c:pt idx="13">
                  <c:v>202102</c:v>
                </c:pt>
                <c:pt idx="14">
                  <c:v>202103</c:v>
                </c:pt>
                <c:pt idx="15">
                  <c:v>202104</c:v>
                </c:pt>
                <c:pt idx="16">
                  <c:v>202105</c:v>
                </c:pt>
                <c:pt idx="17">
                  <c:v>202106</c:v>
                </c:pt>
                <c:pt idx="18">
                  <c:v>202107</c:v>
                </c:pt>
                <c:pt idx="19">
                  <c:v>202108</c:v>
                </c:pt>
                <c:pt idx="20">
                  <c:v>202109</c:v>
                </c:pt>
                <c:pt idx="21">
                  <c:v>202110</c:v>
                </c:pt>
                <c:pt idx="22">
                  <c:v>202111</c:v>
                </c:pt>
                <c:pt idx="23">
                  <c:v>202112</c:v>
                </c:pt>
                <c:pt idx="24">
                  <c:v>202201</c:v>
                </c:pt>
                <c:pt idx="25">
                  <c:v>202202</c:v>
                </c:pt>
                <c:pt idx="26">
                  <c:v>202203</c:v>
                </c:pt>
                <c:pt idx="27">
                  <c:v>202204</c:v>
                </c:pt>
                <c:pt idx="28">
                  <c:v>202205</c:v>
                </c:pt>
                <c:pt idx="29">
                  <c:v>202206</c:v>
                </c:pt>
                <c:pt idx="30">
                  <c:v>202207</c:v>
                </c:pt>
                <c:pt idx="31">
                  <c:v>202208</c:v>
                </c:pt>
                <c:pt idx="32">
                  <c:v>202209</c:v>
                </c:pt>
                <c:pt idx="33">
                  <c:v>202210</c:v>
                </c:pt>
                <c:pt idx="34">
                  <c:v>202211</c:v>
                </c:pt>
                <c:pt idx="35">
                  <c:v>202212</c:v>
                </c:pt>
                <c:pt idx="36">
                  <c:v>202301</c:v>
                </c:pt>
                <c:pt idx="37">
                  <c:v>202302</c:v>
                </c:pt>
                <c:pt idx="38">
                  <c:v>202303</c:v>
                </c:pt>
                <c:pt idx="39">
                  <c:v>202304</c:v>
                </c:pt>
                <c:pt idx="40">
                  <c:v>202305</c:v>
                </c:pt>
                <c:pt idx="41">
                  <c:v>202306</c:v>
                </c:pt>
                <c:pt idx="42">
                  <c:v>202307</c:v>
                </c:pt>
                <c:pt idx="43">
                  <c:v>202308</c:v>
                </c:pt>
                <c:pt idx="44">
                  <c:v>202309</c:v>
                </c:pt>
                <c:pt idx="45">
                  <c:v>202310</c:v>
                </c:pt>
                <c:pt idx="46">
                  <c:v>202311</c:v>
                </c:pt>
                <c:pt idx="47">
                  <c:v>202312</c:v>
                </c:pt>
                <c:pt idx="48">
                  <c:v>202401</c:v>
                </c:pt>
                <c:pt idx="49">
                  <c:v>202402</c:v>
                </c:pt>
                <c:pt idx="50">
                  <c:v>202403</c:v>
                </c:pt>
                <c:pt idx="51">
                  <c:v>202404</c:v>
                </c:pt>
                <c:pt idx="52">
                  <c:v>202405</c:v>
                </c:pt>
                <c:pt idx="53">
                  <c:v>202406</c:v>
                </c:pt>
                <c:pt idx="54">
                  <c:v>202407</c:v>
                </c:pt>
                <c:pt idx="55">
                  <c:v>202408</c:v>
                </c:pt>
                <c:pt idx="56">
                  <c:v>202409</c:v>
                </c:pt>
                <c:pt idx="57">
                  <c:v>202410</c:v>
                </c:pt>
                <c:pt idx="58">
                  <c:v>202411</c:v>
                </c:pt>
                <c:pt idx="59">
                  <c:v>202412</c:v>
                </c:pt>
                <c:pt idx="60">
                  <c:v>202501</c:v>
                </c:pt>
                <c:pt idx="61">
                  <c:v>202502</c:v>
                </c:pt>
                <c:pt idx="62">
                  <c:v>202503</c:v>
                </c:pt>
                <c:pt idx="63">
                  <c:v>202504</c:v>
                </c:pt>
              </c:numCache>
            </c:numRef>
          </c:cat>
          <c:val>
            <c:numRef>
              <c:f>Hoja1!$G$2:$G$65</c:f>
              <c:numCache>
                <c:formatCode>General</c:formatCode>
                <c:ptCount val="64"/>
                <c:pt idx="0">
                  <c:v>1.7681</c:v>
                </c:pt>
                <c:pt idx="1">
                  <c:v>1.7681</c:v>
                </c:pt>
                <c:pt idx="2">
                  <c:v>1.7681</c:v>
                </c:pt>
                <c:pt idx="3">
                  <c:v>1.7681</c:v>
                </c:pt>
                <c:pt idx="4">
                  <c:v>1.7681</c:v>
                </c:pt>
                <c:pt idx="5">
                  <c:v>1.7681</c:v>
                </c:pt>
                <c:pt idx="6">
                  <c:v>1.7681</c:v>
                </c:pt>
                <c:pt idx="7">
                  <c:v>1.7681</c:v>
                </c:pt>
                <c:pt idx="8">
                  <c:v>1.4746999999999999</c:v>
                </c:pt>
                <c:pt idx="9">
                  <c:v>0.47320000000000001</c:v>
                </c:pt>
                <c:pt idx="10">
                  <c:v>-1.8800000000000001E-2</c:v>
                </c:pt>
                <c:pt idx="11">
                  <c:v>-0.25</c:v>
                </c:pt>
                <c:pt idx="12">
                  <c:v>-0.34370000000000001</c:v>
                </c:pt>
                <c:pt idx="13">
                  <c:v>-0.30709999999999998</c:v>
                </c:pt>
                <c:pt idx="14">
                  <c:v>-0.2225</c:v>
                </c:pt>
                <c:pt idx="15">
                  <c:v>-0.1444</c:v>
                </c:pt>
                <c:pt idx="16">
                  <c:v>-5.4800000000000001E-2</c:v>
                </c:pt>
                <c:pt idx="17">
                  <c:v>-0.28139999999999998</c:v>
                </c:pt>
                <c:pt idx="18">
                  <c:v>-0.3604</c:v>
                </c:pt>
                <c:pt idx="19">
                  <c:v>0.39900000000000002</c:v>
                </c:pt>
                <c:pt idx="20">
                  <c:v>1.2535000000000001</c:v>
                </c:pt>
                <c:pt idx="21">
                  <c:v>1.7681</c:v>
                </c:pt>
                <c:pt idx="22">
                  <c:v>1.7681</c:v>
                </c:pt>
                <c:pt idx="23">
                  <c:v>1.7082999999999999</c:v>
                </c:pt>
                <c:pt idx="24">
                  <c:v>1.3512999999999999</c:v>
                </c:pt>
                <c:pt idx="25">
                  <c:v>0.91080000000000005</c:v>
                </c:pt>
                <c:pt idx="26">
                  <c:v>0.59899999999999998</c:v>
                </c:pt>
                <c:pt idx="27">
                  <c:v>0.18099999999999999</c:v>
                </c:pt>
                <c:pt idx="28">
                  <c:v>-0.20830000000000001</c:v>
                </c:pt>
                <c:pt idx="29">
                  <c:v>-0.27910000000000001</c:v>
                </c:pt>
                <c:pt idx="30">
                  <c:v>-0.40699999999999997</c:v>
                </c:pt>
                <c:pt idx="31">
                  <c:v>-0.63719999999999999</c:v>
                </c:pt>
                <c:pt idx="32">
                  <c:v>-0.8246</c:v>
                </c:pt>
                <c:pt idx="33">
                  <c:v>-0.8649</c:v>
                </c:pt>
                <c:pt idx="34">
                  <c:v>-0.77739999999999998</c:v>
                </c:pt>
                <c:pt idx="35">
                  <c:v>-0.81569999999999998</c:v>
                </c:pt>
                <c:pt idx="36">
                  <c:v>-0.71409999999999996</c:v>
                </c:pt>
                <c:pt idx="37">
                  <c:v>-0.72550000000000003</c:v>
                </c:pt>
                <c:pt idx="38">
                  <c:v>-0.82979999999999998</c:v>
                </c:pt>
                <c:pt idx="39">
                  <c:v>-0.99850000000000005</c:v>
                </c:pt>
                <c:pt idx="40">
                  <c:v>-0.90880000000000005</c:v>
                </c:pt>
                <c:pt idx="41">
                  <c:v>-1.1218999999999999</c:v>
                </c:pt>
                <c:pt idx="42">
                  <c:v>-1.1218999999999999</c:v>
                </c:pt>
                <c:pt idx="43">
                  <c:v>-1.1218999999999999</c:v>
                </c:pt>
                <c:pt idx="44">
                  <c:v>-1.0901000000000001</c:v>
                </c:pt>
                <c:pt idx="45">
                  <c:v>-0.98260000000000003</c:v>
                </c:pt>
                <c:pt idx="46">
                  <c:v>-0.90129999999999999</c:v>
                </c:pt>
                <c:pt idx="47">
                  <c:v>-0.6673</c:v>
                </c:pt>
                <c:pt idx="48">
                  <c:v>-0.49280000000000002</c:v>
                </c:pt>
                <c:pt idx="49">
                  <c:v>-0.25559999999999999</c:v>
                </c:pt>
                <c:pt idx="50">
                  <c:v>-0.29420000000000002</c:v>
                </c:pt>
                <c:pt idx="51">
                  <c:v>-0.2019</c:v>
                </c:pt>
                <c:pt idx="52">
                  <c:v>-0.26569999999999999</c:v>
                </c:pt>
                <c:pt idx="53">
                  <c:v>-2.9700000000000001E-2</c:v>
                </c:pt>
                <c:pt idx="54">
                  <c:v>0.17150000000000001</c:v>
                </c:pt>
                <c:pt idx="55">
                  <c:v>0.26929999999999998</c:v>
                </c:pt>
                <c:pt idx="56">
                  <c:v>0.50290000000000001</c:v>
                </c:pt>
                <c:pt idx="57">
                  <c:v>0.59419999999999995</c:v>
                </c:pt>
                <c:pt idx="58">
                  <c:v>0.80179999999999996</c:v>
                </c:pt>
                <c:pt idx="59">
                  <c:v>0.91310000000000002</c:v>
                </c:pt>
                <c:pt idx="60">
                  <c:v>1.1629</c:v>
                </c:pt>
                <c:pt idx="61">
                  <c:v>1.2950999999999999</c:v>
                </c:pt>
                <c:pt idx="62">
                  <c:v>1.6620999999999999</c:v>
                </c:pt>
                <c:pt idx="63">
                  <c:v>1.7681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ECA-4F96-934D-AE89E8A225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2869839"/>
        <c:axId val="602866959"/>
      </c:lineChart>
      <c:catAx>
        <c:axId val="2117479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400204319"/>
        <c:crosses val="autoZero"/>
        <c:auto val="1"/>
        <c:lblAlgn val="ctr"/>
        <c:lblOffset val="100"/>
        <c:noMultiLvlLbl val="0"/>
      </c:catAx>
      <c:valAx>
        <c:axId val="400204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2117479999"/>
        <c:crosses val="autoZero"/>
        <c:crossBetween val="between"/>
      </c:valAx>
      <c:valAx>
        <c:axId val="60286695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602869839"/>
        <c:crosses val="max"/>
        <c:crossBetween val="between"/>
      </c:valAx>
      <c:catAx>
        <c:axId val="60286983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0286695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0701543082548288E-2"/>
          <c:y val="6.2334928490780955E-2"/>
          <c:w val="0.83023094948310072"/>
          <c:h val="0.80016884424782875"/>
        </c:manualLayout>
      </c:layout>
      <c:barChart>
        <c:barDir val="col"/>
        <c:grouping val="clustered"/>
        <c:varyColors val="0"/>
        <c:ser>
          <c:idx val="19"/>
          <c:order val="19"/>
          <c:tx>
            <c:strRef>
              <c:f>'NATURAL-PD_RAW'!$B$3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val>
            <c:numRef>
              <c:f>'NATURAL-PD_RAW'!$B$4:$B$38</c:f>
              <c:numCache>
                <c:formatCode>#,##0</c:formatCode>
                <c:ptCount val="35"/>
                <c:pt idx="0">
                  <c:v>2825</c:v>
                </c:pt>
                <c:pt idx="1">
                  <c:v>2873</c:v>
                </c:pt>
                <c:pt idx="2">
                  <c:v>2997</c:v>
                </c:pt>
                <c:pt idx="3">
                  <c:v>3174</c:v>
                </c:pt>
                <c:pt idx="4">
                  <c:v>3131</c:v>
                </c:pt>
                <c:pt idx="5">
                  <c:v>3161</c:v>
                </c:pt>
                <c:pt idx="6">
                  <c:v>3044</c:v>
                </c:pt>
                <c:pt idx="7">
                  <c:v>2939</c:v>
                </c:pt>
                <c:pt idx="8">
                  <c:v>2901</c:v>
                </c:pt>
                <c:pt idx="9">
                  <c:v>2509</c:v>
                </c:pt>
                <c:pt idx="10">
                  <c:v>2397</c:v>
                </c:pt>
                <c:pt idx="11">
                  <c:v>2208</c:v>
                </c:pt>
                <c:pt idx="12">
                  <c:v>2192</c:v>
                </c:pt>
                <c:pt idx="13">
                  <c:v>2085</c:v>
                </c:pt>
                <c:pt idx="14">
                  <c:v>1979</c:v>
                </c:pt>
                <c:pt idx="15">
                  <c:v>1842</c:v>
                </c:pt>
                <c:pt idx="16">
                  <c:v>1722</c:v>
                </c:pt>
                <c:pt idx="17">
                  <c:v>1635</c:v>
                </c:pt>
                <c:pt idx="18">
                  <c:v>1572</c:v>
                </c:pt>
                <c:pt idx="19">
                  <c:v>1490</c:v>
                </c:pt>
                <c:pt idx="20">
                  <c:v>1420</c:v>
                </c:pt>
                <c:pt idx="21">
                  <c:v>1315</c:v>
                </c:pt>
                <c:pt idx="22">
                  <c:v>1166</c:v>
                </c:pt>
                <c:pt idx="23">
                  <c:v>1031</c:v>
                </c:pt>
                <c:pt idx="24">
                  <c:v>1003</c:v>
                </c:pt>
                <c:pt idx="25">
                  <c:v>981</c:v>
                </c:pt>
                <c:pt idx="26">
                  <c:v>974</c:v>
                </c:pt>
                <c:pt idx="27">
                  <c:v>956</c:v>
                </c:pt>
                <c:pt idx="28">
                  <c:v>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0E-4819-9A31-B4F87DA63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081870680"/>
        <c:axId val="1081866360"/>
      </c:barChart>
      <c:lineChart>
        <c:grouping val="standard"/>
        <c:varyColors val="0"/>
        <c:ser>
          <c:idx val="9"/>
          <c:order val="9"/>
          <c:tx>
            <c:strRef>
              <c:f>'NATURAL-PD_RAW'!$N$3</c:f>
              <c:strCache>
                <c:ptCount val="1"/>
                <c:pt idx="0">
                  <c:v>RD12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rgbClr val="002978"/>
              </a:solidFill>
              <a:ln w="28575">
                <a:noFill/>
              </a:ln>
              <a:effectLst/>
            </c:spPr>
          </c:marker>
          <c:cat>
            <c:strRef>
              <c:f>'NATURAL-PD_RAW'!$A$4:$A$38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'NATURAL-PD_RAW'!$N$4:$N$38</c:f>
              <c:numCache>
                <c:formatCode>0.0%</c:formatCode>
                <c:ptCount val="35"/>
                <c:pt idx="0">
                  <c:v>0.1932743362831858</c:v>
                </c:pt>
                <c:pt idx="1">
                  <c:v>0.198746954403063</c:v>
                </c:pt>
                <c:pt idx="2">
                  <c:v>0.20920920920920921</c:v>
                </c:pt>
                <c:pt idx="3">
                  <c:v>0.22211720226843099</c:v>
                </c:pt>
                <c:pt idx="4">
                  <c:v>0.22804215905461511</c:v>
                </c:pt>
                <c:pt idx="5">
                  <c:v>0.23789939892439102</c:v>
                </c:pt>
                <c:pt idx="6">
                  <c:v>0.22273324572930359</c:v>
                </c:pt>
                <c:pt idx="7">
                  <c:v>0.22116366110922081</c:v>
                </c:pt>
                <c:pt idx="8">
                  <c:v>0.24543260944501899</c:v>
                </c:pt>
                <c:pt idx="9">
                  <c:v>0.21602231964926261</c:v>
                </c:pt>
                <c:pt idx="10">
                  <c:v>0.2332081768877764</c:v>
                </c:pt>
                <c:pt idx="11">
                  <c:v>0.202445652173913</c:v>
                </c:pt>
                <c:pt idx="12">
                  <c:v>0.20620437956204379</c:v>
                </c:pt>
                <c:pt idx="13">
                  <c:v>0.1952038369304557</c:v>
                </c:pt>
                <c:pt idx="14">
                  <c:v>0.18292066700353712</c:v>
                </c:pt>
                <c:pt idx="15">
                  <c:v>0.1666666666666666</c:v>
                </c:pt>
                <c:pt idx="16">
                  <c:v>0.1626016260162601</c:v>
                </c:pt>
                <c:pt idx="17">
                  <c:v>0.13883792048929661</c:v>
                </c:pt>
                <c:pt idx="18">
                  <c:v>0.14631043256997459</c:v>
                </c:pt>
                <c:pt idx="19">
                  <c:v>0.1429530201342282</c:v>
                </c:pt>
                <c:pt idx="20">
                  <c:v>0.13169014084507041</c:v>
                </c:pt>
                <c:pt idx="21">
                  <c:v>0.12699619771863119</c:v>
                </c:pt>
                <c:pt idx="22">
                  <c:v>0.11663807890222991</c:v>
                </c:pt>
                <c:pt idx="23">
                  <c:v>0.1028128031037827</c:v>
                </c:pt>
                <c:pt idx="24">
                  <c:v>0.10069790628115649</c:v>
                </c:pt>
                <c:pt idx="25">
                  <c:v>9.7859327217125369E-2</c:v>
                </c:pt>
                <c:pt idx="26">
                  <c:v>7.8028747433264892E-2</c:v>
                </c:pt>
                <c:pt idx="27">
                  <c:v>7.3221757322175729E-2</c:v>
                </c:pt>
                <c:pt idx="28">
                  <c:v>7.1576763485477174E-2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0E-4819-9A31-B4F87DA630FE}"/>
            </c:ext>
          </c:extLst>
        </c:ser>
        <c:ser>
          <c:idx val="10"/>
          <c:order val="10"/>
          <c:tx>
            <c:strRef>
              <c:f>'NATURAL-PD_RAW'!$O$3</c:f>
              <c:strCache>
                <c:ptCount val="1"/>
                <c:pt idx="0">
                  <c:v>RD12_PROY_MCA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'NATURAL-PD_RAW'!$A$4:$A$38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'NATURAL-PD_RAW'!$O$4:$O$38</c:f>
              <c:numCache>
                <c:formatCode>General</c:formatCode>
                <c:ptCount val="35"/>
                <c:pt idx="29" formatCode="0.0%">
                  <c:v>6.7100000000000007E-2</c:v>
                </c:pt>
                <c:pt idx="30" formatCode="0.0%">
                  <c:v>6.1400000000000003E-2</c:v>
                </c:pt>
                <c:pt idx="31" formatCode="0.0%">
                  <c:v>6.1100000000000002E-2</c:v>
                </c:pt>
                <c:pt idx="32" formatCode="0.0%">
                  <c:v>6.7199999999999996E-2</c:v>
                </c:pt>
                <c:pt idx="33" formatCode="0.0%">
                  <c:v>6.8000000000000005E-2</c:v>
                </c:pt>
                <c:pt idx="34" formatCode="0.0%">
                  <c:v>6.3299999999999995E-2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0E-4819-9A31-B4F87DA630FE}"/>
            </c:ext>
          </c:extLst>
        </c:ser>
        <c:ser>
          <c:idx val="16"/>
          <c:order val="16"/>
          <c:tx>
            <c:strRef>
              <c:f>'NATURAL-PD_RAW'!$U$3</c:f>
              <c:strCache>
                <c:ptCount val="1"/>
                <c:pt idx="0">
                  <c:v>PD</c:v>
                </c:pt>
              </c:strCache>
            </c:strRef>
          </c:tx>
          <c:spPr>
            <a:ln w="127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'NATURAL-PD_RAW'!$A$4:$A$38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'NATURAL-PD_RAW'!$U$4:$U$38</c:f>
              <c:numCache>
                <c:formatCode>0.0%</c:formatCode>
                <c:ptCount val="35"/>
                <c:pt idx="0">
                  <c:v>0.2197284955752212</c:v>
                </c:pt>
                <c:pt idx="1">
                  <c:v>0.22631152105812738</c:v>
                </c:pt>
                <c:pt idx="2">
                  <c:v>0.22648748748748751</c:v>
                </c:pt>
                <c:pt idx="3">
                  <c:v>0.24926559546313801</c:v>
                </c:pt>
                <c:pt idx="4">
                  <c:v>0.25098594698179488</c:v>
                </c:pt>
                <c:pt idx="5">
                  <c:v>0.25767193925972792</c:v>
                </c:pt>
                <c:pt idx="6">
                  <c:v>0.24527923784494088</c:v>
                </c:pt>
                <c:pt idx="7">
                  <c:v>0.24370261993875469</c:v>
                </c:pt>
                <c:pt idx="8">
                  <c:v>0.26672768011030679</c:v>
                </c:pt>
                <c:pt idx="9">
                  <c:v>0.2338927859705062</c:v>
                </c:pt>
                <c:pt idx="10">
                  <c:v>0.25227117229870671</c:v>
                </c:pt>
                <c:pt idx="11">
                  <c:v>0.23560597826086951</c:v>
                </c:pt>
                <c:pt idx="12">
                  <c:v>0.23586587591240871</c:v>
                </c:pt>
                <c:pt idx="13">
                  <c:v>0.22774100719424462</c:v>
                </c:pt>
                <c:pt idx="14">
                  <c:v>0.2322915613946438</c:v>
                </c:pt>
                <c:pt idx="15">
                  <c:v>0.22462052117263842</c:v>
                </c:pt>
                <c:pt idx="16">
                  <c:v>0.21570441347270608</c:v>
                </c:pt>
                <c:pt idx="17">
                  <c:v>0.21083180428134551</c:v>
                </c:pt>
                <c:pt idx="18">
                  <c:v>0.20447773536895672</c:v>
                </c:pt>
                <c:pt idx="19">
                  <c:v>0.20813892617449661</c:v>
                </c:pt>
                <c:pt idx="20">
                  <c:v>0.19008239436619723</c:v>
                </c:pt>
                <c:pt idx="21">
                  <c:v>0.18987908745247151</c:v>
                </c:pt>
                <c:pt idx="22">
                  <c:v>0.20165523156089191</c:v>
                </c:pt>
                <c:pt idx="23">
                  <c:v>0.18926382153249272</c:v>
                </c:pt>
                <c:pt idx="24">
                  <c:v>0.1882323030907278</c:v>
                </c:pt>
                <c:pt idx="25">
                  <c:v>0.18693068297655452</c:v>
                </c:pt>
                <c:pt idx="26">
                  <c:v>0.17436652977412731</c:v>
                </c:pt>
                <c:pt idx="27">
                  <c:v>0.17169456066945599</c:v>
                </c:pt>
                <c:pt idx="28">
                  <c:v>0.17052904564315352</c:v>
                </c:pt>
                <c:pt idx="29">
                  <c:v>0.15892322643343049</c:v>
                </c:pt>
                <c:pt idx="30">
                  <c:v>0.15143992606284662</c:v>
                </c:pt>
                <c:pt idx="31">
                  <c:v>0.14916681695220921</c:v>
                </c:pt>
                <c:pt idx="32">
                  <c:v>0.1512444253859348</c:v>
                </c:pt>
                <c:pt idx="33">
                  <c:v>0.14651484308736221</c:v>
                </c:pt>
                <c:pt idx="34">
                  <c:v>0.1489659863945578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2A0E-4819-9A31-B4F87DA630FE}"/>
            </c:ext>
          </c:extLst>
        </c:ser>
        <c:ser>
          <c:idx val="17"/>
          <c:order val="17"/>
          <c:tx>
            <c:strRef>
              <c:f>'NATURAL-PD_RAW'!$V$3</c:f>
              <c:strCache>
                <c:ptCount val="1"/>
                <c:pt idx="0">
                  <c:v>LI</c:v>
                </c:pt>
              </c:strCache>
            </c:strRef>
          </c:tx>
          <c:spPr>
            <a:ln w="12700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'NATURAL-PD_RAW'!$A$4:$A$38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'NATURAL-PD_RAW'!$V$4:$V$38</c:f>
              <c:numCache>
                <c:formatCode>0%</c:formatCode>
                <c:ptCount val="35"/>
                <c:pt idx="0">
                  <c:v>0.18628997757062296</c:v>
                </c:pt>
                <c:pt idx="1">
                  <c:v>0.19227742773269985</c:v>
                </c:pt>
                <c:pt idx="2">
                  <c:v>0.19243769248196332</c:v>
                </c:pt>
                <c:pt idx="3">
                  <c:v>0.21327720560838556</c:v>
                </c:pt>
                <c:pt idx="4">
                  <c:v>0.2148585862150503</c:v>
                </c:pt>
                <c:pt idx="5">
                  <c:v>0.22101421027865437</c:v>
                </c:pt>
                <c:pt idx="6">
                  <c:v>0.20961683667860864</c:v>
                </c:pt>
                <c:pt idx="7">
                  <c:v>0.20817068558353247</c:v>
                </c:pt>
                <c:pt idx="8">
                  <c:v>0.22937602391517539</c:v>
                </c:pt>
                <c:pt idx="9">
                  <c:v>0.19919240193346946</c:v>
                </c:pt>
                <c:pt idx="10">
                  <c:v>0.21604066127311611</c:v>
                </c:pt>
                <c:pt idx="11">
                  <c:v>0.20075790010468694</c:v>
                </c:pt>
                <c:pt idx="12">
                  <c:v>0.20099548388525657</c:v>
                </c:pt>
                <c:pt idx="13">
                  <c:v>0.19357968606287468</c:v>
                </c:pt>
                <c:pt idx="14">
                  <c:v>0.1977301720001054</c:v>
                </c:pt>
                <c:pt idx="15">
                  <c:v>0.19073789481351991</c:v>
                </c:pt>
                <c:pt idx="16">
                  <c:v>0.18263785727414447</c:v>
                </c:pt>
                <c:pt idx="17">
                  <c:v>0.17822376227879694</c:v>
                </c:pt>
                <c:pt idx="18">
                  <c:v>0.17248114394000583</c:v>
                </c:pt>
                <c:pt idx="19">
                  <c:v>0.17578813723575568</c:v>
                </c:pt>
                <c:pt idx="20">
                  <c:v>0.15952900146480015</c:v>
                </c:pt>
                <c:pt idx="21">
                  <c:v>0.15934666384704541</c:v>
                </c:pt>
                <c:pt idx="22">
                  <c:v>0.16993522097274102</c:v>
                </c:pt>
                <c:pt idx="23">
                  <c:v>0.15879495815752445</c:v>
                </c:pt>
                <c:pt idx="24">
                  <c:v>0.15787034243281073</c:v>
                </c:pt>
                <c:pt idx="25">
                  <c:v>0.15670422948528476</c:v>
                </c:pt>
                <c:pt idx="26">
                  <c:v>0.14548374215940627</c:v>
                </c:pt>
                <c:pt idx="27">
                  <c:v>0.14310600455276198</c:v>
                </c:pt>
                <c:pt idx="28">
                  <c:v>0.14206978198708001</c:v>
                </c:pt>
                <c:pt idx="29">
                  <c:v>0.13178341702907501</c:v>
                </c:pt>
                <c:pt idx="30">
                  <c:v>0.1251825010632531</c:v>
                </c:pt>
                <c:pt idx="31">
                  <c:v>0.12318246683902469</c:v>
                </c:pt>
                <c:pt idx="32">
                  <c:v>0.1250103930965995</c:v>
                </c:pt>
                <c:pt idx="33">
                  <c:v>0.1208521025570317</c:v>
                </c:pt>
                <c:pt idx="34">
                  <c:v>0.12300587712717168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2A0E-4819-9A31-B4F87DA630FE}"/>
            </c:ext>
          </c:extLst>
        </c:ser>
        <c:ser>
          <c:idx val="18"/>
          <c:order val="18"/>
          <c:tx>
            <c:strRef>
              <c:f>'NATURAL-PD_RAW'!$W$3</c:f>
              <c:strCache>
                <c:ptCount val="1"/>
                <c:pt idx="0">
                  <c:v>LS</c:v>
                </c:pt>
              </c:strCache>
            </c:strRef>
          </c:tx>
          <c:spPr>
            <a:ln w="12700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'NATURAL-PD_RAW'!$A$4:$A$38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'NATURAL-PD_RAW'!$W$4:$W$38</c:f>
              <c:numCache>
                <c:formatCode>0%</c:formatCode>
                <c:ptCount val="35"/>
                <c:pt idx="0">
                  <c:v>0.2551245186869433</c:v>
                </c:pt>
                <c:pt idx="1">
                  <c:v>0.26227959624831454</c:v>
                </c:pt>
                <c:pt idx="2">
                  <c:v>0.26247060969820923</c:v>
                </c:pt>
                <c:pt idx="3">
                  <c:v>0.28709193260163468</c:v>
                </c:pt>
                <c:pt idx="4">
                  <c:v>0.28894324065675847</c:v>
                </c:pt>
                <c:pt idx="5">
                  <c:v>0.29612744725943718</c:v>
                </c:pt>
                <c:pt idx="6">
                  <c:v>0.28279773799051355</c:v>
                </c:pt>
                <c:pt idx="7">
                  <c:v>0.28109766809606168</c:v>
                </c:pt>
                <c:pt idx="8">
                  <c:v>0.30583110979100681</c:v>
                </c:pt>
                <c:pt idx="9">
                  <c:v>0.27049776453648233</c:v>
                </c:pt>
                <c:pt idx="10">
                  <c:v>0.2903255588873595</c:v>
                </c:pt>
                <c:pt idx="11">
                  <c:v>0.2723516816876182</c:v>
                </c:pt>
                <c:pt idx="12">
                  <c:v>0.27263282560122937</c:v>
                </c:pt>
                <c:pt idx="13">
                  <c:v>0.26383095371000492</c:v>
                </c:pt>
                <c:pt idx="14">
                  <c:v>0.26876395113653084</c:v>
                </c:pt>
                <c:pt idx="15">
                  <c:v>0.26044335262592044</c:v>
                </c:pt>
                <c:pt idx="16">
                  <c:v>0.25074190194296075</c:v>
                </c:pt>
                <c:pt idx="17">
                  <c:v>0.2454260345148126</c:v>
                </c:pt>
                <c:pt idx="18">
                  <c:v>0.23847869944141986</c:v>
                </c:pt>
                <c:pt idx="19">
                  <c:v>0.24248385053593152</c:v>
                </c:pt>
                <c:pt idx="20">
                  <c:v>0.22267374354643121</c:v>
                </c:pt>
                <c:pt idx="21">
                  <c:v>0.22244986206970185</c:v>
                </c:pt>
                <c:pt idx="22">
                  <c:v>0.23538705052787229</c:v>
                </c:pt>
                <c:pt idx="23">
                  <c:v>0.22177221648515014</c:v>
                </c:pt>
                <c:pt idx="24">
                  <c:v>0.22063572711954929</c:v>
                </c:pt>
                <c:pt idx="25">
                  <c:v>0.21920095197400696</c:v>
                </c:pt>
                <c:pt idx="26">
                  <c:v>0.20531074469469818</c:v>
                </c:pt>
                <c:pt idx="27">
                  <c:v>0.20234704829993699</c:v>
                </c:pt>
                <c:pt idx="28">
                  <c:v>0.2010531909364846</c:v>
                </c:pt>
                <c:pt idx="29">
                  <c:v>0.18813246814487841</c:v>
                </c:pt>
                <c:pt idx="30">
                  <c:v>0.17976471802250746</c:v>
                </c:pt>
                <c:pt idx="31">
                  <c:v>0.17721708360895028</c:v>
                </c:pt>
                <c:pt idx="32">
                  <c:v>0.1795457152926149</c:v>
                </c:pt>
                <c:pt idx="33">
                  <c:v>0.17424130598301613</c:v>
                </c:pt>
                <c:pt idx="34">
                  <c:v>0.17699186509794176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2A0E-4819-9A31-B4F87DA63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7966592"/>
        <c:axId val="110687271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'NATURAL-PD_RAW'!$E$3</c15:sqref>
                        </c15:formulaRef>
                      </c:ext>
                    </c:extLst>
                    <c:strCache>
                      <c:ptCount val="1"/>
                      <c:pt idx="0">
                        <c:v>RD3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'NATURAL-PD_RAW'!$E$4:$E$38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6-2A0E-4819-9A31-B4F87DA630FE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'NATURAL-PD_RAW'!$F$3</c15:sqref>
                        </c15:formulaRef>
                      </c:ext>
                    </c:extLst>
                    <c:strCache>
                      <c:ptCount val="1"/>
                      <c:pt idx="0">
                        <c:v>RD4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'NATURAL-PD_RAW'!$F$4:$F$38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2A0E-4819-9A31-B4F87DA630FE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'NATURAL-PD_RAW'!$G$3</c15:sqref>
                        </c15:formulaRef>
                      </c:ext>
                    </c:extLst>
                    <c:strCache>
                      <c:ptCount val="1"/>
                      <c:pt idx="0">
                        <c:v>RD5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'NATURAL-PD_RAW'!$G$4:$G$38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2A0E-4819-9A31-B4F87DA630FE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'NATURAL-PD_RAW'!$H$3</c15:sqref>
                        </c15:formulaRef>
                      </c:ext>
                    </c:extLst>
                    <c:strCache>
                      <c:ptCount val="1"/>
                      <c:pt idx="0">
                        <c:v>RD6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'NATURAL-PD_RAW'!$H$4:$H$38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2A0E-4819-9A31-B4F87DA630FE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'NATURAL-PD_RAW'!$I$3</c15:sqref>
                        </c15:formulaRef>
                      </c:ext>
                    </c:extLst>
                    <c:strCache>
                      <c:ptCount val="1"/>
                      <c:pt idx="0">
                        <c:v>RD7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'NATURAL-PD_RAW'!$I$4:$I$38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2A0E-4819-9A31-B4F87DA630FE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'NATURAL-PD_RAW'!$J$3</c15:sqref>
                        </c15:formulaRef>
                      </c:ext>
                    </c:extLst>
                    <c:strCache>
                      <c:ptCount val="1"/>
                      <c:pt idx="0">
                        <c:v>RD8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'NATURAL-PD_RAW'!$J$4:$J$38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2A0E-4819-9A31-B4F87DA630FE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'NATURAL-PD_RAW'!$K$3</c15:sqref>
                        </c15:formulaRef>
                      </c:ext>
                    </c:extLst>
                    <c:strCache>
                      <c:ptCount val="1"/>
                      <c:pt idx="0">
                        <c:v>RD9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7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'NATURAL-PD_RAW'!$K$4:$K$38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2A0E-4819-9A31-B4F87DA630FE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'NATURAL-PD_RAW'!$L$3</c15:sqref>
                        </c15:formulaRef>
                      </c:ext>
                    </c:extLst>
                    <c:strCache>
                      <c:ptCount val="1"/>
                      <c:pt idx="0">
                        <c:v>RD10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6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'NATURAL-PD_RAW'!$L$4:$L$38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2A0E-4819-9A31-B4F87DA630FE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'NATURAL-PD_RAW'!$M$3</c15:sqref>
                        </c15:formulaRef>
                      </c:ext>
                    </c:extLst>
                    <c:strCache>
                      <c:ptCount val="1"/>
                      <c:pt idx="0">
                        <c:v>RD11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50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'NATURAL-PD_RAW'!$M$4:$M$38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2A0E-4819-9A31-B4F87DA630FE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'NATURAL-PD_RAW'!$P$3</c15:sqref>
                        </c15:formulaRef>
                      </c:ext>
                    </c:extLst>
                    <c:strCache>
                      <c:ptCount val="1"/>
                      <c:pt idx="0">
                        <c:v>RD12_PROY_CA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6">
                        <a:lumMod val="60000"/>
                      </a:schemeClr>
                    </a:solidFill>
                    <a:ln w="9525">
                      <a:solidFill>
                        <a:schemeClr val="accent6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'NATURAL-PD_RAW'!$P$4:$P$38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2A0E-4819-9A31-B4F87DA630FE}"/>
                  </c:ext>
                </c:extLst>
              </c15:ser>
            </c15:filteredLineSeries>
            <c15:filteredLin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'NATURAL-PD_RAW'!$Q$3</c15:sqref>
                        </c15:formulaRef>
                      </c:ext>
                    </c:extLst>
                    <c:strCache>
                      <c:ptCount val="1"/>
                      <c:pt idx="0">
                        <c:v>PD_ORIG</c:v>
                      </c:pt>
                    </c:strCache>
                  </c:strRef>
                </c:tx>
                <c:spPr>
                  <a:ln w="22225" cap="rnd">
                    <a:solidFill>
                      <a:srgbClr val="66006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'NATURAL-PD_RAW'!$Q$4:$Q$38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2A0E-4819-9A31-B4F87DA630FE}"/>
                  </c:ext>
                </c:extLst>
              </c15:ser>
            </c15:filteredLineSeries>
            <c15:filteredLine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'NATURAL-PD_RAW'!$R$3</c15:sqref>
                        </c15:formulaRef>
                      </c:ext>
                    </c:extLst>
                    <c:strCache>
                      <c:ptCount val="1"/>
                      <c:pt idx="0">
                        <c:v>PD_FWL</c:v>
                      </c:pt>
                    </c:strCache>
                  </c:strRef>
                </c:tx>
                <c:spPr>
                  <a:ln w="22225" cap="rnd">
                    <a:solidFill>
                      <a:schemeClr val="tx2">
                        <a:lumMod val="60000"/>
                        <a:lumOff val="40000"/>
                        <a:alpha val="5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>
                        <a:lumMod val="80000"/>
                        <a:lumOff val="20000"/>
                      </a:schemeClr>
                    </a:solidFill>
                    <a:ln w="9525">
                      <a:solidFill>
                        <a:schemeClr val="accent2">
                          <a:lumMod val="80000"/>
                          <a:lumOff val="20000"/>
                        </a:schemeClr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'NATURAL-PD_RAW'!$R$4:$R$38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2A0E-4819-9A31-B4F87DA630FE}"/>
                  </c:ext>
                </c:extLst>
              </c15:ser>
            </c15:filteredLineSeries>
            <c15:filteredLine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'NATURAL-PD_RAW'!$S$3</c15:sqref>
                        </c15:formulaRef>
                      </c:ext>
                    </c:extLst>
                    <c:strCache>
                      <c:ptCount val="1"/>
                      <c:pt idx="0">
                        <c:v>RD12_FWL_M1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x"/>
                  <c:size val="6"/>
                  <c:spPr>
                    <a:noFill/>
                    <a:ln w="19050">
                      <a:solidFill>
                        <a:srgbClr val="FFC000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'NATURAL-PD_RAW'!$S$4:$S$38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2A0E-4819-9A31-B4F87DA630FE}"/>
                  </c:ext>
                </c:extLst>
              </c15:ser>
            </c15:filteredLineSeries>
            <c15:filteredLine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'NATURAL-PD_RAW'!$T$3</c15:sqref>
                        </c15:formulaRef>
                      </c:ext>
                    </c:extLst>
                    <c:strCache>
                      <c:ptCount val="1"/>
                      <c:pt idx="0">
                        <c:v>RD12_FWL_M2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rgbClr val="00CC99"/>
                    </a:solidFill>
                    <a:ln w="9525">
                      <a:solidFill>
                        <a:srgbClr val="00CC99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'NATURAL-PD_RAW'!$T$4:$T$38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28" formatCode="0.0000%">
                        <c:v>0</c:v>
                      </c:pt>
                      <c:pt idx="29" formatCode="0.0000%">
                        <c:v>0</c:v>
                      </c:pt>
                      <c:pt idx="30" formatCode="0.0000%">
                        <c:v>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2A0E-4819-9A31-B4F87DA630FE}"/>
                  </c:ext>
                </c:extLst>
              </c15:ser>
            </c15:filteredLineSeries>
          </c:ext>
        </c:extLst>
      </c:lineChart>
      <c:catAx>
        <c:axId val="1317966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106872712"/>
        <c:crosses val="autoZero"/>
        <c:auto val="1"/>
        <c:lblAlgn val="ctr"/>
        <c:lblOffset val="100"/>
        <c:noMultiLvlLbl val="0"/>
      </c:catAx>
      <c:valAx>
        <c:axId val="1106872712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317966592"/>
        <c:crosses val="autoZero"/>
        <c:crossBetween val="between"/>
      </c:valAx>
      <c:valAx>
        <c:axId val="1081866360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081870680"/>
        <c:crosses val="max"/>
        <c:crossBetween val="between"/>
        <c:majorUnit val="1000"/>
      </c:valAx>
      <c:catAx>
        <c:axId val="1081870680"/>
        <c:scaling>
          <c:orientation val="minMax"/>
        </c:scaling>
        <c:delete val="1"/>
        <c:axPos val="b"/>
        <c:majorTickMark val="out"/>
        <c:minorTickMark val="none"/>
        <c:tickLblPos val="nextTo"/>
        <c:crossAx val="10818663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0701543082548288E-2"/>
          <c:y val="6.2334928490780955E-2"/>
          <c:w val="0.83023094948310072"/>
          <c:h val="0.80016884424782875"/>
        </c:manualLayout>
      </c:layout>
      <c:barChart>
        <c:barDir val="col"/>
        <c:grouping val="clustered"/>
        <c:varyColors val="0"/>
        <c:ser>
          <c:idx val="19"/>
          <c:order val="19"/>
          <c:tx>
            <c:strRef>
              <c:f>'NATURAL-PD_CALIB'!$B$3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val>
            <c:numRef>
              <c:f>'NATURAL-PD_CALIB'!$B$4:$B$38</c:f>
              <c:numCache>
                <c:formatCode>#,##0</c:formatCode>
                <c:ptCount val="35"/>
                <c:pt idx="0">
                  <c:v>2825</c:v>
                </c:pt>
                <c:pt idx="1">
                  <c:v>2873</c:v>
                </c:pt>
                <c:pt idx="2">
                  <c:v>2997</c:v>
                </c:pt>
                <c:pt idx="3">
                  <c:v>3174</c:v>
                </c:pt>
                <c:pt idx="4">
                  <c:v>3131</c:v>
                </c:pt>
                <c:pt idx="5">
                  <c:v>3161</c:v>
                </c:pt>
                <c:pt idx="6">
                  <c:v>3044</c:v>
                </c:pt>
                <c:pt idx="7">
                  <c:v>2939</c:v>
                </c:pt>
                <c:pt idx="8">
                  <c:v>2901</c:v>
                </c:pt>
                <c:pt idx="9">
                  <c:v>2509</c:v>
                </c:pt>
                <c:pt idx="10">
                  <c:v>2397</c:v>
                </c:pt>
                <c:pt idx="11">
                  <c:v>2208</c:v>
                </c:pt>
                <c:pt idx="12">
                  <c:v>2192</c:v>
                </c:pt>
                <c:pt idx="13">
                  <c:v>2085</c:v>
                </c:pt>
                <c:pt idx="14">
                  <c:v>1979</c:v>
                </c:pt>
                <c:pt idx="15">
                  <c:v>1842</c:v>
                </c:pt>
                <c:pt idx="16">
                  <c:v>1722</c:v>
                </c:pt>
                <c:pt idx="17">
                  <c:v>1635</c:v>
                </c:pt>
                <c:pt idx="18">
                  <c:v>1572</c:v>
                </c:pt>
                <c:pt idx="19">
                  <c:v>1490</c:v>
                </c:pt>
                <c:pt idx="20">
                  <c:v>1420</c:v>
                </c:pt>
                <c:pt idx="21">
                  <c:v>1315</c:v>
                </c:pt>
                <c:pt idx="22">
                  <c:v>1166</c:v>
                </c:pt>
                <c:pt idx="23">
                  <c:v>1031</c:v>
                </c:pt>
                <c:pt idx="24">
                  <c:v>1003</c:v>
                </c:pt>
                <c:pt idx="25">
                  <c:v>981</c:v>
                </c:pt>
                <c:pt idx="26">
                  <c:v>974</c:v>
                </c:pt>
                <c:pt idx="27">
                  <c:v>956</c:v>
                </c:pt>
                <c:pt idx="28">
                  <c:v>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89-47C9-9B5F-2B0713DBF6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081870680"/>
        <c:axId val="1081866360"/>
      </c:barChart>
      <c:lineChart>
        <c:grouping val="standard"/>
        <c:varyColors val="0"/>
        <c:ser>
          <c:idx val="9"/>
          <c:order val="9"/>
          <c:tx>
            <c:strRef>
              <c:f>'NATURAL-PD_CALIB'!$N$3</c:f>
              <c:strCache>
                <c:ptCount val="1"/>
                <c:pt idx="0">
                  <c:v>RD12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rgbClr val="002978"/>
              </a:solidFill>
              <a:ln w="28575">
                <a:noFill/>
              </a:ln>
              <a:effectLst/>
            </c:spPr>
          </c:marker>
          <c:cat>
            <c:strRef>
              <c:f>'NATURAL-PD_CALIB'!$A$4:$A$38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'NATURAL-PD_CALIB'!$N$4:$N$38</c:f>
              <c:numCache>
                <c:formatCode>0.0%</c:formatCode>
                <c:ptCount val="35"/>
                <c:pt idx="0">
                  <c:v>0.1932743362831858</c:v>
                </c:pt>
                <c:pt idx="1">
                  <c:v>0.198746954403063</c:v>
                </c:pt>
                <c:pt idx="2">
                  <c:v>0.20920920920920921</c:v>
                </c:pt>
                <c:pt idx="3">
                  <c:v>0.22211720226843099</c:v>
                </c:pt>
                <c:pt idx="4">
                  <c:v>0.22804215905461511</c:v>
                </c:pt>
                <c:pt idx="5">
                  <c:v>0.23789939892439102</c:v>
                </c:pt>
                <c:pt idx="6">
                  <c:v>0.22273324572930359</c:v>
                </c:pt>
                <c:pt idx="7">
                  <c:v>0.22116366110922081</c:v>
                </c:pt>
                <c:pt idx="8">
                  <c:v>0.24543260944501899</c:v>
                </c:pt>
                <c:pt idx="9">
                  <c:v>0.21602231964926261</c:v>
                </c:pt>
                <c:pt idx="10">
                  <c:v>0.2332081768877764</c:v>
                </c:pt>
                <c:pt idx="11">
                  <c:v>0.202445652173913</c:v>
                </c:pt>
                <c:pt idx="12">
                  <c:v>0.20620437956204379</c:v>
                </c:pt>
                <c:pt idx="13">
                  <c:v>0.1952038369304557</c:v>
                </c:pt>
                <c:pt idx="14">
                  <c:v>0.18292066700353712</c:v>
                </c:pt>
                <c:pt idx="15">
                  <c:v>0.1666666666666666</c:v>
                </c:pt>
                <c:pt idx="16">
                  <c:v>0.1626016260162601</c:v>
                </c:pt>
                <c:pt idx="17">
                  <c:v>0.13883792048929661</c:v>
                </c:pt>
                <c:pt idx="18">
                  <c:v>0.14631043256997459</c:v>
                </c:pt>
                <c:pt idx="19">
                  <c:v>0.1429530201342282</c:v>
                </c:pt>
                <c:pt idx="20">
                  <c:v>0.13169014084507041</c:v>
                </c:pt>
                <c:pt idx="21">
                  <c:v>0.12699619771863119</c:v>
                </c:pt>
                <c:pt idx="22">
                  <c:v>0.11663807890222991</c:v>
                </c:pt>
                <c:pt idx="23">
                  <c:v>0.1028128031037827</c:v>
                </c:pt>
                <c:pt idx="24">
                  <c:v>0.10069790628115649</c:v>
                </c:pt>
                <c:pt idx="25">
                  <c:v>9.7859327217125369E-2</c:v>
                </c:pt>
                <c:pt idx="26">
                  <c:v>7.8028747433264892E-2</c:v>
                </c:pt>
                <c:pt idx="27">
                  <c:v>7.3221757322175729E-2</c:v>
                </c:pt>
                <c:pt idx="28">
                  <c:v>7.1576763485477174E-2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289-47C9-9B5F-2B0713DBF68E}"/>
            </c:ext>
          </c:extLst>
        </c:ser>
        <c:ser>
          <c:idx val="10"/>
          <c:order val="10"/>
          <c:tx>
            <c:strRef>
              <c:f>'NATURAL-PD_CALIB'!$O$3</c:f>
              <c:strCache>
                <c:ptCount val="1"/>
                <c:pt idx="0">
                  <c:v>RD12_PROY_MCA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'NATURAL-PD_CALIB'!$A$4:$A$38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'NATURAL-PD_CALIB'!$O$4:$O$38</c:f>
              <c:numCache>
                <c:formatCode>General</c:formatCode>
                <c:ptCount val="35"/>
                <c:pt idx="29" formatCode="0.0%">
                  <c:v>6.7100000000000007E-2</c:v>
                </c:pt>
                <c:pt idx="30" formatCode="0.0%">
                  <c:v>6.1400000000000003E-2</c:v>
                </c:pt>
                <c:pt idx="31" formatCode="0.0%">
                  <c:v>6.1100000000000002E-2</c:v>
                </c:pt>
                <c:pt idx="32" formatCode="0.0%">
                  <c:v>6.7199999999999996E-2</c:v>
                </c:pt>
                <c:pt idx="33" formatCode="0.0%">
                  <c:v>6.8000000000000005E-2</c:v>
                </c:pt>
                <c:pt idx="34" formatCode="0.0%">
                  <c:v>6.3299999999999995E-2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289-47C9-9B5F-2B0713DBF68E}"/>
            </c:ext>
          </c:extLst>
        </c:ser>
        <c:ser>
          <c:idx val="16"/>
          <c:order val="16"/>
          <c:tx>
            <c:strRef>
              <c:f>'NATURAL-PD_CALIB'!$U$3</c:f>
              <c:strCache>
                <c:ptCount val="1"/>
                <c:pt idx="0">
                  <c:v>PD</c:v>
                </c:pt>
              </c:strCache>
            </c:strRef>
          </c:tx>
          <c:spPr>
            <a:ln w="127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'NATURAL-PD_CALIB'!$A$4:$A$38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'NATURAL-PD_CALIB'!$U$4:$U$38</c:f>
              <c:numCache>
                <c:formatCode>0.0%</c:formatCode>
                <c:ptCount val="35"/>
                <c:pt idx="0">
                  <c:v>0.1919887591877999</c:v>
                </c:pt>
                <c:pt idx="1">
                  <c:v>0.20799266472447658</c:v>
                </c:pt>
                <c:pt idx="2">
                  <c:v>0.2078446082116468</c:v>
                </c:pt>
                <c:pt idx="3">
                  <c:v>0.2305596903472199</c:v>
                </c:pt>
                <c:pt idx="4">
                  <c:v>0.24076941930212312</c:v>
                </c:pt>
                <c:pt idx="5">
                  <c:v>0.25021937153456941</c:v>
                </c:pt>
                <c:pt idx="6">
                  <c:v>0.2384123601039837</c:v>
                </c:pt>
                <c:pt idx="7">
                  <c:v>0.23633173930263321</c:v>
                </c:pt>
                <c:pt idx="8">
                  <c:v>0.25799104135809181</c:v>
                </c:pt>
                <c:pt idx="9">
                  <c:v>0.22634401086780709</c:v>
                </c:pt>
                <c:pt idx="10">
                  <c:v>0.24357335632779251</c:v>
                </c:pt>
                <c:pt idx="11">
                  <c:v>0.21846347030974059</c:v>
                </c:pt>
                <c:pt idx="12">
                  <c:v>0.2092232154270027</c:v>
                </c:pt>
                <c:pt idx="13">
                  <c:v>0.1907977773810213</c:v>
                </c:pt>
                <c:pt idx="14">
                  <c:v>0.1857053665966627</c:v>
                </c:pt>
                <c:pt idx="15">
                  <c:v>0.1732531226030618</c:v>
                </c:pt>
                <c:pt idx="16">
                  <c:v>0.16089454000915129</c:v>
                </c:pt>
                <c:pt idx="17">
                  <c:v>0.15380239019218689</c:v>
                </c:pt>
                <c:pt idx="18">
                  <c:v>0.14721344155019658</c:v>
                </c:pt>
                <c:pt idx="19">
                  <c:v>0.13921720081780081</c:v>
                </c:pt>
                <c:pt idx="20">
                  <c:v>0.11957827698002919</c:v>
                </c:pt>
                <c:pt idx="21">
                  <c:v>0.1133205983178972</c:v>
                </c:pt>
                <c:pt idx="22">
                  <c:v>0.1168178355803135</c:v>
                </c:pt>
                <c:pt idx="23">
                  <c:v>0.10531025400416541</c:v>
                </c:pt>
                <c:pt idx="24">
                  <c:v>9.914025269084252E-2</c:v>
                </c:pt>
                <c:pt idx="25">
                  <c:v>9.2641722430657936E-2</c:v>
                </c:pt>
                <c:pt idx="26">
                  <c:v>8.0213930277524159E-2</c:v>
                </c:pt>
                <c:pt idx="27">
                  <c:v>7.5683321394184905E-2</c:v>
                </c:pt>
                <c:pt idx="28">
                  <c:v>7.4668785676211227E-2</c:v>
                </c:pt>
                <c:pt idx="29">
                  <c:v>6.7059399838055547E-2</c:v>
                </c:pt>
                <c:pt idx="30">
                  <c:v>6.2383011263333774E-2</c:v>
                </c:pt>
                <c:pt idx="31">
                  <c:v>6.144301735530984E-2</c:v>
                </c:pt>
                <c:pt idx="32">
                  <c:v>6.2661109508709636E-2</c:v>
                </c:pt>
                <c:pt idx="33">
                  <c:v>6.0037234086071055E-2</c:v>
                </c:pt>
                <c:pt idx="34">
                  <c:v>6.0775727835174445E-2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6289-47C9-9B5F-2B0713DBF68E}"/>
            </c:ext>
          </c:extLst>
        </c:ser>
        <c:ser>
          <c:idx val="17"/>
          <c:order val="17"/>
          <c:tx>
            <c:strRef>
              <c:f>'NATURAL-PD_CALIB'!$V$3</c:f>
              <c:strCache>
                <c:ptCount val="1"/>
                <c:pt idx="0">
                  <c:v>LI</c:v>
                </c:pt>
              </c:strCache>
            </c:strRef>
          </c:tx>
          <c:spPr>
            <a:ln w="1270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'NATURAL-PD_CALIB'!$A$4:$A$38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'NATURAL-PD_CALIB'!$V$4:$V$38</c:f>
              <c:numCache>
                <c:formatCode>0%</c:formatCode>
                <c:ptCount val="35"/>
                <c:pt idx="0">
                  <c:v>0.16123954641336657</c:v>
                </c:pt>
                <c:pt idx="1">
                  <c:v>0.17565592730192872</c:v>
                </c:pt>
                <c:pt idx="2">
                  <c:v>0.17552210307321864</c:v>
                </c:pt>
                <c:pt idx="3">
                  <c:v>0.19614967693691943</c:v>
                </c:pt>
                <c:pt idx="4">
                  <c:v>0.20548254168164759</c:v>
                </c:pt>
                <c:pt idx="5">
                  <c:v>0.21415380798868233</c:v>
                </c:pt>
                <c:pt idx="6">
                  <c:v>0.20332461256170112</c:v>
                </c:pt>
                <c:pt idx="7">
                  <c:v>0.2014214104067599</c:v>
                </c:pt>
                <c:pt idx="8">
                  <c:v>0.22130838443610459</c:v>
                </c:pt>
                <c:pt idx="9">
                  <c:v>0.19230701758942628</c:v>
                </c:pt>
                <c:pt idx="10">
                  <c:v>0.20805215746358305</c:v>
                </c:pt>
                <c:pt idx="11">
                  <c:v>0.18514123384070408</c:v>
                </c:pt>
                <c:pt idx="12">
                  <c:v>0.17676851176976988</c:v>
                </c:pt>
                <c:pt idx="13">
                  <c:v>0.16017073074379123</c:v>
                </c:pt>
                <c:pt idx="14">
                  <c:v>0.15560710287965773</c:v>
                </c:pt>
                <c:pt idx="15">
                  <c:v>0.14449257414079256</c:v>
                </c:pt>
                <c:pt idx="16">
                  <c:v>0.1335264600309615</c:v>
                </c:pt>
                <c:pt idx="17">
                  <c:v>0.12726366349303236</c:v>
                </c:pt>
                <c:pt idx="18">
                  <c:v>0.12146566330106608</c:v>
                </c:pt>
                <c:pt idx="19">
                  <c:v>0.11445654257290822</c:v>
                </c:pt>
                <c:pt idx="20">
                  <c:v>9.737547508904297E-2</c:v>
                </c:pt>
                <c:pt idx="21">
                  <c:v>9.1974974782945348E-2</c:v>
                </c:pt>
                <c:pt idx="22">
                  <c:v>9.4990547216325674E-2</c:v>
                </c:pt>
                <c:pt idx="23">
                  <c:v>8.5093522350010775E-2</c:v>
                </c:pt>
                <c:pt idx="24">
                  <c:v>7.9818305113137367E-2</c:v>
                </c:pt>
                <c:pt idx="25">
                  <c:v>7.4287073398486531E-2</c:v>
                </c:pt>
                <c:pt idx="26">
                  <c:v>6.3784725284011135E-2</c:v>
                </c:pt>
                <c:pt idx="27">
                  <c:v>5.9982347045481867E-2</c:v>
                </c:pt>
                <c:pt idx="28">
                  <c:v>5.913291275037235E-2</c:v>
                </c:pt>
                <c:pt idx="29">
                  <c:v>5.2786547682407835E-2</c:v>
                </c:pt>
                <c:pt idx="30">
                  <c:v>4.8909003875380552E-2</c:v>
                </c:pt>
                <c:pt idx="31">
                  <c:v>4.8131768837014588E-2</c:v>
                </c:pt>
                <c:pt idx="32">
                  <c:v>4.9139092272776741E-2</c:v>
                </c:pt>
                <c:pt idx="33">
                  <c:v>4.6970797608356672E-2</c:v>
                </c:pt>
                <c:pt idx="34">
                  <c:v>4.7580474449172364E-2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6289-47C9-9B5F-2B0713DBF68E}"/>
            </c:ext>
          </c:extLst>
        </c:ser>
        <c:ser>
          <c:idx val="18"/>
          <c:order val="18"/>
          <c:tx>
            <c:strRef>
              <c:f>'NATURAL-PD_CALIB'!$W$3</c:f>
              <c:strCache>
                <c:ptCount val="1"/>
                <c:pt idx="0">
                  <c:v>LS</c:v>
                </c:pt>
              </c:strCache>
            </c:strRef>
          </c:tx>
          <c:spPr>
            <a:ln w="1270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'NATURAL-PD_CALIB'!$A$4:$A$38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'NATURAL-PD_CALIB'!$W$4:$W$38</c:f>
              <c:numCache>
                <c:formatCode>0%</c:formatCode>
                <c:ptCount val="35"/>
                <c:pt idx="0">
                  <c:v>0.22477211578084472</c:v>
                </c:pt>
                <c:pt idx="1">
                  <c:v>0.2423239591667512</c:v>
                </c:pt>
                <c:pt idx="2">
                  <c:v>0.24216209607919409</c:v>
                </c:pt>
                <c:pt idx="3">
                  <c:v>0.26688751380042297</c:v>
                </c:pt>
                <c:pt idx="4">
                  <c:v>0.27793220886032499</c:v>
                </c:pt>
                <c:pt idx="5">
                  <c:v>0.28811845245032786</c:v>
                </c:pt>
                <c:pt idx="6">
                  <c:v>0.27538606213559824</c:v>
                </c:pt>
                <c:pt idx="7">
                  <c:v>0.27313670540029189</c:v>
                </c:pt>
                <c:pt idx="8">
                  <c:v>0.29646990343307772</c:v>
                </c:pt>
                <c:pt idx="9">
                  <c:v>0.26231486523683056</c:v>
                </c:pt>
                <c:pt idx="10">
                  <c:v>0.28095823994225289</c:v>
                </c:pt>
                <c:pt idx="11">
                  <c:v>0.25374751218138969</c:v>
                </c:pt>
                <c:pt idx="12">
                  <c:v>0.24366889664626962</c:v>
                </c:pt>
                <c:pt idx="13">
                  <c:v>0.22346137312242925</c:v>
                </c:pt>
                <c:pt idx="14">
                  <c:v>0.21784957212407505</c:v>
                </c:pt>
                <c:pt idx="15">
                  <c:v>0.2040761966580287</c:v>
                </c:pt>
                <c:pt idx="16">
                  <c:v>0.19033192693327394</c:v>
                </c:pt>
                <c:pt idx="17">
                  <c:v>0.18240957901188051</c:v>
                </c:pt>
                <c:pt idx="18">
                  <c:v>0.17502557325739332</c:v>
                </c:pt>
                <c:pt idx="19">
                  <c:v>0.16603265171760839</c:v>
                </c:pt>
                <c:pt idx="20">
                  <c:v>0.14378877364134676</c:v>
                </c:pt>
                <c:pt idx="21">
                  <c:v>0.13665105743238568</c:v>
                </c:pt>
                <c:pt idx="22">
                  <c:v>0.14064323807401694</c:v>
                </c:pt>
                <c:pt idx="23">
                  <c:v>0.12747635407384766</c:v>
                </c:pt>
                <c:pt idx="24">
                  <c:v>0.12037913365764943</c:v>
                </c:pt>
                <c:pt idx="25">
                  <c:v>0.11287393282015955</c:v>
                </c:pt>
                <c:pt idx="26">
                  <c:v>9.8428887215689279E-2</c:v>
                </c:pt>
                <c:pt idx="27">
                  <c:v>9.3130596785768002E-2</c:v>
                </c:pt>
                <c:pt idx="28">
                  <c:v>9.194164942117275E-2</c:v>
                </c:pt>
                <c:pt idx="29">
                  <c:v>8.2993477404345345E-2</c:v>
                </c:pt>
                <c:pt idx="30">
                  <c:v>7.7466101276166058E-2</c:v>
                </c:pt>
                <c:pt idx="31">
                  <c:v>7.6352315521787548E-2</c:v>
                </c:pt>
                <c:pt idx="32">
                  <c:v>7.7795437168413431E-2</c:v>
                </c:pt>
                <c:pt idx="33">
                  <c:v>7.4684860970957723E-2</c:v>
                </c:pt>
                <c:pt idx="34">
                  <c:v>7.5561082409185076E-2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6289-47C9-9B5F-2B0713DBF6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7966592"/>
        <c:axId val="110687271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'NATURAL-PD_CALIB'!$E$3</c15:sqref>
                        </c15:formulaRef>
                      </c:ext>
                    </c:extLst>
                    <c:strCache>
                      <c:ptCount val="1"/>
                      <c:pt idx="0">
                        <c:v>RD3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'NATURAL-PD_CALIB'!$E$4:$E$38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6-6289-47C9-9B5F-2B0713DBF68E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'NATURAL-PD_CALIB'!$F$3</c15:sqref>
                        </c15:formulaRef>
                      </c:ext>
                    </c:extLst>
                    <c:strCache>
                      <c:ptCount val="1"/>
                      <c:pt idx="0">
                        <c:v>RD4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'NATURAL-PD_CALIB'!$F$4:$F$38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6289-47C9-9B5F-2B0713DBF68E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'NATURAL-PD_CALIB'!$G$3</c15:sqref>
                        </c15:formulaRef>
                      </c:ext>
                    </c:extLst>
                    <c:strCache>
                      <c:ptCount val="1"/>
                      <c:pt idx="0">
                        <c:v>RD5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'NATURAL-PD_CALIB'!$G$4:$G$38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6289-47C9-9B5F-2B0713DBF68E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'NATURAL-PD_CALIB'!$H$3</c15:sqref>
                        </c15:formulaRef>
                      </c:ext>
                    </c:extLst>
                    <c:strCache>
                      <c:ptCount val="1"/>
                      <c:pt idx="0">
                        <c:v>RD6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'NATURAL-PD_CALIB'!$H$4:$H$38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6289-47C9-9B5F-2B0713DBF68E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'NATURAL-PD_CALIB'!$I$3</c15:sqref>
                        </c15:formulaRef>
                      </c:ext>
                    </c:extLst>
                    <c:strCache>
                      <c:ptCount val="1"/>
                      <c:pt idx="0">
                        <c:v>RD7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'NATURAL-PD_CALIB'!$I$4:$I$38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6289-47C9-9B5F-2B0713DBF68E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'NATURAL-PD_CALIB'!$J$3</c15:sqref>
                        </c15:formulaRef>
                      </c:ext>
                    </c:extLst>
                    <c:strCache>
                      <c:ptCount val="1"/>
                      <c:pt idx="0">
                        <c:v>RD8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'NATURAL-PD_CALIB'!$J$4:$J$38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6289-47C9-9B5F-2B0713DBF68E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'NATURAL-PD_CALIB'!$K$3</c15:sqref>
                        </c15:formulaRef>
                      </c:ext>
                    </c:extLst>
                    <c:strCache>
                      <c:ptCount val="1"/>
                      <c:pt idx="0">
                        <c:v>RD9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7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'NATURAL-PD_CALIB'!$K$4:$K$38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6289-47C9-9B5F-2B0713DBF68E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'NATURAL-PD_CALIB'!$L$3</c15:sqref>
                        </c15:formulaRef>
                      </c:ext>
                    </c:extLst>
                    <c:strCache>
                      <c:ptCount val="1"/>
                      <c:pt idx="0">
                        <c:v>RD10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6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'NATURAL-PD_CALIB'!$L$4:$L$38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6289-47C9-9B5F-2B0713DBF68E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'NATURAL-PD_CALIB'!$M$3</c15:sqref>
                        </c15:formulaRef>
                      </c:ext>
                    </c:extLst>
                    <c:strCache>
                      <c:ptCount val="1"/>
                      <c:pt idx="0">
                        <c:v>RD11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50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'NATURAL-PD_CALIB'!$M$4:$M$38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6289-47C9-9B5F-2B0713DBF68E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'NATURAL-PD_CALIB'!$P$3</c15:sqref>
                        </c15:formulaRef>
                      </c:ext>
                    </c:extLst>
                    <c:strCache>
                      <c:ptCount val="1"/>
                      <c:pt idx="0">
                        <c:v>RD12_PROY_CA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6">
                        <a:lumMod val="60000"/>
                      </a:schemeClr>
                    </a:solidFill>
                    <a:ln w="9525">
                      <a:solidFill>
                        <a:schemeClr val="accent6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'NATURAL-PD_CALIB'!$P$4:$P$38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6289-47C9-9B5F-2B0713DBF68E}"/>
                  </c:ext>
                </c:extLst>
              </c15:ser>
            </c15:filteredLineSeries>
            <c15:filteredLin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'NATURAL-PD_CALIB'!$Q$3</c15:sqref>
                        </c15:formulaRef>
                      </c:ext>
                    </c:extLst>
                    <c:strCache>
                      <c:ptCount val="1"/>
                      <c:pt idx="0">
                        <c:v>PD_ORIG</c:v>
                      </c:pt>
                    </c:strCache>
                  </c:strRef>
                </c:tx>
                <c:spPr>
                  <a:ln w="22225" cap="rnd">
                    <a:solidFill>
                      <a:srgbClr val="66006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'NATURAL-PD_CALIB'!$Q$4:$Q$38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6289-47C9-9B5F-2B0713DBF68E}"/>
                  </c:ext>
                </c:extLst>
              </c15:ser>
            </c15:filteredLineSeries>
            <c15:filteredLine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'NATURAL-PD_CALIB'!$R$3</c15:sqref>
                        </c15:formulaRef>
                      </c:ext>
                    </c:extLst>
                    <c:strCache>
                      <c:ptCount val="1"/>
                      <c:pt idx="0">
                        <c:v>PD_FWL</c:v>
                      </c:pt>
                    </c:strCache>
                  </c:strRef>
                </c:tx>
                <c:spPr>
                  <a:ln w="22225" cap="rnd">
                    <a:solidFill>
                      <a:schemeClr val="tx2">
                        <a:lumMod val="60000"/>
                        <a:lumOff val="40000"/>
                        <a:alpha val="5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>
                        <a:lumMod val="80000"/>
                        <a:lumOff val="20000"/>
                      </a:schemeClr>
                    </a:solidFill>
                    <a:ln w="9525">
                      <a:solidFill>
                        <a:schemeClr val="accent2">
                          <a:lumMod val="80000"/>
                          <a:lumOff val="20000"/>
                        </a:schemeClr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'NATURAL-PD_CALIB'!$R$4:$R$38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6289-47C9-9B5F-2B0713DBF68E}"/>
                  </c:ext>
                </c:extLst>
              </c15:ser>
            </c15:filteredLineSeries>
            <c15:filteredLine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'NATURAL-PD_CALIB'!$S$3</c15:sqref>
                        </c15:formulaRef>
                      </c:ext>
                    </c:extLst>
                    <c:strCache>
                      <c:ptCount val="1"/>
                      <c:pt idx="0">
                        <c:v>RD12_FWL_M1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x"/>
                  <c:size val="6"/>
                  <c:spPr>
                    <a:noFill/>
                    <a:ln w="19050">
                      <a:solidFill>
                        <a:srgbClr val="FFC000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'NATURAL-PD_CALIB'!$S$4:$S$38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6289-47C9-9B5F-2B0713DBF68E}"/>
                  </c:ext>
                </c:extLst>
              </c15:ser>
            </c15:filteredLineSeries>
            <c15:filteredLine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'NATURAL-PD_CALIB'!$T$3</c15:sqref>
                        </c15:formulaRef>
                      </c:ext>
                    </c:extLst>
                    <c:strCache>
                      <c:ptCount val="1"/>
                      <c:pt idx="0">
                        <c:v>RD12_FWL_M2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rgbClr val="00CC99"/>
                    </a:solidFill>
                    <a:ln w="9525">
                      <a:solidFill>
                        <a:srgbClr val="00CC99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'NATURAL-PD_CALIB'!$T$4:$T$38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28" formatCode="0.0000%">
                        <c:v>0</c:v>
                      </c:pt>
                      <c:pt idx="29" formatCode="0.0000%">
                        <c:v>0</c:v>
                      </c:pt>
                      <c:pt idx="30" formatCode="0.0000%">
                        <c:v>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6289-47C9-9B5F-2B0713DBF68E}"/>
                  </c:ext>
                </c:extLst>
              </c15:ser>
            </c15:filteredLineSeries>
          </c:ext>
        </c:extLst>
      </c:lineChart>
      <c:catAx>
        <c:axId val="1317966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106872712"/>
        <c:crosses val="autoZero"/>
        <c:auto val="1"/>
        <c:lblAlgn val="ctr"/>
        <c:lblOffset val="100"/>
        <c:noMultiLvlLbl val="0"/>
      </c:catAx>
      <c:valAx>
        <c:axId val="1106872712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317966592"/>
        <c:crosses val="autoZero"/>
        <c:crossBetween val="between"/>
      </c:valAx>
      <c:valAx>
        <c:axId val="1081866360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081870680"/>
        <c:crosses val="max"/>
        <c:crossBetween val="between"/>
        <c:majorUnit val="1000"/>
      </c:valAx>
      <c:catAx>
        <c:axId val="1081870680"/>
        <c:scaling>
          <c:orientation val="minMax"/>
        </c:scaling>
        <c:delete val="1"/>
        <c:axPos val="b"/>
        <c:majorTickMark val="out"/>
        <c:minorTickMark val="none"/>
        <c:tickLblPos val="nextTo"/>
        <c:crossAx val="10818663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0701543082548288E-2"/>
          <c:y val="6.2334928490780955E-2"/>
          <c:w val="0.83023094948310072"/>
          <c:h val="0.80016884424782875"/>
        </c:manualLayout>
      </c:layout>
      <c:barChart>
        <c:barDir val="col"/>
        <c:grouping val="clustered"/>
        <c:varyColors val="0"/>
        <c:ser>
          <c:idx val="19"/>
          <c:order val="19"/>
          <c:tx>
            <c:strRef>
              <c:f>'JURI-PD_RAW'!$B$3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val>
            <c:numRef>
              <c:f>'JURI-PD_RAW'!$B$4:$B$38</c:f>
              <c:numCache>
                <c:formatCode>#,##0</c:formatCode>
                <c:ptCount val="35"/>
                <c:pt idx="0">
                  <c:v>4665</c:v>
                </c:pt>
                <c:pt idx="1">
                  <c:v>4848</c:v>
                </c:pt>
                <c:pt idx="2">
                  <c:v>4842</c:v>
                </c:pt>
                <c:pt idx="3">
                  <c:v>4681</c:v>
                </c:pt>
                <c:pt idx="4">
                  <c:v>4411</c:v>
                </c:pt>
                <c:pt idx="5">
                  <c:v>4116</c:v>
                </c:pt>
                <c:pt idx="6">
                  <c:v>3875</c:v>
                </c:pt>
                <c:pt idx="7">
                  <c:v>3693</c:v>
                </c:pt>
                <c:pt idx="8">
                  <c:v>3618</c:v>
                </c:pt>
                <c:pt idx="9">
                  <c:v>3444</c:v>
                </c:pt>
                <c:pt idx="10">
                  <c:v>3453</c:v>
                </c:pt>
                <c:pt idx="11">
                  <c:v>3450</c:v>
                </c:pt>
                <c:pt idx="12">
                  <c:v>3615</c:v>
                </c:pt>
                <c:pt idx="13">
                  <c:v>3456</c:v>
                </c:pt>
                <c:pt idx="14">
                  <c:v>3154</c:v>
                </c:pt>
                <c:pt idx="15">
                  <c:v>3001</c:v>
                </c:pt>
                <c:pt idx="16">
                  <c:v>2965</c:v>
                </c:pt>
                <c:pt idx="17">
                  <c:v>2807</c:v>
                </c:pt>
                <c:pt idx="18">
                  <c:v>2584</c:v>
                </c:pt>
                <c:pt idx="19">
                  <c:v>2373</c:v>
                </c:pt>
                <c:pt idx="20">
                  <c:v>2213</c:v>
                </c:pt>
                <c:pt idx="21">
                  <c:v>2006</c:v>
                </c:pt>
                <c:pt idx="22">
                  <c:v>1697</c:v>
                </c:pt>
                <c:pt idx="23">
                  <c:v>1511</c:v>
                </c:pt>
                <c:pt idx="24">
                  <c:v>1377</c:v>
                </c:pt>
                <c:pt idx="25">
                  <c:v>1328</c:v>
                </c:pt>
                <c:pt idx="26">
                  <c:v>1240</c:v>
                </c:pt>
                <c:pt idx="27">
                  <c:v>1197</c:v>
                </c:pt>
                <c:pt idx="28">
                  <c:v>1264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B-4266-9931-DB04BF5E4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081870680"/>
        <c:axId val="1081866360"/>
      </c:barChart>
      <c:lineChart>
        <c:grouping val="standard"/>
        <c:varyColors val="0"/>
        <c:ser>
          <c:idx val="9"/>
          <c:order val="9"/>
          <c:tx>
            <c:strRef>
              <c:f>'JURI-PD_RAW'!$N$3</c:f>
              <c:strCache>
                <c:ptCount val="1"/>
                <c:pt idx="0">
                  <c:v>RD12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rgbClr val="002978"/>
              </a:solidFill>
              <a:ln w="28575">
                <a:noFill/>
              </a:ln>
              <a:effectLst/>
            </c:spPr>
          </c:marker>
          <c:cat>
            <c:strRef>
              <c:f>'JURI-PD_RAW'!$A$4:$A$38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'JURI-PD_RAW'!$N$4:$N$38</c:f>
              <c:numCache>
                <c:formatCode>0.0%</c:formatCode>
                <c:ptCount val="35"/>
                <c:pt idx="0">
                  <c:v>0.19914255091103972</c:v>
                </c:pt>
                <c:pt idx="1">
                  <c:v>0.21782178217821779</c:v>
                </c:pt>
                <c:pt idx="2">
                  <c:v>0.22924411400247829</c:v>
                </c:pt>
                <c:pt idx="3">
                  <c:v>0.24353770561845761</c:v>
                </c:pt>
                <c:pt idx="4">
                  <c:v>0.24529585128088868</c:v>
                </c:pt>
                <c:pt idx="5">
                  <c:v>0.2487852283770651</c:v>
                </c:pt>
                <c:pt idx="6">
                  <c:v>0.2459354838709677</c:v>
                </c:pt>
                <c:pt idx="7">
                  <c:v>0.23476848090982941</c:v>
                </c:pt>
                <c:pt idx="8">
                  <c:v>0.23438363736871198</c:v>
                </c:pt>
                <c:pt idx="9">
                  <c:v>0.22067363530778158</c:v>
                </c:pt>
                <c:pt idx="10">
                  <c:v>0.21517520996235159</c:v>
                </c:pt>
                <c:pt idx="11">
                  <c:v>0.19971014492753622</c:v>
                </c:pt>
                <c:pt idx="12">
                  <c:v>0.1944674965421854</c:v>
                </c:pt>
                <c:pt idx="13">
                  <c:v>0.1938657407407407</c:v>
                </c:pt>
                <c:pt idx="14">
                  <c:v>0.16772352568167409</c:v>
                </c:pt>
                <c:pt idx="15">
                  <c:v>0.1512829056981006</c:v>
                </c:pt>
                <c:pt idx="16">
                  <c:v>0.1416526138279933</c:v>
                </c:pt>
                <c:pt idx="17">
                  <c:v>0.137869611685073</c:v>
                </c:pt>
                <c:pt idx="18">
                  <c:v>0.13312693498452011</c:v>
                </c:pt>
                <c:pt idx="19">
                  <c:v>0.122629582806574</c:v>
                </c:pt>
                <c:pt idx="20">
                  <c:v>0.1269769543605965</c:v>
                </c:pt>
                <c:pt idx="21">
                  <c:v>0.11615154536390832</c:v>
                </c:pt>
                <c:pt idx="22">
                  <c:v>0.1113730111962286</c:v>
                </c:pt>
                <c:pt idx="23">
                  <c:v>0.1039046988749173</c:v>
                </c:pt>
                <c:pt idx="24">
                  <c:v>0.111837327523602</c:v>
                </c:pt>
                <c:pt idx="25">
                  <c:v>9.8644578313253017E-2</c:v>
                </c:pt>
                <c:pt idx="26">
                  <c:v>9.4354838709677424E-2</c:v>
                </c:pt>
                <c:pt idx="27">
                  <c:v>8.1035923141186295E-2</c:v>
                </c:pt>
                <c:pt idx="28">
                  <c:v>8.2278481012658222E-2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4B-4266-9931-DB04BF5E44CF}"/>
            </c:ext>
          </c:extLst>
        </c:ser>
        <c:ser>
          <c:idx val="10"/>
          <c:order val="10"/>
          <c:tx>
            <c:strRef>
              <c:f>'JURI-PD_RAW'!$O$3</c:f>
              <c:strCache>
                <c:ptCount val="1"/>
                <c:pt idx="0">
                  <c:v>RD12_PROY_MCA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'JURI-PD_RAW'!$A$4:$A$38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'JURI-PD_RAW'!$O$4:$O$38</c:f>
              <c:numCache>
                <c:formatCode>General</c:formatCode>
                <c:ptCount val="35"/>
                <c:pt idx="29" formatCode="0.0%">
                  <c:v>8.1000000000000003E-2</c:v>
                </c:pt>
                <c:pt idx="30" formatCode="0.0%">
                  <c:v>8.3900000000000002E-2</c:v>
                </c:pt>
                <c:pt idx="31" formatCode="0.0%">
                  <c:v>8.2400000000000001E-2</c:v>
                </c:pt>
                <c:pt idx="32" formatCode="0.0%">
                  <c:v>8.1699999999999995E-2</c:v>
                </c:pt>
                <c:pt idx="33" formatCode="0.0%">
                  <c:v>7.4899999999999994E-2</c:v>
                </c:pt>
                <c:pt idx="34" formatCode="0.0%">
                  <c:v>7.0400000000000004E-2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4B-4266-9931-DB04BF5E44CF}"/>
            </c:ext>
          </c:extLst>
        </c:ser>
        <c:ser>
          <c:idx val="16"/>
          <c:order val="16"/>
          <c:tx>
            <c:strRef>
              <c:f>'JURI-PD_RAW'!$U$3</c:f>
              <c:strCache>
                <c:ptCount val="1"/>
                <c:pt idx="0">
                  <c:v>PD</c:v>
                </c:pt>
              </c:strCache>
            </c:strRef>
          </c:tx>
          <c:spPr>
            <a:ln w="127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'JURI-PD_RAW'!$A$4:$A$38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'JURI-PD_RAW'!$U$4:$U$38</c:f>
              <c:numCache>
                <c:formatCode>0.0%</c:formatCode>
                <c:ptCount val="35"/>
                <c:pt idx="0">
                  <c:v>0.23769946409431941</c:v>
                </c:pt>
                <c:pt idx="1">
                  <c:v>0.25753650990099008</c:v>
                </c:pt>
                <c:pt idx="2">
                  <c:v>0.2524029326724494</c:v>
                </c:pt>
                <c:pt idx="3">
                  <c:v>0.26498333689382608</c:v>
                </c:pt>
                <c:pt idx="4">
                  <c:v>0.26399523917479029</c:v>
                </c:pt>
                <c:pt idx="5">
                  <c:v>0.26744679300291541</c:v>
                </c:pt>
                <c:pt idx="6">
                  <c:v>0.25989703225806449</c:v>
                </c:pt>
                <c:pt idx="7">
                  <c:v>0.25823910100189551</c:v>
                </c:pt>
                <c:pt idx="8">
                  <c:v>0.26520702045328909</c:v>
                </c:pt>
                <c:pt idx="9">
                  <c:v>0.25375638792102212</c:v>
                </c:pt>
                <c:pt idx="10">
                  <c:v>0.25628960324355632</c:v>
                </c:pt>
                <c:pt idx="11">
                  <c:v>0.245464347826087</c:v>
                </c:pt>
                <c:pt idx="12">
                  <c:v>0.24355131396957119</c:v>
                </c:pt>
                <c:pt idx="13">
                  <c:v>0.24806597222222218</c:v>
                </c:pt>
                <c:pt idx="14">
                  <c:v>0.23917533291058971</c:v>
                </c:pt>
                <c:pt idx="15">
                  <c:v>0.23058413862045982</c:v>
                </c:pt>
                <c:pt idx="16">
                  <c:v>0.22961787521079258</c:v>
                </c:pt>
                <c:pt idx="17">
                  <c:v>0.22131920199501248</c:v>
                </c:pt>
                <c:pt idx="18">
                  <c:v>0.20898297213622288</c:v>
                </c:pt>
                <c:pt idx="19">
                  <c:v>0.20232321955330801</c:v>
                </c:pt>
                <c:pt idx="20">
                  <c:v>0.19539810212381378</c:v>
                </c:pt>
                <c:pt idx="21">
                  <c:v>0.18282951146560319</c:v>
                </c:pt>
                <c:pt idx="22">
                  <c:v>0.18155568650559811</c:v>
                </c:pt>
                <c:pt idx="23">
                  <c:v>0.17971343481138319</c:v>
                </c:pt>
                <c:pt idx="24">
                  <c:v>0.1791082062454612</c:v>
                </c:pt>
                <c:pt idx="25">
                  <c:v>0.17658132530120479</c:v>
                </c:pt>
                <c:pt idx="26">
                  <c:v>0.17008467741935479</c:v>
                </c:pt>
                <c:pt idx="27">
                  <c:v>0.16324895572263989</c:v>
                </c:pt>
                <c:pt idx="28">
                  <c:v>0.1671574367088608</c:v>
                </c:pt>
                <c:pt idx="29">
                  <c:v>0.1711717314487633</c:v>
                </c:pt>
                <c:pt idx="30">
                  <c:v>0.18011379097093388</c:v>
                </c:pt>
                <c:pt idx="31">
                  <c:v>0.18187758433079432</c:v>
                </c:pt>
                <c:pt idx="32">
                  <c:v>0.17531978452497551</c:v>
                </c:pt>
                <c:pt idx="33">
                  <c:v>0.16788442659527</c:v>
                </c:pt>
                <c:pt idx="34">
                  <c:v>0.16486121437422552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CB4B-4266-9931-DB04BF5E44CF}"/>
            </c:ext>
          </c:extLst>
        </c:ser>
        <c:ser>
          <c:idx val="17"/>
          <c:order val="17"/>
          <c:tx>
            <c:strRef>
              <c:f>'JURI-PD_RAW'!$V$3</c:f>
              <c:strCache>
                <c:ptCount val="1"/>
                <c:pt idx="0">
                  <c:v>LI</c:v>
                </c:pt>
              </c:strCache>
            </c:strRef>
          </c:tx>
          <c:spPr>
            <a:ln w="12700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'JURI-PD_RAW'!$A$4:$A$38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'JURI-PD_RAW'!$V$4:$V$38</c:f>
              <c:numCache>
                <c:formatCode>0%</c:formatCode>
                <c:ptCount val="35"/>
                <c:pt idx="0">
                  <c:v>0.20267233276050908</c:v>
                </c:pt>
                <c:pt idx="1">
                  <c:v>0.22088937108626364</c:v>
                </c:pt>
                <c:pt idx="2">
                  <c:v>0.21616187912150056</c:v>
                </c:pt>
                <c:pt idx="3">
                  <c:v>0.22776317975881324</c:v>
                </c:pt>
                <c:pt idx="4">
                  <c:v>0.22685002793154302</c:v>
                </c:pt>
                <c:pt idx="5">
                  <c:v>0.23004122514141542</c:v>
                </c:pt>
                <c:pt idx="6">
                  <c:v>0.22306620763744919</c:v>
                </c:pt>
                <c:pt idx="7">
                  <c:v>0.22153709002722699</c:v>
                </c:pt>
                <c:pt idx="8">
                  <c:v>0.22796994315382679</c:v>
                </c:pt>
                <c:pt idx="9">
                  <c:v>0.21740738840499277</c:v>
                </c:pt>
                <c:pt idx="10">
                  <c:v>0.21974026470479949</c:v>
                </c:pt>
                <c:pt idx="11">
                  <c:v>0.20978668590750593</c:v>
                </c:pt>
                <c:pt idx="12">
                  <c:v>0.2080319463358152</c:v>
                </c:pt>
                <c:pt idx="13">
                  <c:v>0.21217509857557715</c:v>
                </c:pt>
                <c:pt idx="14">
                  <c:v>0.20402291159927138</c:v>
                </c:pt>
                <c:pt idx="15">
                  <c:v>0.19617198074101183</c:v>
                </c:pt>
                <c:pt idx="16">
                  <c:v>0.19529063743493216</c:v>
                </c:pt>
                <c:pt idx="17">
                  <c:v>0.18773530765910829</c:v>
                </c:pt>
                <c:pt idx="18">
                  <c:v>0.17655125399549934</c:v>
                </c:pt>
                <c:pt idx="19">
                  <c:v>0.17053747361953278</c:v>
                </c:pt>
                <c:pt idx="20">
                  <c:v>0.16430229179625561</c:v>
                </c:pt>
                <c:pt idx="21">
                  <c:v>0.15303451196025669</c:v>
                </c:pt>
                <c:pt idx="22">
                  <c:v>0.15189609525027614</c:v>
                </c:pt>
                <c:pt idx="23">
                  <c:v>0.15025085724671869</c:v>
                </c:pt>
                <c:pt idx="24">
                  <c:v>0.14971065894494542</c:v>
                </c:pt>
                <c:pt idx="25">
                  <c:v>0.14745692877311337</c:v>
                </c:pt>
                <c:pt idx="26">
                  <c:v>0.14167486068597138</c:v>
                </c:pt>
                <c:pt idx="27">
                  <c:v>0.13561049059464375</c:v>
                </c:pt>
                <c:pt idx="28">
                  <c:v>0.13907546179501018</c:v>
                </c:pt>
                <c:pt idx="29">
                  <c:v>0.14264110210835618</c:v>
                </c:pt>
                <c:pt idx="30">
                  <c:v>0.15060827946324942</c:v>
                </c:pt>
                <c:pt idx="31">
                  <c:v>0.15218371225335939</c:v>
                </c:pt>
                <c:pt idx="32">
                  <c:v>0.1463327554257334</c:v>
                </c:pt>
                <c:pt idx="33">
                  <c:v>0.13972068739533891</c:v>
                </c:pt>
                <c:pt idx="34">
                  <c:v>0.13703899551200896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CB4B-4266-9931-DB04BF5E44CF}"/>
            </c:ext>
          </c:extLst>
        </c:ser>
        <c:ser>
          <c:idx val="18"/>
          <c:order val="18"/>
          <c:tx>
            <c:strRef>
              <c:f>'JURI-PD_RAW'!$W$3</c:f>
              <c:strCache>
                <c:ptCount val="1"/>
                <c:pt idx="0">
                  <c:v>LS</c:v>
                </c:pt>
              </c:strCache>
            </c:strRef>
          </c:tx>
          <c:spPr>
            <a:ln w="12700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'JURI-PD_RAW'!$A$4:$A$38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'JURI-PD_RAW'!$W$4:$W$38</c:f>
              <c:numCache>
                <c:formatCode>0%</c:formatCode>
                <c:ptCount val="35"/>
                <c:pt idx="0">
                  <c:v>0.27461554428722618</c:v>
                </c:pt>
                <c:pt idx="1">
                  <c:v>0.29598209462972858</c:v>
                </c:pt>
                <c:pt idx="2">
                  <c:v>0.29046723743071923</c:v>
                </c:pt>
                <c:pt idx="3">
                  <c:v>0.30396434203206568</c:v>
                </c:pt>
                <c:pt idx="4">
                  <c:v>0.30290639434972877</c:v>
                </c:pt>
                <c:pt idx="5">
                  <c:v>0.30660036443044825</c:v>
                </c:pt>
                <c:pt idx="6">
                  <c:v>0.29851458836459821</c:v>
                </c:pt>
                <c:pt idx="7">
                  <c:v>0.29673609122671896</c:v>
                </c:pt>
                <c:pt idx="8">
                  <c:v>0.30420378767647593</c:v>
                </c:pt>
                <c:pt idx="9">
                  <c:v>0.29192218923985835</c:v>
                </c:pt>
                <c:pt idx="10">
                  <c:v>0.29464349790365607</c:v>
                </c:pt>
                <c:pt idx="11">
                  <c:v>0.28299727895763349</c:v>
                </c:pt>
                <c:pt idx="12">
                  <c:v>0.28093446364959701</c:v>
                </c:pt>
                <c:pt idx="13">
                  <c:v>0.2858003175653171</c:v>
                </c:pt>
                <c:pt idx="14">
                  <c:v>0.2762104817925356</c:v>
                </c:pt>
                <c:pt idx="15">
                  <c:v>0.26691401127800263</c:v>
                </c:pt>
                <c:pt idx="16">
                  <c:v>0.26586657390912671</c:v>
                </c:pt>
                <c:pt idx="17">
                  <c:v>0.2568550921830241</c:v>
                </c:pt>
                <c:pt idx="18">
                  <c:v>0.24340637243214869</c:v>
                </c:pt>
                <c:pt idx="19">
                  <c:v>0.23611905048055473</c:v>
                </c:pt>
                <c:pt idx="20">
                  <c:v>0.2285207440082716</c:v>
                </c:pt>
                <c:pt idx="21">
                  <c:v>0.21467510372886636</c:v>
                </c:pt>
                <c:pt idx="22">
                  <c:v>0.21326777635085692</c:v>
                </c:pt>
                <c:pt idx="23">
                  <c:v>0.21123109718215205</c:v>
                </c:pt>
                <c:pt idx="24">
                  <c:v>0.21056164369300395</c:v>
                </c:pt>
                <c:pt idx="25">
                  <c:v>0.20776473462839587</c:v>
                </c:pt>
                <c:pt idx="26">
                  <c:v>0.20055971503503892</c:v>
                </c:pt>
                <c:pt idx="27">
                  <c:v>0.19295622398945173</c:v>
                </c:pt>
                <c:pt idx="28">
                  <c:v>0.19730654609611653</c:v>
                </c:pt>
                <c:pt idx="29">
                  <c:v>0.20176672928478212</c:v>
                </c:pt>
                <c:pt idx="30">
                  <c:v>0.21167384247090348</c:v>
                </c:pt>
                <c:pt idx="31">
                  <c:v>0.21362348241922066</c:v>
                </c:pt>
                <c:pt idx="32">
                  <c:v>0.20636723900712856</c:v>
                </c:pt>
                <c:pt idx="33">
                  <c:v>0.1981148774369019</c:v>
                </c:pt>
                <c:pt idx="34">
                  <c:v>0.19475167258540502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CB4B-4266-9931-DB04BF5E4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7966592"/>
        <c:axId val="110687271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'JURI-PD_RAW'!$E$3</c15:sqref>
                        </c15:formulaRef>
                      </c:ext>
                    </c:extLst>
                    <c:strCache>
                      <c:ptCount val="1"/>
                      <c:pt idx="0">
                        <c:v>RD3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'JURI-PD_RAW'!$E$4:$E$38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6-CB4B-4266-9931-DB04BF5E44CF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'JURI-PD_RAW'!$F$3</c15:sqref>
                        </c15:formulaRef>
                      </c:ext>
                    </c:extLst>
                    <c:strCache>
                      <c:ptCount val="1"/>
                      <c:pt idx="0">
                        <c:v>RD4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'JURI-PD_RAW'!$F$4:$F$38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CB4B-4266-9931-DB04BF5E44CF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'JURI-PD_RAW'!$G$3</c15:sqref>
                        </c15:formulaRef>
                      </c:ext>
                    </c:extLst>
                    <c:strCache>
                      <c:ptCount val="1"/>
                      <c:pt idx="0">
                        <c:v>RD5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'JURI-PD_RAW'!$G$4:$G$38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CB4B-4266-9931-DB04BF5E44CF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'JURI-PD_RAW'!$H$3</c15:sqref>
                        </c15:formulaRef>
                      </c:ext>
                    </c:extLst>
                    <c:strCache>
                      <c:ptCount val="1"/>
                      <c:pt idx="0">
                        <c:v>RD6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'JURI-PD_RAW'!$H$4:$H$38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CB4B-4266-9931-DB04BF5E44CF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'JURI-PD_RAW'!$I$3</c15:sqref>
                        </c15:formulaRef>
                      </c:ext>
                    </c:extLst>
                    <c:strCache>
                      <c:ptCount val="1"/>
                      <c:pt idx="0">
                        <c:v>RD7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'JURI-PD_RAW'!$I$4:$I$38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CB4B-4266-9931-DB04BF5E44CF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'JURI-PD_RAW'!$J$3</c15:sqref>
                        </c15:formulaRef>
                      </c:ext>
                    </c:extLst>
                    <c:strCache>
                      <c:ptCount val="1"/>
                      <c:pt idx="0">
                        <c:v>RD8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'JURI-PD_RAW'!$J$4:$J$38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CB4B-4266-9931-DB04BF5E44CF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'JURI-PD_RAW'!$K$3</c15:sqref>
                        </c15:formulaRef>
                      </c:ext>
                    </c:extLst>
                    <c:strCache>
                      <c:ptCount val="1"/>
                      <c:pt idx="0">
                        <c:v>RD9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7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'JURI-PD_RAW'!$K$4:$K$38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CB4B-4266-9931-DB04BF5E44CF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'JURI-PD_RAW'!$L$3</c15:sqref>
                        </c15:formulaRef>
                      </c:ext>
                    </c:extLst>
                    <c:strCache>
                      <c:ptCount val="1"/>
                      <c:pt idx="0">
                        <c:v>RD10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6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'JURI-PD_RAW'!$L$4:$L$38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CB4B-4266-9931-DB04BF5E44CF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'JURI-PD_RAW'!$M$3</c15:sqref>
                        </c15:formulaRef>
                      </c:ext>
                    </c:extLst>
                    <c:strCache>
                      <c:ptCount val="1"/>
                      <c:pt idx="0">
                        <c:v>RD11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50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'JURI-PD_RAW'!$M$4:$M$38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CB4B-4266-9931-DB04BF5E44CF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'JURI-PD_RAW'!$P$3</c15:sqref>
                        </c15:formulaRef>
                      </c:ext>
                    </c:extLst>
                    <c:strCache>
                      <c:ptCount val="1"/>
                      <c:pt idx="0">
                        <c:v>RD12_PROY_CA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6">
                        <a:lumMod val="60000"/>
                      </a:schemeClr>
                    </a:solidFill>
                    <a:ln w="9525">
                      <a:solidFill>
                        <a:schemeClr val="accent6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'JURI-PD_RAW'!$P$4:$P$38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CB4B-4266-9931-DB04BF5E44CF}"/>
                  </c:ext>
                </c:extLst>
              </c15:ser>
            </c15:filteredLineSeries>
            <c15:filteredLin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'JURI-PD_RAW'!$Q$3</c15:sqref>
                        </c15:formulaRef>
                      </c:ext>
                    </c:extLst>
                    <c:strCache>
                      <c:ptCount val="1"/>
                      <c:pt idx="0">
                        <c:v>PD_ORIG</c:v>
                      </c:pt>
                    </c:strCache>
                  </c:strRef>
                </c:tx>
                <c:spPr>
                  <a:ln w="22225" cap="rnd">
                    <a:solidFill>
                      <a:srgbClr val="66006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'JURI-PD_RAW'!$Q$4:$Q$38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CB4B-4266-9931-DB04BF5E44CF}"/>
                  </c:ext>
                </c:extLst>
              </c15:ser>
            </c15:filteredLineSeries>
            <c15:filteredLine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'JURI-PD_RAW'!$R$3</c15:sqref>
                        </c15:formulaRef>
                      </c:ext>
                    </c:extLst>
                    <c:strCache>
                      <c:ptCount val="1"/>
                      <c:pt idx="0">
                        <c:v>PD_FWL</c:v>
                      </c:pt>
                    </c:strCache>
                  </c:strRef>
                </c:tx>
                <c:spPr>
                  <a:ln w="22225" cap="rnd">
                    <a:solidFill>
                      <a:schemeClr val="tx2">
                        <a:lumMod val="60000"/>
                        <a:lumOff val="40000"/>
                        <a:alpha val="5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>
                        <a:lumMod val="80000"/>
                        <a:lumOff val="20000"/>
                      </a:schemeClr>
                    </a:solidFill>
                    <a:ln w="9525">
                      <a:solidFill>
                        <a:schemeClr val="accent2">
                          <a:lumMod val="80000"/>
                          <a:lumOff val="20000"/>
                        </a:schemeClr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'JURI-PD_RAW'!$R$4:$R$38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CB4B-4266-9931-DB04BF5E44CF}"/>
                  </c:ext>
                </c:extLst>
              </c15:ser>
            </c15:filteredLineSeries>
            <c15:filteredLine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'JURI-PD_RAW'!$S$3</c15:sqref>
                        </c15:formulaRef>
                      </c:ext>
                    </c:extLst>
                    <c:strCache>
                      <c:ptCount val="1"/>
                      <c:pt idx="0">
                        <c:v>RD12_FWL_M1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x"/>
                  <c:size val="6"/>
                  <c:spPr>
                    <a:noFill/>
                    <a:ln w="19050">
                      <a:solidFill>
                        <a:srgbClr val="FFC000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'JURI-PD_RAW'!$S$4:$S$38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CB4B-4266-9931-DB04BF5E44CF}"/>
                  </c:ext>
                </c:extLst>
              </c15:ser>
            </c15:filteredLineSeries>
            <c15:filteredLine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'JURI-PD_RAW'!$T$3</c15:sqref>
                        </c15:formulaRef>
                      </c:ext>
                    </c:extLst>
                    <c:strCache>
                      <c:ptCount val="1"/>
                      <c:pt idx="0">
                        <c:v>RD12_FWL_M2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rgbClr val="00CC99"/>
                    </a:solidFill>
                    <a:ln w="9525">
                      <a:solidFill>
                        <a:srgbClr val="00CC99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'JURI-PD_RAW'!$T$4:$T$38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28" formatCode="0.0000%">
                        <c:v>0</c:v>
                      </c:pt>
                      <c:pt idx="29" formatCode="0.0000%">
                        <c:v>0</c:v>
                      </c:pt>
                      <c:pt idx="30" formatCode="0.0000%">
                        <c:v>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CB4B-4266-9931-DB04BF5E44CF}"/>
                  </c:ext>
                </c:extLst>
              </c15:ser>
            </c15:filteredLineSeries>
          </c:ext>
        </c:extLst>
      </c:lineChart>
      <c:catAx>
        <c:axId val="1317966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106872712"/>
        <c:crosses val="autoZero"/>
        <c:auto val="1"/>
        <c:lblAlgn val="ctr"/>
        <c:lblOffset val="100"/>
        <c:noMultiLvlLbl val="0"/>
      </c:catAx>
      <c:valAx>
        <c:axId val="1106872712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317966592"/>
        <c:crosses val="autoZero"/>
        <c:crossBetween val="between"/>
      </c:valAx>
      <c:valAx>
        <c:axId val="1081866360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081870680"/>
        <c:crosses val="max"/>
        <c:crossBetween val="between"/>
        <c:majorUnit val="2000"/>
      </c:valAx>
      <c:catAx>
        <c:axId val="1081870680"/>
        <c:scaling>
          <c:orientation val="minMax"/>
        </c:scaling>
        <c:delete val="1"/>
        <c:axPos val="b"/>
        <c:majorTickMark val="out"/>
        <c:minorTickMark val="none"/>
        <c:tickLblPos val="nextTo"/>
        <c:crossAx val="10818663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0701543082548288E-2"/>
          <c:y val="6.2334928490780955E-2"/>
          <c:w val="0.83023094948310072"/>
          <c:h val="0.80016884424782875"/>
        </c:manualLayout>
      </c:layout>
      <c:barChart>
        <c:barDir val="col"/>
        <c:grouping val="clustered"/>
        <c:varyColors val="0"/>
        <c:ser>
          <c:idx val="19"/>
          <c:order val="19"/>
          <c:tx>
            <c:strRef>
              <c:f>'JURI-PD_CALIB'!$B$3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val>
            <c:numRef>
              <c:f>'JURI-PD_CALIB'!$B$4:$B$38</c:f>
              <c:numCache>
                <c:formatCode>#,##0</c:formatCode>
                <c:ptCount val="35"/>
                <c:pt idx="0">
                  <c:v>4665</c:v>
                </c:pt>
                <c:pt idx="1">
                  <c:v>4848</c:v>
                </c:pt>
                <c:pt idx="2">
                  <c:v>4842</c:v>
                </c:pt>
                <c:pt idx="3">
                  <c:v>4681</c:v>
                </c:pt>
                <c:pt idx="4">
                  <c:v>4411</c:v>
                </c:pt>
                <c:pt idx="5">
                  <c:v>4116</c:v>
                </c:pt>
                <c:pt idx="6">
                  <c:v>3875</c:v>
                </c:pt>
                <c:pt idx="7">
                  <c:v>3693</c:v>
                </c:pt>
                <c:pt idx="8">
                  <c:v>3618</c:v>
                </c:pt>
                <c:pt idx="9">
                  <c:v>3444</c:v>
                </c:pt>
                <c:pt idx="10">
                  <c:v>3453</c:v>
                </c:pt>
                <c:pt idx="11">
                  <c:v>3450</c:v>
                </c:pt>
                <c:pt idx="12">
                  <c:v>3615</c:v>
                </c:pt>
                <c:pt idx="13">
                  <c:v>3456</c:v>
                </c:pt>
                <c:pt idx="14">
                  <c:v>3154</c:v>
                </c:pt>
                <c:pt idx="15">
                  <c:v>3001</c:v>
                </c:pt>
                <c:pt idx="16">
                  <c:v>2965</c:v>
                </c:pt>
                <c:pt idx="17">
                  <c:v>2807</c:v>
                </c:pt>
                <c:pt idx="18">
                  <c:v>2584</c:v>
                </c:pt>
                <c:pt idx="19">
                  <c:v>2373</c:v>
                </c:pt>
                <c:pt idx="20">
                  <c:v>2213</c:v>
                </c:pt>
                <c:pt idx="21">
                  <c:v>2006</c:v>
                </c:pt>
                <c:pt idx="22">
                  <c:v>1697</c:v>
                </c:pt>
                <c:pt idx="23">
                  <c:v>1511</c:v>
                </c:pt>
                <c:pt idx="24">
                  <c:v>1377</c:v>
                </c:pt>
                <c:pt idx="25">
                  <c:v>1328</c:v>
                </c:pt>
                <c:pt idx="26">
                  <c:v>1240</c:v>
                </c:pt>
                <c:pt idx="27">
                  <c:v>1197</c:v>
                </c:pt>
                <c:pt idx="28">
                  <c:v>1264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52-4E59-8776-4F408BE782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081870680"/>
        <c:axId val="1081866360"/>
      </c:barChart>
      <c:lineChart>
        <c:grouping val="standard"/>
        <c:varyColors val="0"/>
        <c:ser>
          <c:idx val="9"/>
          <c:order val="9"/>
          <c:tx>
            <c:strRef>
              <c:f>'JURI-PD_CALIB'!$N$3</c:f>
              <c:strCache>
                <c:ptCount val="1"/>
                <c:pt idx="0">
                  <c:v>RD12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rgbClr val="002978"/>
              </a:solidFill>
              <a:ln w="28575">
                <a:noFill/>
              </a:ln>
              <a:effectLst/>
            </c:spPr>
          </c:marker>
          <c:cat>
            <c:strRef>
              <c:f>'JURI-PD_CALIB'!$A$4:$A$38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'JURI-PD_CALIB'!$N$4:$N$38</c:f>
              <c:numCache>
                <c:formatCode>0.0%</c:formatCode>
                <c:ptCount val="35"/>
                <c:pt idx="0">
                  <c:v>0.19914255091103972</c:v>
                </c:pt>
                <c:pt idx="1">
                  <c:v>0.21782178217821779</c:v>
                </c:pt>
                <c:pt idx="2">
                  <c:v>0.22924411400247829</c:v>
                </c:pt>
                <c:pt idx="3">
                  <c:v>0.24353770561845761</c:v>
                </c:pt>
                <c:pt idx="4">
                  <c:v>0.24529585128088868</c:v>
                </c:pt>
                <c:pt idx="5">
                  <c:v>0.2487852283770651</c:v>
                </c:pt>
                <c:pt idx="6">
                  <c:v>0.2459354838709677</c:v>
                </c:pt>
                <c:pt idx="7">
                  <c:v>0.23476848090982941</c:v>
                </c:pt>
                <c:pt idx="8">
                  <c:v>0.23438363736871198</c:v>
                </c:pt>
                <c:pt idx="9">
                  <c:v>0.22067363530778158</c:v>
                </c:pt>
                <c:pt idx="10">
                  <c:v>0.21517520996235159</c:v>
                </c:pt>
                <c:pt idx="11">
                  <c:v>0.19971014492753622</c:v>
                </c:pt>
                <c:pt idx="12">
                  <c:v>0.1944674965421854</c:v>
                </c:pt>
                <c:pt idx="13">
                  <c:v>0.1938657407407407</c:v>
                </c:pt>
                <c:pt idx="14">
                  <c:v>0.16772352568167409</c:v>
                </c:pt>
                <c:pt idx="15">
                  <c:v>0.1512829056981006</c:v>
                </c:pt>
                <c:pt idx="16">
                  <c:v>0.1416526138279933</c:v>
                </c:pt>
                <c:pt idx="17">
                  <c:v>0.137869611685073</c:v>
                </c:pt>
                <c:pt idx="18">
                  <c:v>0.13312693498452011</c:v>
                </c:pt>
                <c:pt idx="19">
                  <c:v>0.122629582806574</c:v>
                </c:pt>
                <c:pt idx="20">
                  <c:v>0.1269769543605965</c:v>
                </c:pt>
                <c:pt idx="21">
                  <c:v>0.11615154536390832</c:v>
                </c:pt>
                <c:pt idx="22">
                  <c:v>0.1113730111962286</c:v>
                </c:pt>
                <c:pt idx="23">
                  <c:v>0.1039046988749173</c:v>
                </c:pt>
                <c:pt idx="24">
                  <c:v>0.111837327523602</c:v>
                </c:pt>
                <c:pt idx="25">
                  <c:v>9.8644578313253017E-2</c:v>
                </c:pt>
                <c:pt idx="26">
                  <c:v>9.4354838709677424E-2</c:v>
                </c:pt>
                <c:pt idx="27">
                  <c:v>8.1035923141186295E-2</c:v>
                </c:pt>
                <c:pt idx="28">
                  <c:v>8.2278481012658222E-2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52-4E59-8776-4F408BE78209}"/>
            </c:ext>
          </c:extLst>
        </c:ser>
        <c:ser>
          <c:idx val="10"/>
          <c:order val="10"/>
          <c:tx>
            <c:strRef>
              <c:f>'JURI-PD_CALIB'!$O$3</c:f>
              <c:strCache>
                <c:ptCount val="1"/>
                <c:pt idx="0">
                  <c:v>RD12_PROY_MCA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'JURI-PD_CALIB'!$A$4:$A$38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'JURI-PD_CALIB'!$O$4:$O$38</c:f>
              <c:numCache>
                <c:formatCode>General</c:formatCode>
                <c:ptCount val="35"/>
                <c:pt idx="29" formatCode="0.0%">
                  <c:v>8.1000000000000003E-2</c:v>
                </c:pt>
                <c:pt idx="30" formatCode="0.0%">
                  <c:v>8.3900000000000002E-2</c:v>
                </c:pt>
                <c:pt idx="31" formatCode="0.0%">
                  <c:v>8.2400000000000001E-2</c:v>
                </c:pt>
                <c:pt idx="32" formatCode="0.0%">
                  <c:v>8.1699999999999995E-2</c:v>
                </c:pt>
                <c:pt idx="33" formatCode="0.0%">
                  <c:v>7.4899999999999994E-2</c:v>
                </c:pt>
                <c:pt idx="34" formatCode="0.0%">
                  <c:v>7.0400000000000004E-2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152-4E59-8776-4F408BE78209}"/>
            </c:ext>
          </c:extLst>
        </c:ser>
        <c:ser>
          <c:idx val="16"/>
          <c:order val="16"/>
          <c:tx>
            <c:strRef>
              <c:f>'JURI-PD_CALIB'!$U$3</c:f>
              <c:strCache>
                <c:ptCount val="1"/>
                <c:pt idx="0">
                  <c:v>PD</c:v>
                </c:pt>
              </c:strCache>
            </c:strRef>
          </c:tx>
          <c:spPr>
            <a:ln w="127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'JURI-PD_CALIB'!$A$4:$A$38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'JURI-PD_CALIB'!$U$4:$U$38</c:f>
              <c:numCache>
                <c:formatCode>0.0%</c:formatCode>
                <c:ptCount val="35"/>
                <c:pt idx="0">
                  <c:v>0.20084006492545078</c:v>
                </c:pt>
                <c:pt idx="1">
                  <c:v>0.22003128858642651</c:v>
                </c:pt>
                <c:pt idx="2">
                  <c:v>0.2193333297666151</c:v>
                </c:pt>
                <c:pt idx="3">
                  <c:v>0.23790742391658029</c:v>
                </c:pt>
                <c:pt idx="4">
                  <c:v>0.23375211977229188</c:v>
                </c:pt>
                <c:pt idx="5">
                  <c:v>0.2451398038231572</c:v>
                </c:pt>
                <c:pt idx="6">
                  <c:v>0.23783442868725849</c:v>
                </c:pt>
                <c:pt idx="7">
                  <c:v>0.23627694006602989</c:v>
                </c:pt>
                <c:pt idx="8">
                  <c:v>0.24151440614684622</c:v>
                </c:pt>
                <c:pt idx="9">
                  <c:v>0.2256294300899177</c:v>
                </c:pt>
                <c:pt idx="10">
                  <c:v>0.22517544811004062</c:v>
                </c:pt>
                <c:pt idx="11">
                  <c:v>0.20513902206579909</c:v>
                </c:pt>
                <c:pt idx="12">
                  <c:v>0.19717278120488838</c:v>
                </c:pt>
                <c:pt idx="13">
                  <c:v>0.19294834399869371</c:v>
                </c:pt>
                <c:pt idx="14">
                  <c:v>0.1865135170832293</c:v>
                </c:pt>
                <c:pt idx="15">
                  <c:v>0.17520924187008061</c:v>
                </c:pt>
                <c:pt idx="16">
                  <c:v>0.17532038354645738</c:v>
                </c:pt>
                <c:pt idx="17">
                  <c:v>0.15921266871459971</c:v>
                </c:pt>
                <c:pt idx="18">
                  <c:v>0.14292623183661221</c:v>
                </c:pt>
                <c:pt idx="19">
                  <c:v>0.13415254450655301</c:v>
                </c:pt>
                <c:pt idx="20">
                  <c:v>0.1240392039603293</c:v>
                </c:pt>
                <c:pt idx="21">
                  <c:v>0.11315425026394889</c:v>
                </c:pt>
                <c:pt idx="22">
                  <c:v>0.10570232577640359</c:v>
                </c:pt>
                <c:pt idx="23">
                  <c:v>0.10167690195104701</c:v>
                </c:pt>
                <c:pt idx="24">
                  <c:v>9.5034765471255292E-2</c:v>
                </c:pt>
                <c:pt idx="25">
                  <c:v>9.0452581742828789E-2</c:v>
                </c:pt>
                <c:pt idx="26">
                  <c:v>7.7679471925286861E-2</c:v>
                </c:pt>
                <c:pt idx="27">
                  <c:v>7.0817424524427464E-2</c:v>
                </c:pt>
                <c:pt idx="28">
                  <c:v>7.2205865303546002E-2</c:v>
                </c:pt>
                <c:pt idx="29">
                  <c:v>7.3774111177511009E-2</c:v>
                </c:pt>
                <c:pt idx="30">
                  <c:v>7.8757974381842899E-2</c:v>
                </c:pt>
                <c:pt idx="31">
                  <c:v>7.9892104643513762E-2</c:v>
                </c:pt>
                <c:pt idx="32">
                  <c:v>7.5044598974618626E-2</c:v>
                </c:pt>
                <c:pt idx="33">
                  <c:v>7.1669179349756279E-2</c:v>
                </c:pt>
                <c:pt idx="34">
                  <c:v>6.865257195110025E-2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E152-4E59-8776-4F408BE78209}"/>
            </c:ext>
          </c:extLst>
        </c:ser>
        <c:ser>
          <c:idx val="17"/>
          <c:order val="17"/>
          <c:tx>
            <c:strRef>
              <c:f>'JURI-PD_CALIB'!$V$3</c:f>
              <c:strCache>
                <c:ptCount val="1"/>
                <c:pt idx="0">
                  <c:v>LI</c:v>
                </c:pt>
              </c:strCache>
            </c:strRef>
          </c:tx>
          <c:spPr>
            <a:ln w="1270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'JURI-PD_CALIB'!$A$4:$A$38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'JURI-PD_CALIB'!$V$4:$V$38</c:f>
              <c:numCache>
                <c:formatCode>0%</c:formatCode>
                <c:ptCount val="35"/>
                <c:pt idx="0">
                  <c:v>0.1692005078089632</c:v>
                </c:pt>
                <c:pt idx="1">
                  <c:v>0.18656502582231843</c:v>
                </c:pt>
                <c:pt idx="2">
                  <c:v>0.1859310717253928</c:v>
                </c:pt>
                <c:pt idx="3">
                  <c:v>0.20286259144815461</c:v>
                </c:pt>
                <c:pt idx="4">
                  <c:v>0.19906390934413865</c:v>
                </c:pt>
                <c:pt idx="5">
                  <c:v>0.20948890575569101</c:v>
                </c:pt>
                <c:pt idx="6">
                  <c:v>0.20279580767514679</c:v>
                </c:pt>
                <c:pt idx="7">
                  <c:v>0.20137130489334307</c:v>
                </c:pt>
                <c:pt idx="8">
                  <c:v>0.20616499996026608</c:v>
                </c:pt>
                <c:pt idx="9">
                  <c:v>0.1916563074181456</c:v>
                </c:pt>
                <c:pt idx="10">
                  <c:v>0.19124300022839666</c:v>
                </c:pt>
                <c:pt idx="11">
                  <c:v>0.17307807471497755</c:v>
                </c:pt>
                <c:pt idx="12">
                  <c:v>0.16589837363216639</c:v>
                </c:pt>
                <c:pt idx="13">
                  <c:v>0.16210111223565166</c:v>
                </c:pt>
                <c:pt idx="14">
                  <c:v>0.15633063821204113</c:v>
                </c:pt>
                <c:pt idx="15">
                  <c:v>0.14623428139560371</c:v>
                </c:pt>
                <c:pt idx="16">
                  <c:v>0.14633328906231083</c:v>
                </c:pt>
                <c:pt idx="17">
                  <c:v>0.13203923504820578</c:v>
                </c:pt>
                <c:pt idx="18">
                  <c:v>0.11770392980316392</c:v>
                </c:pt>
                <c:pt idx="19">
                  <c:v>0.11003300279152596</c:v>
                </c:pt>
                <c:pt idx="20">
                  <c:v>0.10123811093684115</c:v>
                </c:pt>
                <c:pt idx="21">
                  <c:v>9.1831704332021216E-2</c:v>
                </c:pt>
                <c:pt idx="22">
                  <c:v>8.5429489754021121E-2</c:v>
                </c:pt>
                <c:pt idx="23">
                  <c:v>8.1984358183258374E-2</c:v>
                </c:pt>
                <c:pt idx="24">
                  <c:v>7.6320875150365605E-2</c:v>
                </c:pt>
                <c:pt idx="25">
                  <c:v>7.2429734411540964E-2</c:v>
                </c:pt>
                <c:pt idx="26">
                  <c:v>6.1655836949158507E-2</c:v>
                </c:pt>
                <c:pt idx="27">
                  <c:v>5.5915271231427761E-2</c:v>
                </c:pt>
                <c:pt idx="28">
                  <c:v>5.7073966534623627E-2</c:v>
                </c:pt>
                <c:pt idx="29">
                  <c:v>5.8384462650827779E-2</c:v>
                </c:pt>
                <c:pt idx="30">
                  <c:v>6.2561198993252035E-2</c:v>
                </c:pt>
                <c:pt idx="31">
                  <c:v>6.3514147714088184E-2</c:v>
                </c:pt>
                <c:pt idx="32">
                  <c:v>5.9447479726869944E-2</c:v>
                </c:pt>
                <c:pt idx="33">
                  <c:v>5.6625912524511025E-2</c:v>
                </c:pt>
                <c:pt idx="34">
                  <c:v>5.4111587814441614E-2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E152-4E59-8776-4F408BE78209}"/>
            </c:ext>
          </c:extLst>
        </c:ser>
        <c:ser>
          <c:idx val="18"/>
          <c:order val="18"/>
          <c:tx>
            <c:strRef>
              <c:f>'JURI-PD_CALIB'!$W$3</c:f>
              <c:strCache>
                <c:ptCount val="1"/>
                <c:pt idx="0">
                  <c:v>LS</c:v>
                </c:pt>
              </c:strCache>
            </c:strRef>
          </c:tx>
          <c:spPr>
            <a:ln w="1270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'JURI-PD_CALIB'!$A$4:$A$38</c:f>
              <c:strCache>
                <c:ptCount val="35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</c:strCache>
            </c:strRef>
          </c:cat>
          <c:val>
            <c:numRef>
              <c:f>'JURI-PD_CALIB'!$W$4:$W$38</c:f>
              <c:numCache>
                <c:formatCode>0%</c:formatCode>
                <c:ptCount val="35"/>
                <c:pt idx="0">
                  <c:v>0.23449350268127109</c:v>
                </c:pt>
                <c:pt idx="1">
                  <c:v>0.25545401647532578</c:v>
                </c:pt>
                <c:pt idx="2">
                  <c:v>0.25469444397411095</c:v>
                </c:pt>
                <c:pt idx="3">
                  <c:v>0.27484033382988826</c:v>
                </c:pt>
                <c:pt idx="4">
                  <c:v>0.27034549167192123</c:v>
                </c:pt>
                <c:pt idx="5">
                  <c:v>0.28264742503910567</c:v>
                </c:pt>
                <c:pt idx="6">
                  <c:v>0.27476143321137059</c:v>
                </c:pt>
                <c:pt idx="7">
                  <c:v>0.27307743879434826</c:v>
                </c:pt>
                <c:pt idx="8">
                  <c:v>0.27873650513067361</c:v>
                </c:pt>
                <c:pt idx="9">
                  <c:v>0.26153905969441232</c:v>
                </c:pt>
                <c:pt idx="10">
                  <c:v>0.26104607244197697</c:v>
                </c:pt>
                <c:pt idx="11">
                  <c:v>0.2392025420700814</c:v>
                </c:pt>
                <c:pt idx="12">
                  <c:v>0.23046996756653343</c:v>
                </c:pt>
                <c:pt idx="13">
                  <c:v>0.2258277251241409</c:v>
                </c:pt>
                <c:pt idx="14">
                  <c:v>0.21874094498952404</c:v>
                </c:pt>
                <c:pt idx="15">
                  <c:v>0.20624474681256941</c:v>
                </c:pt>
                <c:pt idx="16">
                  <c:v>0.20636790276613606</c:v>
                </c:pt>
                <c:pt idx="17">
                  <c:v>0.18845553339315391</c:v>
                </c:pt>
                <c:pt idx="18">
                  <c:v>0.17020840490233921</c:v>
                </c:pt>
                <c:pt idx="19">
                  <c:v>0.16031807431126835</c:v>
                </c:pt>
                <c:pt idx="20">
                  <c:v>0.14886185518055786</c:v>
                </c:pt>
                <c:pt idx="21">
                  <c:v>0.13646096769453456</c:v>
                </c:pt>
                <c:pt idx="22">
                  <c:v>0.12792643657336872</c:v>
                </c:pt>
                <c:pt idx="23">
                  <c:v>0.12330027678871047</c:v>
                </c:pt>
                <c:pt idx="24">
                  <c:v>0.1156413630603982</c:v>
                </c:pt>
                <c:pt idx="25">
                  <c:v>0.11033845010948502</c:v>
                </c:pt>
                <c:pt idx="26">
                  <c:v>9.5467211493280316E-2</c:v>
                </c:pt>
                <c:pt idx="27">
                  <c:v>8.7419563623347074E-2</c:v>
                </c:pt>
                <c:pt idx="28">
                  <c:v>8.9051399063937955E-2</c:v>
                </c:pt>
                <c:pt idx="29">
                  <c:v>9.0892391061238642E-2</c:v>
                </c:pt>
                <c:pt idx="30">
                  <c:v>9.672819506037951E-2</c:v>
                </c:pt>
                <c:pt idx="31">
                  <c:v>9.8053122909133594E-2</c:v>
                </c:pt>
                <c:pt idx="32">
                  <c:v>9.2382178648199739E-2</c:v>
                </c:pt>
                <c:pt idx="33">
                  <c:v>8.8420847129258892E-2</c:v>
                </c:pt>
                <c:pt idx="34">
                  <c:v>8.4871543711237091E-2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E152-4E59-8776-4F408BE782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7966592"/>
        <c:axId val="110687271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'JURI-PD_CALIB'!$E$3</c15:sqref>
                        </c15:formulaRef>
                      </c:ext>
                    </c:extLst>
                    <c:strCache>
                      <c:ptCount val="1"/>
                      <c:pt idx="0">
                        <c:v>RD3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'JURI-PD_CALIB'!$E$4:$E$38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>
                  <c:ext xmlns:c16="http://schemas.microsoft.com/office/drawing/2014/chart" uri="{C3380CC4-5D6E-409C-BE32-E72D297353CC}">
                    <c16:uniqueId val="{00000006-E152-4E59-8776-4F408BE78209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'JURI-PD_CALIB'!$F$3</c15:sqref>
                        </c15:formulaRef>
                      </c:ext>
                    </c:extLst>
                    <c:strCache>
                      <c:ptCount val="1"/>
                      <c:pt idx="0">
                        <c:v>RD4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'JURI-PD_CALIB'!$F$4:$F$38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E152-4E59-8776-4F408BE78209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'JURI-PD_CALIB'!$G$3</c15:sqref>
                        </c15:formulaRef>
                      </c:ext>
                    </c:extLst>
                    <c:strCache>
                      <c:ptCount val="1"/>
                      <c:pt idx="0">
                        <c:v>RD5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'JURI-PD_CALIB'!$G$4:$G$38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E152-4E59-8776-4F408BE78209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'JURI-PD_CALIB'!$H$3</c15:sqref>
                        </c15:formulaRef>
                      </c:ext>
                    </c:extLst>
                    <c:strCache>
                      <c:ptCount val="1"/>
                      <c:pt idx="0">
                        <c:v>RD6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'JURI-PD_CALIB'!$H$4:$H$38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E152-4E59-8776-4F408BE78209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'JURI-PD_CALIB'!$I$3</c15:sqref>
                        </c15:formulaRef>
                      </c:ext>
                    </c:extLst>
                    <c:strCache>
                      <c:ptCount val="1"/>
                      <c:pt idx="0">
                        <c:v>RD7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'JURI-PD_CALIB'!$I$4:$I$38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E152-4E59-8776-4F408BE78209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'JURI-PD_CALIB'!$J$3</c15:sqref>
                        </c15:formulaRef>
                      </c:ext>
                    </c:extLst>
                    <c:strCache>
                      <c:ptCount val="1"/>
                      <c:pt idx="0">
                        <c:v>RD8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8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'JURI-PD_CALIB'!$J$4:$J$38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E152-4E59-8776-4F408BE78209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'JURI-PD_CALIB'!$K$3</c15:sqref>
                        </c15:formulaRef>
                      </c:ext>
                    </c:extLst>
                    <c:strCache>
                      <c:ptCount val="1"/>
                      <c:pt idx="0">
                        <c:v>RD9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7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'JURI-PD_CALIB'!$K$4:$K$38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E152-4E59-8776-4F408BE78209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'JURI-PD_CALIB'!$L$3</c15:sqref>
                        </c15:formulaRef>
                      </c:ext>
                    </c:extLst>
                    <c:strCache>
                      <c:ptCount val="1"/>
                      <c:pt idx="0">
                        <c:v>RD10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6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'JURI-PD_CALIB'!$L$4:$L$38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E152-4E59-8776-4F408BE78209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'JURI-PD_CALIB'!$M$3</c15:sqref>
                        </c15:formulaRef>
                      </c:ext>
                    </c:extLst>
                    <c:strCache>
                      <c:ptCount val="1"/>
                      <c:pt idx="0">
                        <c:v>RD11</c:v>
                      </c:pt>
                    </c:strCache>
                  </c:strRef>
                </c:tx>
                <c:spPr>
                  <a:ln w="22225" cap="rnd">
                    <a:solidFill>
                      <a:schemeClr val="bg1">
                        <a:lumMod val="50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'JURI-PD_CALIB'!$M$4:$M$38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E152-4E59-8776-4F408BE78209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'JURI-PD_CALIB'!$P$3</c15:sqref>
                        </c15:formulaRef>
                      </c:ext>
                    </c:extLst>
                    <c:strCache>
                      <c:ptCount val="1"/>
                      <c:pt idx="0">
                        <c:v>RD12_PROY_CA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6">
                        <a:lumMod val="60000"/>
                      </a:schemeClr>
                    </a:solidFill>
                    <a:ln w="9525">
                      <a:solidFill>
                        <a:schemeClr val="accent6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'JURI-PD_CALIB'!$P$4:$P$38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E152-4E59-8776-4F408BE78209}"/>
                  </c:ext>
                </c:extLst>
              </c15:ser>
            </c15:filteredLineSeries>
            <c15:filteredLin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'JURI-PD_CALIB'!$Q$3</c15:sqref>
                        </c15:formulaRef>
                      </c:ext>
                    </c:extLst>
                    <c:strCache>
                      <c:ptCount val="1"/>
                      <c:pt idx="0">
                        <c:v>PD_ORIG</c:v>
                      </c:pt>
                    </c:strCache>
                  </c:strRef>
                </c:tx>
                <c:spPr>
                  <a:ln w="22225" cap="rnd">
                    <a:solidFill>
                      <a:srgbClr val="66006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'JURI-PD_CALIB'!$Q$4:$Q$38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1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E152-4E59-8776-4F408BE78209}"/>
                  </c:ext>
                </c:extLst>
              </c15:ser>
            </c15:filteredLineSeries>
            <c15:filteredLine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'JURI-PD_CALIB'!$R$3</c15:sqref>
                        </c15:formulaRef>
                      </c:ext>
                    </c:extLst>
                    <c:strCache>
                      <c:ptCount val="1"/>
                      <c:pt idx="0">
                        <c:v>PD_FWL</c:v>
                      </c:pt>
                    </c:strCache>
                  </c:strRef>
                </c:tx>
                <c:spPr>
                  <a:ln w="22225" cap="rnd">
                    <a:solidFill>
                      <a:schemeClr val="tx2">
                        <a:lumMod val="60000"/>
                        <a:lumOff val="40000"/>
                        <a:alpha val="5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>
                        <a:lumMod val="80000"/>
                        <a:lumOff val="20000"/>
                      </a:schemeClr>
                    </a:solidFill>
                    <a:ln w="9525">
                      <a:solidFill>
                        <a:schemeClr val="accent2">
                          <a:lumMod val="80000"/>
                          <a:lumOff val="20000"/>
                        </a:schemeClr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'JURI-PD_CALIB'!$R$4:$R$38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E152-4E59-8776-4F408BE78209}"/>
                  </c:ext>
                </c:extLst>
              </c15:ser>
            </c15:filteredLineSeries>
            <c15:filteredLine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'JURI-PD_CALIB'!$S$3</c15:sqref>
                        </c15:formulaRef>
                      </c:ext>
                    </c:extLst>
                    <c:strCache>
                      <c:ptCount val="1"/>
                      <c:pt idx="0">
                        <c:v>RD12_FWL_M1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x"/>
                  <c:size val="6"/>
                  <c:spPr>
                    <a:noFill/>
                    <a:ln w="19050">
                      <a:solidFill>
                        <a:srgbClr val="FFC000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'JURI-PD_CALIB'!$S$4:$S$38</c15:sqref>
                        </c15:formulaRef>
                      </c:ext>
                    </c:extLst>
                    <c:numCache>
                      <c:formatCode>General</c:formatCode>
                      <c:ptCount val="35"/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E152-4E59-8776-4F408BE78209}"/>
                  </c:ext>
                </c:extLst>
              </c15:ser>
            </c15:filteredLineSeries>
            <c15:filteredLine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'JURI-PD_CALIB'!$T$3</c15:sqref>
                        </c15:formulaRef>
                      </c:ext>
                    </c:extLst>
                    <c:strCache>
                      <c:ptCount val="1"/>
                      <c:pt idx="0">
                        <c:v>RD12_FWL_M2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rgbClr val="00CC99"/>
                    </a:solidFill>
                    <a:ln w="9525">
                      <a:solidFill>
                        <a:srgbClr val="00CC99"/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'JURI-PD_CALIB'!$A$4:$A$38</c15:sqref>
                        </c15:formulaRef>
                      </c:ext>
                    </c:extLst>
                    <c:strCache>
                      <c:ptCount val="35"/>
                      <c:pt idx="0">
                        <c:v>202301</c:v>
                      </c:pt>
                      <c:pt idx="1">
                        <c:v>202302</c:v>
                      </c:pt>
                      <c:pt idx="2">
                        <c:v>202303</c:v>
                      </c:pt>
                      <c:pt idx="3">
                        <c:v>202304</c:v>
                      </c:pt>
                      <c:pt idx="4">
                        <c:v>202305</c:v>
                      </c:pt>
                      <c:pt idx="5">
                        <c:v>202306</c:v>
                      </c:pt>
                      <c:pt idx="6">
                        <c:v>202307</c:v>
                      </c:pt>
                      <c:pt idx="7">
                        <c:v>202308</c:v>
                      </c:pt>
                      <c:pt idx="8">
                        <c:v>202309</c:v>
                      </c:pt>
                      <c:pt idx="9">
                        <c:v>202310</c:v>
                      </c:pt>
                      <c:pt idx="10">
                        <c:v>202311</c:v>
                      </c:pt>
                      <c:pt idx="11">
                        <c:v>202312</c:v>
                      </c:pt>
                      <c:pt idx="12">
                        <c:v>202401</c:v>
                      </c:pt>
                      <c:pt idx="13">
                        <c:v>202402</c:v>
                      </c:pt>
                      <c:pt idx="14">
                        <c:v>202403</c:v>
                      </c:pt>
                      <c:pt idx="15">
                        <c:v>202404</c:v>
                      </c:pt>
                      <c:pt idx="16">
                        <c:v>202405</c:v>
                      </c:pt>
                      <c:pt idx="17">
                        <c:v>202406</c:v>
                      </c:pt>
                      <c:pt idx="18">
                        <c:v>202407</c:v>
                      </c:pt>
                      <c:pt idx="19">
                        <c:v>202408</c:v>
                      </c:pt>
                      <c:pt idx="20">
                        <c:v>202409</c:v>
                      </c:pt>
                      <c:pt idx="21">
                        <c:v>202410</c:v>
                      </c:pt>
                      <c:pt idx="22">
                        <c:v>202411</c:v>
                      </c:pt>
                      <c:pt idx="23">
                        <c:v>202412</c:v>
                      </c:pt>
                      <c:pt idx="24">
                        <c:v>202501</c:v>
                      </c:pt>
                      <c:pt idx="25">
                        <c:v>202502</c:v>
                      </c:pt>
                      <c:pt idx="26">
                        <c:v>202503</c:v>
                      </c:pt>
                      <c:pt idx="27">
                        <c:v>202504</c:v>
                      </c:pt>
                      <c:pt idx="28">
                        <c:v>202505</c:v>
                      </c:pt>
                      <c:pt idx="29">
                        <c:v>202506</c:v>
                      </c:pt>
                      <c:pt idx="30">
                        <c:v>202507</c:v>
                      </c:pt>
                      <c:pt idx="31">
                        <c:v>202508</c:v>
                      </c:pt>
                      <c:pt idx="32">
                        <c:v>202509</c:v>
                      </c:pt>
                      <c:pt idx="33">
                        <c:v>202510</c:v>
                      </c:pt>
                      <c:pt idx="34">
                        <c:v>202511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'JURI-PD_CALIB'!$T$4:$T$38</c15:sqref>
                        </c15:formulaRef>
                      </c:ext>
                    </c:extLst>
                    <c:numCache>
                      <c:formatCode>General</c:formatCode>
                      <c:ptCount val="35"/>
                      <c:pt idx="28" formatCode="0.0000%">
                        <c:v>0</c:v>
                      </c:pt>
                      <c:pt idx="29" formatCode="0.0000%">
                        <c:v>0</c:v>
                      </c:pt>
                      <c:pt idx="30" formatCode="0.0000%">
                        <c:v>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E152-4E59-8776-4F408BE78209}"/>
                  </c:ext>
                </c:extLst>
              </c15:ser>
            </c15:filteredLineSeries>
          </c:ext>
        </c:extLst>
      </c:lineChart>
      <c:catAx>
        <c:axId val="1317966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106872712"/>
        <c:crosses val="autoZero"/>
        <c:auto val="1"/>
        <c:lblAlgn val="ctr"/>
        <c:lblOffset val="100"/>
        <c:noMultiLvlLbl val="0"/>
      </c:catAx>
      <c:valAx>
        <c:axId val="1106872712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s-PE"/>
          </a:p>
        </c:txPr>
        <c:crossAx val="1317966592"/>
        <c:crosses val="autoZero"/>
        <c:crossBetween val="between"/>
      </c:valAx>
      <c:valAx>
        <c:axId val="1081866360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081870680"/>
        <c:crosses val="max"/>
        <c:crossBetween val="between"/>
      </c:valAx>
      <c:catAx>
        <c:axId val="1081870680"/>
        <c:scaling>
          <c:orientation val="minMax"/>
        </c:scaling>
        <c:delete val="1"/>
        <c:axPos val="b"/>
        <c:majorTickMark val="out"/>
        <c:minorTickMark val="none"/>
        <c:tickLblPos val="nextTo"/>
        <c:crossAx val="10818663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6168981481481482E-2"/>
          <c:y val="3.5277777777777776E-2"/>
          <c:w val="0.96766203703703701"/>
          <c:h val="0.90058080808080798"/>
        </c:manualLayout>
      </c:layout>
      <c:lineChart>
        <c:grouping val="standard"/>
        <c:varyColors val="1"/>
        <c:ser>
          <c:idx val="0"/>
          <c:order val="0"/>
          <c:tx>
            <c:strRef>
              <c:f>B_apetito!$B$4</c:f>
              <c:strCache>
                <c:ptCount val="1"/>
                <c:pt idx="0">
                  <c:v>G1a</c:v>
                </c:pt>
              </c:strCache>
            </c:strRef>
          </c:tx>
          <c:spPr>
            <a:ln w="25400">
              <a:solidFill>
                <a:srgbClr val="00B050"/>
              </a:solidFill>
              <a:prstDash val="solid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B_apetito!$B$5:$B$33</c:f>
              <c:numCache>
                <c:formatCode>General</c:formatCode>
                <c:ptCount val="29"/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0.93</c:v>
                </c:pt>
                <c:pt idx="19">
                  <c:v>0.76</c:v>
                </c:pt>
                <c:pt idx="20">
                  <c:v>0.57999999999999996</c:v>
                </c:pt>
                <c:pt idx="21">
                  <c:v>0</c:v>
                </c:pt>
                <c:pt idx="22">
                  <c:v>0.55000000000000004</c:v>
                </c:pt>
                <c:pt idx="23">
                  <c:v>1.39</c:v>
                </c:pt>
                <c:pt idx="24">
                  <c:v>0.76</c:v>
                </c:pt>
                <c:pt idx="25">
                  <c:v>1.28</c:v>
                </c:pt>
                <c:pt idx="26">
                  <c:v>1.1599999999999999</c:v>
                </c:pt>
                <c:pt idx="27">
                  <c:v>1.69</c:v>
                </c:pt>
                <c:pt idx="28">
                  <c:v>1.71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054-472F-8C66-D976A40234AF}"/>
            </c:ext>
          </c:extLst>
        </c:ser>
        <c:ser>
          <c:idx val="1"/>
          <c:order val="1"/>
          <c:tx>
            <c:strRef>
              <c:f>B_apetito!$C$4</c:f>
              <c:strCache>
                <c:ptCount val="1"/>
                <c:pt idx="0">
                  <c:v>G1b</c:v>
                </c:pt>
              </c:strCache>
            </c:strRef>
          </c:tx>
          <c:spPr>
            <a:ln w="25400">
              <a:solidFill>
                <a:srgbClr val="92D050"/>
              </a:solidFill>
              <a:prstDash val="solid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B_apetito!$C$5:$C$33</c:f>
              <c:numCache>
                <c:formatCode>General</c:formatCode>
                <c:ptCount val="29"/>
                <c:pt idx="0">
                  <c:v>0.7</c:v>
                </c:pt>
                <c:pt idx="1">
                  <c:v>0.39</c:v>
                </c:pt>
                <c:pt idx="2">
                  <c:v>0</c:v>
                </c:pt>
                <c:pt idx="3">
                  <c:v>1.48</c:v>
                </c:pt>
                <c:pt idx="4">
                  <c:v>1.1299999999999999</c:v>
                </c:pt>
                <c:pt idx="5">
                  <c:v>1.39</c:v>
                </c:pt>
                <c:pt idx="6">
                  <c:v>0.79</c:v>
                </c:pt>
                <c:pt idx="7">
                  <c:v>0</c:v>
                </c:pt>
                <c:pt idx="8">
                  <c:v>0.75</c:v>
                </c:pt>
                <c:pt idx="9">
                  <c:v>0.56999999999999995</c:v>
                </c:pt>
                <c:pt idx="10">
                  <c:v>0.39</c:v>
                </c:pt>
                <c:pt idx="11">
                  <c:v>1.84</c:v>
                </c:pt>
                <c:pt idx="12">
                  <c:v>0.6</c:v>
                </c:pt>
                <c:pt idx="13">
                  <c:v>0.82</c:v>
                </c:pt>
                <c:pt idx="14">
                  <c:v>1.1299999999999999</c:v>
                </c:pt>
                <c:pt idx="15">
                  <c:v>1.1000000000000001</c:v>
                </c:pt>
                <c:pt idx="16">
                  <c:v>1.37</c:v>
                </c:pt>
                <c:pt idx="17">
                  <c:v>2.77</c:v>
                </c:pt>
                <c:pt idx="18">
                  <c:v>2.76</c:v>
                </c:pt>
                <c:pt idx="19">
                  <c:v>2.73</c:v>
                </c:pt>
                <c:pt idx="20">
                  <c:v>3.39</c:v>
                </c:pt>
                <c:pt idx="21">
                  <c:v>3.14</c:v>
                </c:pt>
                <c:pt idx="22">
                  <c:v>2.0299999999999998</c:v>
                </c:pt>
                <c:pt idx="23">
                  <c:v>1.74</c:v>
                </c:pt>
                <c:pt idx="24">
                  <c:v>1.97</c:v>
                </c:pt>
                <c:pt idx="25">
                  <c:v>2.02</c:v>
                </c:pt>
                <c:pt idx="26">
                  <c:v>1.92</c:v>
                </c:pt>
                <c:pt idx="27">
                  <c:v>1.94</c:v>
                </c:pt>
                <c:pt idx="28">
                  <c:v>1.75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054-472F-8C66-D976A40234AF}"/>
            </c:ext>
          </c:extLst>
        </c:ser>
        <c:ser>
          <c:idx val="2"/>
          <c:order val="2"/>
          <c:tx>
            <c:strRef>
              <c:f>B_apetito!$D$4</c:f>
              <c:strCache>
                <c:ptCount val="1"/>
                <c:pt idx="0">
                  <c:v>G2</c:v>
                </c:pt>
              </c:strCache>
            </c:strRef>
          </c:tx>
          <c:spPr>
            <a:ln w="25400">
              <a:solidFill>
                <a:srgbClr val="70AD47"/>
              </a:solidFill>
              <a:prstDash val="solid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B_apetito!$D$5:$D$33</c:f>
              <c:numCache>
                <c:formatCode>General</c:formatCode>
                <c:ptCount val="29"/>
                <c:pt idx="0">
                  <c:v>4.3</c:v>
                </c:pt>
                <c:pt idx="1">
                  <c:v>4.05</c:v>
                </c:pt>
                <c:pt idx="2">
                  <c:v>4.54</c:v>
                </c:pt>
                <c:pt idx="3">
                  <c:v>4.1399999999999997</c:v>
                </c:pt>
                <c:pt idx="4">
                  <c:v>4.7300000000000004</c:v>
                </c:pt>
                <c:pt idx="5">
                  <c:v>4.08</c:v>
                </c:pt>
                <c:pt idx="6">
                  <c:v>4.67</c:v>
                </c:pt>
                <c:pt idx="7">
                  <c:v>4.43</c:v>
                </c:pt>
                <c:pt idx="8">
                  <c:v>3.77</c:v>
                </c:pt>
                <c:pt idx="9">
                  <c:v>4.54</c:v>
                </c:pt>
                <c:pt idx="10">
                  <c:v>4.42</c:v>
                </c:pt>
                <c:pt idx="11">
                  <c:v>3.58</c:v>
                </c:pt>
                <c:pt idx="12">
                  <c:v>3.35</c:v>
                </c:pt>
                <c:pt idx="13">
                  <c:v>4.01</c:v>
                </c:pt>
                <c:pt idx="14">
                  <c:v>3.71</c:v>
                </c:pt>
                <c:pt idx="15">
                  <c:v>3.5</c:v>
                </c:pt>
                <c:pt idx="16">
                  <c:v>3.77</c:v>
                </c:pt>
                <c:pt idx="17">
                  <c:v>3.57</c:v>
                </c:pt>
                <c:pt idx="18">
                  <c:v>3.42</c:v>
                </c:pt>
                <c:pt idx="19">
                  <c:v>3.83</c:v>
                </c:pt>
                <c:pt idx="20">
                  <c:v>4.5999999999999996</c:v>
                </c:pt>
                <c:pt idx="21">
                  <c:v>4.99</c:v>
                </c:pt>
                <c:pt idx="22">
                  <c:v>4.84</c:v>
                </c:pt>
                <c:pt idx="23">
                  <c:v>4.58</c:v>
                </c:pt>
                <c:pt idx="24">
                  <c:v>5.26</c:v>
                </c:pt>
                <c:pt idx="25">
                  <c:v>4.9000000000000004</c:v>
                </c:pt>
                <c:pt idx="26">
                  <c:v>6.09</c:v>
                </c:pt>
                <c:pt idx="27">
                  <c:v>5.5</c:v>
                </c:pt>
                <c:pt idx="28">
                  <c:v>6.06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054-472F-8C66-D976A40234AF}"/>
            </c:ext>
          </c:extLst>
        </c:ser>
        <c:ser>
          <c:idx val="3"/>
          <c:order val="3"/>
          <c:tx>
            <c:strRef>
              <c:f>B_apetito!$E$4</c:f>
              <c:strCache>
                <c:ptCount val="1"/>
                <c:pt idx="0">
                  <c:v>G3</c:v>
                </c:pt>
              </c:strCache>
            </c:strRef>
          </c:tx>
          <c:spPr>
            <a:ln w="25400">
              <a:solidFill>
                <a:srgbClr val="FFFF00"/>
              </a:solidFill>
              <a:prstDash val="solid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B_apetito!$E$5:$E$33</c:f>
              <c:numCache>
                <c:formatCode>General</c:formatCode>
                <c:ptCount val="29"/>
                <c:pt idx="0">
                  <c:v>6.32</c:v>
                </c:pt>
                <c:pt idx="1">
                  <c:v>6.63</c:v>
                </c:pt>
                <c:pt idx="2">
                  <c:v>6.03</c:v>
                </c:pt>
                <c:pt idx="3">
                  <c:v>7.31</c:v>
                </c:pt>
                <c:pt idx="4">
                  <c:v>7.16</c:v>
                </c:pt>
                <c:pt idx="5">
                  <c:v>7.07</c:v>
                </c:pt>
                <c:pt idx="6">
                  <c:v>6.32</c:v>
                </c:pt>
                <c:pt idx="7">
                  <c:v>5.68</c:v>
                </c:pt>
                <c:pt idx="8">
                  <c:v>8.2200000000000006</c:v>
                </c:pt>
                <c:pt idx="9">
                  <c:v>7.26</c:v>
                </c:pt>
                <c:pt idx="10">
                  <c:v>6.55</c:v>
                </c:pt>
                <c:pt idx="11">
                  <c:v>7.84</c:v>
                </c:pt>
                <c:pt idx="12">
                  <c:v>7.28</c:v>
                </c:pt>
                <c:pt idx="13">
                  <c:v>6.73</c:v>
                </c:pt>
                <c:pt idx="14">
                  <c:v>5.2</c:v>
                </c:pt>
                <c:pt idx="15">
                  <c:v>7.39</c:v>
                </c:pt>
                <c:pt idx="16">
                  <c:v>5.91</c:v>
                </c:pt>
                <c:pt idx="17">
                  <c:v>4.83</c:v>
                </c:pt>
                <c:pt idx="18">
                  <c:v>6.22</c:v>
                </c:pt>
                <c:pt idx="19">
                  <c:v>5.34</c:v>
                </c:pt>
                <c:pt idx="20">
                  <c:v>4.66</c:v>
                </c:pt>
                <c:pt idx="21">
                  <c:v>6.3</c:v>
                </c:pt>
                <c:pt idx="22">
                  <c:v>9.57</c:v>
                </c:pt>
                <c:pt idx="23">
                  <c:v>8.9600000000000009</c:v>
                </c:pt>
                <c:pt idx="24">
                  <c:v>8.57</c:v>
                </c:pt>
                <c:pt idx="25">
                  <c:v>7.43</c:v>
                </c:pt>
                <c:pt idx="26">
                  <c:v>6.9</c:v>
                </c:pt>
                <c:pt idx="27">
                  <c:v>7.26</c:v>
                </c:pt>
                <c:pt idx="28">
                  <c:v>6.9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2054-472F-8C66-D976A40234AF}"/>
            </c:ext>
          </c:extLst>
        </c:ser>
        <c:ser>
          <c:idx val="4"/>
          <c:order val="4"/>
          <c:tx>
            <c:strRef>
              <c:f>B_apetito!$F$4</c:f>
              <c:strCache>
                <c:ptCount val="1"/>
                <c:pt idx="0">
                  <c:v>G4</c:v>
                </c:pt>
              </c:strCache>
            </c:strRef>
          </c:tx>
          <c:spPr>
            <a:ln w="25400">
              <a:solidFill>
                <a:srgbClr val="FFC000"/>
              </a:solidFill>
              <a:prstDash val="solid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B_apetito!$F$5:$F$33</c:f>
              <c:numCache>
                <c:formatCode>General</c:formatCode>
                <c:ptCount val="29"/>
                <c:pt idx="0">
                  <c:v>11</c:v>
                </c:pt>
                <c:pt idx="1">
                  <c:v>11.91</c:v>
                </c:pt>
                <c:pt idx="2">
                  <c:v>10.95</c:v>
                </c:pt>
                <c:pt idx="3">
                  <c:v>11.09</c:v>
                </c:pt>
                <c:pt idx="4">
                  <c:v>10.72</c:v>
                </c:pt>
                <c:pt idx="5">
                  <c:v>11.68</c:v>
                </c:pt>
                <c:pt idx="6">
                  <c:v>12.06</c:v>
                </c:pt>
                <c:pt idx="7">
                  <c:v>11.39</c:v>
                </c:pt>
                <c:pt idx="8">
                  <c:v>10.37</c:v>
                </c:pt>
                <c:pt idx="9">
                  <c:v>12.05</c:v>
                </c:pt>
                <c:pt idx="10">
                  <c:v>10.77</c:v>
                </c:pt>
                <c:pt idx="11">
                  <c:v>11.56</c:v>
                </c:pt>
                <c:pt idx="12">
                  <c:v>12.75</c:v>
                </c:pt>
                <c:pt idx="13">
                  <c:v>11.11</c:v>
                </c:pt>
                <c:pt idx="14">
                  <c:v>10.3</c:v>
                </c:pt>
                <c:pt idx="15">
                  <c:v>9.51</c:v>
                </c:pt>
                <c:pt idx="16">
                  <c:v>8.76</c:v>
                </c:pt>
                <c:pt idx="17">
                  <c:v>8.2799999999999994</c:v>
                </c:pt>
                <c:pt idx="18">
                  <c:v>9.2200000000000006</c:v>
                </c:pt>
                <c:pt idx="19">
                  <c:v>8.06</c:v>
                </c:pt>
                <c:pt idx="20">
                  <c:v>10.27</c:v>
                </c:pt>
                <c:pt idx="21">
                  <c:v>10.94</c:v>
                </c:pt>
                <c:pt idx="22">
                  <c:v>9.67</c:v>
                </c:pt>
                <c:pt idx="23">
                  <c:v>12.09</c:v>
                </c:pt>
                <c:pt idx="24">
                  <c:v>8.82</c:v>
                </c:pt>
                <c:pt idx="25">
                  <c:v>10.63</c:v>
                </c:pt>
                <c:pt idx="26">
                  <c:v>8.17</c:v>
                </c:pt>
                <c:pt idx="27">
                  <c:v>9.0500000000000007</c:v>
                </c:pt>
                <c:pt idx="28">
                  <c:v>7.97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2054-472F-8C66-D976A40234AF}"/>
            </c:ext>
          </c:extLst>
        </c:ser>
        <c:ser>
          <c:idx val="5"/>
          <c:order val="5"/>
          <c:tx>
            <c:strRef>
              <c:f>B_apetito!$G$4</c:f>
              <c:strCache>
                <c:ptCount val="1"/>
                <c:pt idx="0">
                  <c:v>G5a</c:v>
                </c:pt>
              </c:strCache>
            </c:strRef>
          </c:tx>
          <c:spPr>
            <a:ln w="25400">
              <a:solidFill>
                <a:srgbClr val="FF0000"/>
              </a:solidFill>
              <a:prstDash val="solid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B_apetito!$G$5:$G$33</c:f>
              <c:numCache>
                <c:formatCode>General</c:formatCode>
                <c:ptCount val="29"/>
                <c:pt idx="0">
                  <c:v>18.079999999999998</c:v>
                </c:pt>
                <c:pt idx="1">
                  <c:v>17.89</c:v>
                </c:pt>
                <c:pt idx="2">
                  <c:v>19.739999999999998</c:v>
                </c:pt>
                <c:pt idx="3">
                  <c:v>18.36</c:v>
                </c:pt>
                <c:pt idx="4">
                  <c:v>20.83</c:v>
                </c:pt>
                <c:pt idx="5">
                  <c:v>21.02</c:v>
                </c:pt>
                <c:pt idx="6">
                  <c:v>19.95</c:v>
                </c:pt>
                <c:pt idx="7">
                  <c:v>18.760000000000002</c:v>
                </c:pt>
                <c:pt idx="8">
                  <c:v>19.149999999999999</c:v>
                </c:pt>
                <c:pt idx="9">
                  <c:v>18.55</c:v>
                </c:pt>
                <c:pt idx="10">
                  <c:v>19.61</c:v>
                </c:pt>
                <c:pt idx="11">
                  <c:v>19.97</c:v>
                </c:pt>
                <c:pt idx="12">
                  <c:v>19.829999999999998</c:v>
                </c:pt>
                <c:pt idx="13">
                  <c:v>21.03</c:v>
                </c:pt>
                <c:pt idx="14">
                  <c:v>17.37</c:v>
                </c:pt>
                <c:pt idx="15">
                  <c:v>19.78</c:v>
                </c:pt>
                <c:pt idx="16">
                  <c:v>17.09</c:v>
                </c:pt>
                <c:pt idx="17">
                  <c:v>17.649999999999999</c:v>
                </c:pt>
                <c:pt idx="18">
                  <c:v>17.14</c:v>
                </c:pt>
                <c:pt idx="19">
                  <c:v>18.149999999999999</c:v>
                </c:pt>
                <c:pt idx="20">
                  <c:v>21.81</c:v>
                </c:pt>
                <c:pt idx="21">
                  <c:v>18.72</c:v>
                </c:pt>
                <c:pt idx="22">
                  <c:v>18.5</c:v>
                </c:pt>
                <c:pt idx="23">
                  <c:v>15.04</c:v>
                </c:pt>
                <c:pt idx="24">
                  <c:v>19.37</c:v>
                </c:pt>
                <c:pt idx="25">
                  <c:v>18.45</c:v>
                </c:pt>
                <c:pt idx="26">
                  <c:v>19.600000000000001</c:v>
                </c:pt>
                <c:pt idx="27">
                  <c:v>14.48</c:v>
                </c:pt>
                <c:pt idx="28">
                  <c:v>14.41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2054-472F-8C66-D976A40234AF}"/>
            </c:ext>
          </c:extLst>
        </c:ser>
        <c:ser>
          <c:idx val="6"/>
          <c:order val="6"/>
          <c:tx>
            <c:strRef>
              <c:f>B_apetito!$H$4</c:f>
              <c:strCache>
                <c:ptCount val="1"/>
                <c:pt idx="0">
                  <c:v>G5b</c:v>
                </c:pt>
              </c:strCache>
            </c:strRef>
          </c:tx>
          <c:spPr>
            <a:ln w="25400">
              <a:solidFill>
                <a:srgbClr val="002060"/>
              </a:solidFill>
              <a:prstDash val="solid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B_apetito!$H$5:$H$33</c:f>
              <c:numCache>
                <c:formatCode>General</c:formatCode>
                <c:ptCount val="29"/>
                <c:pt idx="0">
                  <c:v>46.86</c:v>
                </c:pt>
                <c:pt idx="1">
                  <c:v>46.51</c:v>
                </c:pt>
                <c:pt idx="2">
                  <c:v>50.62</c:v>
                </c:pt>
                <c:pt idx="3">
                  <c:v>51.29</c:v>
                </c:pt>
                <c:pt idx="4">
                  <c:v>51.37</c:v>
                </c:pt>
                <c:pt idx="5">
                  <c:v>51.05</c:v>
                </c:pt>
                <c:pt idx="6">
                  <c:v>49.47</c:v>
                </c:pt>
                <c:pt idx="7">
                  <c:v>49.98</c:v>
                </c:pt>
                <c:pt idx="8">
                  <c:v>51.75</c:v>
                </c:pt>
                <c:pt idx="9">
                  <c:v>50.6</c:v>
                </c:pt>
                <c:pt idx="10">
                  <c:v>53.87</c:v>
                </c:pt>
                <c:pt idx="11">
                  <c:v>51.07</c:v>
                </c:pt>
                <c:pt idx="12">
                  <c:v>53.46</c:v>
                </c:pt>
                <c:pt idx="13">
                  <c:v>55.04</c:v>
                </c:pt>
                <c:pt idx="14">
                  <c:v>52</c:v>
                </c:pt>
                <c:pt idx="15">
                  <c:v>46.43</c:v>
                </c:pt>
                <c:pt idx="16">
                  <c:v>46.47</c:v>
                </c:pt>
                <c:pt idx="17">
                  <c:v>44.21</c:v>
                </c:pt>
                <c:pt idx="18">
                  <c:v>50.87</c:v>
                </c:pt>
                <c:pt idx="19">
                  <c:v>50.34</c:v>
                </c:pt>
                <c:pt idx="20">
                  <c:v>49.81</c:v>
                </c:pt>
                <c:pt idx="21">
                  <c:v>49.41</c:v>
                </c:pt>
                <c:pt idx="22">
                  <c:v>43.75</c:v>
                </c:pt>
                <c:pt idx="23">
                  <c:v>42.81</c:v>
                </c:pt>
                <c:pt idx="24">
                  <c:v>45.85</c:v>
                </c:pt>
                <c:pt idx="25">
                  <c:v>40.17</c:v>
                </c:pt>
                <c:pt idx="26">
                  <c:v>37.1</c:v>
                </c:pt>
                <c:pt idx="27">
                  <c:v>37.130000000000003</c:v>
                </c:pt>
                <c:pt idx="28">
                  <c:v>41.1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2054-472F-8C66-D976A40234AF}"/>
            </c:ext>
          </c:extLst>
        </c:ser>
        <c:ser>
          <c:idx val="7"/>
          <c:order val="7"/>
          <c:tx>
            <c:strRef>
              <c:f>B_apetito!$B$125</c:f>
              <c:strCache>
                <c:ptCount val="1"/>
                <c:pt idx="0">
                  <c:v>G1a PD</c:v>
                </c:pt>
              </c:strCache>
            </c:strRef>
          </c:tx>
          <c:spPr>
            <a:ln w="13000">
              <a:solidFill>
                <a:srgbClr val="00B050"/>
              </a:solidFill>
              <a:prstDash val="dash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B_apetito!$B$126:$B$154</c:f>
              <c:numCache>
                <c:formatCode>General</c:formatCode>
                <c:ptCount val="29"/>
                <c:pt idx="13">
                  <c:v>0.74</c:v>
                </c:pt>
                <c:pt idx="14">
                  <c:v>0.73</c:v>
                </c:pt>
                <c:pt idx="15">
                  <c:v>0.72</c:v>
                </c:pt>
                <c:pt idx="16">
                  <c:v>0.68</c:v>
                </c:pt>
                <c:pt idx="17">
                  <c:v>0.66</c:v>
                </c:pt>
                <c:pt idx="18">
                  <c:v>0.64</c:v>
                </c:pt>
                <c:pt idx="19">
                  <c:v>0.68</c:v>
                </c:pt>
                <c:pt idx="20">
                  <c:v>0.67</c:v>
                </c:pt>
                <c:pt idx="21">
                  <c:v>0.65</c:v>
                </c:pt>
                <c:pt idx="22">
                  <c:v>0.65</c:v>
                </c:pt>
                <c:pt idx="23">
                  <c:v>0.64</c:v>
                </c:pt>
                <c:pt idx="24">
                  <c:v>0.65</c:v>
                </c:pt>
                <c:pt idx="25">
                  <c:v>0.65</c:v>
                </c:pt>
                <c:pt idx="26">
                  <c:v>0.63</c:v>
                </c:pt>
                <c:pt idx="27">
                  <c:v>0.65</c:v>
                </c:pt>
                <c:pt idx="28">
                  <c:v>0.66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2054-472F-8C66-D976A40234AF}"/>
            </c:ext>
          </c:extLst>
        </c:ser>
        <c:ser>
          <c:idx val="8"/>
          <c:order val="8"/>
          <c:tx>
            <c:strRef>
              <c:f>B_apetito!$C$125</c:f>
              <c:strCache>
                <c:ptCount val="1"/>
                <c:pt idx="0">
                  <c:v>G1b PD</c:v>
                </c:pt>
              </c:strCache>
            </c:strRef>
          </c:tx>
          <c:spPr>
            <a:ln w="13000">
              <a:solidFill>
                <a:srgbClr val="92D050"/>
              </a:solidFill>
              <a:prstDash val="dash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B_apetito!$C$126:$C$154</c:f>
              <c:numCache>
                <c:formatCode>General</c:formatCode>
                <c:ptCount val="29"/>
                <c:pt idx="0">
                  <c:v>2.06</c:v>
                </c:pt>
                <c:pt idx="1">
                  <c:v>2.0499999999999998</c:v>
                </c:pt>
                <c:pt idx="2">
                  <c:v>2.0699999999999998</c:v>
                </c:pt>
                <c:pt idx="3">
                  <c:v>2.0499999999999998</c:v>
                </c:pt>
                <c:pt idx="4">
                  <c:v>2.08</c:v>
                </c:pt>
                <c:pt idx="5">
                  <c:v>2.09</c:v>
                </c:pt>
                <c:pt idx="6">
                  <c:v>2.14</c:v>
                </c:pt>
                <c:pt idx="7">
                  <c:v>2.09</c:v>
                </c:pt>
                <c:pt idx="8">
                  <c:v>2.0699999999999998</c:v>
                </c:pt>
                <c:pt idx="9">
                  <c:v>1.99</c:v>
                </c:pt>
                <c:pt idx="10">
                  <c:v>1.98</c:v>
                </c:pt>
                <c:pt idx="11">
                  <c:v>1.99</c:v>
                </c:pt>
                <c:pt idx="12">
                  <c:v>1.93</c:v>
                </c:pt>
                <c:pt idx="13">
                  <c:v>1.87</c:v>
                </c:pt>
                <c:pt idx="14">
                  <c:v>1.82</c:v>
                </c:pt>
                <c:pt idx="15">
                  <c:v>1.82</c:v>
                </c:pt>
                <c:pt idx="16">
                  <c:v>1.8</c:v>
                </c:pt>
                <c:pt idx="17">
                  <c:v>1.77</c:v>
                </c:pt>
                <c:pt idx="18">
                  <c:v>1.78</c:v>
                </c:pt>
                <c:pt idx="19">
                  <c:v>1.76</c:v>
                </c:pt>
                <c:pt idx="20">
                  <c:v>1.71</c:v>
                </c:pt>
                <c:pt idx="21">
                  <c:v>1.69</c:v>
                </c:pt>
                <c:pt idx="22">
                  <c:v>1.66</c:v>
                </c:pt>
                <c:pt idx="23">
                  <c:v>1.65</c:v>
                </c:pt>
                <c:pt idx="24">
                  <c:v>1.65</c:v>
                </c:pt>
                <c:pt idx="25">
                  <c:v>1.63</c:v>
                </c:pt>
                <c:pt idx="26">
                  <c:v>1.6</c:v>
                </c:pt>
                <c:pt idx="27">
                  <c:v>1.62</c:v>
                </c:pt>
                <c:pt idx="28">
                  <c:v>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054-472F-8C66-D976A40234AF}"/>
            </c:ext>
          </c:extLst>
        </c:ser>
        <c:ser>
          <c:idx val="9"/>
          <c:order val="9"/>
          <c:tx>
            <c:strRef>
              <c:f>B_apetito!$D$125</c:f>
              <c:strCache>
                <c:ptCount val="1"/>
                <c:pt idx="0">
                  <c:v>G2 PD</c:v>
                </c:pt>
              </c:strCache>
            </c:strRef>
          </c:tx>
          <c:spPr>
            <a:ln w="13000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B_apetito!$D$126:$D$154</c:f>
              <c:numCache>
                <c:formatCode>General</c:formatCode>
                <c:ptCount val="29"/>
                <c:pt idx="0">
                  <c:v>4.58</c:v>
                </c:pt>
                <c:pt idx="1">
                  <c:v>4.62</c:v>
                </c:pt>
                <c:pt idx="2">
                  <c:v>4.58</c:v>
                </c:pt>
                <c:pt idx="3">
                  <c:v>4.62</c:v>
                </c:pt>
                <c:pt idx="4">
                  <c:v>4.5999999999999996</c:v>
                </c:pt>
                <c:pt idx="5">
                  <c:v>4.6500000000000004</c:v>
                </c:pt>
                <c:pt idx="6">
                  <c:v>4.68</c:v>
                </c:pt>
                <c:pt idx="7">
                  <c:v>4.67</c:v>
                </c:pt>
                <c:pt idx="8">
                  <c:v>4.59</c:v>
                </c:pt>
                <c:pt idx="9">
                  <c:v>4.51</c:v>
                </c:pt>
                <c:pt idx="10">
                  <c:v>4.46</c:v>
                </c:pt>
                <c:pt idx="11">
                  <c:v>4.4400000000000004</c:v>
                </c:pt>
                <c:pt idx="12">
                  <c:v>4.4000000000000004</c:v>
                </c:pt>
                <c:pt idx="13">
                  <c:v>4.3499999999999996</c:v>
                </c:pt>
                <c:pt idx="14">
                  <c:v>4.33</c:v>
                </c:pt>
                <c:pt idx="15">
                  <c:v>4.28</c:v>
                </c:pt>
                <c:pt idx="16">
                  <c:v>4.3099999999999996</c:v>
                </c:pt>
                <c:pt idx="17">
                  <c:v>4.26</c:v>
                </c:pt>
                <c:pt idx="18">
                  <c:v>4.28</c:v>
                </c:pt>
                <c:pt idx="19">
                  <c:v>4.1900000000000004</c:v>
                </c:pt>
                <c:pt idx="20">
                  <c:v>4.17</c:v>
                </c:pt>
                <c:pt idx="21">
                  <c:v>4.1500000000000004</c:v>
                </c:pt>
                <c:pt idx="22">
                  <c:v>4.01</c:v>
                </c:pt>
                <c:pt idx="23">
                  <c:v>4.07</c:v>
                </c:pt>
                <c:pt idx="24">
                  <c:v>3.98</c:v>
                </c:pt>
                <c:pt idx="25">
                  <c:v>3.99</c:v>
                </c:pt>
                <c:pt idx="26">
                  <c:v>4.05</c:v>
                </c:pt>
                <c:pt idx="27">
                  <c:v>4.0199999999999996</c:v>
                </c:pt>
                <c:pt idx="28">
                  <c:v>4.08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2054-472F-8C66-D976A40234AF}"/>
            </c:ext>
          </c:extLst>
        </c:ser>
        <c:ser>
          <c:idx val="10"/>
          <c:order val="10"/>
          <c:tx>
            <c:strRef>
              <c:f>B_apetito!$E$125</c:f>
              <c:strCache>
                <c:ptCount val="1"/>
                <c:pt idx="0">
                  <c:v>G3 PD</c:v>
                </c:pt>
              </c:strCache>
            </c:strRef>
          </c:tx>
          <c:spPr>
            <a:ln w="13000">
              <a:solidFill>
                <a:srgbClr val="FFFF00"/>
              </a:solidFill>
              <a:prstDash val="dash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B_apetito!$E$126:$E$154</c:f>
              <c:numCache>
                <c:formatCode>General</c:formatCode>
                <c:ptCount val="29"/>
                <c:pt idx="0">
                  <c:v>7.43</c:v>
                </c:pt>
                <c:pt idx="1">
                  <c:v>7.45</c:v>
                </c:pt>
                <c:pt idx="2">
                  <c:v>7.41</c:v>
                </c:pt>
                <c:pt idx="3">
                  <c:v>7.45</c:v>
                </c:pt>
                <c:pt idx="4">
                  <c:v>7.39</c:v>
                </c:pt>
                <c:pt idx="5">
                  <c:v>7.45</c:v>
                </c:pt>
                <c:pt idx="6">
                  <c:v>7.46</c:v>
                </c:pt>
                <c:pt idx="7">
                  <c:v>7.42</c:v>
                </c:pt>
                <c:pt idx="8">
                  <c:v>7.42</c:v>
                </c:pt>
                <c:pt idx="9">
                  <c:v>7.44</c:v>
                </c:pt>
                <c:pt idx="10">
                  <c:v>7.39</c:v>
                </c:pt>
                <c:pt idx="11">
                  <c:v>7.4</c:v>
                </c:pt>
                <c:pt idx="12">
                  <c:v>7.43</c:v>
                </c:pt>
                <c:pt idx="13">
                  <c:v>7.43</c:v>
                </c:pt>
                <c:pt idx="14">
                  <c:v>7.39</c:v>
                </c:pt>
                <c:pt idx="15">
                  <c:v>7.36</c:v>
                </c:pt>
                <c:pt idx="16">
                  <c:v>7.36</c:v>
                </c:pt>
                <c:pt idx="17">
                  <c:v>7.39</c:v>
                </c:pt>
                <c:pt idx="18">
                  <c:v>7.44</c:v>
                </c:pt>
                <c:pt idx="19">
                  <c:v>7.4</c:v>
                </c:pt>
                <c:pt idx="20">
                  <c:v>7.43</c:v>
                </c:pt>
                <c:pt idx="21">
                  <c:v>7.33</c:v>
                </c:pt>
                <c:pt idx="22">
                  <c:v>7.27</c:v>
                </c:pt>
                <c:pt idx="23">
                  <c:v>7.35</c:v>
                </c:pt>
                <c:pt idx="24">
                  <c:v>7.46</c:v>
                </c:pt>
                <c:pt idx="25">
                  <c:v>7.36</c:v>
                </c:pt>
                <c:pt idx="26">
                  <c:v>7.34</c:v>
                </c:pt>
                <c:pt idx="27">
                  <c:v>7.38</c:v>
                </c:pt>
                <c:pt idx="28">
                  <c:v>7.37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2054-472F-8C66-D976A40234AF}"/>
            </c:ext>
          </c:extLst>
        </c:ser>
        <c:ser>
          <c:idx val="11"/>
          <c:order val="11"/>
          <c:tx>
            <c:strRef>
              <c:f>B_apetito!$F$125</c:f>
              <c:strCache>
                <c:ptCount val="1"/>
                <c:pt idx="0">
                  <c:v>G4 PD</c:v>
                </c:pt>
              </c:strCache>
            </c:strRef>
          </c:tx>
          <c:spPr>
            <a:ln w="13000">
              <a:solidFill>
                <a:srgbClr val="FFC000"/>
              </a:solidFill>
              <a:prstDash val="dash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B_apetito!$F$126:$F$154</c:f>
              <c:numCache>
                <c:formatCode>General</c:formatCode>
                <c:ptCount val="29"/>
                <c:pt idx="0">
                  <c:v>10.83</c:v>
                </c:pt>
                <c:pt idx="1">
                  <c:v>10.77</c:v>
                </c:pt>
                <c:pt idx="2">
                  <c:v>10.78</c:v>
                </c:pt>
                <c:pt idx="3">
                  <c:v>10.83</c:v>
                </c:pt>
                <c:pt idx="4">
                  <c:v>10.74</c:v>
                </c:pt>
                <c:pt idx="5">
                  <c:v>10.76</c:v>
                </c:pt>
                <c:pt idx="6">
                  <c:v>10.81</c:v>
                </c:pt>
                <c:pt idx="7">
                  <c:v>10.77</c:v>
                </c:pt>
                <c:pt idx="8">
                  <c:v>10.8</c:v>
                </c:pt>
                <c:pt idx="9">
                  <c:v>10.74</c:v>
                </c:pt>
                <c:pt idx="10">
                  <c:v>10.73</c:v>
                </c:pt>
                <c:pt idx="11">
                  <c:v>10.71</c:v>
                </c:pt>
                <c:pt idx="12">
                  <c:v>10.67</c:v>
                </c:pt>
                <c:pt idx="13">
                  <c:v>10.76</c:v>
                </c:pt>
                <c:pt idx="14">
                  <c:v>10.7</c:v>
                </c:pt>
                <c:pt idx="15">
                  <c:v>10.68</c:v>
                </c:pt>
                <c:pt idx="16">
                  <c:v>10.73</c:v>
                </c:pt>
                <c:pt idx="17">
                  <c:v>10.75</c:v>
                </c:pt>
                <c:pt idx="18">
                  <c:v>10.61</c:v>
                </c:pt>
                <c:pt idx="19">
                  <c:v>10.66</c:v>
                </c:pt>
                <c:pt idx="20">
                  <c:v>10.62</c:v>
                </c:pt>
                <c:pt idx="21">
                  <c:v>10.64</c:v>
                </c:pt>
                <c:pt idx="22">
                  <c:v>10.58</c:v>
                </c:pt>
                <c:pt idx="23">
                  <c:v>10.55</c:v>
                </c:pt>
                <c:pt idx="24">
                  <c:v>10.68</c:v>
                </c:pt>
                <c:pt idx="25">
                  <c:v>10.83</c:v>
                </c:pt>
                <c:pt idx="26">
                  <c:v>10.73</c:v>
                </c:pt>
                <c:pt idx="27">
                  <c:v>10.57</c:v>
                </c:pt>
                <c:pt idx="28">
                  <c:v>10.59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2054-472F-8C66-D976A40234AF}"/>
            </c:ext>
          </c:extLst>
        </c:ser>
        <c:ser>
          <c:idx val="12"/>
          <c:order val="12"/>
          <c:tx>
            <c:strRef>
              <c:f>B_apetito!$G$125</c:f>
              <c:strCache>
                <c:ptCount val="1"/>
                <c:pt idx="0">
                  <c:v>G5a PD</c:v>
                </c:pt>
              </c:strCache>
            </c:strRef>
          </c:tx>
          <c:spPr>
            <a:ln w="13000">
              <a:solidFill>
                <a:srgbClr val="FF0000"/>
              </a:solidFill>
              <a:prstDash val="dash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B_apetito!$G$126:$G$154</c:f>
              <c:numCache>
                <c:formatCode>General</c:formatCode>
                <c:ptCount val="29"/>
                <c:pt idx="0">
                  <c:v>18.8</c:v>
                </c:pt>
                <c:pt idx="1">
                  <c:v>18.920000000000002</c:v>
                </c:pt>
                <c:pt idx="2">
                  <c:v>18.97</c:v>
                </c:pt>
                <c:pt idx="3">
                  <c:v>19.100000000000001</c:v>
                </c:pt>
                <c:pt idx="4">
                  <c:v>19.11</c:v>
                </c:pt>
                <c:pt idx="5">
                  <c:v>19.21</c:v>
                </c:pt>
                <c:pt idx="6">
                  <c:v>19.16</c:v>
                </c:pt>
                <c:pt idx="7">
                  <c:v>19.09</c:v>
                </c:pt>
                <c:pt idx="8">
                  <c:v>19.170000000000002</c:v>
                </c:pt>
                <c:pt idx="9">
                  <c:v>18.989999999999998</c:v>
                </c:pt>
                <c:pt idx="10">
                  <c:v>18.850000000000001</c:v>
                </c:pt>
                <c:pt idx="11">
                  <c:v>18.920000000000002</c:v>
                </c:pt>
                <c:pt idx="12">
                  <c:v>18.7</c:v>
                </c:pt>
                <c:pt idx="13">
                  <c:v>18.91</c:v>
                </c:pt>
                <c:pt idx="14">
                  <c:v>18.82</c:v>
                </c:pt>
                <c:pt idx="15">
                  <c:v>18.96</c:v>
                </c:pt>
                <c:pt idx="16">
                  <c:v>18.829999999999998</c:v>
                </c:pt>
                <c:pt idx="17">
                  <c:v>18.71</c:v>
                </c:pt>
                <c:pt idx="18">
                  <c:v>18.91</c:v>
                </c:pt>
                <c:pt idx="19">
                  <c:v>18.989999999999998</c:v>
                </c:pt>
                <c:pt idx="20">
                  <c:v>19.13</c:v>
                </c:pt>
                <c:pt idx="21">
                  <c:v>19.07</c:v>
                </c:pt>
                <c:pt idx="22">
                  <c:v>19.079999999999998</c:v>
                </c:pt>
                <c:pt idx="23">
                  <c:v>19.05</c:v>
                </c:pt>
                <c:pt idx="24">
                  <c:v>19</c:v>
                </c:pt>
                <c:pt idx="25">
                  <c:v>19.329999999999998</c:v>
                </c:pt>
                <c:pt idx="26">
                  <c:v>18.95</c:v>
                </c:pt>
                <c:pt idx="27">
                  <c:v>18.850000000000001</c:v>
                </c:pt>
                <c:pt idx="28">
                  <c:v>19.07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C-2054-472F-8C66-D976A40234AF}"/>
            </c:ext>
          </c:extLst>
        </c:ser>
        <c:ser>
          <c:idx val="13"/>
          <c:order val="13"/>
          <c:tx>
            <c:strRef>
              <c:f>B_apetito!$H$125</c:f>
              <c:strCache>
                <c:ptCount val="1"/>
                <c:pt idx="0">
                  <c:v>G5b PD</c:v>
                </c:pt>
              </c:strCache>
            </c:strRef>
          </c:tx>
          <c:spPr>
            <a:ln w="13000">
              <a:solidFill>
                <a:srgbClr val="002060"/>
              </a:solidFill>
              <a:prstDash val="dash"/>
            </a:ln>
          </c:spPr>
          <c:marker>
            <c:symbol val="none"/>
          </c:marker>
          <c:cat>
            <c:strRef>
              <c:f>B_apetito!$A$5:$A$33</c:f>
              <c:strCache>
                <c:ptCount val="29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</c:strCache>
            </c:strRef>
          </c:cat>
          <c:val>
            <c:numRef>
              <c:f>B_apetito!$H$126:$H$154</c:f>
              <c:numCache>
                <c:formatCode>General</c:formatCode>
                <c:ptCount val="29"/>
                <c:pt idx="0">
                  <c:v>50.82</c:v>
                </c:pt>
                <c:pt idx="1">
                  <c:v>52.33</c:v>
                </c:pt>
                <c:pt idx="2">
                  <c:v>52.39</c:v>
                </c:pt>
                <c:pt idx="3">
                  <c:v>53.09</c:v>
                </c:pt>
                <c:pt idx="4">
                  <c:v>53.15</c:v>
                </c:pt>
                <c:pt idx="5">
                  <c:v>53.55</c:v>
                </c:pt>
                <c:pt idx="6">
                  <c:v>52.34</c:v>
                </c:pt>
                <c:pt idx="7">
                  <c:v>53.23</c:v>
                </c:pt>
                <c:pt idx="8">
                  <c:v>55.17</c:v>
                </c:pt>
                <c:pt idx="9">
                  <c:v>53.22</c:v>
                </c:pt>
                <c:pt idx="10">
                  <c:v>55.52</c:v>
                </c:pt>
                <c:pt idx="11">
                  <c:v>53.84</c:v>
                </c:pt>
                <c:pt idx="12">
                  <c:v>54.52</c:v>
                </c:pt>
                <c:pt idx="13">
                  <c:v>54.18</c:v>
                </c:pt>
                <c:pt idx="14">
                  <c:v>53.56</c:v>
                </c:pt>
                <c:pt idx="15">
                  <c:v>53.08</c:v>
                </c:pt>
                <c:pt idx="16">
                  <c:v>51.63</c:v>
                </c:pt>
                <c:pt idx="17">
                  <c:v>50.24</c:v>
                </c:pt>
                <c:pt idx="18">
                  <c:v>50.44</c:v>
                </c:pt>
                <c:pt idx="19">
                  <c:v>49.43</c:v>
                </c:pt>
                <c:pt idx="20">
                  <c:v>48.7</c:v>
                </c:pt>
                <c:pt idx="21">
                  <c:v>48.82</c:v>
                </c:pt>
                <c:pt idx="22">
                  <c:v>45.91</c:v>
                </c:pt>
                <c:pt idx="23">
                  <c:v>46</c:v>
                </c:pt>
                <c:pt idx="24">
                  <c:v>45.12</c:v>
                </c:pt>
                <c:pt idx="25">
                  <c:v>44.73</c:v>
                </c:pt>
                <c:pt idx="26">
                  <c:v>44.22</c:v>
                </c:pt>
                <c:pt idx="27">
                  <c:v>43.95</c:v>
                </c:pt>
                <c:pt idx="28">
                  <c:v>44.52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D-2054-472F-8C66-D976A4023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5400000" vert="horz"/>
          <a:lstStyle/>
          <a:p>
            <a:pPr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es-PE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s-PE"/>
                  <a:t>%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plotVisOnly val="1"/>
    <c:dispBlanksAs val="gap"/>
    <c:showDLblsOverMax val="1"/>
  </c:chart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868293873789295E-2"/>
          <c:y val="0"/>
          <c:w val="0.96472222222222226"/>
          <c:h val="0.81880142318056837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B_apetito!$B$37</c:f>
              <c:strCache>
                <c:ptCount val="1"/>
                <c:pt idx="0">
                  <c:v>G1a</c:v>
                </c:pt>
              </c:strCache>
            </c:strRef>
          </c:tx>
          <c:spPr>
            <a:solidFill>
              <a:srgbClr val="00B050"/>
            </a:solidFill>
            <a:ln>
              <a:prstDash val="solid"/>
            </a:ln>
          </c:spPr>
          <c:invertIfNegative val="0"/>
          <c:cat>
            <c:strRef>
              <c:f>B_apetito!$A$38:$A$77</c:f>
              <c:strCache>
                <c:ptCount val="40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  <c:pt idx="35">
                  <c:v>202512</c:v>
                </c:pt>
                <c:pt idx="36">
                  <c:v>202601</c:v>
                </c:pt>
                <c:pt idx="37">
                  <c:v>202602</c:v>
                </c:pt>
                <c:pt idx="38">
                  <c:v>202603</c:v>
                </c:pt>
                <c:pt idx="39">
                  <c:v>202604</c:v>
                </c:pt>
              </c:strCache>
            </c:strRef>
          </c:cat>
          <c:val>
            <c:numRef>
              <c:f>B_apetito!$B$38:$B$77</c:f>
              <c:numCache>
                <c:formatCode>General</c:formatCode>
                <c:ptCount val="40"/>
                <c:pt idx="0">
                  <c:v>0.01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0.01</c:v>
                </c:pt>
                <c:pt idx="10">
                  <c:v>0.03</c:v>
                </c:pt>
                <c:pt idx="11">
                  <c:v>0.04</c:v>
                </c:pt>
                <c:pt idx="12">
                  <c:v>0.17</c:v>
                </c:pt>
                <c:pt idx="13">
                  <c:v>0.54</c:v>
                </c:pt>
                <c:pt idx="14">
                  <c:v>0.94</c:v>
                </c:pt>
                <c:pt idx="15">
                  <c:v>0.78</c:v>
                </c:pt>
                <c:pt idx="16">
                  <c:v>1.24</c:v>
                </c:pt>
                <c:pt idx="17">
                  <c:v>1.43</c:v>
                </c:pt>
                <c:pt idx="18">
                  <c:v>2.1800000000000002</c:v>
                </c:pt>
                <c:pt idx="19">
                  <c:v>2.88</c:v>
                </c:pt>
                <c:pt idx="20">
                  <c:v>4.01</c:v>
                </c:pt>
                <c:pt idx="21">
                  <c:v>5.05</c:v>
                </c:pt>
                <c:pt idx="22">
                  <c:v>5.24</c:v>
                </c:pt>
                <c:pt idx="23">
                  <c:v>6.78</c:v>
                </c:pt>
                <c:pt idx="24">
                  <c:v>8.5299999999999994</c:v>
                </c:pt>
                <c:pt idx="25">
                  <c:v>10.210000000000001</c:v>
                </c:pt>
                <c:pt idx="26">
                  <c:v>11.36</c:v>
                </c:pt>
                <c:pt idx="27">
                  <c:v>11.74</c:v>
                </c:pt>
                <c:pt idx="28">
                  <c:v>10.47</c:v>
                </c:pt>
                <c:pt idx="29">
                  <c:v>10.93</c:v>
                </c:pt>
                <c:pt idx="30">
                  <c:v>10.98</c:v>
                </c:pt>
                <c:pt idx="31">
                  <c:v>10.39</c:v>
                </c:pt>
                <c:pt idx="32">
                  <c:v>10.09</c:v>
                </c:pt>
                <c:pt idx="33">
                  <c:v>10.63</c:v>
                </c:pt>
                <c:pt idx="34">
                  <c:v>10.27</c:v>
                </c:pt>
                <c:pt idx="35">
                  <c:v>10.57</c:v>
                </c:pt>
                <c:pt idx="36">
                  <c:v>11.3</c:v>
                </c:pt>
                <c:pt idx="37">
                  <c:v>12.1</c:v>
                </c:pt>
                <c:pt idx="38">
                  <c:v>13.2</c:v>
                </c:pt>
                <c:pt idx="39">
                  <c:v>13.97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D6-4C14-B42D-41104569F544}"/>
            </c:ext>
          </c:extLst>
        </c:ser>
        <c:ser>
          <c:idx val="1"/>
          <c:order val="1"/>
          <c:tx>
            <c:strRef>
              <c:f>B_apetito!$C$37</c:f>
              <c:strCache>
                <c:ptCount val="1"/>
                <c:pt idx="0">
                  <c:v>G1b</c:v>
                </c:pt>
              </c:strCache>
            </c:strRef>
          </c:tx>
          <c:spPr>
            <a:solidFill>
              <a:srgbClr val="92D050"/>
            </a:solidFill>
            <a:ln>
              <a:prstDash val="solid"/>
            </a:ln>
          </c:spPr>
          <c:invertIfNegative val="0"/>
          <c:cat>
            <c:strRef>
              <c:f>B_apetito!$A$38:$A$77</c:f>
              <c:strCache>
                <c:ptCount val="40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  <c:pt idx="35">
                  <c:v>202512</c:v>
                </c:pt>
                <c:pt idx="36">
                  <c:v>202601</c:v>
                </c:pt>
                <c:pt idx="37">
                  <c:v>202602</c:v>
                </c:pt>
                <c:pt idx="38">
                  <c:v>202603</c:v>
                </c:pt>
                <c:pt idx="39">
                  <c:v>202604</c:v>
                </c:pt>
              </c:strCache>
            </c:strRef>
          </c:cat>
          <c:val>
            <c:numRef>
              <c:f>B_apetito!$C$38:$C$77</c:f>
              <c:numCache>
                <c:formatCode>General</c:formatCode>
                <c:ptCount val="40"/>
                <c:pt idx="0">
                  <c:v>2.73</c:v>
                </c:pt>
                <c:pt idx="1">
                  <c:v>2.4</c:v>
                </c:pt>
                <c:pt idx="2">
                  <c:v>2.5099999999999998</c:v>
                </c:pt>
                <c:pt idx="3">
                  <c:v>1.94</c:v>
                </c:pt>
                <c:pt idx="4">
                  <c:v>1.78</c:v>
                </c:pt>
                <c:pt idx="5">
                  <c:v>1.53</c:v>
                </c:pt>
                <c:pt idx="6">
                  <c:v>1.43</c:v>
                </c:pt>
                <c:pt idx="7">
                  <c:v>1.17</c:v>
                </c:pt>
                <c:pt idx="8">
                  <c:v>1.65</c:v>
                </c:pt>
                <c:pt idx="9">
                  <c:v>2.36</c:v>
                </c:pt>
                <c:pt idx="10">
                  <c:v>3.58</c:v>
                </c:pt>
                <c:pt idx="11">
                  <c:v>5.51</c:v>
                </c:pt>
                <c:pt idx="12">
                  <c:v>7.13</c:v>
                </c:pt>
                <c:pt idx="13">
                  <c:v>9.1199999999999992</c:v>
                </c:pt>
                <c:pt idx="14">
                  <c:v>10.02</c:v>
                </c:pt>
                <c:pt idx="15">
                  <c:v>12.61</c:v>
                </c:pt>
                <c:pt idx="16">
                  <c:v>13.1</c:v>
                </c:pt>
                <c:pt idx="17">
                  <c:v>14.5</c:v>
                </c:pt>
                <c:pt idx="18">
                  <c:v>16.96</c:v>
                </c:pt>
                <c:pt idx="19">
                  <c:v>19.37</c:v>
                </c:pt>
                <c:pt idx="20">
                  <c:v>23.52</c:v>
                </c:pt>
                <c:pt idx="21">
                  <c:v>25.88</c:v>
                </c:pt>
                <c:pt idx="22">
                  <c:v>28.14</c:v>
                </c:pt>
                <c:pt idx="23">
                  <c:v>30.7</c:v>
                </c:pt>
                <c:pt idx="24">
                  <c:v>31.3</c:v>
                </c:pt>
                <c:pt idx="25">
                  <c:v>30.82</c:v>
                </c:pt>
                <c:pt idx="26">
                  <c:v>34.15</c:v>
                </c:pt>
                <c:pt idx="27">
                  <c:v>34.07</c:v>
                </c:pt>
                <c:pt idx="28">
                  <c:v>34.17</c:v>
                </c:pt>
                <c:pt idx="29">
                  <c:v>33.01</c:v>
                </c:pt>
                <c:pt idx="30">
                  <c:v>32.39</c:v>
                </c:pt>
                <c:pt idx="31">
                  <c:v>32.51</c:v>
                </c:pt>
                <c:pt idx="32">
                  <c:v>33.700000000000003</c:v>
                </c:pt>
                <c:pt idx="33">
                  <c:v>34.26</c:v>
                </c:pt>
                <c:pt idx="34">
                  <c:v>34.4</c:v>
                </c:pt>
                <c:pt idx="35">
                  <c:v>36.479999999999997</c:v>
                </c:pt>
                <c:pt idx="36">
                  <c:v>36.36</c:v>
                </c:pt>
                <c:pt idx="37">
                  <c:v>37.090000000000003</c:v>
                </c:pt>
                <c:pt idx="38">
                  <c:v>38.92</c:v>
                </c:pt>
                <c:pt idx="39">
                  <c:v>38.28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D6-4C14-B42D-41104569F544}"/>
            </c:ext>
          </c:extLst>
        </c:ser>
        <c:ser>
          <c:idx val="2"/>
          <c:order val="2"/>
          <c:tx>
            <c:strRef>
              <c:f>B_apetito!$D$37</c:f>
              <c:strCache>
                <c:ptCount val="1"/>
                <c:pt idx="0">
                  <c:v>G2</c:v>
                </c:pt>
              </c:strCache>
            </c:strRef>
          </c:tx>
          <c:spPr>
            <a:solidFill>
              <a:srgbClr val="70AD47"/>
            </a:solidFill>
            <a:ln>
              <a:prstDash val="solid"/>
            </a:ln>
          </c:spPr>
          <c:invertIfNegative val="0"/>
          <c:cat>
            <c:strRef>
              <c:f>B_apetito!$A$38:$A$77</c:f>
              <c:strCache>
                <c:ptCount val="40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  <c:pt idx="35">
                  <c:v>202512</c:v>
                </c:pt>
                <c:pt idx="36">
                  <c:v>202601</c:v>
                </c:pt>
                <c:pt idx="37">
                  <c:v>202602</c:v>
                </c:pt>
                <c:pt idx="38">
                  <c:v>202603</c:v>
                </c:pt>
                <c:pt idx="39">
                  <c:v>202604</c:v>
                </c:pt>
              </c:strCache>
            </c:strRef>
          </c:cat>
          <c:val>
            <c:numRef>
              <c:f>B_apetito!$D$38:$D$77</c:f>
              <c:numCache>
                <c:formatCode>General</c:formatCode>
                <c:ptCount val="40"/>
                <c:pt idx="0">
                  <c:v>23.03</c:v>
                </c:pt>
                <c:pt idx="1">
                  <c:v>21.5</c:v>
                </c:pt>
                <c:pt idx="2">
                  <c:v>21.48</c:v>
                </c:pt>
                <c:pt idx="3">
                  <c:v>20.100000000000001</c:v>
                </c:pt>
                <c:pt idx="4">
                  <c:v>20.78</c:v>
                </c:pt>
                <c:pt idx="5">
                  <c:v>19.84</c:v>
                </c:pt>
                <c:pt idx="6">
                  <c:v>19.68</c:v>
                </c:pt>
                <c:pt idx="7">
                  <c:v>19.46</c:v>
                </c:pt>
                <c:pt idx="8">
                  <c:v>19.329999999999998</c:v>
                </c:pt>
                <c:pt idx="9">
                  <c:v>23.77</c:v>
                </c:pt>
                <c:pt idx="10">
                  <c:v>24.86</c:v>
                </c:pt>
                <c:pt idx="11">
                  <c:v>26.68</c:v>
                </c:pt>
                <c:pt idx="12">
                  <c:v>27.86</c:v>
                </c:pt>
                <c:pt idx="13">
                  <c:v>29.95</c:v>
                </c:pt>
                <c:pt idx="14">
                  <c:v>31.05</c:v>
                </c:pt>
                <c:pt idx="15">
                  <c:v>30.66</c:v>
                </c:pt>
                <c:pt idx="16">
                  <c:v>31.89</c:v>
                </c:pt>
                <c:pt idx="17">
                  <c:v>31.56</c:v>
                </c:pt>
                <c:pt idx="18">
                  <c:v>33.380000000000003</c:v>
                </c:pt>
                <c:pt idx="19">
                  <c:v>32.15</c:v>
                </c:pt>
                <c:pt idx="20">
                  <c:v>33.08</c:v>
                </c:pt>
                <c:pt idx="21">
                  <c:v>34.049999999999997</c:v>
                </c:pt>
                <c:pt idx="22">
                  <c:v>31.32</c:v>
                </c:pt>
                <c:pt idx="23">
                  <c:v>29.47</c:v>
                </c:pt>
                <c:pt idx="24">
                  <c:v>29.61</c:v>
                </c:pt>
                <c:pt idx="25">
                  <c:v>26.7</c:v>
                </c:pt>
                <c:pt idx="26">
                  <c:v>26.96</c:v>
                </c:pt>
                <c:pt idx="27">
                  <c:v>28.2</c:v>
                </c:pt>
                <c:pt idx="28">
                  <c:v>30.02</c:v>
                </c:pt>
                <c:pt idx="29">
                  <c:v>31.37</c:v>
                </c:pt>
                <c:pt idx="30">
                  <c:v>31.28</c:v>
                </c:pt>
                <c:pt idx="31">
                  <c:v>32.380000000000003</c:v>
                </c:pt>
                <c:pt idx="32">
                  <c:v>32.4</c:v>
                </c:pt>
                <c:pt idx="33">
                  <c:v>32.909999999999997</c:v>
                </c:pt>
                <c:pt idx="34">
                  <c:v>33.1</c:v>
                </c:pt>
                <c:pt idx="35">
                  <c:v>32.51</c:v>
                </c:pt>
                <c:pt idx="36">
                  <c:v>31.96</c:v>
                </c:pt>
                <c:pt idx="37">
                  <c:v>30.88</c:v>
                </c:pt>
                <c:pt idx="38">
                  <c:v>29.68</c:v>
                </c:pt>
                <c:pt idx="39">
                  <c:v>29.54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D6-4C14-B42D-41104569F544}"/>
            </c:ext>
          </c:extLst>
        </c:ser>
        <c:ser>
          <c:idx val="3"/>
          <c:order val="3"/>
          <c:tx>
            <c:strRef>
              <c:f>B_apetito!$E$37</c:f>
              <c:strCache>
                <c:ptCount val="1"/>
                <c:pt idx="0">
                  <c:v>G3</c:v>
                </c:pt>
              </c:strCache>
            </c:strRef>
          </c:tx>
          <c:spPr>
            <a:solidFill>
              <a:srgbClr val="FFFF00"/>
            </a:solidFill>
            <a:ln>
              <a:prstDash val="solid"/>
            </a:ln>
          </c:spPr>
          <c:invertIfNegative val="0"/>
          <c:cat>
            <c:strRef>
              <c:f>B_apetito!$A$38:$A$77</c:f>
              <c:strCache>
                <c:ptCount val="40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  <c:pt idx="35">
                  <c:v>202512</c:v>
                </c:pt>
                <c:pt idx="36">
                  <c:v>202601</c:v>
                </c:pt>
                <c:pt idx="37">
                  <c:v>202602</c:v>
                </c:pt>
                <c:pt idx="38">
                  <c:v>202603</c:v>
                </c:pt>
                <c:pt idx="39">
                  <c:v>202604</c:v>
                </c:pt>
              </c:strCache>
            </c:strRef>
          </c:cat>
          <c:val>
            <c:numRef>
              <c:f>B_apetito!$E$38:$E$77</c:f>
              <c:numCache>
                <c:formatCode>General</c:formatCode>
                <c:ptCount val="40"/>
                <c:pt idx="0">
                  <c:v>10.5</c:v>
                </c:pt>
                <c:pt idx="1">
                  <c:v>9.1300000000000008</c:v>
                </c:pt>
                <c:pt idx="2">
                  <c:v>9.8800000000000008</c:v>
                </c:pt>
                <c:pt idx="3">
                  <c:v>9.42</c:v>
                </c:pt>
                <c:pt idx="4">
                  <c:v>9.25</c:v>
                </c:pt>
                <c:pt idx="5">
                  <c:v>8.2899999999999991</c:v>
                </c:pt>
                <c:pt idx="6">
                  <c:v>8.7899999999999991</c:v>
                </c:pt>
                <c:pt idx="7">
                  <c:v>9.0500000000000007</c:v>
                </c:pt>
                <c:pt idx="8">
                  <c:v>9.31</c:v>
                </c:pt>
                <c:pt idx="9">
                  <c:v>9.4700000000000006</c:v>
                </c:pt>
                <c:pt idx="10">
                  <c:v>9.56</c:v>
                </c:pt>
                <c:pt idx="11">
                  <c:v>9.59</c:v>
                </c:pt>
                <c:pt idx="12">
                  <c:v>9.2899999999999991</c:v>
                </c:pt>
                <c:pt idx="13">
                  <c:v>9.6</c:v>
                </c:pt>
                <c:pt idx="14">
                  <c:v>9.35</c:v>
                </c:pt>
                <c:pt idx="15">
                  <c:v>9.6</c:v>
                </c:pt>
                <c:pt idx="16">
                  <c:v>8.2100000000000009</c:v>
                </c:pt>
                <c:pt idx="17">
                  <c:v>7.91</c:v>
                </c:pt>
                <c:pt idx="18">
                  <c:v>8.84</c:v>
                </c:pt>
                <c:pt idx="19">
                  <c:v>8.65</c:v>
                </c:pt>
                <c:pt idx="20">
                  <c:v>8.0399999999999991</c:v>
                </c:pt>
                <c:pt idx="21">
                  <c:v>6.85</c:v>
                </c:pt>
                <c:pt idx="22">
                  <c:v>6.58</c:v>
                </c:pt>
                <c:pt idx="23">
                  <c:v>6.31</c:v>
                </c:pt>
                <c:pt idx="24">
                  <c:v>4.54</c:v>
                </c:pt>
                <c:pt idx="25">
                  <c:v>5.73</c:v>
                </c:pt>
                <c:pt idx="26">
                  <c:v>4.76</c:v>
                </c:pt>
                <c:pt idx="27">
                  <c:v>5.9</c:v>
                </c:pt>
                <c:pt idx="28">
                  <c:v>5.19</c:v>
                </c:pt>
                <c:pt idx="29">
                  <c:v>5.8</c:v>
                </c:pt>
                <c:pt idx="30">
                  <c:v>5.9</c:v>
                </c:pt>
                <c:pt idx="31">
                  <c:v>5.94</c:v>
                </c:pt>
                <c:pt idx="32">
                  <c:v>6</c:v>
                </c:pt>
                <c:pt idx="33">
                  <c:v>5.87</c:v>
                </c:pt>
                <c:pt idx="34">
                  <c:v>5.76</c:v>
                </c:pt>
                <c:pt idx="35">
                  <c:v>5.38</c:v>
                </c:pt>
                <c:pt idx="36">
                  <c:v>5.43</c:v>
                </c:pt>
                <c:pt idx="37">
                  <c:v>5.08</c:v>
                </c:pt>
                <c:pt idx="38">
                  <c:v>4.5</c:v>
                </c:pt>
                <c:pt idx="39">
                  <c:v>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9D6-4C14-B42D-41104569F544}"/>
            </c:ext>
          </c:extLst>
        </c:ser>
        <c:ser>
          <c:idx val="4"/>
          <c:order val="4"/>
          <c:tx>
            <c:strRef>
              <c:f>B_apetito!$F$37</c:f>
              <c:strCache>
                <c:ptCount val="1"/>
                <c:pt idx="0">
                  <c:v>G4</c:v>
                </c:pt>
              </c:strCache>
            </c:strRef>
          </c:tx>
          <c:spPr>
            <a:solidFill>
              <a:srgbClr val="FFC000"/>
            </a:solidFill>
            <a:ln>
              <a:prstDash val="solid"/>
            </a:ln>
          </c:spPr>
          <c:invertIfNegative val="0"/>
          <c:cat>
            <c:strRef>
              <c:f>B_apetito!$A$38:$A$77</c:f>
              <c:strCache>
                <c:ptCount val="40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  <c:pt idx="35">
                  <c:v>202512</c:v>
                </c:pt>
                <c:pt idx="36">
                  <c:v>202601</c:v>
                </c:pt>
                <c:pt idx="37">
                  <c:v>202602</c:v>
                </c:pt>
                <c:pt idx="38">
                  <c:v>202603</c:v>
                </c:pt>
                <c:pt idx="39">
                  <c:v>202604</c:v>
                </c:pt>
              </c:strCache>
            </c:strRef>
          </c:cat>
          <c:val>
            <c:numRef>
              <c:f>B_apetito!$F$38:$F$77</c:f>
              <c:numCache>
                <c:formatCode>General</c:formatCode>
                <c:ptCount val="40"/>
                <c:pt idx="0">
                  <c:v>19.329999999999998</c:v>
                </c:pt>
                <c:pt idx="1">
                  <c:v>19.29</c:v>
                </c:pt>
                <c:pt idx="2">
                  <c:v>19.96</c:v>
                </c:pt>
                <c:pt idx="3">
                  <c:v>18.37</c:v>
                </c:pt>
                <c:pt idx="4">
                  <c:v>18.899999999999999</c:v>
                </c:pt>
                <c:pt idx="5">
                  <c:v>18.260000000000002</c:v>
                </c:pt>
                <c:pt idx="6">
                  <c:v>18.34</c:v>
                </c:pt>
                <c:pt idx="7">
                  <c:v>19.22</c:v>
                </c:pt>
                <c:pt idx="8">
                  <c:v>18.329999999999998</c:v>
                </c:pt>
                <c:pt idx="9">
                  <c:v>18.600000000000001</c:v>
                </c:pt>
                <c:pt idx="10">
                  <c:v>17.45</c:v>
                </c:pt>
                <c:pt idx="11">
                  <c:v>17.13</c:v>
                </c:pt>
                <c:pt idx="12">
                  <c:v>17.25</c:v>
                </c:pt>
                <c:pt idx="13">
                  <c:v>15.28</c:v>
                </c:pt>
                <c:pt idx="14">
                  <c:v>14.64</c:v>
                </c:pt>
                <c:pt idx="15">
                  <c:v>14.38</c:v>
                </c:pt>
                <c:pt idx="16">
                  <c:v>12.72</c:v>
                </c:pt>
                <c:pt idx="17">
                  <c:v>14.31</c:v>
                </c:pt>
                <c:pt idx="18">
                  <c:v>13.04</c:v>
                </c:pt>
                <c:pt idx="19">
                  <c:v>12.28</c:v>
                </c:pt>
                <c:pt idx="20">
                  <c:v>10.5</c:v>
                </c:pt>
                <c:pt idx="21">
                  <c:v>8.35</c:v>
                </c:pt>
                <c:pt idx="22">
                  <c:v>8.59</c:v>
                </c:pt>
                <c:pt idx="23">
                  <c:v>8.57</c:v>
                </c:pt>
                <c:pt idx="24">
                  <c:v>8.82</c:v>
                </c:pt>
                <c:pt idx="25">
                  <c:v>9.85</c:v>
                </c:pt>
                <c:pt idx="26">
                  <c:v>8.44</c:v>
                </c:pt>
                <c:pt idx="27">
                  <c:v>7.29</c:v>
                </c:pt>
                <c:pt idx="28">
                  <c:v>8.24</c:v>
                </c:pt>
                <c:pt idx="29">
                  <c:v>7.49</c:v>
                </c:pt>
                <c:pt idx="30">
                  <c:v>7.75</c:v>
                </c:pt>
                <c:pt idx="31">
                  <c:v>7.63</c:v>
                </c:pt>
                <c:pt idx="32">
                  <c:v>7.33</c:v>
                </c:pt>
                <c:pt idx="33">
                  <c:v>6.75</c:v>
                </c:pt>
                <c:pt idx="34">
                  <c:v>7.23</c:v>
                </c:pt>
                <c:pt idx="35">
                  <c:v>6.24</c:v>
                </c:pt>
                <c:pt idx="36">
                  <c:v>5.84</c:v>
                </c:pt>
                <c:pt idx="37">
                  <c:v>5.94</c:v>
                </c:pt>
                <c:pt idx="38">
                  <c:v>5.6</c:v>
                </c:pt>
                <c:pt idx="39">
                  <c:v>5.45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9D6-4C14-B42D-41104569F544}"/>
            </c:ext>
          </c:extLst>
        </c:ser>
        <c:ser>
          <c:idx val="5"/>
          <c:order val="5"/>
          <c:tx>
            <c:strRef>
              <c:f>B_apetito!$G$37</c:f>
              <c:strCache>
                <c:ptCount val="1"/>
                <c:pt idx="0">
                  <c:v>G5a</c:v>
                </c:pt>
              </c:strCache>
            </c:strRef>
          </c:tx>
          <c:spPr>
            <a:solidFill>
              <a:srgbClr val="FF0000"/>
            </a:solidFill>
            <a:ln>
              <a:prstDash val="solid"/>
            </a:ln>
          </c:spPr>
          <c:invertIfNegative val="0"/>
          <c:cat>
            <c:strRef>
              <c:f>B_apetito!$A$38:$A$77</c:f>
              <c:strCache>
                <c:ptCount val="40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  <c:pt idx="35">
                  <c:v>202512</c:v>
                </c:pt>
                <c:pt idx="36">
                  <c:v>202601</c:v>
                </c:pt>
                <c:pt idx="37">
                  <c:v>202602</c:v>
                </c:pt>
                <c:pt idx="38">
                  <c:v>202603</c:v>
                </c:pt>
                <c:pt idx="39">
                  <c:v>202604</c:v>
                </c:pt>
              </c:strCache>
            </c:strRef>
          </c:cat>
          <c:val>
            <c:numRef>
              <c:f>B_apetito!$G$38:$G$77</c:f>
              <c:numCache>
                <c:formatCode>General</c:formatCode>
                <c:ptCount val="40"/>
                <c:pt idx="0">
                  <c:v>21.86</c:v>
                </c:pt>
                <c:pt idx="1">
                  <c:v>22.08</c:v>
                </c:pt>
                <c:pt idx="2">
                  <c:v>20.9</c:v>
                </c:pt>
                <c:pt idx="3">
                  <c:v>21.99</c:v>
                </c:pt>
                <c:pt idx="4">
                  <c:v>21.15</c:v>
                </c:pt>
                <c:pt idx="5">
                  <c:v>22.62</c:v>
                </c:pt>
                <c:pt idx="6">
                  <c:v>22.68</c:v>
                </c:pt>
                <c:pt idx="7">
                  <c:v>22.05</c:v>
                </c:pt>
                <c:pt idx="8">
                  <c:v>21.73</c:v>
                </c:pt>
                <c:pt idx="9">
                  <c:v>19.72</c:v>
                </c:pt>
                <c:pt idx="10">
                  <c:v>18.66</c:v>
                </c:pt>
                <c:pt idx="11">
                  <c:v>18.03</c:v>
                </c:pt>
                <c:pt idx="12">
                  <c:v>16.68</c:v>
                </c:pt>
                <c:pt idx="13">
                  <c:v>15.22</c:v>
                </c:pt>
                <c:pt idx="14">
                  <c:v>14.55</c:v>
                </c:pt>
                <c:pt idx="15">
                  <c:v>14.26</c:v>
                </c:pt>
                <c:pt idx="16">
                  <c:v>15.56</c:v>
                </c:pt>
                <c:pt idx="17">
                  <c:v>14.61</c:v>
                </c:pt>
                <c:pt idx="18">
                  <c:v>11.53</c:v>
                </c:pt>
                <c:pt idx="19">
                  <c:v>11.64</c:v>
                </c:pt>
                <c:pt idx="20">
                  <c:v>8.81</c:v>
                </c:pt>
                <c:pt idx="21">
                  <c:v>9.08</c:v>
                </c:pt>
                <c:pt idx="22">
                  <c:v>9.1300000000000008</c:v>
                </c:pt>
                <c:pt idx="23">
                  <c:v>8.35</c:v>
                </c:pt>
                <c:pt idx="24">
                  <c:v>8.2100000000000009</c:v>
                </c:pt>
                <c:pt idx="25">
                  <c:v>8.8699999999999992</c:v>
                </c:pt>
                <c:pt idx="26">
                  <c:v>8.2100000000000009</c:v>
                </c:pt>
                <c:pt idx="27">
                  <c:v>7.29</c:v>
                </c:pt>
                <c:pt idx="28">
                  <c:v>7.04</c:v>
                </c:pt>
                <c:pt idx="29">
                  <c:v>6.71</c:v>
                </c:pt>
                <c:pt idx="30">
                  <c:v>7.08</c:v>
                </c:pt>
                <c:pt idx="31">
                  <c:v>6.39</c:v>
                </c:pt>
                <c:pt idx="32">
                  <c:v>5.79</c:v>
                </c:pt>
                <c:pt idx="33">
                  <c:v>5.49</c:v>
                </c:pt>
                <c:pt idx="34">
                  <c:v>5.37</c:v>
                </c:pt>
                <c:pt idx="35">
                  <c:v>5.0599999999999996</c:v>
                </c:pt>
                <c:pt idx="36">
                  <c:v>5.01</c:v>
                </c:pt>
                <c:pt idx="37">
                  <c:v>5.14</c:v>
                </c:pt>
                <c:pt idx="38">
                  <c:v>4.6399999999999997</c:v>
                </c:pt>
                <c:pt idx="39">
                  <c:v>4.4800000000000004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9D6-4C14-B42D-41104569F544}"/>
            </c:ext>
          </c:extLst>
        </c:ser>
        <c:ser>
          <c:idx val="6"/>
          <c:order val="6"/>
          <c:tx>
            <c:strRef>
              <c:f>B_apetito!$H$37</c:f>
              <c:strCache>
                <c:ptCount val="1"/>
                <c:pt idx="0">
                  <c:v>G5b</c:v>
                </c:pt>
              </c:strCache>
            </c:strRef>
          </c:tx>
          <c:spPr>
            <a:solidFill>
              <a:srgbClr val="002060"/>
            </a:solidFill>
            <a:ln>
              <a:prstDash val="solid"/>
            </a:ln>
          </c:spPr>
          <c:invertIfNegative val="0"/>
          <c:cat>
            <c:strRef>
              <c:f>B_apetito!$A$38:$A$77</c:f>
              <c:strCache>
                <c:ptCount val="40"/>
                <c:pt idx="0">
                  <c:v>202301</c:v>
                </c:pt>
                <c:pt idx="1">
                  <c:v>202302</c:v>
                </c:pt>
                <c:pt idx="2">
                  <c:v>202303</c:v>
                </c:pt>
                <c:pt idx="3">
                  <c:v>202304</c:v>
                </c:pt>
                <c:pt idx="4">
                  <c:v>202305</c:v>
                </c:pt>
                <c:pt idx="5">
                  <c:v>202306</c:v>
                </c:pt>
                <c:pt idx="6">
                  <c:v>202307</c:v>
                </c:pt>
                <c:pt idx="7">
                  <c:v>202308</c:v>
                </c:pt>
                <c:pt idx="8">
                  <c:v>202309</c:v>
                </c:pt>
                <c:pt idx="9">
                  <c:v>202310</c:v>
                </c:pt>
                <c:pt idx="10">
                  <c:v>202311</c:v>
                </c:pt>
                <c:pt idx="11">
                  <c:v>202312</c:v>
                </c:pt>
                <c:pt idx="12">
                  <c:v>202401</c:v>
                </c:pt>
                <c:pt idx="13">
                  <c:v>202402</c:v>
                </c:pt>
                <c:pt idx="14">
                  <c:v>202403</c:v>
                </c:pt>
                <c:pt idx="15">
                  <c:v>202404</c:v>
                </c:pt>
                <c:pt idx="16">
                  <c:v>202405</c:v>
                </c:pt>
                <c:pt idx="17">
                  <c:v>202406</c:v>
                </c:pt>
                <c:pt idx="18">
                  <c:v>202407</c:v>
                </c:pt>
                <c:pt idx="19">
                  <c:v>202408</c:v>
                </c:pt>
                <c:pt idx="20">
                  <c:v>202409</c:v>
                </c:pt>
                <c:pt idx="21">
                  <c:v>202410</c:v>
                </c:pt>
                <c:pt idx="22">
                  <c:v>202411</c:v>
                </c:pt>
                <c:pt idx="23">
                  <c:v>202412</c:v>
                </c:pt>
                <c:pt idx="24">
                  <c:v>202501</c:v>
                </c:pt>
                <c:pt idx="25">
                  <c:v>202502</c:v>
                </c:pt>
                <c:pt idx="26">
                  <c:v>202503</c:v>
                </c:pt>
                <c:pt idx="27">
                  <c:v>202504</c:v>
                </c:pt>
                <c:pt idx="28">
                  <c:v>202505</c:v>
                </c:pt>
                <c:pt idx="29">
                  <c:v>202506</c:v>
                </c:pt>
                <c:pt idx="30">
                  <c:v>202507</c:v>
                </c:pt>
                <c:pt idx="31">
                  <c:v>202508</c:v>
                </c:pt>
                <c:pt idx="32">
                  <c:v>202509</c:v>
                </c:pt>
                <c:pt idx="33">
                  <c:v>202510</c:v>
                </c:pt>
                <c:pt idx="34">
                  <c:v>202511</c:v>
                </c:pt>
                <c:pt idx="35">
                  <c:v>202512</c:v>
                </c:pt>
                <c:pt idx="36">
                  <c:v>202601</c:v>
                </c:pt>
                <c:pt idx="37">
                  <c:v>202602</c:v>
                </c:pt>
                <c:pt idx="38">
                  <c:v>202603</c:v>
                </c:pt>
                <c:pt idx="39">
                  <c:v>202604</c:v>
                </c:pt>
              </c:strCache>
            </c:strRef>
          </c:cat>
          <c:val>
            <c:numRef>
              <c:f>B_apetito!$H$38:$H$77</c:f>
              <c:numCache>
                <c:formatCode>General</c:formatCode>
                <c:ptCount val="40"/>
                <c:pt idx="0">
                  <c:v>22.54</c:v>
                </c:pt>
                <c:pt idx="1">
                  <c:v>25.59</c:v>
                </c:pt>
                <c:pt idx="2">
                  <c:v>25.27</c:v>
                </c:pt>
                <c:pt idx="3">
                  <c:v>28.18</c:v>
                </c:pt>
                <c:pt idx="4">
                  <c:v>28.14</c:v>
                </c:pt>
                <c:pt idx="5">
                  <c:v>29.46</c:v>
                </c:pt>
                <c:pt idx="6">
                  <c:v>29.09</c:v>
                </c:pt>
                <c:pt idx="7">
                  <c:v>29.05</c:v>
                </c:pt>
                <c:pt idx="8">
                  <c:v>29.65</c:v>
                </c:pt>
                <c:pt idx="9">
                  <c:v>26.06</c:v>
                </c:pt>
                <c:pt idx="10">
                  <c:v>25.88</c:v>
                </c:pt>
                <c:pt idx="11">
                  <c:v>23.02</c:v>
                </c:pt>
                <c:pt idx="12">
                  <c:v>21.62</c:v>
                </c:pt>
                <c:pt idx="13">
                  <c:v>20.29</c:v>
                </c:pt>
                <c:pt idx="14">
                  <c:v>19.45</c:v>
                </c:pt>
                <c:pt idx="15">
                  <c:v>17.7</c:v>
                </c:pt>
                <c:pt idx="16">
                  <c:v>17.28</c:v>
                </c:pt>
                <c:pt idx="17">
                  <c:v>15.68</c:v>
                </c:pt>
                <c:pt idx="18">
                  <c:v>14.06</c:v>
                </c:pt>
                <c:pt idx="19">
                  <c:v>13.03</c:v>
                </c:pt>
                <c:pt idx="20">
                  <c:v>12.04</c:v>
                </c:pt>
                <c:pt idx="21">
                  <c:v>10.73</c:v>
                </c:pt>
                <c:pt idx="22">
                  <c:v>10.99</c:v>
                </c:pt>
                <c:pt idx="23">
                  <c:v>9.82</c:v>
                </c:pt>
                <c:pt idx="24">
                  <c:v>8.98</c:v>
                </c:pt>
                <c:pt idx="25">
                  <c:v>7.82</c:v>
                </c:pt>
                <c:pt idx="26">
                  <c:v>6.11</c:v>
                </c:pt>
                <c:pt idx="27">
                  <c:v>5.51</c:v>
                </c:pt>
                <c:pt idx="28">
                  <c:v>4.8600000000000003</c:v>
                </c:pt>
                <c:pt idx="29">
                  <c:v>4.68</c:v>
                </c:pt>
                <c:pt idx="30">
                  <c:v>4.62</c:v>
                </c:pt>
                <c:pt idx="31">
                  <c:v>4.76</c:v>
                </c:pt>
                <c:pt idx="32">
                  <c:v>4.7</c:v>
                </c:pt>
                <c:pt idx="33">
                  <c:v>4.09</c:v>
                </c:pt>
                <c:pt idx="34">
                  <c:v>3.87</c:v>
                </c:pt>
                <c:pt idx="35">
                  <c:v>3.77</c:v>
                </c:pt>
                <c:pt idx="36">
                  <c:v>4.0999999999999996</c:v>
                </c:pt>
                <c:pt idx="37">
                  <c:v>3.76</c:v>
                </c:pt>
                <c:pt idx="38">
                  <c:v>3.47</c:v>
                </c:pt>
                <c:pt idx="39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9D6-4C14-B42D-41104569F5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5400000" vert="horz"/>
          <a:lstStyle/>
          <a:p>
            <a:pPr>
              <a:defRPr sz="900">
                <a:latin typeface="Poppins" panose="00000500000000000000" pitchFamily="2" charset="0"/>
                <a:cs typeface="Poppins" panose="00000500000000000000" pitchFamily="2" charset="0"/>
              </a:defRPr>
            </a:pPr>
            <a:endParaRPr lang="es-PE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1"/>
        <c:axPos val="l"/>
        <c:majorGridlines/>
        <c:numFmt formatCode="General" sourceLinked="1"/>
        <c:majorTickMark val="none"/>
        <c:minorTickMark val="none"/>
        <c:tickLblPos val="nextTo"/>
        <c:crossAx val="10"/>
        <c:crosses val="autoZero"/>
        <c:crossBetween val="between"/>
      </c:valAx>
    </c:plotArea>
    <c:plotVisOnly val="1"/>
    <c:dispBlanksAs val="gap"/>
    <c:showDLblsOverMax val="1"/>
  </c:chart>
  <c:spPr>
    <a:ln>
      <a:noFill/>
    </a:ln>
  </c:sp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4D_150B12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16E1AD-C247-4413-93F9-BA3CF81F1242}" authorId="{4CAE2E61-2A72-57DF-CA82-86DCCEE808CB}" created="2026-06-10T17:54:28.592">
    <pc:sldMkLst xmlns:pc="http://schemas.microsoft.com/office/powerpoint/2013/main/command">
      <pc:docMk/>
      <pc:sldMk cId="353047196" sldId="2147483469"/>
    </pc:sldMkLst>
    <p188:txBody>
      <a:bodyPr/>
      <a:lstStyle/>
      <a:p>
        <a:r>
          <a:rPr lang="es-PE"/>
          <a:t>Falta colocar lag</a:t>
        </a:r>
      </a:p>
    </p188:txBody>
  </p188:cm>
</p188:cmLst>
</file>

<file path=ppt/comments/modernComment_7FFFFF51_46F956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43849AC-4FDE-4408-A032-ABF4A1FB75BF}" authorId="{4CAE2E61-2A72-57DF-CA82-86DCCEE808CB}" created="2026-06-10T17:54:37.884">
    <pc:sldMkLst xmlns:pc="http://schemas.microsoft.com/office/powerpoint/2013/main/command">
      <pc:docMk/>
      <pc:sldMk cId="1190745755" sldId="2147483473"/>
    </pc:sldMkLst>
    <p188:txBody>
      <a:bodyPr/>
      <a:lstStyle/>
      <a:p>
        <a:r>
          <a:rPr lang="es-PE"/>
          <a:t>Falta colocar lag
</a:t>
        </a:r>
      </a:p>
    </p188:txBody>
  </p188:cm>
  <p188:cm id="{8F4C3D99-8F61-484D-8BBE-AC6C3311F430}" authorId="{4CAE2E61-2A72-57DF-CA82-86DCCEE808CB}" created="2026-06-10T17:56:55.379">
    <pc:sldMkLst xmlns:pc="http://schemas.microsoft.com/office/powerpoint/2013/main/command">
      <pc:docMk/>
      <pc:sldMk cId="1190745755" sldId="2147483473"/>
    </pc:sldMkLst>
    <p188:txBody>
      <a:bodyPr/>
      <a:lstStyle/>
      <a:p>
        <a:r>
          <a:rPr lang="es-PE"/>
          <a:t>Resultados de r2 estan confirmados? Cambie el speech de estable por mayor explicacion en periodos recientes, lo complementas</a:t>
        </a:r>
      </a:p>
    </p188:txBody>
  </p188:cm>
  <p188:cm id="{9A77CAEA-69F2-485D-8782-3EB08A733E46}" authorId="{4CAE2E61-2A72-57DF-CA82-86DCCEE808CB}" created="2026-06-10T19:40:48.51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90745755" sldId="2147483473"/>
      <ac:spMk id="23" creationId="{B5FB4735-CCF4-714C-458D-74C247483C07}"/>
      <ac:txMk cp="0">
        <ac:context len="312" hash="518413330"/>
      </ac:txMk>
    </ac:txMkLst>
    <p188:pos x="2260614" y="197498"/>
    <p188:txBody>
      <a:bodyPr/>
      <a:lstStyle/>
      <a:p>
        <a:r>
          <a:rPr lang="es-PE"/>
          <a:t>Cambio en segmentacion SBS
</a:t>
        </a:r>
      </a:p>
    </p188:txBody>
  </p188:cm>
</p188:cmLst>
</file>

<file path=ppt/comments/modernComment_7FFFFF52_9F0481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F7E659-A01D-4826-AB18-5FDA809AF432}" authorId="{4CAE2E61-2A72-57DF-CA82-86DCCEE808CB}" created="2026-06-10T17:54:41.158">
    <pc:sldMkLst xmlns:pc="http://schemas.microsoft.com/office/powerpoint/2013/main/command">
      <pc:docMk/>
      <pc:sldMk cId="2667872556" sldId="2147483474"/>
    </pc:sldMkLst>
    <p188:txBody>
      <a:bodyPr/>
      <a:lstStyle/>
      <a:p>
        <a:r>
          <a:rPr lang="es-PE"/>
          <a:t>Falta colocar lag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8A7C5-50DF-4C3A-A356-5829E02E3E5D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F731A-7A9F-4291-A0B0-D39F8006E5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38338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5330-12F8-22E3-CBC4-D92E196B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C2E980-FA35-990C-CD01-14D41F7AA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45947A-DFB0-F254-B82B-5398D35FF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FDF607-013B-1699-E42E-13876601F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E0254F-34B4-4F12-94B6-D46E156702E0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022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09A9-0DC6-F41C-8E2B-8FCA2D24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F08C4F0-E137-D336-6286-8C320A2B7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1FA583A-018D-2ECB-4E6D-F0CFBEBD5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Visión Cliente Estado: </a:t>
            </a:r>
            <a:r>
              <a:rPr lang="es-MX" sz="1200" b="0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Listo</a:t>
            </a:r>
            <a:endParaRPr lang="es-MX" sz="1100" b="0" kern="1200">
              <a:solidFill>
                <a:schemeClr val="accent4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Préstamo: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Rehacer varios artefactos, vacaciones MO.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TC Bank: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Mejoras de MG y validación.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Hipotecario: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Nueva metodología de calibración para modelos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default. / Riesgo de validación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Modelo Reenganche: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Mejora utilizando data Intercorp.</a:t>
            </a:r>
          </a:p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C8CC6A-F99A-F5DC-8DBB-57F312B54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A96B2-8C43-4698-9353-0E60624C7C56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869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EF45D-E53A-2E3C-3B3E-28CB3AC1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8A4768E-26B4-7CCF-3DA2-8A4E3583E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DF434A-4AAA-6CEA-0233-8B6DC60EF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Visión Cliente Estado: </a:t>
            </a:r>
            <a:r>
              <a:rPr lang="es-MX" sz="1200" b="0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Listo</a:t>
            </a:r>
            <a:endParaRPr lang="es-MX" sz="1100" b="0" kern="1200">
              <a:solidFill>
                <a:schemeClr val="accent4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Préstamo: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Rehacer varios artefactos, vacaciones MO.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TC Bank: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Mejoras de MG y validación.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Hipotecario: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Nueva metodología de calibración para modelos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default. / Riesgo de validación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Modelo Reenganche: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Mejora utilizando data Intercorp.</a:t>
            </a:r>
          </a:p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EDE451-679F-FA95-265A-1C3542F5E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A96B2-8C43-4698-9353-0E60624C7C56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391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F7A0-D210-27CD-7D95-0617D9EE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3ADBC8-49CE-A355-530A-60A101718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2721551-DD59-2F1B-CE46-D474F7A4B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Visión Cliente Estado: </a:t>
            </a:r>
            <a:r>
              <a:rPr lang="es-MX" sz="1200" b="0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Listo</a:t>
            </a:r>
            <a:endParaRPr lang="es-MX" sz="1100" b="0" kern="1200">
              <a:solidFill>
                <a:schemeClr val="accent4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Préstamo: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Rehacer varios artefactos, vacaciones MO.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TC Bank: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Mejoras de MG y validación.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Hipotecario: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Nueva metodología de calibración para modelos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default. / Riesgo de validación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Modelo Reenganche: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Mejora utilizando data Intercorp.</a:t>
            </a:r>
          </a:p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613F44-A046-9B8E-94F6-C0F2A303D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A96B2-8C43-4698-9353-0E60624C7C56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2241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BD3B-9935-B266-93FB-C6DC0AA0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EE74618-E482-C6E7-E6D2-DAF40764F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C410AB-0C4E-13E3-B34D-6FA847EE0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Visión Cliente Estado: </a:t>
            </a:r>
            <a:r>
              <a:rPr lang="es-MX" sz="1200" b="0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Listo</a:t>
            </a:r>
            <a:endParaRPr lang="es-MX" sz="1100" b="0" kern="1200">
              <a:solidFill>
                <a:schemeClr val="accent4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Préstamo: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Rehacer varios artefactos, vacaciones MO.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TC Bank: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Mejoras de MG y validación.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Hipotecario: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Nueva metodología de calibración para modelos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default. / Riesgo de validación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Modelo Reenganche: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Mejora utilizando data Intercorp.</a:t>
            </a:r>
          </a:p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C2E4D-A031-2377-E416-EA0E68DCD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A96B2-8C43-4698-9353-0E60624C7C56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100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58538-5E24-3CB9-881A-E2C3B45B9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4475231-4B5B-B85D-CC02-26205E4B0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D2D352-07C8-B66B-AD3A-0255BA864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Visión Cliente Estado: </a:t>
            </a:r>
            <a:r>
              <a:rPr lang="es-MX" sz="1200" b="0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Listo</a:t>
            </a:r>
            <a:endParaRPr lang="es-MX" sz="1100" b="0" kern="1200">
              <a:solidFill>
                <a:schemeClr val="accent4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Préstamo: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Rehacer varios artefactos, vacaciones MO.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TC Bank: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Mejoras de MG y validación.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Hipotecario: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Nueva metodología de calibración para modelos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default. / Riesgo de validación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Modelo Reenganche: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Mejora utilizando data Intercorp.</a:t>
            </a:r>
          </a:p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AB98D6-47C8-5645-7D72-68B746195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A96B2-8C43-4698-9353-0E60624C7C56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7749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B18A-025D-CC40-1485-335B88CBD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83438C4-A2B2-D316-23AD-96D063A06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8B1CB6-57DB-E8B2-D4A4-E0C4CD19E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Visión Cliente Estado: </a:t>
            </a:r>
            <a:r>
              <a:rPr lang="es-MX" sz="1200" b="0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Listo</a:t>
            </a:r>
            <a:endParaRPr lang="es-MX" sz="1100" b="0" kern="1200">
              <a:solidFill>
                <a:schemeClr val="accent4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Préstamo: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Rehacer varios artefactos, vacaciones MO.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TC Bank: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Mejoras de MG y validación.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Hipotecario: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Nueva metodología de calibración para modelos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default. / Riesgo de validación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Modelo Reenganche: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Mejora utilizando data Intercorp.</a:t>
            </a:r>
          </a:p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4D0A47-EC07-C37E-89AA-3C04BC050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A96B2-8C43-4698-9353-0E60624C7C56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781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31598-CBC6-1C37-02E4-BE0A7C1B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033AAF8-CE3F-D1FF-5246-6CFD74A2B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4C252E-850A-B53A-7194-D812625CE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Visión Cliente Estado: </a:t>
            </a:r>
            <a:r>
              <a:rPr lang="es-MX" sz="1200" b="0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Listo</a:t>
            </a:r>
            <a:endParaRPr lang="es-MX" sz="1100" b="0" kern="1200">
              <a:solidFill>
                <a:schemeClr val="accent4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Préstamo: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Rehacer varios artefactos, vacaciones MO.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TC Bank: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Mejoras de MG y validación.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Hipotecario: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Nueva metodología de calibración para modelos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default. / Riesgo de validación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Modelo Reenganche: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Mejora utilizando data Intercorp.</a:t>
            </a:r>
          </a:p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9824FA-AC83-45D1-B206-D6D08575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A96B2-8C43-4698-9353-0E60624C7C56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7596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DDB0D-3CBC-1F9B-CE14-457C7089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BAF4F15-12EB-3229-E59C-1785F9FF3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A530642-C535-893F-6200-188FAE060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Visión Cliente Estado: </a:t>
            </a:r>
            <a:r>
              <a:rPr lang="es-MX" sz="1200" b="0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Listo</a:t>
            </a:r>
            <a:endParaRPr lang="es-MX" sz="1100" b="0" kern="1200">
              <a:solidFill>
                <a:schemeClr val="accent4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Préstamo: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Rehacer varios artefactos, vacaciones MO.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TC Bank: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Mejoras de MG y validación.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Hipotecario: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Nueva metodología de calibración para modelos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default. / Riesgo de validación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Modelo Reenganche: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Mejora utilizando data Intercorp.</a:t>
            </a:r>
          </a:p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7DEEE8-CA53-E1B1-92F2-3EA0DF6C7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A96B2-8C43-4698-9353-0E60624C7C56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182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6CAC-F5DC-420A-1725-D02677124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4E8853-74FE-28C0-4E1D-EE4791159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DF955B-E7FD-33CC-D3B6-071D7B27B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Visión Cliente Estado: </a:t>
            </a:r>
            <a:r>
              <a:rPr lang="es-MX" sz="1200" b="0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Listo</a:t>
            </a:r>
            <a:endParaRPr lang="es-MX" sz="1100" b="0" kern="1200">
              <a:solidFill>
                <a:schemeClr val="accent4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Préstamo: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Rehacer varios artefactos, vacaciones MO.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TC Bank: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Mejoras de MG y validación.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Hipotecario: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Nueva metodología de calibración para modelos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default. / Riesgo de validación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Modelo Reenganche: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Mejora utilizando data Intercorp.</a:t>
            </a:r>
          </a:p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E8DE6D-AB10-A1B8-A136-EB03DF9FF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A96B2-8C43-4698-9353-0E60624C7C56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961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C6611-E38E-D025-1882-209316EB5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64F79DB-0AF2-E17F-3180-09659AE39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158D07-83A8-744B-2752-AB0F55930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Visión Cliente Estado: </a:t>
            </a:r>
            <a:r>
              <a:rPr lang="es-MX" sz="1200" b="0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Listo</a:t>
            </a:r>
            <a:endParaRPr lang="es-MX" sz="1100" b="0" kern="1200">
              <a:solidFill>
                <a:schemeClr val="accent4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Préstamo: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Rehacer varios artefactos, vacaciones MO.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TC Bank: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Mejoras de MG y validación.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Hipotecario: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Nueva metodología de calibración para modelos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default. / Riesgo de validación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Modelo Reenganche: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Mejora utilizando data Intercorp.</a:t>
            </a:r>
          </a:p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87F4A3-3931-C0E8-D4B2-E7205F8AB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A96B2-8C43-4698-9353-0E60624C7C56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777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18BF5-5616-7057-1805-BA0D612A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8DAC9F-F278-AA83-8E77-F3DBEFB62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370A624-60A4-3234-8EEA-11D8B168E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Visión Cliente Estado: </a:t>
            </a:r>
            <a:r>
              <a:rPr lang="es-MX" sz="1200" b="0" kern="1200">
                <a:solidFill>
                  <a:schemeClr val="accent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Listo</a:t>
            </a:r>
            <a:endParaRPr lang="es-MX" sz="1100" b="0" kern="1200">
              <a:solidFill>
                <a:schemeClr val="accent4"/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Préstamo: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Rehacer varios artefactos, vacaciones MO.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TC Bank: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Mejoras de MG y validación.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Origen Hipotecario: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Nueva metodología de calibración para modelos </a:t>
            </a:r>
            <a:r>
              <a:rPr kumimoji="0"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low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default. / Riesgo de validación</a:t>
            </a:r>
            <a:endParaRPr kumimoji="0" lang="es-MX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Modelo Reenganche: </a:t>
            </a: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Mejora utilizando data Intercorp.</a:t>
            </a:r>
          </a:p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A1CC19-0AB3-0948-F61E-F30DD5386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8A96B2-8C43-4698-9353-0E60624C7C56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232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24C39-CBE3-B08D-CF16-C6E4659A8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AFAEEB-5C5F-F234-4165-DB08B431C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1E2265-F2D5-AA09-39D9-A50FF42B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079806-9638-5412-5D96-C5C045F6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B56408-FD99-BF96-9991-97CA04FD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8440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E9547-42F1-FA31-1CCE-1D4112C8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6DF922-3DFC-9294-9398-E960B3CCB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FBDE9C-3FFD-CFE8-B924-A1EA1EF8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070BC5-BF42-D7AC-B0C2-866F9149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902C2E-FAE0-E9DD-C84A-E9451F27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3342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244EB-4A81-7DF3-2A27-9B9CB222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C3AC3E-C914-384E-926C-2967E4360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B1AF87-3105-41DB-FEA1-31A8B1F3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B5CB4F-15B0-E622-DD37-6757B3830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7A67D3-7180-C138-1E06-BF89AAFB1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224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67B12-FA09-DCD0-F981-52BECDEC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57716A-294A-D9CE-9F96-2055151C8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5A3B80-9009-F165-58C7-CC7DF7FE0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EDC751-DD93-98B1-9871-E8F55F23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D45DDB-0378-6647-67BA-C506B98A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B850DA-18DC-1E11-2737-08B3A2785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906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8BAF6-B559-C36C-245B-9F5ABA24B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FAA3A8-6992-D768-8A5D-601687629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AEB6D1-AE60-D69B-3E62-8B66F7D3E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7D5DF3-9596-2D2E-B178-D0CD44C88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72AD7AF-F330-3062-43E4-DE3F8CC94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E47826-6566-E8BD-8120-076C2B78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AA1566-840F-158E-A4FC-54623F22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45F90C-A718-E19F-5CA7-0E4F6AB5F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13006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6A067-43D9-3484-6EAC-BE706667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62EE2D-4863-9D4E-8E73-528443196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7BC1A5C-C38B-7BC3-7E03-01CAAB8E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DC5221-3F41-43A5-B99F-062AA31B7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7133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F17D1F-F47E-4151-96A6-4C2CA3CF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2FE369C-CAF6-2B92-8EA1-EA369A28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260DC8-E0A4-4CBD-3716-B64871F2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69167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467A1-F6BD-6207-AE65-C1E366B50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769401-4E37-51CB-7266-70A6FB343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98739A-ABF3-8774-35B6-C80BF32F9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5CAB96-DA5C-521E-7172-7176CF93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85C72D-2298-9A08-F6DB-A9D9C903B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D80734-3529-807F-6EA2-0303CB49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801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3B7AE-4CA2-5C05-FDCA-8CCCA20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FC58B1-87A5-46DE-0BF2-FA2705B5B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6A1781-44BC-7E2A-0520-047FA39A7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30394D-3C86-BFFC-955C-E9257F018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07CCC0-67E7-251C-3577-25C6407F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84607E-48FB-FA3E-5620-320E3479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375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4155D-0DD2-B0B1-B29C-A7959885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CC54A5-03EE-CE9F-418D-8C6F7F4C7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A451A6-3EAA-BDD6-21A3-CC37DA54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C202FA-EFF4-F15D-D3BD-8976948A8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3EC1D2-ECD7-2491-CBAA-AA30A3C8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0961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13D069-B7CB-4C13-7773-96BA3A6332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6841CA-86FA-3CB6-0E81-474096C3C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4FD8F0-64FF-2276-CFC7-B9EE30E1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2A568B-80B0-B49B-DAA8-B4FA85AB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E5FFA7-B67D-240F-9617-1FE1051A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24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12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B936725-952C-24CD-40DF-1AFBDD93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8ED7ED-D0DB-1208-6098-46EC0382A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F9BA42-571A-9D34-5E4E-E329F83F0E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EDCC2-E174-4296-B41B-E68529CEAFFB}" type="datetimeFigureOut">
              <a:rPr lang="es-PE" smtClean="0"/>
              <a:t>31/07/2026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E3A1B7-065A-2517-224A-CE1535575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B2FAED-F4DA-DCE1-D4C6-BC5754324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8B02C-16BE-4589-B26D-46A73BB037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684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6.svg"/><Relationship Id="rId5" Type="http://schemas.openxmlformats.org/officeDocument/2006/relationships/image" Target="../media/image5.emf"/><Relationship Id="rId10" Type="http://schemas.openxmlformats.org/officeDocument/2006/relationships/chart" Target="../charts/chart2.xml"/><Relationship Id="rId4" Type="http://schemas.openxmlformats.org/officeDocument/2006/relationships/oleObject" Target="../embeddings/oleObject1.bin"/><Relationship Id="rId9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notesSlide" Target="../notesSlides/notesSlide5.xml"/><Relationship Id="rId7" Type="http://schemas.openxmlformats.org/officeDocument/2006/relationships/chart" Target="../charts/chart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chart" Target="../charts/chart3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Relationship Id="rId9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notesSlide" Target="../notesSlides/notesSlide6.xml"/><Relationship Id="rId7" Type="http://schemas.openxmlformats.org/officeDocument/2006/relationships/chart" Target="../charts/chart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chart" Target="../charts/chart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microsoft.com/office/2018/10/relationships/comments" Target="../comments/modernComment_7FFFFF4D_150B129C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chart" Target="../charts/chart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microsoft.com/office/2018/10/relationships/comments" Target="../comments/modernComment_7FFFFF51_46F9569B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chart" Target="../charts/chart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microsoft.com/office/2018/10/relationships/comments" Target="../comments/modernComment_7FFFFF52_9F04812C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notesSlide" Target="../notesSlides/notesSlide11.xml"/><Relationship Id="rId7" Type="http://schemas.openxmlformats.org/officeDocument/2006/relationships/chart" Target="../charts/chart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6" Type="http://schemas.openxmlformats.org/officeDocument/2006/relationships/chart" Target="../charts/chart1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Relationship Id="rId9" Type="http://schemas.openxmlformats.org/officeDocument/2006/relationships/chart" Target="../charts/char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chart" Target="../charts/chart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6" Type="http://schemas.openxmlformats.org/officeDocument/2006/relationships/chart" Target="../charts/chart16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A275A-0B80-3E8A-E95E-08EB42D4F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 conjunto de letras negras en un fondo azul  Descripción generada automáticamente con confianza baja">
            <a:extLst>
              <a:ext uri="{FF2B5EF4-FFF2-40B4-BE49-F238E27FC236}">
                <a16:creationId xmlns:a16="http://schemas.microsoft.com/office/drawing/2014/main" id="{9396941A-2D91-1EDA-6113-5C69D9C41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44" b="10516"/>
          <a:stretch/>
        </p:blipFill>
        <p:spPr>
          <a:xfrm>
            <a:off x="6991350" y="0"/>
            <a:ext cx="520065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A609B0A-0291-5E3D-2C80-E31F014AD0A0}"/>
              </a:ext>
            </a:extLst>
          </p:cNvPr>
          <p:cNvSpPr txBox="1"/>
          <p:nvPr/>
        </p:nvSpPr>
        <p:spPr>
          <a:xfrm>
            <a:off x="678706" y="674319"/>
            <a:ext cx="43504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44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Poppins SemiBold" panose="00000700000000000000" pitchFamily="2" charset="0"/>
                <a:ea typeface="Geometria" panose="020B0503020204020204" pitchFamily="34" charset="0"/>
                <a:cs typeface="Poppins SemiBold" panose="00000700000000000000" pitchFamily="2" charset="0"/>
              </a:rPr>
              <a:t>AGENDA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7C06167-20A6-3CB3-8214-7E79C80BFDC7}"/>
              </a:ext>
            </a:extLst>
          </p:cNvPr>
          <p:cNvSpPr txBox="1"/>
          <p:nvPr/>
        </p:nvSpPr>
        <p:spPr>
          <a:xfrm>
            <a:off x="610232" y="1765459"/>
            <a:ext cx="384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48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ea typeface="Geometria" panose="020B0503020204020204" pitchFamily="34" charset="0"/>
                <a:cs typeface="Poppins" panose="00000500000000000000" pitchFamily="2" charset="0"/>
              </a:rPr>
              <a:t>1</a:t>
            </a:r>
          </a:p>
        </p:txBody>
      </p:sp>
      <p:pic>
        <p:nvPicPr>
          <p:cNvPr id="10" name="Imagen 9" descr="Logotipo  El contenido generado por IA puede ser incorrecto.">
            <a:extLst>
              <a:ext uri="{FF2B5EF4-FFF2-40B4-BE49-F238E27FC236}">
                <a16:creationId xmlns:a16="http://schemas.microsoft.com/office/drawing/2014/main" id="{0D6D0BFD-1AF5-01E9-6A93-EBDE3CD1D4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632" y="6067425"/>
            <a:ext cx="1980000" cy="78724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32CB2C7-B5F2-53CD-4AD3-D3F00BE5ECEC}"/>
              </a:ext>
            </a:extLst>
          </p:cNvPr>
          <p:cNvSpPr txBox="1"/>
          <p:nvPr/>
        </p:nvSpPr>
        <p:spPr>
          <a:xfrm>
            <a:off x="1213460" y="1926128"/>
            <a:ext cx="520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ES" sz="2400" b="1">
                <a:solidFill>
                  <a:schemeClr val="accent6">
                    <a:lumMod val="50000"/>
                  </a:schemeClr>
                </a:solidFill>
                <a:latin typeface="Poppins" panose="00000500000000000000" pitchFamily="2" charset="0"/>
                <a:ea typeface="Geometria" panose="020B0503020204020204" pitchFamily="34" charset="0"/>
                <a:cs typeface="Poppins" panose="00000500000000000000" pitchFamily="2" charset="0"/>
              </a:rPr>
              <a:t>Diseño de Calibración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EB7AFC3-FC0D-592A-8713-D9BB85C053A7}"/>
              </a:ext>
            </a:extLst>
          </p:cNvPr>
          <p:cNvSpPr txBox="1"/>
          <p:nvPr/>
        </p:nvSpPr>
        <p:spPr>
          <a:xfrm>
            <a:off x="1215298" y="4030712"/>
            <a:ext cx="520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ES" sz="2400" b="1">
                <a:solidFill>
                  <a:schemeClr val="bg1"/>
                </a:solidFill>
                <a:latin typeface="Poppins" panose="00000500000000000000" pitchFamily="2" charset="0"/>
                <a:ea typeface="Geometria" panose="020B0503020204020204" pitchFamily="34" charset="0"/>
                <a:cs typeface="Poppins" panose="00000500000000000000" pitchFamily="2" charset="0"/>
              </a:rPr>
              <a:t>Bosquejo diseño Rebank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0A89B88-4A39-F1BF-34D4-157E677C7590}"/>
              </a:ext>
            </a:extLst>
          </p:cNvPr>
          <p:cNvSpPr txBox="1"/>
          <p:nvPr/>
        </p:nvSpPr>
        <p:spPr>
          <a:xfrm>
            <a:off x="598509" y="3822014"/>
            <a:ext cx="38454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4800" b="1">
                <a:solidFill>
                  <a:schemeClr val="bg1"/>
                </a:solidFill>
                <a:latin typeface="Poppins"/>
                <a:ea typeface="Geometria" panose="020B0503020204020204" pitchFamily="34" charset="0"/>
                <a:cs typeface="Poppins"/>
              </a:rPr>
              <a:t>4</a:t>
            </a:r>
            <a:endParaRPr kumimoji="0" lang="es-PE" sz="4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 panose="00000500000000000000" pitchFamily="2" charset="0"/>
              <a:ea typeface="Geometria" panose="020B0503020204020204" pitchFamily="34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410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0E90D-57FF-9FA7-4512-BB52DAF11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agrama  Descripción generada automáticamente">
            <a:extLst>
              <a:ext uri="{FF2B5EF4-FFF2-40B4-BE49-F238E27FC236}">
                <a16:creationId xmlns:a16="http://schemas.microsoft.com/office/drawing/2014/main" id="{1D02EED2-811D-E753-B450-83F572E33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37"/>
          <a:stretch/>
        </p:blipFill>
        <p:spPr>
          <a:xfrm rot="16200000">
            <a:off x="5284470" y="-49530"/>
            <a:ext cx="695706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5803109-0746-0851-6719-95EB5303EC96}"/>
              </a:ext>
            </a:extLst>
          </p:cNvPr>
          <p:cNvSpPr txBox="1"/>
          <p:nvPr/>
        </p:nvSpPr>
        <p:spPr>
          <a:xfrm>
            <a:off x="365760" y="244376"/>
            <a:ext cx="3243906" cy="650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41700" b="1">
                <a:solidFill>
                  <a:srgbClr val="05BE50"/>
                </a:solidFill>
                <a:latin typeface="Poppins" panose="00000500000000000000" pitchFamily="2" charset="0"/>
                <a:ea typeface="Geometria" panose="020B0503020204020204" pitchFamily="34" charset="0"/>
                <a:cs typeface="Poppins" panose="00000500000000000000" pitchFamily="2" charset="0"/>
              </a:rPr>
              <a:t>1</a:t>
            </a:r>
            <a:endParaRPr kumimoji="0" lang="es-PE" sz="41700" b="1" i="0" u="none" strike="noStrike" kern="1200" cap="none" spc="0" normalizeH="0" baseline="0" noProof="0">
              <a:ln>
                <a:noFill/>
              </a:ln>
              <a:solidFill>
                <a:srgbClr val="05BE50"/>
              </a:solidFill>
              <a:effectLst/>
              <a:uLnTx/>
              <a:uFillTx/>
              <a:latin typeface="Poppins" panose="00000500000000000000" pitchFamily="2" charset="0"/>
              <a:ea typeface="Geometria" panose="020B0503020204020204" pitchFamily="34" charset="0"/>
              <a:cs typeface="Poppins" panose="00000500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9C9329-EE0E-CAB1-D605-8F0D47B8C198}"/>
              </a:ext>
            </a:extLst>
          </p:cNvPr>
          <p:cNvSpPr txBox="1"/>
          <p:nvPr/>
        </p:nvSpPr>
        <p:spPr>
          <a:xfrm>
            <a:off x="3931122" y="4342090"/>
            <a:ext cx="66071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200" b="1">
                <a:solidFill>
                  <a:srgbClr val="00B050"/>
                </a:solidFill>
                <a:latin typeface="Poppins" panose="00000500000000000000" pitchFamily="2" charset="0"/>
                <a:ea typeface="Geometria" panose="020B0503020204020204" pitchFamily="34" charset="0"/>
                <a:cs typeface="Poppins" panose="00000500000000000000" pitchFamily="2" charset="0"/>
              </a:rPr>
              <a:t>Calibración - Comportamental BN</a:t>
            </a:r>
          </a:p>
        </p:txBody>
      </p:sp>
      <p:pic>
        <p:nvPicPr>
          <p:cNvPr id="6" name="Imagen 5" descr="Imagen que contiene Texto  El contenido generado por IA puede ser incorrecto.">
            <a:extLst>
              <a:ext uri="{FF2B5EF4-FFF2-40B4-BE49-F238E27FC236}">
                <a16:creationId xmlns:a16="http://schemas.microsoft.com/office/drawing/2014/main" id="{58EBDFA8-281A-9BBE-50FF-CB87515E09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0000" cy="78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50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91835-DD13-4969-4D58-E737D235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C7999EE-C234-F505-057C-5CDDE0B2343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6" imgH="428" progId="TCLayout.ActiveDocument.1">
                  <p:embed/>
                </p:oleObj>
              </mc:Choice>
              <mc:Fallback>
                <p:oleObj name="Diapositiva de think-cell" r:id="rId4" imgW="426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DC3059-C726-8E94-B640-6E6CBD571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3735AB53-B807-F97E-976B-BEBC9A5CC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37" y="260790"/>
            <a:ext cx="8326867" cy="44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2400" dirty="0">
                <a:solidFill>
                  <a:srgbClr val="00703C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PP Reenganche </a:t>
            </a: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703C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| </a:t>
            </a: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87938C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Diseño de Calibración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514C125-ED9A-C617-0DE8-5403AB168206}"/>
              </a:ext>
            </a:extLst>
          </p:cNvPr>
          <p:cNvSpPr txBox="1"/>
          <p:nvPr/>
        </p:nvSpPr>
        <p:spPr>
          <a:xfrm>
            <a:off x="549373" y="900849"/>
            <a:ext cx="811119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800" b="1" spc="120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QUÉ CAMBIÓ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57395797-056B-D5A8-7D93-C9043F9B1486}"/>
              </a:ext>
            </a:extLst>
          </p:cNvPr>
          <p:cNvSpPr/>
          <p:nvPr/>
        </p:nvSpPr>
        <p:spPr>
          <a:xfrm>
            <a:off x="549373" y="1065949"/>
            <a:ext cx="2654300" cy="19050"/>
          </a:xfrm>
          <a:prstGeom prst="rect">
            <a:avLst/>
          </a:prstGeom>
          <a:solidFill>
            <a:srgbClr val="00703C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703C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1A03EBA-0BBA-F8A2-4D25-71AEE5178AF8}"/>
              </a:ext>
            </a:extLst>
          </p:cNvPr>
          <p:cNvSpPr txBox="1"/>
          <p:nvPr/>
        </p:nvSpPr>
        <p:spPr>
          <a:xfrm>
            <a:off x="549373" y="2647099"/>
            <a:ext cx="1122743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800" b="1" spc="12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QUÉ SE MANTUVO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AB4BD8C4-9DFB-5F77-EC99-14AA7762163C}"/>
              </a:ext>
            </a:extLst>
          </p:cNvPr>
          <p:cNvSpPr/>
          <p:nvPr/>
        </p:nvSpPr>
        <p:spPr>
          <a:xfrm>
            <a:off x="549373" y="2812199"/>
            <a:ext cx="2654300" cy="1905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E360D37-21EB-091B-2EC1-0240A1DB7FA8}"/>
              </a:ext>
            </a:extLst>
          </p:cNvPr>
          <p:cNvSpPr txBox="1"/>
          <p:nvPr/>
        </p:nvSpPr>
        <p:spPr>
          <a:xfrm>
            <a:off x="549373" y="1135799"/>
            <a:ext cx="423193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850" b="1" dirty="0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 score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C14C001-C04C-CEC2-33EA-E9734F9F8526}"/>
              </a:ext>
            </a:extLst>
          </p:cNvPr>
          <p:cNvSpPr txBox="1"/>
          <p:nvPr/>
        </p:nvSpPr>
        <p:spPr>
          <a:xfrm>
            <a:off x="549373" y="1275499"/>
            <a:ext cx="2654300" cy="33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40000"/>
              </a:lnSpc>
            </a:pP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PD 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cruda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sube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800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25%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; es lo 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que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mueve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todo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lo 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demás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3F98F9F-BD84-BAA6-B598-BBD2F5951FC5}"/>
              </a:ext>
            </a:extLst>
          </p:cNvPr>
          <p:cNvSpPr txBox="1"/>
          <p:nvPr/>
        </p:nvSpPr>
        <p:spPr>
          <a:xfrm>
            <a:off x="549373" y="1755142"/>
            <a:ext cx="1493999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850" b="1" dirty="0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Dos meses </a:t>
            </a:r>
            <a:r>
              <a:rPr sz="850" b="1" dirty="0" err="1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más</a:t>
            </a:r>
            <a:r>
              <a:rPr sz="850" b="1" dirty="0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</a:t>
            </a:r>
            <a:r>
              <a:rPr sz="850" b="1" dirty="0" err="1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historia</a:t>
            </a:r>
            <a:endParaRPr sz="850" b="1" dirty="0">
              <a:solidFill>
                <a:srgbClr val="00703C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D53C246-1284-4B79-3183-04FB0A66E457}"/>
              </a:ext>
            </a:extLst>
          </p:cNvPr>
          <p:cNvSpPr txBox="1"/>
          <p:nvPr/>
        </p:nvSpPr>
        <p:spPr>
          <a:xfrm>
            <a:off x="549373" y="1894842"/>
            <a:ext cx="2654300" cy="156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40000"/>
              </a:lnSpc>
            </a:pP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LRA de NO DEP baja de </a:t>
            </a:r>
            <a:r>
              <a:rPr sz="800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4.61% a 4.33%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98AAAB1D-DD6C-20F2-EA9E-A049A2A81C86}"/>
              </a:ext>
            </a:extLst>
          </p:cNvPr>
          <p:cNvSpPr txBox="1"/>
          <p:nvPr/>
        </p:nvSpPr>
        <p:spPr>
          <a:xfrm>
            <a:off x="549373" y="2882049"/>
            <a:ext cx="870431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lang="es-MX" sz="850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metodología</a:t>
            </a:r>
            <a:endParaRPr sz="850" b="1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1E25D111-37DB-8663-D680-7DB6C4EC0B5A}"/>
              </a:ext>
            </a:extLst>
          </p:cNvPr>
          <p:cNvSpPr txBox="1"/>
          <p:nvPr/>
        </p:nvSpPr>
        <p:spPr>
          <a:xfrm>
            <a:off x="549373" y="3021749"/>
            <a:ext cx="2654300" cy="157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40000"/>
              </a:lnSpc>
            </a:pP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BetaCal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+ Vasicek, 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mismos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segmentos</a:t>
            </a:r>
            <a:endParaRPr sz="800" dirty="0">
              <a:solidFill>
                <a:srgbClr val="6E6E6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6BC10620-0BBD-42D9-34CE-573B291C67D9}"/>
              </a:ext>
            </a:extLst>
          </p:cNvPr>
          <p:cNvSpPr txBox="1"/>
          <p:nvPr/>
        </p:nvSpPr>
        <p:spPr>
          <a:xfrm>
            <a:off x="549373" y="3404512"/>
            <a:ext cx="1428276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850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</a:t>
            </a:r>
            <a:r>
              <a:rPr sz="850" b="1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misma</a:t>
            </a:r>
            <a:r>
              <a:rPr sz="850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variable macro</a:t>
            </a:r>
          </a:p>
        </p:txBody>
      </p:sp>
      <p:sp>
        <p:nvSpPr>
          <p:cNvPr id="44" name="TextBox 25">
            <a:extLst>
              <a:ext uri="{FF2B5EF4-FFF2-40B4-BE49-F238E27FC236}">
                <a16:creationId xmlns:a16="http://schemas.microsoft.com/office/drawing/2014/main" id="{7F1F375B-218D-7BB2-CED1-C1433F1D5938}"/>
              </a:ext>
            </a:extLst>
          </p:cNvPr>
          <p:cNvSpPr txBox="1"/>
          <p:nvPr/>
        </p:nvSpPr>
        <p:spPr>
          <a:xfrm>
            <a:off x="549373" y="3544212"/>
            <a:ext cx="2654300" cy="329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40000"/>
              </a:lnSpc>
            </a:pP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IPC Lima 12m, 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rezago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5 y media 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móvil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6, probit. Solo se re-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estimó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β₁ </a:t>
            </a:r>
            <a:r>
              <a:rPr sz="800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0.6565 → 0.6583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46" name="Rectangle 26">
            <a:extLst>
              <a:ext uri="{FF2B5EF4-FFF2-40B4-BE49-F238E27FC236}">
                <a16:creationId xmlns:a16="http://schemas.microsoft.com/office/drawing/2014/main" id="{B26F01F1-9DFA-0420-A8C0-3E45AA3A7449}"/>
              </a:ext>
            </a:extLst>
          </p:cNvPr>
          <p:cNvSpPr/>
          <p:nvPr/>
        </p:nvSpPr>
        <p:spPr>
          <a:xfrm>
            <a:off x="549373" y="1684749"/>
            <a:ext cx="2654300" cy="6350"/>
          </a:xfrm>
          <a:prstGeom prst="rect">
            <a:avLst/>
          </a:prstGeom>
          <a:solidFill>
            <a:srgbClr val="D8D8D8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Rectangle 29">
            <a:extLst>
              <a:ext uri="{FF2B5EF4-FFF2-40B4-BE49-F238E27FC236}">
                <a16:creationId xmlns:a16="http://schemas.microsoft.com/office/drawing/2014/main" id="{84C64F13-2EF8-C933-1066-6DB77DA0972F}"/>
              </a:ext>
            </a:extLst>
          </p:cNvPr>
          <p:cNvSpPr/>
          <p:nvPr/>
        </p:nvSpPr>
        <p:spPr>
          <a:xfrm>
            <a:off x="549373" y="3288679"/>
            <a:ext cx="2654300" cy="6350"/>
          </a:xfrm>
          <a:prstGeom prst="rect">
            <a:avLst/>
          </a:prstGeom>
          <a:solidFill>
            <a:srgbClr val="D8D8D8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Rectangle 31">
            <a:extLst>
              <a:ext uri="{FF2B5EF4-FFF2-40B4-BE49-F238E27FC236}">
                <a16:creationId xmlns:a16="http://schemas.microsoft.com/office/drawing/2014/main" id="{F46003D8-169D-D500-51EC-C4FB92DFE4C6}"/>
              </a:ext>
            </a:extLst>
          </p:cNvPr>
          <p:cNvSpPr/>
          <p:nvPr/>
        </p:nvSpPr>
        <p:spPr>
          <a:xfrm>
            <a:off x="549373" y="4615599"/>
            <a:ext cx="2654300" cy="19050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Box 32">
            <a:extLst>
              <a:ext uri="{FF2B5EF4-FFF2-40B4-BE49-F238E27FC236}">
                <a16:creationId xmlns:a16="http://schemas.microsoft.com/office/drawing/2014/main" id="{4A2B479F-6F49-EE23-BC84-171F8B424E78}"/>
              </a:ext>
            </a:extLst>
          </p:cNvPr>
          <p:cNvSpPr txBox="1"/>
          <p:nvPr/>
        </p:nvSpPr>
        <p:spPr>
          <a:xfrm>
            <a:off x="549373" y="4787049"/>
            <a:ext cx="16510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82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PD </a:t>
            </a:r>
            <a:r>
              <a:rPr sz="82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calibrada</a:t>
            </a:r>
            <a:endParaRPr sz="825" dirty="0">
              <a:solidFill>
                <a:srgbClr val="6E6E6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Box 33">
            <a:extLst>
              <a:ext uri="{FF2B5EF4-FFF2-40B4-BE49-F238E27FC236}">
                <a16:creationId xmlns:a16="http://schemas.microsoft.com/office/drawing/2014/main" id="{8A9AF848-ABA3-A4D3-2530-051F0FFAE7B7}"/>
              </a:ext>
            </a:extLst>
          </p:cNvPr>
          <p:cNvSpPr txBox="1"/>
          <p:nvPr/>
        </p:nvSpPr>
        <p:spPr>
          <a:xfrm>
            <a:off x="2644225" y="4737635"/>
            <a:ext cx="559448" cy="2385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defTabSz="457200"/>
            <a:r>
              <a:rPr sz="1550" b="1" spc="-55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+4.7%</a:t>
            </a:r>
          </a:p>
        </p:txBody>
      </p:sp>
      <p:sp>
        <p:nvSpPr>
          <p:cNvPr id="70" name="TextBox 34">
            <a:extLst>
              <a:ext uri="{FF2B5EF4-FFF2-40B4-BE49-F238E27FC236}">
                <a16:creationId xmlns:a16="http://schemas.microsoft.com/office/drawing/2014/main" id="{6BB1438B-7B38-390F-7E21-86ABCC8AFBB0}"/>
              </a:ext>
            </a:extLst>
          </p:cNvPr>
          <p:cNvSpPr txBox="1"/>
          <p:nvPr/>
        </p:nvSpPr>
        <p:spPr>
          <a:xfrm>
            <a:off x="549373" y="5098199"/>
            <a:ext cx="16510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825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Gini</a:t>
            </a:r>
          </a:p>
        </p:txBody>
      </p:sp>
      <p:sp>
        <p:nvSpPr>
          <p:cNvPr id="72" name="TextBox 35">
            <a:extLst>
              <a:ext uri="{FF2B5EF4-FFF2-40B4-BE49-F238E27FC236}">
                <a16:creationId xmlns:a16="http://schemas.microsoft.com/office/drawing/2014/main" id="{2703643A-E063-7D92-47AD-54427BE3C1F8}"/>
              </a:ext>
            </a:extLst>
          </p:cNvPr>
          <p:cNvSpPr txBox="1"/>
          <p:nvPr/>
        </p:nvSpPr>
        <p:spPr>
          <a:xfrm>
            <a:off x="2674682" y="5048785"/>
            <a:ext cx="528991" cy="2385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defTabSz="457200"/>
            <a:r>
              <a:rPr sz="1550" b="1" spc="-55" dirty="0">
                <a:solidFill>
                  <a:srgbClr val="00A94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+</a:t>
            </a:r>
            <a:r>
              <a:rPr lang="es-MX" sz="1550" b="1" spc="-55" dirty="0">
                <a:solidFill>
                  <a:srgbClr val="00A94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1.4%</a:t>
            </a:r>
            <a:endParaRPr sz="1550" b="1" spc="-55" dirty="0">
              <a:solidFill>
                <a:srgbClr val="00A94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Box 36">
            <a:extLst>
              <a:ext uri="{FF2B5EF4-FFF2-40B4-BE49-F238E27FC236}">
                <a16:creationId xmlns:a16="http://schemas.microsoft.com/office/drawing/2014/main" id="{003B4BE9-AA72-F739-B164-AFCBE998A8EC}"/>
              </a:ext>
            </a:extLst>
          </p:cNvPr>
          <p:cNvSpPr txBox="1"/>
          <p:nvPr/>
        </p:nvSpPr>
        <p:spPr>
          <a:xfrm>
            <a:off x="549373" y="5409349"/>
            <a:ext cx="16510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825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Clientes que migran</a:t>
            </a:r>
          </a:p>
        </p:txBody>
      </p:sp>
      <p:sp>
        <p:nvSpPr>
          <p:cNvPr id="74" name="TextBox 37">
            <a:extLst>
              <a:ext uri="{FF2B5EF4-FFF2-40B4-BE49-F238E27FC236}">
                <a16:creationId xmlns:a16="http://schemas.microsoft.com/office/drawing/2014/main" id="{52030875-1419-DA11-6FC1-07A2B37507D5}"/>
              </a:ext>
            </a:extLst>
          </p:cNvPr>
          <p:cNvSpPr txBox="1"/>
          <p:nvPr/>
        </p:nvSpPr>
        <p:spPr>
          <a:xfrm>
            <a:off x="2801640" y="5359935"/>
            <a:ext cx="402033" cy="23852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 defTabSz="457200"/>
            <a:r>
              <a:rPr sz="1550" b="1" spc="-55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35%</a:t>
            </a:r>
          </a:p>
        </p:txBody>
      </p:sp>
      <p:sp>
        <p:nvSpPr>
          <p:cNvPr id="75" name="Rectangle 38">
            <a:extLst>
              <a:ext uri="{FF2B5EF4-FFF2-40B4-BE49-F238E27FC236}">
                <a16:creationId xmlns:a16="http://schemas.microsoft.com/office/drawing/2014/main" id="{F13456C6-DC4D-404B-292C-98A213824AAF}"/>
              </a:ext>
            </a:extLst>
          </p:cNvPr>
          <p:cNvSpPr/>
          <p:nvPr/>
        </p:nvSpPr>
        <p:spPr>
          <a:xfrm>
            <a:off x="549373" y="5009299"/>
            <a:ext cx="2654300" cy="6350"/>
          </a:xfrm>
          <a:prstGeom prst="rect">
            <a:avLst/>
          </a:prstGeom>
          <a:solidFill>
            <a:srgbClr val="D8D8D8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Rectangle 39">
            <a:extLst>
              <a:ext uri="{FF2B5EF4-FFF2-40B4-BE49-F238E27FC236}">
                <a16:creationId xmlns:a16="http://schemas.microsoft.com/office/drawing/2014/main" id="{E4B56EA3-80B6-78DE-211C-5036A76413B1}"/>
              </a:ext>
            </a:extLst>
          </p:cNvPr>
          <p:cNvSpPr/>
          <p:nvPr/>
        </p:nvSpPr>
        <p:spPr>
          <a:xfrm>
            <a:off x="549373" y="5320449"/>
            <a:ext cx="2654300" cy="6350"/>
          </a:xfrm>
          <a:prstGeom prst="rect">
            <a:avLst/>
          </a:prstGeom>
          <a:solidFill>
            <a:srgbClr val="D8D8D8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Rectangle 40">
            <a:extLst>
              <a:ext uri="{FF2B5EF4-FFF2-40B4-BE49-F238E27FC236}">
                <a16:creationId xmlns:a16="http://schemas.microsoft.com/office/drawing/2014/main" id="{CF5F2171-6F0E-95D2-D48C-F37110D805AB}"/>
              </a:ext>
            </a:extLst>
          </p:cNvPr>
          <p:cNvSpPr/>
          <p:nvPr/>
        </p:nvSpPr>
        <p:spPr>
          <a:xfrm>
            <a:off x="3432273" y="900849"/>
            <a:ext cx="4025900" cy="2292350"/>
          </a:xfrm>
          <a:prstGeom prst="rect">
            <a:avLst/>
          </a:prstGeom>
          <a:solidFill>
            <a:srgbClr val="FAFAFA"/>
          </a:solidFill>
          <a:ln w="6350" cap="flat" cmpd="sng" algn="ctr">
            <a:solidFill>
              <a:srgbClr val="EDEDE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Rectangle 41">
            <a:extLst>
              <a:ext uri="{FF2B5EF4-FFF2-40B4-BE49-F238E27FC236}">
                <a16:creationId xmlns:a16="http://schemas.microsoft.com/office/drawing/2014/main" id="{97A4D6FC-0A86-FCC2-193F-298DEB369993}"/>
              </a:ext>
            </a:extLst>
          </p:cNvPr>
          <p:cNvSpPr/>
          <p:nvPr/>
        </p:nvSpPr>
        <p:spPr>
          <a:xfrm>
            <a:off x="3432273" y="900849"/>
            <a:ext cx="4025900" cy="31750"/>
          </a:xfrm>
          <a:prstGeom prst="rect">
            <a:avLst/>
          </a:prstGeom>
          <a:solidFill>
            <a:srgbClr val="00703C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Box 42">
            <a:extLst>
              <a:ext uri="{FF2B5EF4-FFF2-40B4-BE49-F238E27FC236}">
                <a16:creationId xmlns:a16="http://schemas.microsoft.com/office/drawing/2014/main" id="{BD44F96B-D69E-98B3-B44A-FA91FA2A758F}"/>
              </a:ext>
            </a:extLst>
          </p:cNvPr>
          <p:cNvSpPr txBox="1"/>
          <p:nvPr/>
        </p:nvSpPr>
        <p:spPr>
          <a:xfrm>
            <a:off x="3571973" y="105445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457200"/>
            <a:r>
              <a:rPr sz="900" b="1" dirty="0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85" name="TextBox 43">
            <a:extLst>
              <a:ext uri="{FF2B5EF4-FFF2-40B4-BE49-F238E27FC236}">
                <a16:creationId xmlns:a16="http://schemas.microsoft.com/office/drawing/2014/main" id="{1012DC23-B167-932B-AF26-8A54C7AF3A27}"/>
              </a:ext>
            </a:extLst>
          </p:cNvPr>
          <p:cNvSpPr txBox="1"/>
          <p:nvPr/>
        </p:nvSpPr>
        <p:spPr>
          <a:xfrm>
            <a:off x="3756123" y="1023672"/>
            <a:ext cx="463268" cy="169277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defTabSz="457200"/>
            <a:r>
              <a:rPr sz="1100" b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Ajuste</a:t>
            </a:r>
          </a:p>
        </p:txBody>
      </p:sp>
      <p:sp>
        <p:nvSpPr>
          <p:cNvPr id="86" name="TextBox 44">
            <a:extLst>
              <a:ext uri="{FF2B5EF4-FFF2-40B4-BE49-F238E27FC236}">
                <a16:creationId xmlns:a16="http://schemas.microsoft.com/office/drawing/2014/main" id="{471E8DFE-FA80-5E88-1018-DCA7D149D679}"/>
              </a:ext>
            </a:extLst>
          </p:cNvPr>
          <p:cNvSpPr txBox="1"/>
          <p:nvPr/>
        </p:nvSpPr>
        <p:spPr>
          <a:xfrm>
            <a:off x="5987981" y="1092922"/>
            <a:ext cx="1330492" cy="100027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r" defTabSz="457200"/>
            <a:r>
              <a:rPr sz="650" b="1" dirty="0">
                <a:solidFill>
                  <a:srgbClr val="A0A0A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EC = (PD−RD)/RD · RD real 3.23%</a:t>
            </a:r>
          </a:p>
        </p:txBody>
      </p:sp>
      <p:sp>
        <p:nvSpPr>
          <p:cNvPr id="87" name="Rectangle 45">
            <a:extLst>
              <a:ext uri="{FF2B5EF4-FFF2-40B4-BE49-F238E27FC236}">
                <a16:creationId xmlns:a16="http://schemas.microsoft.com/office/drawing/2014/main" id="{9988833B-9088-085B-7351-D408C10461C6}"/>
              </a:ext>
            </a:extLst>
          </p:cNvPr>
          <p:cNvSpPr/>
          <p:nvPr/>
        </p:nvSpPr>
        <p:spPr>
          <a:xfrm>
            <a:off x="7597873" y="900849"/>
            <a:ext cx="4025900" cy="2292350"/>
          </a:xfrm>
          <a:prstGeom prst="rect">
            <a:avLst/>
          </a:prstGeom>
          <a:solidFill>
            <a:srgbClr val="F5F5F5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Rectangle 46">
            <a:extLst>
              <a:ext uri="{FF2B5EF4-FFF2-40B4-BE49-F238E27FC236}">
                <a16:creationId xmlns:a16="http://schemas.microsoft.com/office/drawing/2014/main" id="{F1952FAB-B81F-C1F3-5D97-54F520AADDEF}"/>
              </a:ext>
            </a:extLst>
          </p:cNvPr>
          <p:cNvSpPr/>
          <p:nvPr/>
        </p:nvSpPr>
        <p:spPr>
          <a:xfrm>
            <a:off x="7597873" y="900849"/>
            <a:ext cx="4025900" cy="3175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Box 47">
            <a:extLst>
              <a:ext uri="{FF2B5EF4-FFF2-40B4-BE49-F238E27FC236}">
                <a16:creationId xmlns:a16="http://schemas.microsoft.com/office/drawing/2014/main" id="{A3F0BCBE-1C01-F7F2-E44A-21CF19469141}"/>
              </a:ext>
            </a:extLst>
          </p:cNvPr>
          <p:cNvSpPr txBox="1"/>
          <p:nvPr/>
        </p:nvSpPr>
        <p:spPr>
          <a:xfrm>
            <a:off x="7737573" y="105445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457200"/>
            <a:r>
              <a:rPr sz="900" b="1" dirty="0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90" name="TextBox 48">
            <a:extLst>
              <a:ext uri="{FF2B5EF4-FFF2-40B4-BE49-F238E27FC236}">
                <a16:creationId xmlns:a16="http://schemas.microsoft.com/office/drawing/2014/main" id="{1C50C1CC-077D-13E0-5845-94E0912899EF}"/>
              </a:ext>
            </a:extLst>
          </p:cNvPr>
          <p:cNvSpPr txBox="1"/>
          <p:nvPr/>
        </p:nvSpPr>
        <p:spPr>
          <a:xfrm>
            <a:off x="7921723" y="1023672"/>
            <a:ext cx="735779" cy="169277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defTabSz="457200"/>
            <a:r>
              <a:rPr sz="1100" b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Migración</a:t>
            </a:r>
          </a:p>
        </p:txBody>
      </p:sp>
      <p:sp>
        <p:nvSpPr>
          <p:cNvPr id="91" name="TextBox 49">
            <a:extLst>
              <a:ext uri="{FF2B5EF4-FFF2-40B4-BE49-F238E27FC236}">
                <a16:creationId xmlns:a16="http://schemas.microsoft.com/office/drawing/2014/main" id="{C9F98AD9-5E70-4AA4-5566-A7AC2B95B695}"/>
              </a:ext>
            </a:extLst>
          </p:cNvPr>
          <p:cNvSpPr txBox="1"/>
          <p:nvPr/>
        </p:nvSpPr>
        <p:spPr>
          <a:xfrm>
            <a:off x="10004502" y="1092922"/>
            <a:ext cx="1479571" cy="100027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r" defTabSz="457200"/>
            <a:r>
              <a:rPr sz="650" b="1" dirty="0" err="1">
                <a:solidFill>
                  <a:srgbClr val="A0A0A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grupo</a:t>
            </a:r>
            <a:r>
              <a:rPr sz="650" b="1" dirty="0">
                <a:solidFill>
                  <a:srgbClr val="A0A0A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650" b="1" dirty="0" err="1">
                <a:solidFill>
                  <a:srgbClr val="A0A0A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por</a:t>
            </a:r>
            <a:r>
              <a:rPr sz="650" b="1" dirty="0">
                <a:solidFill>
                  <a:srgbClr val="A0A0A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PD </a:t>
            </a:r>
            <a:r>
              <a:rPr sz="650" b="1" dirty="0" err="1">
                <a:solidFill>
                  <a:srgbClr val="A0A0A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calibrada</a:t>
            </a:r>
            <a:r>
              <a:rPr sz="650" b="1" dirty="0">
                <a:solidFill>
                  <a:srgbClr val="A0A0A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· % del total</a:t>
            </a:r>
          </a:p>
        </p:txBody>
      </p:sp>
      <p:sp>
        <p:nvSpPr>
          <p:cNvPr id="92" name="Rectangle 50">
            <a:extLst>
              <a:ext uri="{FF2B5EF4-FFF2-40B4-BE49-F238E27FC236}">
                <a16:creationId xmlns:a16="http://schemas.microsoft.com/office/drawing/2014/main" id="{586BBB1B-AD89-D92C-18E9-70F6F6108CBB}"/>
              </a:ext>
            </a:extLst>
          </p:cNvPr>
          <p:cNvSpPr/>
          <p:nvPr/>
        </p:nvSpPr>
        <p:spPr>
          <a:xfrm>
            <a:off x="3432273" y="3339249"/>
            <a:ext cx="4025900" cy="2292350"/>
          </a:xfrm>
          <a:prstGeom prst="rect">
            <a:avLst/>
          </a:prstGeom>
          <a:solidFill>
            <a:srgbClr val="F5F5F5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Rectangle 51">
            <a:extLst>
              <a:ext uri="{FF2B5EF4-FFF2-40B4-BE49-F238E27FC236}">
                <a16:creationId xmlns:a16="http://schemas.microsoft.com/office/drawing/2014/main" id="{53598234-296B-AACE-D9B4-DAF628A54A47}"/>
              </a:ext>
            </a:extLst>
          </p:cNvPr>
          <p:cNvSpPr/>
          <p:nvPr/>
        </p:nvSpPr>
        <p:spPr>
          <a:xfrm>
            <a:off x="3432273" y="3339249"/>
            <a:ext cx="4025900" cy="3175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Box 52">
            <a:extLst>
              <a:ext uri="{FF2B5EF4-FFF2-40B4-BE49-F238E27FC236}">
                <a16:creationId xmlns:a16="http://schemas.microsoft.com/office/drawing/2014/main" id="{779ADF30-152F-787B-173A-901A1420A20B}"/>
              </a:ext>
            </a:extLst>
          </p:cNvPr>
          <p:cNvSpPr txBox="1"/>
          <p:nvPr/>
        </p:nvSpPr>
        <p:spPr>
          <a:xfrm>
            <a:off x="3571973" y="349285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457200"/>
            <a:r>
              <a:rPr sz="900" b="1" dirty="0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03</a:t>
            </a:r>
          </a:p>
        </p:txBody>
      </p:sp>
      <p:sp>
        <p:nvSpPr>
          <p:cNvPr id="95" name="TextBox 53">
            <a:extLst>
              <a:ext uri="{FF2B5EF4-FFF2-40B4-BE49-F238E27FC236}">
                <a16:creationId xmlns:a16="http://schemas.microsoft.com/office/drawing/2014/main" id="{7F9637A3-DB42-F4D3-8983-4AD4AA4A8557}"/>
              </a:ext>
            </a:extLst>
          </p:cNvPr>
          <p:cNvSpPr txBox="1"/>
          <p:nvPr/>
        </p:nvSpPr>
        <p:spPr>
          <a:xfrm>
            <a:off x="3756123" y="3462072"/>
            <a:ext cx="519373" cy="169277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defTabSz="457200"/>
            <a:r>
              <a:rPr sz="1100" b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Drivers</a:t>
            </a:r>
          </a:p>
        </p:txBody>
      </p:sp>
      <p:sp>
        <p:nvSpPr>
          <p:cNvPr id="97" name="Rectangle 55">
            <a:extLst>
              <a:ext uri="{FF2B5EF4-FFF2-40B4-BE49-F238E27FC236}">
                <a16:creationId xmlns:a16="http://schemas.microsoft.com/office/drawing/2014/main" id="{2C6A419D-7FB4-A193-5E1C-601A82C0AC68}"/>
              </a:ext>
            </a:extLst>
          </p:cNvPr>
          <p:cNvSpPr/>
          <p:nvPr/>
        </p:nvSpPr>
        <p:spPr>
          <a:xfrm>
            <a:off x="7597873" y="3339249"/>
            <a:ext cx="4025900" cy="2292350"/>
          </a:xfrm>
          <a:prstGeom prst="rect">
            <a:avLst/>
          </a:prstGeom>
          <a:solidFill>
            <a:srgbClr val="F5F5F5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Rectangle 56">
            <a:extLst>
              <a:ext uri="{FF2B5EF4-FFF2-40B4-BE49-F238E27FC236}">
                <a16:creationId xmlns:a16="http://schemas.microsoft.com/office/drawing/2014/main" id="{9CCEE320-9669-2315-0E46-058DD0D64A5F}"/>
              </a:ext>
            </a:extLst>
          </p:cNvPr>
          <p:cNvSpPr/>
          <p:nvPr/>
        </p:nvSpPr>
        <p:spPr>
          <a:xfrm>
            <a:off x="7597873" y="3339249"/>
            <a:ext cx="4025900" cy="3175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Box 57">
            <a:extLst>
              <a:ext uri="{FF2B5EF4-FFF2-40B4-BE49-F238E27FC236}">
                <a16:creationId xmlns:a16="http://schemas.microsoft.com/office/drawing/2014/main" id="{C75D559C-5356-FB7C-F64C-0BC1F52EFEB3}"/>
              </a:ext>
            </a:extLst>
          </p:cNvPr>
          <p:cNvSpPr txBox="1"/>
          <p:nvPr/>
        </p:nvSpPr>
        <p:spPr>
          <a:xfrm>
            <a:off x="7737573" y="3492850"/>
            <a:ext cx="254000" cy="138499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defTabSz="457200"/>
            <a:r>
              <a:rPr sz="900" b="1" dirty="0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04</a:t>
            </a:r>
          </a:p>
        </p:txBody>
      </p:sp>
      <p:sp>
        <p:nvSpPr>
          <p:cNvPr id="100" name="TextBox 58">
            <a:extLst>
              <a:ext uri="{FF2B5EF4-FFF2-40B4-BE49-F238E27FC236}">
                <a16:creationId xmlns:a16="http://schemas.microsoft.com/office/drawing/2014/main" id="{618B95C2-F1E9-356F-979D-03503279B3EE}"/>
              </a:ext>
            </a:extLst>
          </p:cNvPr>
          <p:cNvSpPr txBox="1"/>
          <p:nvPr/>
        </p:nvSpPr>
        <p:spPr>
          <a:xfrm>
            <a:off x="7921723" y="3462072"/>
            <a:ext cx="1191032" cy="169277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defTabSz="457200"/>
            <a:r>
              <a:rPr sz="1100" b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Zona de rechazo</a:t>
            </a:r>
          </a:p>
        </p:txBody>
      </p:sp>
      <p:graphicFrame>
        <p:nvGraphicFramePr>
          <p:cNvPr id="102" name="Table 60">
            <a:extLst>
              <a:ext uri="{FF2B5EF4-FFF2-40B4-BE49-F238E27FC236}">
                <a16:creationId xmlns:a16="http://schemas.microsoft.com/office/drawing/2014/main" id="{474C44D5-F1D3-F7C4-0810-D4A094ACC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130826"/>
              </p:ext>
            </p:extLst>
          </p:nvPr>
        </p:nvGraphicFramePr>
        <p:xfrm>
          <a:off x="3571973" y="1262799"/>
          <a:ext cx="3746500" cy="1487170"/>
        </p:xfrm>
        <a:graphic>
          <a:graphicData uri="http://schemas.openxmlformats.org/drawingml/2006/table">
            <a:tbl>
              <a:tblPr/>
              <a:tblGrid>
                <a:gridCol w="185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600" b="1" spc="75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ANTERIOR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600" b="1" spc="75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ACTUAL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800" b="0" dirty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PD </a:t>
                      </a:r>
                      <a:r>
                        <a:rPr lang="es-MX" sz="800" b="0" dirty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original</a:t>
                      </a:r>
                      <a:r>
                        <a:rPr sz="800" b="0" dirty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media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B2B2B2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16.65%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20.82%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800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PD calibrada media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B2B2B2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3.28%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3.43%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800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EC agregado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+1.5%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B2B2B2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+6.3%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800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Error absoluto por decil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B2B2B2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0.35 pp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A94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0.30 pp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800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Deciles con menor error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B2B2B2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 / 10</a:t>
                      </a:r>
                    </a:p>
                  </a:txBody>
                  <a:tcPr marL="762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 dirty="0">
                          <a:solidFill>
                            <a:srgbClr val="00A94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 / 10</a:t>
                      </a:r>
                    </a:p>
                  </a:txBody>
                  <a:tcPr marL="762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3" name="TextBox 61">
            <a:extLst>
              <a:ext uri="{FF2B5EF4-FFF2-40B4-BE49-F238E27FC236}">
                <a16:creationId xmlns:a16="http://schemas.microsoft.com/office/drawing/2014/main" id="{B8D1072C-46CF-B463-5C2B-E67F115E0820}"/>
              </a:ext>
            </a:extLst>
          </p:cNvPr>
          <p:cNvSpPr txBox="1"/>
          <p:nvPr/>
        </p:nvSpPr>
        <p:spPr>
          <a:xfrm>
            <a:off x="3571973" y="2761399"/>
            <a:ext cx="3746500" cy="31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38000"/>
              </a:lnSpc>
            </a:pP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PD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cruda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sube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775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25%</a:t>
            </a:r>
            <a:r>
              <a:rPr lang="es-MX" sz="775" b="1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 anterior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acierta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mejor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el </a:t>
            </a:r>
            <a:r>
              <a:rPr sz="775" b="1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nivel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; el actual se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equivoca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menos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775" b="1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por</a:t>
            </a:r>
            <a:r>
              <a:rPr sz="775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MX" sz="775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grupo, ligeramente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graphicFrame>
        <p:nvGraphicFramePr>
          <p:cNvPr id="104" name="Table 62">
            <a:extLst>
              <a:ext uri="{FF2B5EF4-FFF2-40B4-BE49-F238E27FC236}">
                <a16:creationId xmlns:a16="http://schemas.microsoft.com/office/drawing/2014/main" id="{B4124A5F-FA83-36CB-394C-8C523912C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708347"/>
              </p:ext>
            </p:extLst>
          </p:nvPr>
        </p:nvGraphicFramePr>
        <p:xfrm>
          <a:off x="3571972" y="3701199"/>
          <a:ext cx="3677239" cy="1004570"/>
        </p:xfrm>
        <a:graphic>
          <a:graphicData uri="http://schemas.openxmlformats.org/drawingml/2006/table">
            <a:tbl>
              <a:tblPr/>
              <a:tblGrid>
                <a:gridCol w="621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3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9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600" b="1" spc="75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%N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600" b="1" spc="75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RD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600" b="1" spc="75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EC ANT.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600" b="1" spc="75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EC ACT.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800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DEP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 dirty="0">
                          <a:solidFill>
                            <a:srgbClr val="B2B2B2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37%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2.94%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B2B2B2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−12%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A94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−2%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800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 DEP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B2B2B2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63%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3.40%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+9%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+11%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800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B2B2B2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100%</a:t>
                      </a:r>
                    </a:p>
                  </a:txBody>
                  <a:tcPr marL="762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3.23%</a:t>
                      </a:r>
                    </a:p>
                  </a:txBody>
                  <a:tcPr marL="762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+1.5%</a:t>
                      </a:r>
                    </a:p>
                  </a:txBody>
                  <a:tcPr marL="762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+6.3%</a:t>
                      </a:r>
                    </a:p>
                  </a:txBody>
                  <a:tcPr marL="762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5" name="TextBox 63">
            <a:extLst>
              <a:ext uri="{FF2B5EF4-FFF2-40B4-BE49-F238E27FC236}">
                <a16:creationId xmlns:a16="http://schemas.microsoft.com/office/drawing/2014/main" id="{CC504200-9A7F-4FBD-87D4-8C06713915AA}"/>
              </a:ext>
            </a:extLst>
          </p:cNvPr>
          <p:cNvSpPr txBox="1"/>
          <p:nvPr/>
        </p:nvSpPr>
        <p:spPr>
          <a:xfrm>
            <a:off x="3537341" y="5341307"/>
            <a:ext cx="3746500" cy="151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38000"/>
              </a:lnSpc>
            </a:pP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 actual </a:t>
            </a:r>
            <a:r>
              <a:rPr sz="775" b="1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corrige</a:t>
            </a:r>
            <a:r>
              <a:rPr sz="775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DEP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de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subestimar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12%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pasa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2%. </a:t>
            </a:r>
          </a:p>
        </p:txBody>
      </p:sp>
      <p:graphicFrame>
        <p:nvGraphicFramePr>
          <p:cNvPr id="106" name="Table 64">
            <a:extLst>
              <a:ext uri="{FF2B5EF4-FFF2-40B4-BE49-F238E27FC236}">
                <a16:creationId xmlns:a16="http://schemas.microsoft.com/office/drawing/2014/main" id="{384C1270-A2C8-11F2-428C-BAE68D6EB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4901"/>
              </p:ext>
            </p:extLst>
          </p:nvPr>
        </p:nvGraphicFramePr>
        <p:xfrm>
          <a:off x="7737573" y="3701199"/>
          <a:ext cx="3746500" cy="1004570"/>
        </p:xfrm>
        <a:graphic>
          <a:graphicData uri="http://schemas.openxmlformats.org/drawingml/2006/table">
            <a:tbl>
              <a:tblPr/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endParaRPr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600" b="1" spc="75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ANTERIOR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600" b="1" spc="75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ACTUAL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800" b="0" dirty="0" err="1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Precisión</a:t>
                      </a:r>
                      <a:endParaRPr sz="800" b="0" dirty="0">
                        <a:solidFill>
                          <a:srgbClr val="6E6E6E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13.8%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13.7%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800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Mora capturada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28.9%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28.4%</a:t>
                      </a:r>
                    </a:p>
                  </a:txBody>
                  <a:tcPr marL="7620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800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Gini · toda la cartera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>
                          <a:solidFill>
                            <a:srgbClr val="B2B2B2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0.523</a:t>
                      </a:r>
                    </a:p>
                  </a:txBody>
                  <a:tcPr marL="762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r"/>
                      <a:r>
                        <a:rPr sz="1050" b="1" dirty="0">
                          <a:solidFill>
                            <a:srgbClr val="00A94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0.537</a:t>
                      </a:r>
                    </a:p>
                  </a:txBody>
                  <a:tcPr marL="7620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7" name="TextBox 65">
            <a:extLst>
              <a:ext uri="{FF2B5EF4-FFF2-40B4-BE49-F238E27FC236}">
                <a16:creationId xmlns:a16="http://schemas.microsoft.com/office/drawing/2014/main" id="{248E8B3D-8F37-5B25-CE4B-D76CB342609E}"/>
              </a:ext>
            </a:extLst>
          </p:cNvPr>
          <p:cNvSpPr txBox="1"/>
          <p:nvPr/>
        </p:nvSpPr>
        <p:spPr>
          <a:xfrm>
            <a:off x="7737573" y="5193449"/>
            <a:ext cx="3746500" cy="151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38000"/>
              </a:lnSpc>
            </a:pP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 el corte de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rechazo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775" b="1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empatan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  <p:sp>
        <p:nvSpPr>
          <p:cNvPr id="108" name="TextBox 66">
            <a:extLst>
              <a:ext uri="{FF2B5EF4-FFF2-40B4-BE49-F238E27FC236}">
                <a16:creationId xmlns:a16="http://schemas.microsoft.com/office/drawing/2014/main" id="{70B2808D-D951-331B-CD0E-9D0EB696BB1C}"/>
              </a:ext>
            </a:extLst>
          </p:cNvPr>
          <p:cNvSpPr txBox="1"/>
          <p:nvPr/>
        </p:nvSpPr>
        <p:spPr>
          <a:xfrm>
            <a:off x="7737573" y="1552527"/>
            <a:ext cx="96180" cy="785793"/>
          </a:xfrm>
          <a:prstGeom prst="rect">
            <a:avLst/>
          </a:prstGeom>
          <a:noFill/>
        </p:spPr>
        <p:txBody>
          <a:bodyPr vert="vert270" wrap="none" lIns="0" tIns="0" rIns="0" bIns="0" anchor="t">
            <a:spAutoFit/>
          </a:bodyPr>
          <a:lstStyle/>
          <a:p>
            <a:pPr algn="ctr" defTabSz="457200"/>
            <a:r>
              <a:rPr sz="625" b="1" spc="13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ANTERIOR · V2</a:t>
            </a:r>
          </a:p>
        </p:txBody>
      </p:sp>
      <p:sp>
        <p:nvSpPr>
          <p:cNvPr id="109" name="TextBox 67">
            <a:extLst>
              <a:ext uri="{FF2B5EF4-FFF2-40B4-BE49-F238E27FC236}">
                <a16:creationId xmlns:a16="http://schemas.microsoft.com/office/drawing/2014/main" id="{398227E0-FFC9-578E-7642-CCD50F2A7B32}"/>
              </a:ext>
            </a:extLst>
          </p:cNvPr>
          <p:cNvSpPr txBox="1"/>
          <p:nvPr/>
        </p:nvSpPr>
        <p:spPr>
          <a:xfrm>
            <a:off x="9350842" y="1262799"/>
            <a:ext cx="678711" cy="96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sz="625" b="1" spc="13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ACTUAL · V4</a:t>
            </a:r>
          </a:p>
        </p:txBody>
      </p:sp>
      <p:graphicFrame>
        <p:nvGraphicFramePr>
          <p:cNvPr id="110" name="Table 68">
            <a:extLst>
              <a:ext uri="{FF2B5EF4-FFF2-40B4-BE49-F238E27FC236}">
                <a16:creationId xmlns:a16="http://schemas.microsoft.com/office/drawing/2014/main" id="{4A8FA94D-4433-1216-7F42-38C9F516B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495974"/>
              </p:ext>
            </p:extLst>
          </p:nvPr>
        </p:nvGraphicFramePr>
        <p:xfrm>
          <a:off x="7896323" y="1383449"/>
          <a:ext cx="3587750" cy="1379220"/>
        </p:xfrm>
        <a:graphic>
          <a:graphicData uri="http://schemas.openxmlformats.org/drawingml/2006/table">
            <a:tbl>
              <a:tblPr/>
              <a:tblGrid>
                <a:gridCol w="24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9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650" b="1" spc="3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650" b="1" spc="3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650" b="1" spc="3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650" b="1" spc="3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650" b="1" spc="3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650" b="1" spc="3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650" b="1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24.7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A94F"/>
                      </a:solidFill>
                    </a:lnR>
                    <a:lnT>
                      <a:noFill/>
                    </a:lnT>
                    <a:lnB w="6350" cap="flat" cmpd="sng" algn="ctr">
                      <a:solidFill>
                        <a:srgbClr val="00A94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94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A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</a:lnR>
                    <a:lnT>
                      <a:noFill/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>
                      <a:noFill/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CFCFC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>
                      <a:noFill/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CFCFC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>
                      <a:noFill/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650" b="1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00A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11.9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94F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94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94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A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CFCFC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22.8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650" b="1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00A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94F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94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94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A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26.1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1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650" b="1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CFCFC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00A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94F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94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94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A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1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650" b="1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CFCFC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·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CFCFC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0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</a:lnL>
                    <a:lnR w="6350" cap="flat" cmpd="sng" algn="ctr">
                      <a:solidFill>
                        <a:srgbClr val="E6E6E6"/>
                      </a:solidFill>
                    </a:lnR>
                    <a:lnT w="6350" cap="flat" cmpd="sng" algn="ctr">
                      <a:solidFill>
                        <a:srgbClr val="00A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75" b="1">
                          <a:solidFill>
                            <a:srgbClr val="FFFFFF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A94F"/>
                      </a:solidFill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A94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94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A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1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/>
                      <a:r>
                        <a:rPr sz="650" b="1">
                          <a:solidFill>
                            <a:srgbClr val="6E6E6E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29.0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22.7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5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27.6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14.0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50" b="1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6.7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00A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sz="750" b="1" dirty="0">
                          <a:solidFill>
                            <a:srgbClr val="A0A0A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15875" cap="flat" cmpd="sng" algn="ctr">
                      <a:noFill/>
                    </a:lnL>
                    <a:lnR w="0">
                      <a:noFill/>
                    </a:lnR>
                    <a:lnT w="15875" cap="flat" cmpd="sng" algn="ctr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1" name="TextBox 69">
            <a:extLst>
              <a:ext uri="{FF2B5EF4-FFF2-40B4-BE49-F238E27FC236}">
                <a16:creationId xmlns:a16="http://schemas.microsoft.com/office/drawing/2014/main" id="{791BE6B3-1D39-0513-90FB-2F8DAAF486A6}"/>
              </a:ext>
            </a:extLst>
          </p:cNvPr>
          <p:cNvSpPr txBox="1"/>
          <p:nvPr/>
        </p:nvSpPr>
        <p:spPr>
          <a:xfrm>
            <a:off x="7737573" y="2867155"/>
            <a:ext cx="3746500" cy="151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>
              <a:lnSpc>
                <a:spcPct val="138000"/>
              </a:lnSpc>
            </a:pP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Diagonal </a:t>
            </a:r>
            <a:r>
              <a:rPr sz="775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·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mejoran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775" b="1" dirty="0">
                <a:solidFill>
                  <a:srgbClr val="00A94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14%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·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empeoran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775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21%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·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saltos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 dos </a:t>
            </a:r>
            <a:r>
              <a:rPr sz="775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grupos</a:t>
            </a:r>
            <a:r>
              <a:rPr sz="775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</a:t>
            </a:r>
          </a:p>
        </p:txBody>
      </p:sp>
      <p:sp>
        <p:nvSpPr>
          <p:cNvPr id="112" name="Rectangle 70">
            <a:extLst>
              <a:ext uri="{FF2B5EF4-FFF2-40B4-BE49-F238E27FC236}">
                <a16:creationId xmlns:a16="http://schemas.microsoft.com/office/drawing/2014/main" id="{3A947763-E7BE-34CD-87A9-517133720165}"/>
              </a:ext>
            </a:extLst>
          </p:cNvPr>
          <p:cNvSpPr/>
          <p:nvPr/>
        </p:nvSpPr>
        <p:spPr>
          <a:xfrm>
            <a:off x="549373" y="5726849"/>
            <a:ext cx="11074400" cy="6350"/>
          </a:xfrm>
          <a:prstGeom prst="rect">
            <a:avLst/>
          </a:prstGeom>
          <a:solidFill>
            <a:srgbClr val="D8D8D8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Box 72">
            <a:extLst>
              <a:ext uri="{FF2B5EF4-FFF2-40B4-BE49-F238E27FC236}">
                <a16:creationId xmlns:a16="http://schemas.microsoft.com/office/drawing/2014/main" id="{454C8437-7B4A-90FD-812A-700D7CD818FA}"/>
              </a:ext>
            </a:extLst>
          </p:cNvPr>
          <p:cNvSpPr txBox="1"/>
          <p:nvPr/>
        </p:nvSpPr>
        <p:spPr>
          <a:xfrm>
            <a:off x="10042623" y="5809399"/>
            <a:ext cx="1581150" cy="33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457200">
              <a:lnSpc>
                <a:spcPct val="140000"/>
              </a:lnSpc>
            </a:pP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Cortes </a:t>
            </a:r>
            <a:r>
              <a:rPr sz="800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902 / 948 / 978 / 990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sz="800" dirty="0" err="1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iguales</a:t>
            </a:r>
            <a:r>
              <a:rPr sz="800" dirty="0">
                <a:solidFill>
                  <a:srgbClr val="6E6E6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para ambas</a:t>
            </a:r>
          </a:p>
        </p:txBody>
      </p:sp>
    </p:spTree>
    <p:extLst>
      <p:ext uri="{BB962C8B-B14F-4D97-AF65-F5344CB8AC3E}">
        <p14:creationId xmlns:p14="http://schemas.microsoft.com/office/powerpoint/2010/main" val="415647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1E279-AC1A-48DD-8B19-B6A1011C7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EDE4663-EE26-6D53-4A0D-16ACD1976B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6" imgH="428" progId="TCLayout.ActiveDocument.1">
                  <p:embed/>
                </p:oleObj>
              </mc:Choice>
              <mc:Fallback>
                <p:oleObj name="Diapositiva de think-cell" r:id="rId4" imgW="426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DC3059-C726-8E94-B640-6E6CBD571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Rectángulo: esquinas redondeadas 75">
            <a:extLst>
              <a:ext uri="{FF2B5EF4-FFF2-40B4-BE49-F238E27FC236}">
                <a16:creationId xmlns:a16="http://schemas.microsoft.com/office/drawing/2014/main" id="{6FFE6CDE-D17D-ACF8-FF0A-67E53E63C5E7}"/>
              </a:ext>
            </a:extLst>
          </p:cNvPr>
          <p:cNvSpPr/>
          <p:nvPr/>
        </p:nvSpPr>
        <p:spPr>
          <a:xfrm>
            <a:off x="10306934" y="757934"/>
            <a:ext cx="1472565" cy="211330"/>
          </a:xfrm>
          <a:prstGeom prst="roundRect">
            <a:avLst/>
          </a:prstGeom>
          <a:solidFill>
            <a:srgbClr val="E7F4EC"/>
          </a:solidFill>
          <a:ln>
            <a:solidFill>
              <a:srgbClr val="D9E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MX" sz="1000" b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Ventana 202504</a:t>
            </a:r>
            <a:endParaRPr lang="es-PE" sz="10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5" name="Shape 15">
            <a:extLst>
              <a:ext uri="{FF2B5EF4-FFF2-40B4-BE49-F238E27FC236}">
                <a16:creationId xmlns:a16="http://schemas.microsoft.com/office/drawing/2014/main" id="{956DF4A8-D359-DAC3-9765-B8C89F6D2631}"/>
              </a:ext>
            </a:extLst>
          </p:cNvPr>
          <p:cNvSpPr/>
          <p:nvPr/>
        </p:nvSpPr>
        <p:spPr>
          <a:xfrm>
            <a:off x="566928" y="914400"/>
            <a:ext cx="4206240" cy="254793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87" name="Shape 16">
            <a:extLst>
              <a:ext uri="{FF2B5EF4-FFF2-40B4-BE49-F238E27FC236}">
                <a16:creationId xmlns:a16="http://schemas.microsoft.com/office/drawing/2014/main" id="{A331F981-3315-A6DD-4851-03BE5FD8CB94}"/>
              </a:ext>
            </a:extLst>
          </p:cNvPr>
          <p:cNvSpPr/>
          <p:nvPr/>
        </p:nvSpPr>
        <p:spPr>
          <a:xfrm>
            <a:off x="566928" y="914401"/>
            <a:ext cx="4206240" cy="365760"/>
          </a:xfrm>
          <a:prstGeom prst="rect">
            <a:avLst/>
          </a:prstGeom>
          <a:solidFill>
            <a:srgbClr val="00703C"/>
          </a:solidFill>
          <a:ln w="12700">
            <a:noFill/>
            <a:prstDash val="solid"/>
          </a:ln>
        </p:spPr>
      </p:sp>
      <p:sp>
        <p:nvSpPr>
          <p:cNvPr id="189" name="Text 17">
            <a:extLst>
              <a:ext uri="{FF2B5EF4-FFF2-40B4-BE49-F238E27FC236}">
                <a16:creationId xmlns:a16="http://schemas.microsoft.com/office/drawing/2014/main" id="{732C72AF-8DEA-1FE5-C7F6-7D93574F6B66}"/>
              </a:ext>
            </a:extLst>
          </p:cNvPr>
          <p:cNvSpPr/>
          <p:nvPr/>
        </p:nvSpPr>
        <p:spPr>
          <a:xfrm>
            <a:off x="749808" y="969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Filtros</a:t>
            </a:r>
            <a:endParaRPr lang="en-US" sz="1300" dirty="0"/>
          </a:p>
        </p:txBody>
      </p:sp>
      <p:sp>
        <p:nvSpPr>
          <p:cNvPr id="193" name="Text 19">
            <a:extLst>
              <a:ext uri="{FF2B5EF4-FFF2-40B4-BE49-F238E27FC236}">
                <a16:creationId xmlns:a16="http://schemas.microsoft.com/office/drawing/2014/main" id="{59694275-F319-C0CF-46BB-C157C25822E2}"/>
              </a:ext>
            </a:extLst>
          </p:cNvPr>
          <p:cNvSpPr/>
          <p:nvPr/>
        </p:nvSpPr>
        <p:spPr>
          <a:xfrm>
            <a:off x="2634654" y="130607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</a:t>
            </a:r>
            <a:endParaRPr lang="en-US" sz="750" dirty="0"/>
          </a:p>
        </p:txBody>
      </p:sp>
      <p:sp>
        <p:nvSpPr>
          <p:cNvPr id="195" name="Text 20">
            <a:extLst>
              <a:ext uri="{FF2B5EF4-FFF2-40B4-BE49-F238E27FC236}">
                <a16:creationId xmlns:a16="http://schemas.microsoft.com/office/drawing/2014/main" id="{9C96D22D-09FE-310E-ECB6-D8F0A60127E3}"/>
              </a:ext>
            </a:extLst>
          </p:cNvPr>
          <p:cNvSpPr/>
          <p:nvPr/>
        </p:nvSpPr>
        <p:spPr>
          <a:xfrm>
            <a:off x="3329598" y="130607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Calibr.</a:t>
            </a:r>
            <a:endParaRPr lang="en-US" sz="750" dirty="0"/>
          </a:p>
        </p:txBody>
      </p:sp>
      <p:sp>
        <p:nvSpPr>
          <p:cNvPr id="197" name="Text 21">
            <a:extLst>
              <a:ext uri="{FF2B5EF4-FFF2-40B4-BE49-F238E27FC236}">
                <a16:creationId xmlns:a16="http://schemas.microsoft.com/office/drawing/2014/main" id="{ED4658B6-4891-C7EE-163E-A2D977A0E673}"/>
              </a:ext>
            </a:extLst>
          </p:cNvPr>
          <p:cNvSpPr/>
          <p:nvPr/>
        </p:nvSpPr>
        <p:spPr>
          <a:xfrm>
            <a:off x="4024542" y="130607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Δ</a:t>
            </a:r>
            <a:endParaRPr lang="en-US" sz="750" dirty="0"/>
          </a:p>
        </p:txBody>
      </p:sp>
      <p:sp>
        <p:nvSpPr>
          <p:cNvPr id="199" name="Shape 22">
            <a:extLst>
              <a:ext uri="{FF2B5EF4-FFF2-40B4-BE49-F238E27FC236}">
                <a16:creationId xmlns:a16="http://schemas.microsoft.com/office/drawing/2014/main" id="{0178C3B7-1DB0-CECC-842D-3FE77B49606F}"/>
              </a:ext>
            </a:extLst>
          </p:cNvPr>
          <p:cNvSpPr/>
          <p:nvPr/>
        </p:nvSpPr>
        <p:spPr>
          <a:xfrm>
            <a:off x="659550" y="1488954"/>
            <a:ext cx="4059936" cy="256032"/>
          </a:xfrm>
          <a:prstGeom prst="rect">
            <a:avLst/>
          </a:prstGeom>
          <a:solidFill>
            <a:srgbClr val="F4FAF6"/>
          </a:solidFill>
          <a:ln w="12700">
            <a:noFill/>
            <a:prstDash val="solid"/>
          </a:ln>
        </p:spPr>
      </p:sp>
      <p:sp>
        <p:nvSpPr>
          <p:cNvPr id="201" name="Text 23">
            <a:extLst>
              <a:ext uri="{FF2B5EF4-FFF2-40B4-BE49-F238E27FC236}">
                <a16:creationId xmlns:a16="http://schemas.microsoft.com/office/drawing/2014/main" id="{7AAC6F97-8D9C-0EC8-A687-0EDE25DA816A}"/>
              </a:ext>
            </a:extLst>
          </p:cNvPr>
          <p:cNvSpPr/>
          <p:nvPr/>
        </p:nvSpPr>
        <p:spPr>
          <a:xfrm>
            <a:off x="769278" y="150724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Insuficiente</a:t>
            </a:r>
            <a:r>
              <a:rPr lang="en-US" sz="8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1.0 %</a:t>
            </a:r>
            <a:endParaRPr lang="en-US" sz="850" dirty="0"/>
          </a:p>
        </p:txBody>
      </p:sp>
      <p:sp>
        <p:nvSpPr>
          <p:cNvPr id="203" name="Shape 24">
            <a:extLst>
              <a:ext uri="{FF2B5EF4-FFF2-40B4-BE49-F238E27FC236}">
                <a16:creationId xmlns:a16="http://schemas.microsoft.com/office/drawing/2014/main" id="{53F0B502-55AB-F4AD-5C0B-10F520A75A1D}"/>
              </a:ext>
            </a:extLst>
          </p:cNvPr>
          <p:cNvSpPr/>
          <p:nvPr/>
        </p:nvSpPr>
        <p:spPr>
          <a:xfrm>
            <a:off x="2634654" y="1507242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05" name="Text 25">
            <a:extLst>
              <a:ext uri="{FF2B5EF4-FFF2-40B4-BE49-F238E27FC236}">
                <a16:creationId xmlns:a16="http://schemas.microsoft.com/office/drawing/2014/main" id="{BBB817EF-89D5-4F03-CE94-504836ECAE36}"/>
              </a:ext>
            </a:extLst>
          </p:cNvPr>
          <p:cNvSpPr/>
          <p:nvPr/>
        </p:nvSpPr>
        <p:spPr>
          <a:xfrm>
            <a:off x="2634654" y="150724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07" name="Shape 26">
            <a:extLst>
              <a:ext uri="{FF2B5EF4-FFF2-40B4-BE49-F238E27FC236}">
                <a16:creationId xmlns:a16="http://schemas.microsoft.com/office/drawing/2014/main" id="{6893F406-548B-5DF9-C48B-1C1D15A53040}"/>
              </a:ext>
            </a:extLst>
          </p:cNvPr>
          <p:cNvSpPr/>
          <p:nvPr/>
        </p:nvSpPr>
        <p:spPr>
          <a:xfrm>
            <a:off x="3329598" y="1507242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00A651"/>
          </a:solidFill>
          <a:ln w="12700">
            <a:noFill/>
            <a:prstDash val="solid"/>
          </a:ln>
        </p:spPr>
      </p:sp>
      <p:sp>
        <p:nvSpPr>
          <p:cNvPr id="209" name="Text 27">
            <a:extLst>
              <a:ext uri="{FF2B5EF4-FFF2-40B4-BE49-F238E27FC236}">
                <a16:creationId xmlns:a16="http://schemas.microsoft.com/office/drawing/2014/main" id="{43AF7BF1-1B0C-635A-9AFC-B64BA8D84DC4}"/>
              </a:ext>
            </a:extLst>
          </p:cNvPr>
          <p:cNvSpPr/>
          <p:nvPr/>
        </p:nvSpPr>
        <p:spPr>
          <a:xfrm>
            <a:off x="3329598" y="150724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Incluye</a:t>
            </a:r>
            <a:endParaRPr lang="en-US" sz="800" dirty="0"/>
          </a:p>
        </p:txBody>
      </p:sp>
      <p:sp>
        <p:nvSpPr>
          <p:cNvPr id="211" name="Text 28">
            <a:extLst>
              <a:ext uri="{FF2B5EF4-FFF2-40B4-BE49-F238E27FC236}">
                <a16:creationId xmlns:a16="http://schemas.microsoft.com/office/drawing/2014/main" id="{99616800-F89F-B428-936B-70B30D354989}"/>
              </a:ext>
            </a:extLst>
          </p:cNvPr>
          <p:cNvSpPr/>
          <p:nvPr/>
        </p:nvSpPr>
        <p:spPr>
          <a:xfrm>
            <a:off x="4024542" y="150724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6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endParaRPr lang="en-US" sz="1000" dirty="0"/>
          </a:p>
        </p:txBody>
      </p:sp>
      <p:sp>
        <p:nvSpPr>
          <p:cNvPr id="213" name="Shape 29">
            <a:extLst>
              <a:ext uri="{FF2B5EF4-FFF2-40B4-BE49-F238E27FC236}">
                <a16:creationId xmlns:a16="http://schemas.microsoft.com/office/drawing/2014/main" id="{D6857621-DB13-47EA-690D-BC451D7676CE}"/>
              </a:ext>
            </a:extLst>
          </p:cNvPr>
          <p:cNvSpPr/>
          <p:nvPr/>
        </p:nvSpPr>
        <p:spPr>
          <a:xfrm>
            <a:off x="769278" y="1754130"/>
            <a:ext cx="3840480" cy="0"/>
          </a:xfrm>
          <a:prstGeom prst="line">
            <a:avLst/>
          </a:prstGeom>
          <a:noFill/>
          <a:ln w="6350">
            <a:solidFill>
              <a:srgbClr val="DDE3DF"/>
            </a:solidFill>
            <a:prstDash val="solid"/>
          </a:ln>
        </p:spPr>
      </p:sp>
      <p:sp>
        <p:nvSpPr>
          <p:cNvPr id="215" name="Shape 30">
            <a:extLst>
              <a:ext uri="{FF2B5EF4-FFF2-40B4-BE49-F238E27FC236}">
                <a16:creationId xmlns:a16="http://schemas.microsoft.com/office/drawing/2014/main" id="{31F7BF1C-F8D7-7BAB-8E5C-66CE4AB2EAA4}"/>
              </a:ext>
            </a:extLst>
          </p:cNvPr>
          <p:cNvSpPr/>
          <p:nvPr/>
        </p:nvSpPr>
        <p:spPr>
          <a:xfrm>
            <a:off x="659550" y="1754130"/>
            <a:ext cx="4059936" cy="256032"/>
          </a:xfrm>
          <a:prstGeom prst="rect">
            <a:avLst/>
          </a:prstGeom>
          <a:solidFill>
            <a:srgbClr val="F4FAF6"/>
          </a:solidFill>
          <a:ln w="12700">
            <a:noFill/>
            <a:prstDash val="solid"/>
          </a:ln>
        </p:spPr>
      </p:sp>
      <p:sp>
        <p:nvSpPr>
          <p:cNvPr id="217" name="Text 31">
            <a:extLst>
              <a:ext uri="{FF2B5EF4-FFF2-40B4-BE49-F238E27FC236}">
                <a16:creationId xmlns:a16="http://schemas.microsoft.com/office/drawing/2014/main" id="{31DB7E15-EF99-B2EA-575B-97EA1BA40820}"/>
              </a:ext>
            </a:extLst>
          </p:cNvPr>
          <p:cNvSpPr/>
          <p:nvPr/>
        </p:nvSpPr>
        <p:spPr>
          <a:xfrm>
            <a:off x="769278" y="177241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Indeterminado</a:t>
            </a:r>
            <a:r>
              <a:rPr lang="en-US" sz="8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3.4 %</a:t>
            </a:r>
            <a:endParaRPr lang="en-US" sz="850" dirty="0"/>
          </a:p>
        </p:txBody>
      </p:sp>
      <p:sp>
        <p:nvSpPr>
          <p:cNvPr id="219" name="Shape 32">
            <a:extLst>
              <a:ext uri="{FF2B5EF4-FFF2-40B4-BE49-F238E27FC236}">
                <a16:creationId xmlns:a16="http://schemas.microsoft.com/office/drawing/2014/main" id="{7F921BDB-5A31-BA65-487E-CC675C836D16}"/>
              </a:ext>
            </a:extLst>
          </p:cNvPr>
          <p:cNvSpPr/>
          <p:nvPr/>
        </p:nvSpPr>
        <p:spPr>
          <a:xfrm>
            <a:off x="2634654" y="1772418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21" name="Text 33">
            <a:extLst>
              <a:ext uri="{FF2B5EF4-FFF2-40B4-BE49-F238E27FC236}">
                <a16:creationId xmlns:a16="http://schemas.microsoft.com/office/drawing/2014/main" id="{FBB0CFBA-667D-7293-9EBF-EDA11378B3F8}"/>
              </a:ext>
            </a:extLst>
          </p:cNvPr>
          <p:cNvSpPr/>
          <p:nvPr/>
        </p:nvSpPr>
        <p:spPr>
          <a:xfrm>
            <a:off x="2634654" y="177241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23" name="Shape 34">
            <a:extLst>
              <a:ext uri="{FF2B5EF4-FFF2-40B4-BE49-F238E27FC236}">
                <a16:creationId xmlns:a16="http://schemas.microsoft.com/office/drawing/2014/main" id="{529A85FA-BA00-1C1C-B166-0C5408709186}"/>
              </a:ext>
            </a:extLst>
          </p:cNvPr>
          <p:cNvSpPr/>
          <p:nvPr/>
        </p:nvSpPr>
        <p:spPr>
          <a:xfrm>
            <a:off x="3329598" y="1772418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00A651"/>
          </a:solidFill>
          <a:ln w="12700">
            <a:noFill/>
            <a:prstDash val="solid"/>
          </a:ln>
        </p:spPr>
      </p:sp>
      <p:sp>
        <p:nvSpPr>
          <p:cNvPr id="225" name="Text 35">
            <a:extLst>
              <a:ext uri="{FF2B5EF4-FFF2-40B4-BE49-F238E27FC236}">
                <a16:creationId xmlns:a16="http://schemas.microsoft.com/office/drawing/2014/main" id="{E3AA98CA-420A-26E7-C883-2CE2703F1BA0}"/>
              </a:ext>
            </a:extLst>
          </p:cNvPr>
          <p:cNvSpPr/>
          <p:nvPr/>
        </p:nvSpPr>
        <p:spPr>
          <a:xfrm>
            <a:off x="3329598" y="177241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Incluye</a:t>
            </a:r>
            <a:endParaRPr lang="en-US" sz="800" dirty="0"/>
          </a:p>
        </p:txBody>
      </p:sp>
      <p:sp>
        <p:nvSpPr>
          <p:cNvPr id="227" name="Text 36">
            <a:extLst>
              <a:ext uri="{FF2B5EF4-FFF2-40B4-BE49-F238E27FC236}">
                <a16:creationId xmlns:a16="http://schemas.microsoft.com/office/drawing/2014/main" id="{6DE0AC7F-FA6D-88EF-920D-B018F44D3972}"/>
              </a:ext>
            </a:extLst>
          </p:cNvPr>
          <p:cNvSpPr/>
          <p:nvPr/>
        </p:nvSpPr>
        <p:spPr>
          <a:xfrm>
            <a:off x="4024542" y="177241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65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</a:t>
            </a:r>
            <a:endParaRPr lang="en-US" sz="1000" dirty="0"/>
          </a:p>
        </p:txBody>
      </p:sp>
      <p:sp>
        <p:nvSpPr>
          <p:cNvPr id="229" name="Shape 37">
            <a:extLst>
              <a:ext uri="{FF2B5EF4-FFF2-40B4-BE49-F238E27FC236}">
                <a16:creationId xmlns:a16="http://schemas.microsoft.com/office/drawing/2014/main" id="{3A1E1E39-8E45-DBA2-1BF8-4A825B4502DF}"/>
              </a:ext>
            </a:extLst>
          </p:cNvPr>
          <p:cNvSpPr/>
          <p:nvPr/>
        </p:nvSpPr>
        <p:spPr>
          <a:xfrm>
            <a:off x="769278" y="2019306"/>
            <a:ext cx="3840480" cy="0"/>
          </a:xfrm>
          <a:prstGeom prst="line">
            <a:avLst/>
          </a:prstGeom>
          <a:noFill/>
          <a:ln w="6350">
            <a:solidFill>
              <a:srgbClr val="DDE3DF"/>
            </a:solidFill>
            <a:prstDash val="solid"/>
          </a:ln>
        </p:spPr>
      </p:sp>
      <p:sp>
        <p:nvSpPr>
          <p:cNvPr id="231" name="Text 38">
            <a:extLst>
              <a:ext uri="{FF2B5EF4-FFF2-40B4-BE49-F238E27FC236}">
                <a16:creationId xmlns:a16="http://schemas.microsoft.com/office/drawing/2014/main" id="{13C2390F-CAFC-2146-98F3-1DF342BCD08E}"/>
              </a:ext>
            </a:extLst>
          </p:cNvPr>
          <p:cNvSpPr/>
          <p:nvPr/>
        </p:nvSpPr>
        <p:spPr>
          <a:xfrm>
            <a:off x="769278" y="203759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Malo en el origen</a:t>
            </a:r>
            <a:r>
              <a:rPr lang="en-US" sz="8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→ dirty</a:t>
            </a:r>
            <a:endParaRPr lang="en-US" sz="850" dirty="0"/>
          </a:p>
        </p:txBody>
      </p:sp>
      <p:sp>
        <p:nvSpPr>
          <p:cNvPr id="233" name="Shape 39">
            <a:extLst>
              <a:ext uri="{FF2B5EF4-FFF2-40B4-BE49-F238E27FC236}">
                <a16:creationId xmlns:a16="http://schemas.microsoft.com/office/drawing/2014/main" id="{9F2D9256-DE42-4B66-CEAC-B71FDA6492C4}"/>
              </a:ext>
            </a:extLst>
          </p:cNvPr>
          <p:cNvSpPr/>
          <p:nvPr/>
        </p:nvSpPr>
        <p:spPr>
          <a:xfrm>
            <a:off x="2634654" y="2037594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35" name="Text 40">
            <a:extLst>
              <a:ext uri="{FF2B5EF4-FFF2-40B4-BE49-F238E27FC236}">
                <a16:creationId xmlns:a16="http://schemas.microsoft.com/office/drawing/2014/main" id="{B2622273-3A76-4B40-9FDB-84BBF1EE96DB}"/>
              </a:ext>
            </a:extLst>
          </p:cNvPr>
          <p:cNvSpPr/>
          <p:nvPr/>
        </p:nvSpPr>
        <p:spPr>
          <a:xfrm>
            <a:off x="2634654" y="203759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37" name="Shape 41">
            <a:extLst>
              <a:ext uri="{FF2B5EF4-FFF2-40B4-BE49-F238E27FC236}">
                <a16:creationId xmlns:a16="http://schemas.microsoft.com/office/drawing/2014/main" id="{A894CD49-4A9D-D47C-DF0A-B36E983EB9D6}"/>
              </a:ext>
            </a:extLst>
          </p:cNvPr>
          <p:cNvSpPr/>
          <p:nvPr/>
        </p:nvSpPr>
        <p:spPr>
          <a:xfrm>
            <a:off x="3329598" y="2037594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39" name="Text 42">
            <a:extLst>
              <a:ext uri="{FF2B5EF4-FFF2-40B4-BE49-F238E27FC236}">
                <a16:creationId xmlns:a16="http://schemas.microsoft.com/office/drawing/2014/main" id="{032AA452-9409-3224-779D-A67CBE3C1426}"/>
              </a:ext>
            </a:extLst>
          </p:cNvPr>
          <p:cNvSpPr/>
          <p:nvPr/>
        </p:nvSpPr>
        <p:spPr>
          <a:xfrm>
            <a:off x="3329598" y="203759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41" name="Text 43">
            <a:extLst>
              <a:ext uri="{FF2B5EF4-FFF2-40B4-BE49-F238E27FC236}">
                <a16:creationId xmlns:a16="http://schemas.microsoft.com/office/drawing/2014/main" id="{8A857FA6-74E1-C6A8-AFC7-5880FFD88AFF}"/>
              </a:ext>
            </a:extLst>
          </p:cNvPr>
          <p:cNvSpPr/>
          <p:nvPr/>
        </p:nvSpPr>
        <p:spPr>
          <a:xfrm>
            <a:off x="4024542" y="203759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3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–</a:t>
            </a:r>
            <a:endParaRPr lang="en-US" sz="900" dirty="0"/>
          </a:p>
        </p:txBody>
      </p:sp>
      <p:sp>
        <p:nvSpPr>
          <p:cNvPr id="243" name="Shape 44">
            <a:extLst>
              <a:ext uri="{FF2B5EF4-FFF2-40B4-BE49-F238E27FC236}">
                <a16:creationId xmlns:a16="http://schemas.microsoft.com/office/drawing/2014/main" id="{40991B1D-7414-5701-F11C-847B583396CA}"/>
              </a:ext>
            </a:extLst>
          </p:cNvPr>
          <p:cNvSpPr/>
          <p:nvPr/>
        </p:nvSpPr>
        <p:spPr>
          <a:xfrm>
            <a:off x="769278" y="2284482"/>
            <a:ext cx="3840480" cy="0"/>
          </a:xfrm>
          <a:prstGeom prst="line">
            <a:avLst/>
          </a:prstGeom>
          <a:noFill/>
          <a:ln w="6350">
            <a:solidFill>
              <a:srgbClr val="DDE3DF"/>
            </a:solidFill>
            <a:prstDash val="solid"/>
          </a:ln>
        </p:spPr>
      </p:sp>
      <p:sp>
        <p:nvSpPr>
          <p:cNvPr id="245" name="Text 45">
            <a:extLst>
              <a:ext uri="{FF2B5EF4-FFF2-40B4-BE49-F238E27FC236}">
                <a16:creationId xmlns:a16="http://schemas.microsoft.com/office/drawing/2014/main" id="{277EFBA0-B9A9-724C-D8E0-439C6EED930D}"/>
              </a:ext>
            </a:extLst>
          </p:cNvPr>
          <p:cNvSpPr/>
          <p:nvPr/>
        </p:nvSpPr>
        <p:spPr>
          <a:xfrm>
            <a:off x="769278" y="230277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Malo en el SF</a:t>
            </a:r>
            <a:r>
              <a:rPr lang="en-US" sz="8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→ dirty</a:t>
            </a:r>
            <a:endParaRPr lang="en-US" sz="850" dirty="0"/>
          </a:p>
        </p:txBody>
      </p:sp>
      <p:sp>
        <p:nvSpPr>
          <p:cNvPr id="247" name="Shape 46">
            <a:extLst>
              <a:ext uri="{FF2B5EF4-FFF2-40B4-BE49-F238E27FC236}">
                <a16:creationId xmlns:a16="http://schemas.microsoft.com/office/drawing/2014/main" id="{1591D3AA-4EF2-CD67-C373-7DF50824CAE8}"/>
              </a:ext>
            </a:extLst>
          </p:cNvPr>
          <p:cNvSpPr/>
          <p:nvPr/>
        </p:nvSpPr>
        <p:spPr>
          <a:xfrm>
            <a:off x="2634654" y="2302770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49" name="Text 47">
            <a:extLst>
              <a:ext uri="{FF2B5EF4-FFF2-40B4-BE49-F238E27FC236}">
                <a16:creationId xmlns:a16="http://schemas.microsoft.com/office/drawing/2014/main" id="{D87B5325-B1A7-A4AA-9F69-C11711B1EE05}"/>
              </a:ext>
            </a:extLst>
          </p:cNvPr>
          <p:cNvSpPr/>
          <p:nvPr/>
        </p:nvSpPr>
        <p:spPr>
          <a:xfrm>
            <a:off x="2634654" y="230277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51" name="Shape 48">
            <a:extLst>
              <a:ext uri="{FF2B5EF4-FFF2-40B4-BE49-F238E27FC236}">
                <a16:creationId xmlns:a16="http://schemas.microsoft.com/office/drawing/2014/main" id="{28CB4EA0-1AE3-EE99-208E-9ACF156B2128}"/>
              </a:ext>
            </a:extLst>
          </p:cNvPr>
          <p:cNvSpPr/>
          <p:nvPr/>
        </p:nvSpPr>
        <p:spPr>
          <a:xfrm>
            <a:off x="3329598" y="2302770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53" name="Text 49">
            <a:extLst>
              <a:ext uri="{FF2B5EF4-FFF2-40B4-BE49-F238E27FC236}">
                <a16:creationId xmlns:a16="http://schemas.microsoft.com/office/drawing/2014/main" id="{B331A9F3-E6AA-0246-BD8E-9695BEA06470}"/>
              </a:ext>
            </a:extLst>
          </p:cNvPr>
          <p:cNvSpPr/>
          <p:nvPr/>
        </p:nvSpPr>
        <p:spPr>
          <a:xfrm>
            <a:off x="3329598" y="230277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55" name="Text 50">
            <a:extLst>
              <a:ext uri="{FF2B5EF4-FFF2-40B4-BE49-F238E27FC236}">
                <a16:creationId xmlns:a16="http://schemas.microsoft.com/office/drawing/2014/main" id="{7773B984-45B1-D582-4B7A-6DE6F92C8C1F}"/>
              </a:ext>
            </a:extLst>
          </p:cNvPr>
          <p:cNvSpPr/>
          <p:nvPr/>
        </p:nvSpPr>
        <p:spPr>
          <a:xfrm>
            <a:off x="4024542" y="230277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3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–</a:t>
            </a:r>
            <a:endParaRPr lang="en-US" sz="900" dirty="0"/>
          </a:p>
        </p:txBody>
      </p:sp>
      <p:sp>
        <p:nvSpPr>
          <p:cNvPr id="257" name="Shape 51">
            <a:extLst>
              <a:ext uri="{FF2B5EF4-FFF2-40B4-BE49-F238E27FC236}">
                <a16:creationId xmlns:a16="http://schemas.microsoft.com/office/drawing/2014/main" id="{5141659C-1751-AAA9-404E-616BABD63EBE}"/>
              </a:ext>
            </a:extLst>
          </p:cNvPr>
          <p:cNvSpPr/>
          <p:nvPr/>
        </p:nvSpPr>
        <p:spPr>
          <a:xfrm>
            <a:off x="769278" y="2549658"/>
            <a:ext cx="3840480" cy="0"/>
          </a:xfrm>
          <a:prstGeom prst="line">
            <a:avLst/>
          </a:prstGeom>
          <a:noFill/>
          <a:ln w="6350">
            <a:solidFill>
              <a:srgbClr val="DDE3DF"/>
            </a:solidFill>
            <a:prstDash val="solid"/>
          </a:ln>
        </p:spPr>
      </p:sp>
      <p:sp>
        <p:nvSpPr>
          <p:cNvPr id="259" name="Text 52">
            <a:extLst>
              <a:ext uri="{FF2B5EF4-FFF2-40B4-BE49-F238E27FC236}">
                <a16:creationId xmlns:a16="http://schemas.microsoft.com/office/drawing/2014/main" id="{27468BB5-CD61-69AE-4CF7-87548748C7DD}"/>
              </a:ext>
            </a:extLst>
          </p:cNvPr>
          <p:cNvSpPr/>
          <p:nvPr/>
        </p:nvSpPr>
        <p:spPr>
          <a:xfrm>
            <a:off x="769278" y="256794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Garantia hipotecaria</a:t>
            </a:r>
            <a:r>
              <a:rPr lang="en-US" sz="8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→ 99</a:t>
            </a:r>
            <a:endParaRPr lang="en-US" sz="850" dirty="0"/>
          </a:p>
        </p:txBody>
      </p:sp>
      <p:sp>
        <p:nvSpPr>
          <p:cNvPr id="261" name="Shape 53">
            <a:extLst>
              <a:ext uri="{FF2B5EF4-FFF2-40B4-BE49-F238E27FC236}">
                <a16:creationId xmlns:a16="http://schemas.microsoft.com/office/drawing/2014/main" id="{8574356B-1CB4-228D-A8CB-CF4B9386906C}"/>
              </a:ext>
            </a:extLst>
          </p:cNvPr>
          <p:cNvSpPr/>
          <p:nvPr/>
        </p:nvSpPr>
        <p:spPr>
          <a:xfrm>
            <a:off x="2634654" y="2567946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63" name="Text 54">
            <a:extLst>
              <a:ext uri="{FF2B5EF4-FFF2-40B4-BE49-F238E27FC236}">
                <a16:creationId xmlns:a16="http://schemas.microsoft.com/office/drawing/2014/main" id="{93EE9446-3475-FF35-A483-EE98FEB3AB66}"/>
              </a:ext>
            </a:extLst>
          </p:cNvPr>
          <p:cNvSpPr/>
          <p:nvPr/>
        </p:nvSpPr>
        <p:spPr>
          <a:xfrm>
            <a:off x="2634654" y="256794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65" name="Shape 55">
            <a:extLst>
              <a:ext uri="{FF2B5EF4-FFF2-40B4-BE49-F238E27FC236}">
                <a16:creationId xmlns:a16="http://schemas.microsoft.com/office/drawing/2014/main" id="{69565CB1-F4AA-0059-735C-45EA72169DBA}"/>
              </a:ext>
            </a:extLst>
          </p:cNvPr>
          <p:cNvSpPr/>
          <p:nvPr/>
        </p:nvSpPr>
        <p:spPr>
          <a:xfrm>
            <a:off x="3329598" y="2567946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67" name="Text 56">
            <a:extLst>
              <a:ext uri="{FF2B5EF4-FFF2-40B4-BE49-F238E27FC236}">
                <a16:creationId xmlns:a16="http://schemas.microsoft.com/office/drawing/2014/main" id="{803910C9-56F3-4A3F-A0B4-670EE57DCB10}"/>
              </a:ext>
            </a:extLst>
          </p:cNvPr>
          <p:cNvSpPr/>
          <p:nvPr/>
        </p:nvSpPr>
        <p:spPr>
          <a:xfrm>
            <a:off x="3329598" y="256794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69" name="Text 57">
            <a:extLst>
              <a:ext uri="{FF2B5EF4-FFF2-40B4-BE49-F238E27FC236}">
                <a16:creationId xmlns:a16="http://schemas.microsoft.com/office/drawing/2014/main" id="{E5092DEE-C900-8AB0-0EEE-A71F8EB7163E}"/>
              </a:ext>
            </a:extLst>
          </p:cNvPr>
          <p:cNvSpPr/>
          <p:nvPr/>
        </p:nvSpPr>
        <p:spPr>
          <a:xfrm>
            <a:off x="4024542" y="256794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3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–</a:t>
            </a:r>
            <a:endParaRPr lang="en-US" sz="900" dirty="0"/>
          </a:p>
        </p:txBody>
      </p:sp>
      <p:sp>
        <p:nvSpPr>
          <p:cNvPr id="271" name="Shape 58">
            <a:extLst>
              <a:ext uri="{FF2B5EF4-FFF2-40B4-BE49-F238E27FC236}">
                <a16:creationId xmlns:a16="http://schemas.microsoft.com/office/drawing/2014/main" id="{6A59EA86-40E5-C500-6107-C21217F49384}"/>
              </a:ext>
            </a:extLst>
          </p:cNvPr>
          <p:cNvSpPr/>
          <p:nvPr/>
        </p:nvSpPr>
        <p:spPr>
          <a:xfrm>
            <a:off x="769278" y="2814834"/>
            <a:ext cx="3840480" cy="0"/>
          </a:xfrm>
          <a:prstGeom prst="line">
            <a:avLst/>
          </a:prstGeom>
          <a:noFill/>
          <a:ln w="6350">
            <a:solidFill>
              <a:srgbClr val="DDE3DF"/>
            </a:solidFill>
            <a:prstDash val="solid"/>
          </a:ln>
        </p:spPr>
      </p:sp>
      <p:sp>
        <p:nvSpPr>
          <p:cNvPr id="273" name="Text 59">
            <a:extLst>
              <a:ext uri="{FF2B5EF4-FFF2-40B4-BE49-F238E27FC236}">
                <a16:creationId xmlns:a16="http://schemas.microsoft.com/office/drawing/2014/main" id="{7F829732-650D-8CD2-4C5E-9670088B53BB}"/>
              </a:ext>
            </a:extLst>
          </p:cNvPr>
          <p:cNvSpPr/>
          <p:nvPr/>
        </p:nvSpPr>
        <p:spPr>
          <a:xfrm>
            <a:off x="769278" y="283312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Colaborador</a:t>
            </a:r>
            <a:r>
              <a:rPr lang="en-US" sz="8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→ 99</a:t>
            </a:r>
            <a:endParaRPr lang="en-US" sz="850" dirty="0"/>
          </a:p>
        </p:txBody>
      </p:sp>
      <p:sp>
        <p:nvSpPr>
          <p:cNvPr id="275" name="Shape 60">
            <a:extLst>
              <a:ext uri="{FF2B5EF4-FFF2-40B4-BE49-F238E27FC236}">
                <a16:creationId xmlns:a16="http://schemas.microsoft.com/office/drawing/2014/main" id="{E079E651-F121-9EA2-7514-82B23BB022A2}"/>
              </a:ext>
            </a:extLst>
          </p:cNvPr>
          <p:cNvSpPr/>
          <p:nvPr/>
        </p:nvSpPr>
        <p:spPr>
          <a:xfrm>
            <a:off x="2634654" y="2833122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77" name="Text 61">
            <a:extLst>
              <a:ext uri="{FF2B5EF4-FFF2-40B4-BE49-F238E27FC236}">
                <a16:creationId xmlns:a16="http://schemas.microsoft.com/office/drawing/2014/main" id="{E59EF027-06E1-353E-3896-44D3F87AB1EC}"/>
              </a:ext>
            </a:extLst>
          </p:cNvPr>
          <p:cNvSpPr/>
          <p:nvPr/>
        </p:nvSpPr>
        <p:spPr>
          <a:xfrm>
            <a:off x="2634654" y="283312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79" name="Shape 62">
            <a:extLst>
              <a:ext uri="{FF2B5EF4-FFF2-40B4-BE49-F238E27FC236}">
                <a16:creationId xmlns:a16="http://schemas.microsoft.com/office/drawing/2014/main" id="{162D038F-07BB-D90E-2DB8-E2B3B9B6066A}"/>
              </a:ext>
            </a:extLst>
          </p:cNvPr>
          <p:cNvSpPr/>
          <p:nvPr/>
        </p:nvSpPr>
        <p:spPr>
          <a:xfrm>
            <a:off x="3329598" y="2833122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81" name="Text 63">
            <a:extLst>
              <a:ext uri="{FF2B5EF4-FFF2-40B4-BE49-F238E27FC236}">
                <a16:creationId xmlns:a16="http://schemas.microsoft.com/office/drawing/2014/main" id="{04B75175-FE85-C3B4-2F11-FBB204482F4B}"/>
              </a:ext>
            </a:extLst>
          </p:cNvPr>
          <p:cNvSpPr/>
          <p:nvPr/>
        </p:nvSpPr>
        <p:spPr>
          <a:xfrm>
            <a:off x="3329598" y="283312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83" name="Text 64">
            <a:extLst>
              <a:ext uri="{FF2B5EF4-FFF2-40B4-BE49-F238E27FC236}">
                <a16:creationId xmlns:a16="http://schemas.microsoft.com/office/drawing/2014/main" id="{DA27A807-CE5B-40D5-CE36-CF7C0E99B90F}"/>
              </a:ext>
            </a:extLst>
          </p:cNvPr>
          <p:cNvSpPr/>
          <p:nvPr/>
        </p:nvSpPr>
        <p:spPr>
          <a:xfrm>
            <a:off x="4024542" y="283312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3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–</a:t>
            </a:r>
            <a:endParaRPr lang="en-US" sz="900" dirty="0"/>
          </a:p>
        </p:txBody>
      </p:sp>
      <p:sp>
        <p:nvSpPr>
          <p:cNvPr id="285" name="Shape 65">
            <a:extLst>
              <a:ext uri="{FF2B5EF4-FFF2-40B4-BE49-F238E27FC236}">
                <a16:creationId xmlns:a16="http://schemas.microsoft.com/office/drawing/2014/main" id="{B27A1B58-B30A-C270-B14C-EF2B2BB43AE4}"/>
              </a:ext>
            </a:extLst>
          </p:cNvPr>
          <p:cNvSpPr/>
          <p:nvPr/>
        </p:nvSpPr>
        <p:spPr>
          <a:xfrm>
            <a:off x="769278" y="3080010"/>
            <a:ext cx="3840480" cy="0"/>
          </a:xfrm>
          <a:prstGeom prst="line">
            <a:avLst/>
          </a:prstGeom>
          <a:noFill/>
          <a:ln w="6350">
            <a:solidFill>
              <a:srgbClr val="DDE3DF"/>
            </a:solidFill>
            <a:prstDash val="solid"/>
          </a:ln>
        </p:spPr>
      </p:sp>
      <p:sp>
        <p:nvSpPr>
          <p:cNvPr id="287" name="Text 66">
            <a:extLst>
              <a:ext uri="{FF2B5EF4-FFF2-40B4-BE49-F238E27FC236}">
                <a16:creationId xmlns:a16="http://schemas.microsoft.com/office/drawing/2014/main" id="{945D5637-061E-D37F-9655-621989B6B85A}"/>
              </a:ext>
            </a:extLst>
          </p:cNvPr>
          <p:cNvSpPr/>
          <p:nvPr/>
        </p:nvSpPr>
        <p:spPr>
          <a:xfrm>
            <a:off x="769278" y="309829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pendiente 0</a:t>
            </a:r>
            <a:r>
              <a:rPr lang="en-US" sz="8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→ 99</a:t>
            </a:r>
            <a:endParaRPr lang="en-US" sz="850" dirty="0"/>
          </a:p>
        </p:txBody>
      </p:sp>
      <p:sp>
        <p:nvSpPr>
          <p:cNvPr id="289" name="Shape 67">
            <a:extLst>
              <a:ext uri="{FF2B5EF4-FFF2-40B4-BE49-F238E27FC236}">
                <a16:creationId xmlns:a16="http://schemas.microsoft.com/office/drawing/2014/main" id="{E724259B-2423-9015-D0DA-5603A0B18490}"/>
              </a:ext>
            </a:extLst>
          </p:cNvPr>
          <p:cNvSpPr/>
          <p:nvPr/>
        </p:nvSpPr>
        <p:spPr>
          <a:xfrm>
            <a:off x="2634654" y="3098298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91" name="Text 68">
            <a:extLst>
              <a:ext uri="{FF2B5EF4-FFF2-40B4-BE49-F238E27FC236}">
                <a16:creationId xmlns:a16="http://schemas.microsoft.com/office/drawing/2014/main" id="{7A825EE5-0EB5-F91D-376C-B50102DAB045}"/>
              </a:ext>
            </a:extLst>
          </p:cNvPr>
          <p:cNvSpPr/>
          <p:nvPr/>
        </p:nvSpPr>
        <p:spPr>
          <a:xfrm>
            <a:off x="2634654" y="309829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93" name="Shape 69">
            <a:extLst>
              <a:ext uri="{FF2B5EF4-FFF2-40B4-BE49-F238E27FC236}">
                <a16:creationId xmlns:a16="http://schemas.microsoft.com/office/drawing/2014/main" id="{B598A1A0-4F7E-083D-19DA-6A043A9E3254}"/>
              </a:ext>
            </a:extLst>
          </p:cNvPr>
          <p:cNvSpPr/>
          <p:nvPr/>
        </p:nvSpPr>
        <p:spPr>
          <a:xfrm>
            <a:off x="3329598" y="3098298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solid"/>
          </a:ln>
        </p:spPr>
      </p:sp>
      <p:sp>
        <p:nvSpPr>
          <p:cNvPr id="295" name="Text 70">
            <a:extLst>
              <a:ext uri="{FF2B5EF4-FFF2-40B4-BE49-F238E27FC236}">
                <a16:creationId xmlns:a16="http://schemas.microsoft.com/office/drawing/2014/main" id="{A6B968B7-55DD-5812-A7B0-7485C0997434}"/>
              </a:ext>
            </a:extLst>
          </p:cNvPr>
          <p:cNvSpPr/>
          <p:nvPr/>
        </p:nvSpPr>
        <p:spPr>
          <a:xfrm>
            <a:off x="3329598" y="309829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Excluye</a:t>
            </a:r>
            <a:endParaRPr lang="en-US" sz="800" dirty="0"/>
          </a:p>
        </p:txBody>
      </p:sp>
      <p:sp>
        <p:nvSpPr>
          <p:cNvPr id="297" name="Text 71">
            <a:extLst>
              <a:ext uri="{FF2B5EF4-FFF2-40B4-BE49-F238E27FC236}">
                <a16:creationId xmlns:a16="http://schemas.microsoft.com/office/drawing/2014/main" id="{F70CDAC7-90BF-A097-CDB0-E44751B1E9EC}"/>
              </a:ext>
            </a:extLst>
          </p:cNvPr>
          <p:cNvSpPr/>
          <p:nvPr/>
        </p:nvSpPr>
        <p:spPr>
          <a:xfrm>
            <a:off x="4024542" y="309829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3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–</a:t>
            </a:r>
            <a:endParaRPr lang="en-US" sz="900" dirty="0"/>
          </a:p>
        </p:txBody>
      </p:sp>
      <p:sp>
        <p:nvSpPr>
          <p:cNvPr id="299" name="Shape 72">
            <a:extLst>
              <a:ext uri="{FF2B5EF4-FFF2-40B4-BE49-F238E27FC236}">
                <a16:creationId xmlns:a16="http://schemas.microsoft.com/office/drawing/2014/main" id="{DF19D02C-15FB-5AD9-5EC5-BDF2EC965272}"/>
              </a:ext>
            </a:extLst>
          </p:cNvPr>
          <p:cNvSpPr/>
          <p:nvPr/>
        </p:nvSpPr>
        <p:spPr>
          <a:xfrm>
            <a:off x="769278" y="3345186"/>
            <a:ext cx="3840480" cy="0"/>
          </a:xfrm>
          <a:prstGeom prst="line">
            <a:avLst/>
          </a:prstGeom>
          <a:noFill/>
          <a:ln w="6350">
            <a:solidFill>
              <a:srgbClr val="DDE3DF"/>
            </a:solidFill>
            <a:prstDash val="solid"/>
          </a:ln>
        </p:spPr>
      </p:sp>
      <p:sp>
        <p:nvSpPr>
          <p:cNvPr id="311" name="Text 78">
            <a:extLst>
              <a:ext uri="{FF2B5EF4-FFF2-40B4-BE49-F238E27FC236}">
                <a16:creationId xmlns:a16="http://schemas.microsoft.com/office/drawing/2014/main" id="{C4F4FD0C-8CDE-6769-BEDE-35A6D2746054}"/>
              </a:ext>
            </a:extLst>
          </p:cNvPr>
          <p:cNvSpPr/>
          <p:nvPr/>
        </p:nvSpPr>
        <p:spPr>
          <a:xfrm>
            <a:off x="3329598" y="336347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aplica</a:t>
            </a:r>
            <a:endParaRPr lang="en-US" sz="800" dirty="0"/>
          </a:p>
        </p:txBody>
      </p:sp>
      <p:sp>
        <p:nvSpPr>
          <p:cNvPr id="551" name="Shape 97">
            <a:extLst>
              <a:ext uri="{FF2B5EF4-FFF2-40B4-BE49-F238E27FC236}">
                <a16:creationId xmlns:a16="http://schemas.microsoft.com/office/drawing/2014/main" id="{47E25DF4-241B-75D7-3BE9-292025A6BE61}"/>
              </a:ext>
            </a:extLst>
          </p:cNvPr>
          <p:cNvSpPr/>
          <p:nvPr/>
        </p:nvSpPr>
        <p:spPr>
          <a:xfrm>
            <a:off x="6949440" y="3282696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53" name="Shape 98">
            <a:extLst>
              <a:ext uri="{FF2B5EF4-FFF2-40B4-BE49-F238E27FC236}">
                <a16:creationId xmlns:a16="http://schemas.microsoft.com/office/drawing/2014/main" id="{294E3989-77DD-026F-A139-F96C717F9ABA}"/>
              </a:ext>
            </a:extLst>
          </p:cNvPr>
          <p:cNvSpPr/>
          <p:nvPr/>
        </p:nvSpPr>
        <p:spPr>
          <a:xfrm>
            <a:off x="7063740" y="2176272"/>
            <a:ext cx="0" cy="1106424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55" name="Shape 99">
            <a:extLst>
              <a:ext uri="{FF2B5EF4-FFF2-40B4-BE49-F238E27FC236}">
                <a16:creationId xmlns:a16="http://schemas.microsoft.com/office/drawing/2014/main" id="{32E87FAF-6153-AAF3-E172-5C6C0958FD39}"/>
              </a:ext>
            </a:extLst>
          </p:cNvPr>
          <p:cNvSpPr/>
          <p:nvPr/>
        </p:nvSpPr>
        <p:spPr>
          <a:xfrm>
            <a:off x="7063740" y="2176272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57" name="Shape 100">
            <a:extLst>
              <a:ext uri="{FF2B5EF4-FFF2-40B4-BE49-F238E27FC236}">
                <a16:creationId xmlns:a16="http://schemas.microsoft.com/office/drawing/2014/main" id="{892233D7-435D-E01E-E24C-AD9B2773A6C8}"/>
              </a:ext>
            </a:extLst>
          </p:cNvPr>
          <p:cNvSpPr/>
          <p:nvPr/>
        </p:nvSpPr>
        <p:spPr>
          <a:xfrm>
            <a:off x="6949440" y="3282696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59" name="Shape 101">
            <a:extLst>
              <a:ext uri="{FF2B5EF4-FFF2-40B4-BE49-F238E27FC236}">
                <a16:creationId xmlns:a16="http://schemas.microsoft.com/office/drawing/2014/main" id="{5C9929DA-28C1-AC76-88B3-90AB10B40323}"/>
              </a:ext>
            </a:extLst>
          </p:cNvPr>
          <p:cNvSpPr/>
          <p:nvPr/>
        </p:nvSpPr>
        <p:spPr>
          <a:xfrm>
            <a:off x="7063740" y="3282696"/>
            <a:ext cx="0" cy="1106424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61" name="Shape 102">
            <a:extLst>
              <a:ext uri="{FF2B5EF4-FFF2-40B4-BE49-F238E27FC236}">
                <a16:creationId xmlns:a16="http://schemas.microsoft.com/office/drawing/2014/main" id="{DD939A88-1BD6-2D52-87FF-36F56453C585}"/>
              </a:ext>
            </a:extLst>
          </p:cNvPr>
          <p:cNvSpPr/>
          <p:nvPr/>
        </p:nvSpPr>
        <p:spPr>
          <a:xfrm>
            <a:off x="7063740" y="4389120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63" name="Shape 103">
            <a:extLst>
              <a:ext uri="{FF2B5EF4-FFF2-40B4-BE49-F238E27FC236}">
                <a16:creationId xmlns:a16="http://schemas.microsoft.com/office/drawing/2014/main" id="{DA2F8E8B-5E52-4B34-F810-44805F200510}"/>
              </a:ext>
            </a:extLst>
          </p:cNvPr>
          <p:cNvSpPr/>
          <p:nvPr/>
        </p:nvSpPr>
        <p:spPr>
          <a:xfrm>
            <a:off x="9052560" y="2176272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65" name="Shape 104">
            <a:extLst>
              <a:ext uri="{FF2B5EF4-FFF2-40B4-BE49-F238E27FC236}">
                <a16:creationId xmlns:a16="http://schemas.microsoft.com/office/drawing/2014/main" id="{07653E81-5778-E4D1-B330-2A84FF585A02}"/>
              </a:ext>
            </a:extLst>
          </p:cNvPr>
          <p:cNvSpPr/>
          <p:nvPr/>
        </p:nvSpPr>
        <p:spPr>
          <a:xfrm>
            <a:off x="9166860" y="1623060"/>
            <a:ext cx="0" cy="553212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67" name="Shape 105">
            <a:extLst>
              <a:ext uri="{FF2B5EF4-FFF2-40B4-BE49-F238E27FC236}">
                <a16:creationId xmlns:a16="http://schemas.microsoft.com/office/drawing/2014/main" id="{DC5EEEA0-353B-8DE4-39DA-F9D634883476}"/>
              </a:ext>
            </a:extLst>
          </p:cNvPr>
          <p:cNvSpPr/>
          <p:nvPr/>
        </p:nvSpPr>
        <p:spPr>
          <a:xfrm>
            <a:off x="9166860" y="1623060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69" name="Shape 106">
            <a:extLst>
              <a:ext uri="{FF2B5EF4-FFF2-40B4-BE49-F238E27FC236}">
                <a16:creationId xmlns:a16="http://schemas.microsoft.com/office/drawing/2014/main" id="{7953D112-EE96-FA59-2843-3DBDE3255C1C}"/>
              </a:ext>
            </a:extLst>
          </p:cNvPr>
          <p:cNvSpPr/>
          <p:nvPr/>
        </p:nvSpPr>
        <p:spPr>
          <a:xfrm>
            <a:off x="9052560" y="2176272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71" name="Shape 107">
            <a:extLst>
              <a:ext uri="{FF2B5EF4-FFF2-40B4-BE49-F238E27FC236}">
                <a16:creationId xmlns:a16="http://schemas.microsoft.com/office/drawing/2014/main" id="{4F2BA2A3-073A-4AD2-B384-8210BEF9FD7A}"/>
              </a:ext>
            </a:extLst>
          </p:cNvPr>
          <p:cNvSpPr/>
          <p:nvPr/>
        </p:nvSpPr>
        <p:spPr>
          <a:xfrm>
            <a:off x="9166860" y="2176272"/>
            <a:ext cx="0" cy="553212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73" name="Shape 108">
            <a:extLst>
              <a:ext uri="{FF2B5EF4-FFF2-40B4-BE49-F238E27FC236}">
                <a16:creationId xmlns:a16="http://schemas.microsoft.com/office/drawing/2014/main" id="{1927F4D0-BEB1-0501-A3F4-BA0D1EC179CA}"/>
              </a:ext>
            </a:extLst>
          </p:cNvPr>
          <p:cNvSpPr/>
          <p:nvPr/>
        </p:nvSpPr>
        <p:spPr>
          <a:xfrm>
            <a:off x="9166860" y="2729484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75" name="Shape 109">
            <a:extLst>
              <a:ext uri="{FF2B5EF4-FFF2-40B4-BE49-F238E27FC236}">
                <a16:creationId xmlns:a16="http://schemas.microsoft.com/office/drawing/2014/main" id="{B06E81AC-6DBD-4ED1-25F5-95B2F37C4E40}"/>
              </a:ext>
            </a:extLst>
          </p:cNvPr>
          <p:cNvSpPr/>
          <p:nvPr/>
        </p:nvSpPr>
        <p:spPr>
          <a:xfrm>
            <a:off x="9052560" y="4389120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77" name="Shape 110">
            <a:extLst>
              <a:ext uri="{FF2B5EF4-FFF2-40B4-BE49-F238E27FC236}">
                <a16:creationId xmlns:a16="http://schemas.microsoft.com/office/drawing/2014/main" id="{A3E772E0-4BEE-2F0A-32F5-62868F05501A}"/>
              </a:ext>
            </a:extLst>
          </p:cNvPr>
          <p:cNvSpPr/>
          <p:nvPr/>
        </p:nvSpPr>
        <p:spPr>
          <a:xfrm>
            <a:off x="9166860" y="3835908"/>
            <a:ext cx="0" cy="553212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79" name="Shape 111">
            <a:extLst>
              <a:ext uri="{FF2B5EF4-FFF2-40B4-BE49-F238E27FC236}">
                <a16:creationId xmlns:a16="http://schemas.microsoft.com/office/drawing/2014/main" id="{81AC634D-2066-EAE3-D440-123246710D63}"/>
              </a:ext>
            </a:extLst>
          </p:cNvPr>
          <p:cNvSpPr/>
          <p:nvPr/>
        </p:nvSpPr>
        <p:spPr>
          <a:xfrm>
            <a:off x="9166860" y="3835908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81" name="Shape 112">
            <a:extLst>
              <a:ext uri="{FF2B5EF4-FFF2-40B4-BE49-F238E27FC236}">
                <a16:creationId xmlns:a16="http://schemas.microsoft.com/office/drawing/2014/main" id="{01EA9F7B-83F0-52E3-F1FE-F52948B71C2F}"/>
              </a:ext>
            </a:extLst>
          </p:cNvPr>
          <p:cNvSpPr/>
          <p:nvPr/>
        </p:nvSpPr>
        <p:spPr>
          <a:xfrm>
            <a:off x="9052560" y="4389120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83" name="Shape 113">
            <a:extLst>
              <a:ext uri="{FF2B5EF4-FFF2-40B4-BE49-F238E27FC236}">
                <a16:creationId xmlns:a16="http://schemas.microsoft.com/office/drawing/2014/main" id="{358FE34D-0573-10B8-F826-AB28EB4088AE}"/>
              </a:ext>
            </a:extLst>
          </p:cNvPr>
          <p:cNvSpPr/>
          <p:nvPr/>
        </p:nvSpPr>
        <p:spPr>
          <a:xfrm>
            <a:off x="9166860" y="4389120"/>
            <a:ext cx="0" cy="553212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85" name="Shape 114">
            <a:extLst>
              <a:ext uri="{FF2B5EF4-FFF2-40B4-BE49-F238E27FC236}">
                <a16:creationId xmlns:a16="http://schemas.microsoft.com/office/drawing/2014/main" id="{D7ACB980-F14D-8EAD-DB14-8A001BEA356B}"/>
              </a:ext>
            </a:extLst>
          </p:cNvPr>
          <p:cNvSpPr/>
          <p:nvPr/>
        </p:nvSpPr>
        <p:spPr>
          <a:xfrm>
            <a:off x="9166860" y="4942332"/>
            <a:ext cx="114300" cy="0"/>
          </a:xfrm>
          <a:prstGeom prst="line">
            <a:avLst/>
          </a:prstGeom>
          <a:noFill/>
          <a:ln w="15875">
            <a:solidFill>
              <a:srgbClr val="00A651"/>
            </a:solidFill>
            <a:prstDash val="solid"/>
          </a:ln>
        </p:spPr>
      </p:sp>
      <p:sp>
        <p:nvSpPr>
          <p:cNvPr id="587" name="Shape 115">
            <a:extLst>
              <a:ext uri="{FF2B5EF4-FFF2-40B4-BE49-F238E27FC236}">
                <a16:creationId xmlns:a16="http://schemas.microsoft.com/office/drawing/2014/main" id="{BE0CE09C-ADA0-0849-331B-B6EAB500F1FD}"/>
              </a:ext>
            </a:extLst>
          </p:cNvPr>
          <p:cNvSpPr/>
          <p:nvPr/>
        </p:nvSpPr>
        <p:spPr>
          <a:xfrm>
            <a:off x="6012180" y="4069080"/>
            <a:ext cx="0" cy="192024"/>
          </a:xfrm>
          <a:prstGeom prst="line">
            <a:avLst/>
          </a:prstGeom>
          <a:noFill/>
          <a:ln w="12700">
            <a:solidFill>
              <a:srgbClr val="8B968F"/>
            </a:solidFill>
            <a:prstDash val="dash"/>
          </a:ln>
        </p:spPr>
      </p:sp>
      <p:sp>
        <p:nvSpPr>
          <p:cNvPr id="589" name="Shape 116">
            <a:extLst>
              <a:ext uri="{FF2B5EF4-FFF2-40B4-BE49-F238E27FC236}">
                <a16:creationId xmlns:a16="http://schemas.microsoft.com/office/drawing/2014/main" id="{BE8E24C2-1F5E-D1FE-3B05-3E3D6A674037}"/>
              </a:ext>
            </a:extLst>
          </p:cNvPr>
          <p:cNvSpPr/>
          <p:nvPr/>
        </p:nvSpPr>
        <p:spPr>
          <a:xfrm>
            <a:off x="5074920" y="2496312"/>
            <a:ext cx="1874520" cy="1572768"/>
          </a:xfrm>
          <a:prstGeom prst="roundRect">
            <a:avLst>
              <a:gd name="adj" fmla="val 1744"/>
            </a:avLst>
          </a:prstGeom>
          <a:solidFill>
            <a:srgbClr val="00703C"/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591" name="Text 117">
            <a:extLst>
              <a:ext uri="{FF2B5EF4-FFF2-40B4-BE49-F238E27FC236}">
                <a16:creationId xmlns:a16="http://schemas.microsoft.com/office/drawing/2014/main" id="{24539B82-536F-7276-11A7-1E2D4932D093}"/>
              </a:ext>
            </a:extLst>
          </p:cNvPr>
          <p:cNvSpPr/>
          <p:nvPr/>
        </p:nvSpPr>
        <p:spPr>
          <a:xfrm>
            <a:off x="5239512" y="258775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</a:t>
            </a:r>
            <a:endParaRPr lang="en-US" sz="1200" dirty="0"/>
          </a:p>
        </p:txBody>
      </p:sp>
      <p:sp>
        <p:nvSpPr>
          <p:cNvPr id="593" name="Shape 118">
            <a:extLst>
              <a:ext uri="{FF2B5EF4-FFF2-40B4-BE49-F238E27FC236}">
                <a16:creationId xmlns:a16="http://schemas.microsoft.com/office/drawing/2014/main" id="{979F6E41-E38A-33C2-A90B-C30150F9F534}"/>
              </a:ext>
            </a:extLst>
          </p:cNvPr>
          <p:cNvSpPr/>
          <p:nvPr/>
        </p:nvSpPr>
        <p:spPr>
          <a:xfrm>
            <a:off x="5181258" y="2880372"/>
            <a:ext cx="841248" cy="219456"/>
          </a:xfrm>
          <a:prstGeom prst="roundRect">
            <a:avLst>
              <a:gd name="adj" fmla="val 187500"/>
            </a:avLst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595" name="Text 119">
            <a:extLst>
              <a:ext uri="{FF2B5EF4-FFF2-40B4-BE49-F238E27FC236}">
                <a16:creationId xmlns:a16="http://schemas.microsoft.com/office/drawing/2014/main" id="{25F6F773-391E-4F1F-F91C-9D4E2FC73A87}"/>
              </a:ext>
            </a:extLst>
          </p:cNvPr>
          <p:cNvSpPr/>
          <p:nvPr/>
        </p:nvSpPr>
        <p:spPr>
          <a:xfrm>
            <a:off x="5181258" y="28803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850" dirty="0">
              <a:solidFill>
                <a:srgbClr val="8B968F"/>
              </a:solidFill>
            </a:endParaRPr>
          </a:p>
        </p:txBody>
      </p:sp>
      <p:sp>
        <p:nvSpPr>
          <p:cNvPr id="597" name="Text 120">
            <a:extLst>
              <a:ext uri="{FF2B5EF4-FFF2-40B4-BE49-F238E27FC236}">
                <a16:creationId xmlns:a16="http://schemas.microsoft.com/office/drawing/2014/main" id="{337CC75C-046C-3CE3-7DE6-4A06F257BA32}"/>
              </a:ext>
            </a:extLst>
          </p:cNvPr>
          <p:cNvSpPr/>
          <p:nvPr/>
        </p:nvSpPr>
        <p:spPr>
          <a:xfrm>
            <a:off x="5239512" y="3191256"/>
            <a:ext cx="1087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8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Cliente-mes</a:t>
            </a:r>
            <a:endParaRPr lang="en-US" sz="900" dirty="0"/>
          </a:p>
        </p:txBody>
      </p:sp>
      <p:sp>
        <p:nvSpPr>
          <p:cNvPr id="599" name="Text 121">
            <a:extLst>
              <a:ext uri="{FF2B5EF4-FFF2-40B4-BE49-F238E27FC236}">
                <a16:creationId xmlns:a16="http://schemas.microsoft.com/office/drawing/2014/main" id="{5BDE49B4-5ACE-E0C1-B622-BBA4A8FB112F}"/>
              </a:ext>
            </a:extLst>
          </p:cNvPr>
          <p:cNvSpPr/>
          <p:nvPr/>
        </p:nvSpPr>
        <p:spPr>
          <a:xfrm>
            <a:off x="6162142" y="3191256"/>
            <a:ext cx="622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4,707</a:t>
            </a:r>
            <a:endParaRPr lang="en-US" sz="1050" dirty="0"/>
          </a:p>
        </p:txBody>
      </p:sp>
      <p:sp>
        <p:nvSpPr>
          <p:cNvPr id="601" name="Shape 122">
            <a:extLst>
              <a:ext uri="{FF2B5EF4-FFF2-40B4-BE49-F238E27FC236}">
                <a16:creationId xmlns:a16="http://schemas.microsoft.com/office/drawing/2014/main" id="{0C5A4D48-8572-69FB-625B-07B1DA57CAF8}"/>
              </a:ext>
            </a:extLst>
          </p:cNvPr>
          <p:cNvSpPr/>
          <p:nvPr/>
        </p:nvSpPr>
        <p:spPr>
          <a:xfrm>
            <a:off x="5239512" y="3456432"/>
            <a:ext cx="1545336" cy="0"/>
          </a:xfrm>
          <a:prstGeom prst="line">
            <a:avLst/>
          </a:prstGeom>
          <a:noFill/>
          <a:ln w="9525">
            <a:solidFill>
              <a:srgbClr val="2E7A48"/>
            </a:solidFill>
            <a:prstDash val="solid"/>
          </a:ln>
        </p:spPr>
      </p:sp>
      <p:sp>
        <p:nvSpPr>
          <p:cNvPr id="603" name="Text 123">
            <a:extLst>
              <a:ext uri="{FF2B5EF4-FFF2-40B4-BE49-F238E27FC236}">
                <a16:creationId xmlns:a16="http://schemas.microsoft.com/office/drawing/2014/main" id="{6A0D6395-0C45-3F86-0E53-6ACCC12E1D89}"/>
              </a:ext>
            </a:extLst>
          </p:cNvPr>
          <p:cNvSpPr/>
          <p:nvPr/>
        </p:nvSpPr>
        <p:spPr>
          <a:xfrm>
            <a:off x="5239512" y="3465576"/>
            <a:ext cx="1087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8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Malos</a:t>
            </a:r>
            <a:endParaRPr lang="en-US" sz="900" dirty="0"/>
          </a:p>
        </p:txBody>
      </p:sp>
      <p:sp>
        <p:nvSpPr>
          <p:cNvPr id="605" name="Text 124">
            <a:extLst>
              <a:ext uri="{FF2B5EF4-FFF2-40B4-BE49-F238E27FC236}">
                <a16:creationId xmlns:a16="http://schemas.microsoft.com/office/drawing/2014/main" id="{03AD7EF2-4968-5264-F7CF-1355E1EC6DCD}"/>
              </a:ext>
            </a:extLst>
          </p:cNvPr>
          <p:cNvSpPr/>
          <p:nvPr/>
        </p:nvSpPr>
        <p:spPr>
          <a:xfrm>
            <a:off x="6162142" y="3465576"/>
            <a:ext cx="622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129</a:t>
            </a:r>
            <a:endParaRPr lang="en-US" sz="1050" dirty="0"/>
          </a:p>
        </p:txBody>
      </p:sp>
      <p:sp>
        <p:nvSpPr>
          <p:cNvPr id="607" name="Shape 125">
            <a:extLst>
              <a:ext uri="{FF2B5EF4-FFF2-40B4-BE49-F238E27FC236}">
                <a16:creationId xmlns:a16="http://schemas.microsoft.com/office/drawing/2014/main" id="{BB1D37B1-B48F-E827-7585-0A1E8DCE4170}"/>
              </a:ext>
            </a:extLst>
          </p:cNvPr>
          <p:cNvSpPr/>
          <p:nvPr/>
        </p:nvSpPr>
        <p:spPr>
          <a:xfrm>
            <a:off x="5239512" y="3730752"/>
            <a:ext cx="1545336" cy="0"/>
          </a:xfrm>
          <a:prstGeom prst="line">
            <a:avLst/>
          </a:prstGeom>
          <a:noFill/>
          <a:ln w="9525">
            <a:solidFill>
              <a:srgbClr val="2E7A48"/>
            </a:solidFill>
            <a:prstDash val="solid"/>
          </a:ln>
        </p:spPr>
      </p:sp>
      <p:sp>
        <p:nvSpPr>
          <p:cNvPr id="609" name="Text 126">
            <a:extLst>
              <a:ext uri="{FF2B5EF4-FFF2-40B4-BE49-F238E27FC236}">
                <a16:creationId xmlns:a16="http://schemas.microsoft.com/office/drawing/2014/main" id="{4CE1FE28-22A4-4922-B482-F9A8260952F8}"/>
              </a:ext>
            </a:extLst>
          </p:cNvPr>
          <p:cNvSpPr/>
          <p:nvPr/>
        </p:nvSpPr>
        <p:spPr>
          <a:xfrm>
            <a:off x="5239512" y="3739896"/>
            <a:ext cx="1087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8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Tasa RD12</a:t>
            </a:r>
            <a:endParaRPr lang="en-US" sz="900" dirty="0"/>
          </a:p>
        </p:txBody>
      </p:sp>
      <p:sp>
        <p:nvSpPr>
          <p:cNvPr id="611" name="Text 127">
            <a:extLst>
              <a:ext uri="{FF2B5EF4-FFF2-40B4-BE49-F238E27FC236}">
                <a16:creationId xmlns:a16="http://schemas.microsoft.com/office/drawing/2014/main" id="{CB464346-A36B-71FE-B684-C558445370A6}"/>
              </a:ext>
            </a:extLst>
          </p:cNvPr>
          <p:cNvSpPr/>
          <p:nvPr/>
        </p:nvSpPr>
        <p:spPr>
          <a:xfrm>
            <a:off x="6162142" y="3739896"/>
            <a:ext cx="622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2.74%</a:t>
            </a:r>
            <a:endParaRPr lang="en-US" sz="1050" dirty="0"/>
          </a:p>
        </p:txBody>
      </p:sp>
      <p:sp>
        <p:nvSpPr>
          <p:cNvPr id="613" name="Shape 128">
            <a:extLst>
              <a:ext uri="{FF2B5EF4-FFF2-40B4-BE49-F238E27FC236}">
                <a16:creationId xmlns:a16="http://schemas.microsoft.com/office/drawing/2014/main" id="{60BDACDF-B1F0-BE55-7551-397BE6E297BA}"/>
              </a:ext>
            </a:extLst>
          </p:cNvPr>
          <p:cNvSpPr/>
          <p:nvPr/>
        </p:nvSpPr>
        <p:spPr>
          <a:xfrm>
            <a:off x="7178040" y="1389888"/>
            <a:ext cx="1874520" cy="1572768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615" name="Text 129">
            <a:extLst>
              <a:ext uri="{FF2B5EF4-FFF2-40B4-BE49-F238E27FC236}">
                <a16:creationId xmlns:a16="http://schemas.microsoft.com/office/drawing/2014/main" id="{0DA7759B-BAE1-25D1-A1FC-C72C01EC38C7}"/>
              </a:ext>
            </a:extLst>
          </p:cNvPr>
          <p:cNvSpPr/>
          <p:nvPr/>
        </p:nvSpPr>
        <p:spPr>
          <a:xfrm>
            <a:off x="7342632" y="148132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</a:t>
            </a:r>
            <a:endParaRPr lang="en-US" sz="1200" dirty="0"/>
          </a:p>
        </p:txBody>
      </p:sp>
      <p:sp>
        <p:nvSpPr>
          <p:cNvPr id="617" name="Shape 130">
            <a:extLst>
              <a:ext uri="{FF2B5EF4-FFF2-40B4-BE49-F238E27FC236}">
                <a16:creationId xmlns:a16="http://schemas.microsoft.com/office/drawing/2014/main" id="{52382257-9A7E-4BBB-2B0D-8BD3752A7229}"/>
              </a:ext>
            </a:extLst>
          </p:cNvPr>
          <p:cNvSpPr/>
          <p:nvPr/>
        </p:nvSpPr>
        <p:spPr>
          <a:xfrm>
            <a:off x="7342632" y="1755648"/>
            <a:ext cx="841248" cy="219456"/>
          </a:xfrm>
          <a:prstGeom prst="roundRect">
            <a:avLst>
              <a:gd name="adj" fmla="val 187500"/>
            </a:avLst>
          </a:prstGeom>
          <a:solidFill>
            <a:srgbClr val="00A651"/>
          </a:solidFill>
          <a:ln w="12700">
            <a:noFill/>
            <a:prstDash val="solid"/>
          </a:ln>
        </p:spPr>
      </p:sp>
      <p:sp>
        <p:nvSpPr>
          <p:cNvPr id="619" name="Text 131">
            <a:extLst>
              <a:ext uri="{FF2B5EF4-FFF2-40B4-BE49-F238E27FC236}">
                <a16:creationId xmlns:a16="http://schemas.microsoft.com/office/drawing/2014/main" id="{CBE30CCE-A3CC-AB3C-E429-139C882A14F9}"/>
              </a:ext>
            </a:extLst>
          </p:cNvPr>
          <p:cNvSpPr/>
          <p:nvPr/>
        </p:nvSpPr>
        <p:spPr>
          <a:xfrm>
            <a:off x="7342632" y="17556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40.6 %</a:t>
            </a:r>
            <a:endParaRPr lang="en-US" sz="850" dirty="0"/>
          </a:p>
        </p:txBody>
      </p:sp>
      <p:sp>
        <p:nvSpPr>
          <p:cNvPr id="621" name="Text 132">
            <a:extLst>
              <a:ext uri="{FF2B5EF4-FFF2-40B4-BE49-F238E27FC236}">
                <a16:creationId xmlns:a16="http://schemas.microsoft.com/office/drawing/2014/main" id="{A0765B70-1408-FE4F-7109-CB3513E62DCF}"/>
              </a:ext>
            </a:extLst>
          </p:cNvPr>
          <p:cNvSpPr/>
          <p:nvPr/>
        </p:nvSpPr>
        <p:spPr>
          <a:xfrm>
            <a:off x="8238744" y="1755648"/>
            <a:ext cx="649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total</a:t>
            </a:r>
            <a:endParaRPr lang="en-US" sz="750" dirty="0"/>
          </a:p>
        </p:txBody>
      </p:sp>
      <p:sp>
        <p:nvSpPr>
          <p:cNvPr id="623" name="Text 133">
            <a:extLst>
              <a:ext uri="{FF2B5EF4-FFF2-40B4-BE49-F238E27FC236}">
                <a16:creationId xmlns:a16="http://schemas.microsoft.com/office/drawing/2014/main" id="{8D100E69-BF5D-53DE-7E32-072C49593B29}"/>
              </a:ext>
            </a:extLst>
          </p:cNvPr>
          <p:cNvSpPr/>
          <p:nvPr/>
        </p:nvSpPr>
        <p:spPr>
          <a:xfrm>
            <a:off x="7342632" y="2084832"/>
            <a:ext cx="1087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Cliente-mes</a:t>
            </a:r>
            <a:endParaRPr lang="en-US" sz="900" dirty="0"/>
          </a:p>
        </p:txBody>
      </p:sp>
      <p:sp>
        <p:nvSpPr>
          <p:cNvPr id="625" name="Text 134">
            <a:extLst>
              <a:ext uri="{FF2B5EF4-FFF2-40B4-BE49-F238E27FC236}">
                <a16:creationId xmlns:a16="http://schemas.microsoft.com/office/drawing/2014/main" id="{E02C6332-596D-BFF5-DB93-5815476D12E9}"/>
              </a:ext>
            </a:extLst>
          </p:cNvPr>
          <p:cNvSpPr/>
          <p:nvPr/>
        </p:nvSpPr>
        <p:spPr>
          <a:xfrm>
            <a:off x="8265262" y="2084832"/>
            <a:ext cx="622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1,910</a:t>
            </a:r>
            <a:endParaRPr lang="en-US" sz="1050" dirty="0"/>
          </a:p>
        </p:txBody>
      </p:sp>
      <p:sp>
        <p:nvSpPr>
          <p:cNvPr id="627" name="Shape 135">
            <a:extLst>
              <a:ext uri="{FF2B5EF4-FFF2-40B4-BE49-F238E27FC236}">
                <a16:creationId xmlns:a16="http://schemas.microsoft.com/office/drawing/2014/main" id="{BD429389-49C8-A9EB-5A9B-BB02BC5C40F8}"/>
              </a:ext>
            </a:extLst>
          </p:cNvPr>
          <p:cNvSpPr/>
          <p:nvPr/>
        </p:nvSpPr>
        <p:spPr>
          <a:xfrm>
            <a:off x="7342632" y="2350008"/>
            <a:ext cx="15453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629" name="Text 136">
            <a:extLst>
              <a:ext uri="{FF2B5EF4-FFF2-40B4-BE49-F238E27FC236}">
                <a16:creationId xmlns:a16="http://schemas.microsoft.com/office/drawing/2014/main" id="{1AD23B06-0000-D5A0-C13B-6D5C2EB96EC7}"/>
              </a:ext>
            </a:extLst>
          </p:cNvPr>
          <p:cNvSpPr/>
          <p:nvPr/>
        </p:nvSpPr>
        <p:spPr>
          <a:xfrm>
            <a:off x="7342632" y="2359152"/>
            <a:ext cx="1087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Malos</a:t>
            </a:r>
            <a:endParaRPr lang="en-US" sz="900" dirty="0"/>
          </a:p>
        </p:txBody>
      </p:sp>
      <p:sp>
        <p:nvSpPr>
          <p:cNvPr id="631" name="Text 137">
            <a:extLst>
              <a:ext uri="{FF2B5EF4-FFF2-40B4-BE49-F238E27FC236}">
                <a16:creationId xmlns:a16="http://schemas.microsoft.com/office/drawing/2014/main" id="{713EF0D3-B0BC-78C9-E3A8-AB4CB5B0AF19}"/>
              </a:ext>
            </a:extLst>
          </p:cNvPr>
          <p:cNvSpPr/>
          <p:nvPr/>
        </p:nvSpPr>
        <p:spPr>
          <a:xfrm>
            <a:off x="8265262" y="2359152"/>
            <a:ext cx="622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66</a:t>
            </a:r>
            <a:endParaRPr lang="en-US" sz="1050" dirty="0"/>
          </a:p>
        </p:txBody>
      </p:sp>
      <p:sp>
        <p:nvSpPr>
          <p:cNvPr id="633" name="Shape 138">
            <a:extLst>
              <a:ext uri="{FF2B5EF4-FFF2-40B4-BE49-F238E27FC236}">
                <a16:creationId xmlns:a16="http://schemas.microsoft.com/office/drawing/2014/main" id="{9904CB19-4BCC-B568-AEBC-280682676101}"/>
              </a:ext>
            </a:extLst>
          </p:cNvPr>
          <p:cNvSpPr/>
          <p:nvPr/>
        </p:nvSpPr>
        <p:spPr>
          <a:xfrm>
            <a:off x="7342632" y="2624328"/>
            <a:ext cx="15453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635" name="Text 139">
            <a:extLst>
              <a:ext uri="{FF2B5EF4-FFF2-40B4-BE49-F238E27FC236}">
                <a16:creationId xmlns:a16="http://schemas.microsoft.com/office/drawing/2014/main" id="{E1F928E7-8014-C6BC-95B6-F904B3C72500}"/>
              </a:ext>
            </a:extLst>
          </p:cNvPr>
          <p:cNvSpPr/>
          <p:nvPr/>
        </p:nvSpPr>
        <p:spPr>
          <a:xfrm>
            <a:off x="7342632" y="2633472"/>
            <a:ext cx="1087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Tasa RD12</a:t>
            </a:r>
            <a:endParaRPr lang="en-US" sz="900" dirty="0"/>
          </a:p>
        </p:txBody>
      </p:sp>
      <p:sp>
        <p:nvSpPr>
          <p:cNvPr id="637" name="Text 140">
            <a:extLst>
              <a:ext uri="{FF2B5EF4-FFF2-40B4-BE49-F238E27FC236}">
                <a16:creationId xmlns:a16="http://schemas.microsoft.com/office/drawing/2014/main" id="{22C6B916-04D0-CC06-554B-081EDC2D6312}"/>
              </a:ext>
            </a:extLst>
          </p:cNvPr>
          <p:cNvSpPr/>
          <p:nvPr/>
        </p:nvSpPr>
        <p:spPr>
          <a:xfrm>
            <a:off x="8265262" y="2633472"/>
            <a:ext cx="622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3.46%</a:t>
            </a:r>
            <a:endParaRPr lang="en-US" sz="1050" dirty="0"/>
          </a:p>
        </p:txBody>
      </p:sp>
      <p:sp>
        <p:nvSpPr>
          <p:cNvPr id="639" name="Shape 141">
            <a:extLst>
              <a:ext uri="{FF2B5EF4-FFF2-40B4-BE49-F238E27FC236}">
                <a16:creationId xmlns:a16="http://schemas.microsoft.com/office/drawing/2014/main" id="{4C1E1414-2248-A4B9-688E-87A567CAD64D}"/>
              </a:ext>
            </a:extLst>
          </p:cNvPr>
          <p:cNvSpPr/>
          <p:nvPr/>
        </p:nvSpPr>
        <p:spPr>
          <a:xfrm>
            <a:off x="7178040" y="3602736"/>
            <a:ext cx="1874520" cy="1572768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641" name="Text 142">
            <a:extLst>
              <a:ext uri="{FF2B5EF4-FFF2-40B4-BE49-F238E27FC236}">
                <a16:creationId xmlns:a16="http://schemas.microsoft.com/office/drawing/2014/main" id="{777A0704-3DFE-D515-D8CA-4D26F1CBD7FD}"/>
              </a:ext>
            </a:extLst>
          </p:cNvPr>
          <p:cNvSpPr/>
          <p:nvPr/>
        </p:nvSpPr>
        <p:spPr>
          <a:xfrm>
            <a:off x="7342632" y="369417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dep</a:t>
            </a:r>
            <a:endParaRPr lang="en-US" sz="1200" dirty="0"/>
          </a:p>
        </p:txBody>
      </p:sp>
      <p:sp>
        <p:nvSpPr>
          <p:cNvPr id="643" name="Shape 143">
            <a:extLst>
              <a:ext uri="{FF2B5EF4-FFF2-40B4-BE49-F238E27FC236}">
                <a16:creationId xmlns:a16="http://schemas.microsoft.com/office/drawing/2014/main" id="{7A25C1B1-90F7-9132-1537-2C9DF013B201}"/>
              </a:ext>
            </a:extLst>
          </p:cNvPr>
          <p:cNvSpPr/>
          <p:nvPr/>
        </p:nvSpPr>
        <p:spPr>
          <a:xfrm>
            <a:off x="7342632" y="3968496"/>
            <a:ext cx="841248" cy="219456"/>
          </a:xfrm>
          <a:prstGeom prst="roundRect">
            <a:avLst>
              <a:gd name="adj" fmla="val 187500"/>
            </a:avLst>
          </a:prstGeom>
          <a:solidFill>
            <a:srgbClr val="00A651"/>
          </a:solidFill>
          <a:ln w="12700">
            <a:noFill/>
            <a:prstDash val="solid"/>
          </a:ln>
        </p:spPr>
      </p:sp>
      <p:sp>
        <p:nvSpPr>
          <p:cNvPr id="645" name="Text 144">
            <a:extLst>
              <a:ext uri="{FF2B5EF4-FFF2-40B4-BE49-F238E27FC236}">
                <a16:creationId xmlns:a16="http://schemas.microsoft.com/office/drawing/2014/main" id="{3BEF8FC0-23B4-EE53-4EB0-03A0A3515ACB}"/>
              </a:ext>
            </a:extLst>
          </p:cNvPr>
          <p:cNvSpPr/>
          <p:nvPr/>
        </p:nvSpPr>
        <p:spPr>
          <a:xfrm>
            <a:off x="7342632" y="39684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59.4 %</a:t>
            </a:r>
            <a:endParaRPr lang="en-US" sz="850" dirty="0"/>
          </a:p>
        </p:txBody>
      </p:sp>
      <p:sp>
        <p:nvSpPr>
          <p:cNvPr id="647" name="Text 145">
            <a:extLst>
              <a:ext uri="{FF2B5EF4-FFF2-40B4-BE49-F238E27FC236}">
                <a16:creationId xmlns:a16="http://schemas.microsoft.com/office/drawing/2014/main" id="{725F7C16-F2AF-0754-67FB-C3B311EB2D63}"/>
              </a:ext>
            </a:extLst>
          </p:cNvPr>
          <p:cNvSpPr/>
          <p:nvPr/>
        </p:nvSpPr>
        <p:spPr>
          <a:xfrm>
            <a:off x="8238744" y="3968496"/>
            <a:ext cx="649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total</a:t>
            </a:r>
            <a:endParaRPr lang="en-US" sz="750" dirty="0"/>
          </a:p>
        </p:txBody>
      </p:sp>
      <p:sp>
        <p:nvSpPr>
          <p:cNvPr id="649" name="Text 146">
            <a:extLst>
              <a:ext uri="{FF2B5EF4-FFF2-40B4-BE49-F238E27FC236}">
                <a16:creationId xmlns:a16="http://schemas.microsoft.com/office/drawing/2014/main" id="{27E2C6D4-AF7B-E752-17D8-083569685E12}"/>
              </a:ext>
            </a:extLst>
          </p:cNvPr>
          <p:cNvSpPr/>
          <p:nvPr/>
        </p:nvSpPr>
        <p:spPr>
          <a:xfrm>
            <a:off x="7342632" y="4297680"/>
            <a:ext cx="1087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Cliente-mes</a:t>
            </a:r>
            <a:endParaRPr lang="en-US" sz="900" dirty="0"/>
          </a:p>
        </p:txBody>
      </p:sp>
      <p:sp>
        <p:nvSpPr>
          <p:cNvPr id="651" name="Text 147">
            <a:extLst>
              <a:ext uri="{FF2B5EF4-FFF2-40B4-BE49-F238E27FC236}">
                <a16:creationId xmlns:a16="http://schemas.microsoft.com/office/drawing/2014/main" id="{059D8D54-3210-F8D9-F64E-87C1758A673E}"/>
              </a:ext>
            </a:extLst>
          </p:cNvPr>
          <p:cNvSpPr/>
          <p:nvPr/>
        </p:nvSpPr>
        <p:spPr>
          <a:xfrm>
            <a:off x="8265262" y="4297680"/>
            <a:ext cx="622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2,797</a:t>
            </a:r>
            <a:endParaRPr lang="en-US" sz="1050" dirty="0"/>
          </a:p>
        </p:txBody>
      </p:sp>
      <p:sp>
        <p:nvSpPr>
          <p:cNvPr id="653" name="Shape 148">
            <a:extLst>
              <a:ext uri="{FF2B5EF4-FFF2-40B4-BE49-F238E27FC236}">
                <a16:creationId xmlns:a16="http://schemas.microsoft.com/office/drawing/2014/main" id="{092F0AE9-A3ED-4886-CC09-56F808B1D800}"/>
              </a:ext>
            </a:extLst>
          </p:cNvPr>
          <p:cNvSpPr/>
          <p:nvPr/>
        </p:nvSpPr>
        <p:spPr>
          <a:xfrm>
            <a:off x="7342632" y="4562856"/>
            <a:ext cx="15453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655" name="Text 149">
            <a:extLst>
              <a:ext uri="{FF2B5EF4-FFF2-40B4-BE49-F238E27FC236}">
                <a16:creationId xmlns:a16="http://schemas.microsoft.com/office/drawing/2014/main" id="{C2D033C2-736C-3C62-2531-D92A55E02319}"/>
              </a:ext>
            </a:extLst>
          </p:cNvPr>
          <p:cNvSpPr/>
          <p:nvPr/>
        </p:nvSpPr>
        <p:spPr>
          <a:xfrm>
            <a:off x="7342632" y="4572000"/>
            <a:ext cx="1087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Malos</a:t>
            </a:r>
            <a:endParaRPr lang="en-US" sz="900" dirty="0"/>
          </a:p>
        </p:txBody>
      </p:sp>
      <p:sp>
        <p:nvSpPr>
          <p:cNvPr id="657" name="Text 150">
            <a:extLst>
              <a:ext uri="{FF2B5EF4-FFF2-40B4-BE49-F238E27FC236}">
                <a16:creationId xmlns:a16="http://schemas.microsoft.com/office/drawing/2014/main" id="{C9F4BBC5-7D1A-88F4-4CA2-44020697F647}"/>
              </a:ext>
            </a:extLst>
          </p:cNvPr>
          <p:cNvSpPr/>
          <p:nvPr/>
        </p:nvSpPr>
        <p:spPr>
          <a:xfrm>
            <a:off x="8265262" y="4572000"/>
            <a:ext cx="622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63</a:t>
            </a:r>
            <a:endParaRPr lang="en-US" sz="1050" dirty="0"/>
          </a:p>
        </p:txBody>
      </p:sp>
      <p:sp>
        <p:nvSpPr>
          <p:cNvPr id="659" name="Shape 151">
            <a:extLst>
              <a:ext uri="{FF2B5EF4-FFF2-40B4-BE49-F238E27FC236}">
                <a16:creationId xmlns:a16="http://schemas.microsoft.com/office/drawing/2014/main" id="{3B495143-FE39-94A1-D6AE-0E4CF0B81BBC}"/>
              </a:ext>
            </a:extLst>
          </p:cNvPr>
          <p:cNvSpPr/>
          <p:nvPr/>
        </p:nvSpPr>
        <p:spPr>
          <a:xfrm>
            <a:off x="7342632" y="4837176"/>
            <a:ext cx="15453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661" name="Text 152">
            <a:extLst>
              <a:ext uri="{FF2B5EF4-FFF2-40B4-BE49-F238E27FC236}">
                <a16:creationId xmlns:a16="http://schemas.microsoft.com/office/drawing/2014/main" id="{728B0F98-57CA-64F2-6159-DFAD48B39969}"/>
              </a:ext>
            </a:extLst>
          </p:cNvPr>
          <p:cNvSpPr/>
          <p:nvPr/>
        </p:nvSpPr>
        <p:spPr>
          <a:xfrm>
            <a:off x="7342632" y="4846320"/>
            <a:ext cx="10872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Tasa RD12</a:t>
            </a:r>
            <a:endParaRPr lang="en-US" sz="900" dirty="0"/>
          </a:p>
        </p:txBody>
      </p:sp>
      <p:sp>
        <p:nvSpPr>
          <p:cNvPr id="663" name="Text 153">
            <a:extLst>
              <a:ext uri="{FF2B5EF4-FFF2-40B4-BE49-F238E27FC236}">
                <a16:creationId xmlns:a16="http://schemas.microsoft.com/office/drawing/2014/main" id="{27121593-4A05-81B7-93E2-74A9BA1167C5}"/>
              </a:ext>
            </a:extLst>
          </p:cNvPr>
          <p:cNvSpPr/>
          <p:nvPr/>
        </p:nvSpPr>
        <p:spPr>
          <a:xfrm>
            <a:off x="8265262" y="4846320"/>
            <a:ext cx="6227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2.25%</a:t>
            </a:r>
            <a:endParaRPr lang="en-US" sz="1050" dirty="0"/>
          </a:p>
        </p:txBody>
      </p:sp>
      <p:sp>
        <p:nvSpPr>
          <p:cNvPr id="665" name="Shape 154">
            <a:extLst>
              <a:ext uri="{FF2B5EF4-FFF2-40B4-BE49-F238E27FC236}">
                <a16:creationId xmlns:a16="http://schemas.microsoft.com/office/drawing/2014/main" id="{7588807A-4A02-3A7D-EE01-298CF2C3CAFF}"/>
              </a:ext>
            </a:extLst>
          </p:cNvPr>
          <p:cNvSpPr/>
          <p:nvPr/>
        </p:nvSpPr>
        <p:spPr>
          <a:xfrm>
            <a:off x="9281160" y="1097280"/>
            <a:ext cx="2331720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667" name="Text 155">
            <a:extLst>
              <a:ext uri="{FF2B5EF4-FFF2-40B4-BE49-F238E27FC236}">
                <a16:creationId xmlns:a16="http://schemas.microsoft.com/office/drawing/2014/main" id="{78703D8E-F004-367C-A705-5AC228BA1417}"/>
              </a:ext>
            </a:extLst>
          </p:cNvPr>
          <p:cNvSpPr/>
          <p:nvPr/>
        </p:nvSpPr>
        <p:spPr>
          <a:xfrm>
            <a:off x="9445752" y="1152144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 CS</a:t>
            </a:r>
            <a:r>
              <a:rPr lang="en-US" sz="70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65% DEP</a:t>
            </a:r>
            <a:endParaRPr lang="en-US" sz="1050" dirty="0"/>
          </a:p>
        </p:txBody>
      </p:sp>
      <p:sp>
        <p:nvSpPr>
          <p:cNvPr id="669" name="Shape 156">
            <a:extLst>
              <a:ext uri="{FF2B5EF4-FFF2-40B4-BE49-F238E27FC236}">
                <a16:creationId xmlns:a16="http://schemas.microsoft.com/office/drawing/2014/main" id="{CE6BB4AB-D9FE-7836-66ED-EE9A0D4B4194}"/>
              </a:ext>
            </a:extLst>
          </p:cNvPr>
          <p:cNvSpPr/>
          <p:nvPr/>
        </p:nvSpPr>
        <p:spPr>
          <a:xfrm>
            <a:off x="10789920" y="1161288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00A651"/>
          </a:solidFill>
          <a:ln w="12700">
            <a:noFill/>
            <a:prstDash val="solid"/>
          </a:ln>
        </p:spPr>
      </p:sp>
      <p:sp>
        <p:nvSpPr>
          <p:cNvPr id="671" name="Text 157">
            <a:extLst>
              <a:ext uri="{FF2B5EF4-FFF2-40B4-BE49-F238E27FC236}">
                <a16:creationId xmlns:a16="http://schemas.microsoft.com/office/drawing/2014/main" id="{89265A61-C315-A5D0-4DEE-AA73F0DD53AC}"/>
              </a:ext>
            </a:extLst>
          </p:cNvPr>
          <p:cNvSpPr/>
          <p:nvPr/>
        </p:nvSpPr>
        <p:spPr>
          <a:xfrm>
            <a:off x="10789920" y="116128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26.4 %</a:t>
            </a:r>
            <a:endParaRPr lang="en-US" sz="850" dirty="0"/>
          </a:p>
        </p:txBody>
      </p:sp>
      <p:sp>
        <p:nvSpPr>
          <p:cNvPr id="673" name="Text 158">
            <a:extLst>
              <a:ext uri="{FF2B5EF4-FFF2-40B4-BE49-F238E27FC236}">
                <a16:creationId xmlns:a16="http://schemas.microsoft.com/office/drawing/2014/main" id="{856CD534-744B-CD6A-9D52-CBA4EA417AAF}"/>
              </a:ext>
            </a:extLst>
          </p:cNvPr>
          <p:cNvSpPr/>
          <p:nvPr/>
        </p:nvSpPr>
        <p:spPr>
          <a:xfrm>
            <a:off x="9445752" y="1426464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Cliente-mes</a:t>
            </a:r>
            <a:endParaRPr lang="en-US" sz="850" dirty="0"/>
          </a:p>
        </p:txBody>
      </p:sp>
      <p:sp>
        <p:nvSpPr>
          <p:cNvPr id="675" name="Text 159">
            <a:extLst>
              <a:ext uri="{FF2B5EF4-FFF2-40B4-BE49-F238E27FC236}">
                <a16:creationId xmlns:a16="http://schemas.microsoft.com/office/drawing/2014/main" id="{2459A351-BAEF-76B4-29A3-40DE5045AC23}"/>
              </a:ext>
            </a:extLst>
          </p:cNvPr>
          <p:cNvSpPr/>
          <p:nvPr/>
        </p:nvSpPr>
        <p:spPr>
          <a:xfrm>
            <a:off x="10680192" y="142646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1,243</a:t>
            </a:r>
            <a:endParaRPr lang="en-US" sz="1000" dirty="0"/>
          </a:p>
        </p:txBody>
      </p:sp>
      <p:sp>
        <p:nvSpPr>
          <p:cNvPr id="677" name="Shape 160">
            <a:extLst>
              <a:ext uri="{FF2B5EF4-FFF2-40B4-BE49-F238E27FC236}">
                <a16:creationId xmlns:a16="http://schemas.microsoft.com/office/drawing/2014/main" id="{DFEDC2C2-5C0B-2635-040E-5884E42B09BF}"/>
              </a:ext>
            </a:extLst>
          </p:cNvPr>
          <p:cNvSpPr/>
          <p:nvPr/>
        </p:nvSpPr>
        <p:spPr>
          <a:xfrm>
            <a:off x="9445752" y="1655064"/>
            <a:ext cx="20025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679" name="Text 161">
            <a:extLst>
              <a:ext uri="{FF2B5EF4-FFF2-40B4-BE49-F238E27FC236}">
                <a16:creationId xmlns:a16="http://schemas.microsoft.com/office/drawing/2014/main" id="{710B57EF-38C3-4652-6305-A969CC28A9AD}"/>
              </a:ext>
            </a:extLst>
          </p:cNvPr>
          <p:cNvSpPr/>
          <p:nvPr/>
        </p:nvSpPr>
        <p:spPr>
          <a:xfrm>
            <a:off x="9445752" y="1664208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Malos</a:t>
            </a:r>
            <a:endParaRPr lang="en-US" sz="850" dirty="0"/>
          </a:p>
        </p:txBody>
      </p:sp>
      <p:sp>
        <p:nvSpPr>
          <p:cNvPr id="681" name="Text 162">
            <a:extLst>
              <a:ext uri="{FF2B5EF4-FFF2-40B4-BE49-F238E27FC236}">
                <a16:creationId xmlns:a16="http://schemas.microsoft.com/office/drawing/2014/main" id="{E88D8E11-0489-90A1-1FE4-A56180A38789}"/>
              </a:ext>
            </a:extLst>
          </p:cNvPr>
          <p:cNvSpPr/>
          <p:nvPr/>
        </p:nvSpPr>
        <p:spPr>
          <a:xfrm>
            <a:off x="10680192" y="166420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</a:t>
            </a:r>
            <a:endParaRPr lang="en-US" sz="1000" dirty="0"/>
          </a:p>
        </p:txBody>
      </p:sp>
      <p:sp>
        <p:nvSpPr>
          <p:cNvPr id="683" name="Shape 163">
            <a:extLst>
              <a:ext uri="{FF2B5EF4-FFF2-40B4-BE49-F238E27FC236}">
                <a16:creationId xmlns:a16="http://schemas.microsoft.com/office/drawing/2014/main" id="{633E6F4B-6AD5-2B24-1BA3-68D23BDFC3A1}"/>
              </a:ext>
            </a:extLst>
          </p:cNvPr>
          <p:cNvSpPr/>
          <p:nvPr/>
        </p:nvSpPr>
        <p:spPr>
          <a:xfrm>
            <a:off x="9445752" y="1892808"/>
            <a:ext cx="20025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685" name="Text 164">
            <a:extLst>
              <a:ext uri="{FF2B5EF4-FFF2-40B4-BE49-F238E27FC236}">
                <a16:creationId xmlns:a16="http://schemas.microsoft.com/office/drawing/2014/main" id="{7010A3D6-8EB7-A6CD-26FD-4F56106F3B9C}"/>
              </a:ext>
            </a:extLst>
          </p:cNvPr>
          <p:cNvSpPr/>
          <p:nvPr/>
        </p:nvSpPr>
        <p:spPr>
          <a:xfrm>
            <a:off x="9445752" y="190195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Tasa RD12</a:t>
            </a:r>
            <a:endParaRPr lang="en-US" sz="850" dirty="0"/>
          </a:p>
        </p:txBody>
      </p:sp>
      <p:sp>
        <p:nvSpPr>
          <p:cNvPr id="687" name="Text 165">
            <a:extLst>
              <a:ext uri="{FF2B5EF4-FFF2-40B4-BE49-F238E27FC236}">
                <a16:creationId xmlns:a16="http://schemas.microsoft.com/office/drawing/2014/main" id="{05DD15CB-DB3B-846A-79BB-30EDE3AF1FF3}"/>
              </a:ext>
            </a:extLst>
          </p:cNvPr>
          <p:cNvSpPr/>
          <p:nvPr/>
        </p:nvSpPr>
        <p:spPr>
          <a:xfrm>
            <a:off x="10680192" y="19019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2.90%</a:t>
            </a:r>
            <a:endParaRPr lang="en-US" sz="1000" dirty="0"/>
          </a:p>
        </p:txBody>
      </p:sp>
      <p:sp>
        <p:nvSpPr>
          <p:cNvPr id="689" name="Shape 166">
            <a:extLst>
              <a:ext uri="{FF2B5EF4-FFF2-40B4-BE49-F238E27FC236}">
                <a16:creationId xmlns:a16="http://schemas.microsoft.com/office/drawing/2014/main" id="{81FFD85A-73E0-61FB-8742-49D0D3CBEAED}"/>
              </a:ext>
            </a:extLst>
          </p:cNvPr>
          <p:cNvSpPr/>
          <p:nvPr/>
        </p:nvSpPr>
        <p:spPr>
          <a:xfrm>
            <a:off x="9281160" y="2203704"/>
            <a:ext cx="2331720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691" name="Text 167">
            <a:extLst>
              <a:ext uri="{FF2B5EF4-FFF2-40B4-BE49-F238E27FC236}">
                <a16:creationId xmlns:a16="http://schemas.microsoft.com/office/drawing/2014/main" id="{4B533167-F473-EBD0-B420-291898737E55}"/>
              </a:ext>
            </a:extLst>
          </p:cNvPr>
          <p:cNvSpPr/>
          <p:nvPr/>
        </p:nvSpPr>
        <p:spPr>
          <a:xfrm>
            <a:off x="9445752" y="2258568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 No CS</a:t>
            </a:r>
            <a:r>
              <a:rPr lang="en-US" sz="70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35% DEP</a:t>
            </a:r>
            <a:endParaRPr lang="en-US" sz="1050" dirty="0"/>
          </a:p>
        </p:txBody>
      </p:sp>
      <p:sp>
        <p:nvSpPr>
          <p:cNvPr id="693" name="Shape 168">
            <a:extLst>
              <a:ext uri="{FF2B5EF4-FFF2-40B4-BE49-F238E27FC236}">
                <a16:creationId xmlns:a16="http://schemas.microsoft.com/office/drawing/2014/main" id="{82A7E4A4-6934-FA83-9FA2-098E4D820192}"/>
              </a:ext>
            </a:extLst>
          </p:cNvPr>
          <p:cNvSpPr/>
          <p:nvPr/>
        </p:nvSpPr>
        <p:spPr>
          <a:xfrm>
            <a:off x="10789920" y="2267712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00A651"/>
          </a:solidFill>
          <a:ln w="12700">
            <a:noFill/>
            <a:prstDash val="solid"/>
          </a:ln>
        </p:spPr>
      </p:sp>
      <p:sp>
        <p:nvSpPr>
          <p:cNvPr id="695" name="Text 169">
            <a:extLst>
              <a:ext uri="{FF2B5EF4-FFF2-40B4-BE49-F238E27FC236}">
                <a16:creationId xmlns:a16="http://schemas.microsoft.com/office/drawing/2014/main" id="{90593BC7-45F1-5F2E-47A3-1DD0C06AE951}"/>
              </a:ext>
            </a:extLst>
          </p:cNvPr>
          <p:cNvSpPr/>
          <p:nvPr/>
        </p:nvSpPr>
        <p:spPr>
          <a:xfrm>
            <a:off x="10789920" y="226771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14.2 %</a:t>
            </a:r>
            <a:endParaRPr lang="en-US" sz="850" dirty="0"/>
          </a:p>
        </p:txBody>
      </p:sp>
      <p:sp>
        <p:nvSpPr>
          <p:cNvPr id="697" name="Text 170">
            <a:extLst>
              <a:ext uri="{FF2B5EF4-FFF2-40B4-BE49-F238E27FC236}">
                <a16:creationId xmlns:a16="http://schemas.microsoft.com/office/drawing/2014/main" id="{DAFDDF0B-5502-9AF7-DF8E-44FBDBA6ADC2}"/>
              </a:ext>
            </a:extLst>
          </p:cNvPr>
          <p:cNvSpPr/>
          <p:nvPr/>
        </p:nvSpPr>
        <p:spPr>
          <a:xfrm>
            <a:off x="9445752" y="2532888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Cliente-mes</a:t>
            </a:r>
            <a:endParaRPr lang="en-US" sz="850" dirty="0"/>
          </a:p>
        </p:txBody>
      </p:sp>
      <p:sp>
        <p:nvSpPr>
          <p:cNvPr id="699" name="Text 171">
            <a:extLst>
              <a:ext uri="{FF2B5EF4-FFF2-40B4-BE49-F238E27FC236}">
                <a16:creationId xmlns:a16="http://schemas.microsoft.com/office/drawing/2014/main" id="{06E5AED0-7513-AD2B-FF03-D2DADDB50D68}"/>
              </a:ext>
            </a:extLst>
          </p:cNvPr>
          <p:cNvSpPr/>
          <p:nvPr/>
        </p:nvSpPr>
        <p:spPr>
          <a:xfrm>
            <a:off x="10680192" y="25328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667</a:t>
            </a:r>
            <a:endParaRPr lang="en-US" sz="1000" dirty="0"/>
          </a:p>
        </p:txBody>
      </p:sp>
      <p:sp>
        <p:nvSpPr>
          <p:cNvPr id="701" name="Shape 172">
            <a:extLst>
              <a:ext uri="{FF2B5EF4-FFF2-40B4-BE49-F238E27FC236}">
                <a16:creationId xmlns:a16="http://schemas.microsoft.com/office/drawing/2014/main" id="{FB2E1470-C815-78BC-198B-0FCF8C19BBB9}"/>
              </a:ext>
            </a:extLst>
          </p:cNvPr>
          <p:cNvSpPr/>
          <p:nvPr/>
        </p:nvSpPr>
        <p:spPr>
          <a:xfrm>
            <a:off x="9445752" y="2761488"/>
            <a:ext cx="20025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703" name="Text 173">
            <a:extLst>
              <a:ext uri="{FF2B5EF4-FFF2-40B4-BE49-F238E27FC236}">
                <a16:creationId xmlns:a16="http://schemas.microsoft.com/office/drawing/2014/main" id="{E13C63C4-D12B-8429-8CDF-D53FC03A2302}"/>
              </a:ext>
            </a:extLst>
          </p:cNvPr>
          <p:cNvSpPr/>
          <p:nvPr/>
        </p:nvSpPr>
        <p:spPr>
          <a:xfrm>
            <a:off x="9445752" y="277063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Malos</a:t>
            </a:r>
            <a:endParaRPr lang="en-US" sz="850" dirty="0"/>
          </a:p>
        </p:txBody>
      </p:sp>
      <p:sp>
        <p:nvSpPr>
          <p:cNvPr id="705" name="Text 174">
            <a:extLst>
              <a:ext uri="{FF2B5EF4-FFF2-40B4-BE49-F238E27FC236}">
                <a16:creationId xmlns:a16="http://schemas.microsoft.com/office/drawing/2014/main" id="{0EDD11D2-BC60-E504-220D-067819FD32A7}"/>
              </a:ext>
            </a:extLst>
          </p:cNvPr>
          <p:cNvSpPr/>
          <p:nvPr/>
        </p:nvSpPr>
        <p:spPr>
          <a:xfrm>
            <a:off x="10680192" y="277063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</a:t>
            </a:r>
            <a:endParaRPr lang="en-US" sz="1000" dirty="0"/>
          </a:p>
        </p:txBody>
      </p:sp>
      <p:sp>
        <p:nvSpPr>
          <p:cNvPr id="707" name="Shape 175">
            <a:extLst>
              <a:ext uri="{FF2B5EF4-FFF2-40B4-BE49-F238E27FC236}">
                <a16:creationId xmlns:a16="http://schemas.microsoft.com/office/drawing/2014/main" id="{246C319B-1632-4294-3523-77D593C76ADD}"/>
              </a:ext>
            </a:extLst>
          </p:cNvPr>
          <p:cNvSpPr/>
          <p:nvPr/>
        </p:nvSpPr>
        <p:spPr>
          <a:xfrm>
            <a:off x="9445752" y="2999232"/>
            <a:ext cx="20025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709" name="Text 176">
            <a:extLst>
              <a:ext uri="{FF2B5EF4-FFF2-40B4-BE49-F238E27FC236}">
                <a16:creationId xmlns:a16="http://schemas.microsoft.com/office/drawing/2014/main" id="{DEEBF14E-DBDB-4F37-4021-83E025D7DC7B}"/>
              </a:ext>
            </a:extLst>
          </p:cNvPr>
          <p:cNvSpPr/>
          <p:nvPr/>
        </p:nvSpPr>
        <p:spPr>
          <a:xfrm>
            <a:off x="9445752" y="300837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Tasa RD12</a:t>
            </a:r>
            <a:endParaRPr lang="en-US" sz="850" dirty="0"/>
          </a:p>
        </p:txBody>
      </p:sp>
      <p:sp>
        <p:nvSpPr>
          <p:cNvPr id="711" name="Text 177">
            <a:extLst>
              <a:ext uri="{FF2B5EF4-FFF2-40B4-BE49-F238E27FC236}">
                <a16:creationId xmlns:a16="http://schemas.microsoft.com/office/drawing/2014/main" id="{849B991C-EE55-A13E-80D2-EDC4661520F0}"/>
              </a:ext>
            </a:extLst>
          </p:cNvPr>
          <p:cNvSpPr/>
          <p:nvPr/>
        </p:nvSpPr>
        <p:spPr>
          <a:xfrm>
            <a:off x="10680192" y="300837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4.50%</a:t>
            </a:r>
            <a:endParaRPr lang="en-US" sz="1000" dirty="0"/>
          </a:p>
        </p:txBody>
      </p:sp>
      <p:sp>
        <p:nvSpPr>
          <p:cNvPr id="713" name="Shape 178">
            <a:extLst>
              <a:ext uri="{FF2B5EF4-FFF2-40B4-BE49-F238E27FC236}">
                <a16:creationId xmlns:a16="http://schemas.microsoft.com/office/drawing/2014/main" id="{546AF8B6-2A48-D259-80D0-15C3DAC6D9AE}"/>
              </a:ext>
            </a:extLst>
          </p:cNvPr>
          <p:cNvSpPr/>
          <p:nvPr/>
        </p:nvSpPr>
        <p:spPr>
          <a:xfrm>
            <a:off x="9281160" y="3310128"/>
            <a:ext cx="2331720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715" name="Text 179">
            <a:extLst>
              <a:ext uri="{FF2B5EF4-FFF2-40B4-BE49-F238E27FC236}">
                <a16:creationId xmlns:a16="http://schemas.microsoft.com/office/drawing/2014/main" id="{861CC604-2553-E427-BB6A-478C1AD12906}"/>
              </a:ext>
            </a:extLst>
          </p:cNvPr>
          <p:cNvSpPr/>
          <p:nvPr/>
        </p:nvSpPr>
        <p:spPr>
          <a:xfrm>
            <a:off x="9445752" y="3364992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07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Mixto</a:t>
            </a:r>
            <a:r>
              <a:rPr lang="en-US" sz="70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89% NO DEP</a:t>
            </a:r>
            <a:endParaRPr lang="en-US" sz="1050" dirty="0"/>
          </a:p>
        </p:txBody>
      </p:sp>
      <p:sp>
        <p:nvSpPr>
          <p:cNvPr id="717" name="Shape 180">
            <a:extLst>
              <a:ext uri="{FF2B5EF4-FFF2-40B4-BE49-F238E27FC236}">
                <a16:creationId xmlns:a16="http://schemas.microsoft.com/office/drawing/2014/main" id="{F4B11846-51AF-86E9-E087-035F7B7ADD42}"/>
              </a:ext>
            </a:extLst>
          </p:cNvPr>
          <p:cNvSpPr/>
          <p:nvPr/>
        </p:nvSpPr>
        <p:spPr>
          <a:xfrm>
            <a:off x="10789920" y="3374136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00A651"/>
          </a:solidFill>
          <a:ln w="12700">
            <a:noFill/>
            <a:prstDash val="solid"/>
          </a:ln>
        </p:spPr>
      </p:sp>
      <p:sp>
        <p:nvSpPr>
          <p:cNvPr id="719" name="Text 181">
            <a:extLst>
              <a:ext uri="{FF2B5EF4-FFF2-40B4-BE49-F238E27FC236}">
                <a16:creationId xmlns:a16="http://schemas.microsoft.com/office/drawing/2014/main" id="{4E350D49-B325-9CA1-4C81-79AF07ADBE96}"/>
              </a:ext>
            </a:extLst>
          </p:cNvPr>
          <p:cNvSpPr/>
          <p:nvPr/>
        </p:nvSpPr>
        <p:spPr>
          <a:xfrm>
            <a:off x="10789920" y="337413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52.7 %</a:t>
            </a:r>
            <a:endParaRPr lang="en-US" sz="850" dirty="0"/>
          </a:p>
        </p:txBody>
      </p:sp>
      <p:sp>
        <p:nvSpPr>
          <p:cNvPr id="721" name="Text 182">
            <a:extLst>
              <a:ext uri="{FF2B5EF4-FFF2-40B4-BE49-F238E27FC236}">
                <a16:creationId xmlns:a16="http://schemas.microsoft.com/office/drawing/2014/main" id="{F384C69A-09D3-8BE9-8A58-1D0220BB4081}"/>
              </a:ext>
            </a:extLst>
          </p:cNvPr>
          <p:cNvSpPr/>
          <p:nvPr/>
        </p:nvSpPr>
        <p:spPr>
          <a:xfrm>
            <a:off x="9445752" y="3639312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Cliente-mes</a:t>
            </a:r>
            <a:endParaRPr lang="en-US" sz="850" dirty="0"/>
          </a:p>
        </p:txBody>
      </p:sp>
      <p:sp>
        <p:nvSpPr>
          <p:cNvPr id="723" name="Text 183">
            <a:extLst>
              <a:ext uri="{FF2B5EF4-FFF2-40B4-BE49-F238E27FC236}">
                <a16:creationId xmlns:a16="http://schemas.microsoft.com/office/drawing/2014/main" id="{66A9A939-1450-A773-94B4-9251918EBA89}"/>
              </a:ext>
            </a:extLst>
          </p:cNvPr>
          <p:cNvSpPr/>
          <p:nvPr/>
        </p:nvSpPr>
        <p:spPr>
          <a:xfrm>
            <a:off x="10680192" y="363931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2,479</a:t>
            </a:r>
            <a:endParaRPr lang="en-US" sz="1000" dirty="0"/>
          </a:p>
        </p:txBody>
      </p:sp>
      <p:sp>
        <p:nvSpPr>
          <p:cNvPr id="725" name="Shape 184">
            <a:extLst>
              <a:ext uri="{FF2B5EF4-FFF2-40B4-BE49-F238E27FC236}">
                <a16:creationId xmlns:a16="http://schemas.microsoft.com/office/drawing/2014/main" id="{6951F580-1191-D546-4B3E-3E79D18622FA}"/>
              </a:ext>
            </a:extLst>
          </p:cNvPr>
          <p:cNvSpPr/>
          <p:nvPr/>
        </p:nvSpPr>
        <p:spPr>
          <a:xfrm>
            <a:off x="9445752" y="3867912"/>
            <a:ext cx="20025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727" name="Text 185">
            <a:extLst>
              <a:ext uri="{FF2B5EF4-FFF2-40B4-BE49-F238E27FC236}">
                <a16:creationId xmlns:a16="http://schemas.microsoft.com/office/drawing/2014/main" id="{C6C2B33C-115E-3357-F679-3F7CAF6FC42E}"/>
              </a:ext>
            </a:extLst>
          </p:cNvPr>
          <p:cNvSpPr/>
          <p:nvPr/>
        </p:nvSpPr>
        <p:spPr>
          <a:xfrm>
            <a:off x="9445752" y="387705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Malos</a:t>
            </a:r>
            <a:endParaRPr lang="en-US" sz="850" dirty="0"/>
          </a:p>
        </p:txBody>
      </p:sp>
      <p:sp>
        <p:nvSpPr>
          <p:cNvPr id="729" name="Text 186">
            <a:extLst>
              <a:ext uri="{FF2B5EF4-FFF2-40B4-BE49-F238E27FC236}">
                <a16:creationId xmlns:a16="http://schemas.microsoft.com/office/drawing/2014/main" id="{93A67FEA-6DDA-5C47-6309-74B960F12401}"/>
              </a:ext>
            </a:extLst>
          </p:cNvPr>
          <p:cNvSpPr/>
          <p:nvPr/>
        </p:nvSpPr>
        <p:spPr>
          <a:xfrm>
            <a:off x="10680192" y="38770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</a:t>
            </a:r>
            <a:endParaRPr lang="en-US" sz="1000" dirty="0"/>
          </a:p>
        </p:txBody>
      </p:sp>
      <p:sp>
        <p:nvSpPr>
          <p:cNvPr id="731" name="Shape 187">
            <a:extLst>
              <a:ext uri="{FF2B5EF4-FFF2-40B4-BE49-F238E27FC236}">
                <a16:creationId xmlns:a16="http://schemas.microsoft.com/office/drawing/2014/main" id="{4A0BDC61-CCB5-0B13-4BB5-75076A71630A}"/>
              </a:ext>
            </a:extLst>
          </p:cNvPr>
          <p:cNvSpPr/>
          <p:nvPr/>
        </p:nvSpPr>
        <p:spPr>
          <a:xfrm>
            <a:off x="9445752" y="4105656"/>
            <a:ext cx="20025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733" name="Text 188">
            <a:extLst>
              <a:ext uri="{FF2B5EF4-FFF2-40B4-BE49-F238E27FC236}">
                <a16:creationId xmlns:a16="http://schemas.microsoft.com/office/drawing/2014/main" id="{1B03A871-D228-3328-1AB9-3911B1458E0B}"/>
              </a:ext>
            </a:extLst>
          </p:cNvPr>
          <p:cNvSpPr/>
          <p:nvPr/>
        </p:nvSpPr>
        <p:spPr>
          <a:xfrm>
            <a:off x="9445752" y="4114800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Tasa RD12</a:t>
            </a:r>
            <a:endParaRPr lang="en-US" sz="850" dirty="0"/>
          </a:p>
        </p:txBody>
      </p:sp>
      <p:sp>
        <p:nvSpPr>
          <p:cNvPr id="735" name="Text 189">
            <a:extLst>
              <a:ext uri="{FF2B5EF4-FFF2-40B4-BE49-F238E27FC236}">
                <a16:creationId xmlns:a16="http://schemas.microsoft.com/office/drawing/2014/main" id="{08C76151-2DEF-701D-41FF-DF63CDBFA14E}"/>
              </a:ext>
            </a:extLst>
          </p:cNvPr>
          <p:cNvSpPr/>
          <p:nvPr/>
        </p:nvSpPr>
        <p:spPr>
          <a:xfrm>
            <a:off x="10680192" y="41148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2.02%</a:t>
            </a:r>
            <a:endParaRPr lang="en-US" sz="1000" dirty="0"/>
          </a:p>
        </p:txBody>
      </p:sp>
      <p:sp>
        <p:nvSpPr>
          <p:cNvPr id="737" name="Shape 190">
            <a:extLst>
              <a:ext uri="{FF2B5EF4-FFF2-40B4-BE49-F238E27FC236}">
                <a16:creationId xmlns:a16="http://schemas.microsoft.com/office/drawing/2014/main" id="{C186C07F-9455-EF83-BBA1-7DEB679EB90D}"/>
              </a:ext>
            </a:extLst>
          </p:cNvPr>
          <p:cNvSpPr/>
          <p:nvPr/>
        </p:nvSpPr>
        <p:spPr>
          <a:xfrm>
            <a:off x="9281160" y="4416552"/>
            <a:ext cx="2331720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875">
            <a:solidFill>
              <a:srgbClr val="00A651"/>
            </a:solidFill>
            <a:prstDash val="solid"/>
          </a:ln>
        </p:spPr>
      </p:sp>
      <p:sp>
        <p:nvSpPr>
          <p:cNvPr id="739" name="Text 191">
            <a:extLst>
              <a:ext uri="{FF2B5EF4-FFF2-40B4-BE49-F238E27FC236}">
                <a16:creationId xmlns:a16="http://schemas.microsoft.com/office/drawing/2014/main" id="{18D8BE6A-ECC5-B011-248E-669F5B343728}"/>
              </a:ext>
            </a:extLst>
          </p:cNvPr>
          <p:cNvSpPr/>
          <p:nvPr/>
        </p:nvSpPr>
        <p:spPr>
          <a:xfrm>
            <a:off x="9445752" y="4471416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07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Indep</a:t>
            </a:r>
            <a:r>
              <a:rPr lang="en-US" sz="70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11% NO DEP</a:t>
            </a:r>
            <a:endParaRPr lang="en-US" sz="1050" dirty="0"/>
          </a:p>
        </p:txBody>
      </p:sp>
      <p:sp>
        <p:nvSpPr>
          <p:cNvPr id="741" name="Shape 192">
            <a:extLst>
              <a:ext uri="{FF2B5EF4-FFF2-40B4-BE49-F238E27FC236}">
                <a16:creationId xmlns:a16="http://schemas.microsoft.com/office/drawing/2014/main" id="{A31D7DA3-9DCF-41A9-1F49-8BB2A3324F1B}"/>
              </a:ext>
            </a:extLst>
          </p:cNvPr>
          <p:cNvSpPr/>
          <p:nvPr/>
        </p:nvSpPr>
        <p:spPr>
          <a:xfrm>
            <a:off x="10789920" y="4480560"/>
            <a:ext cx="676656" cy="219456"/>
          </a:xfrm>
          <a:prstGeom prst="roundRect">
            <a:avLst>
              <a:gd name="adj" fmla="val 187500"/>
            </a:avLst>
          </a:prstGeom>
          <a:solidFill>
            <a:srgbClr val="00A651"/>
          </a:solidFill>
          <a:ln w="12700">
            <a:noFill/>
            <a:prstDash val="solid"/>
          </a:ln>
        </p:spPr>
      </p:sp>
      <p:sp>
        <p:nvSpPr>
          <p:cNvPr id="743" name="Text 193">
            <a:extLst>
              <a:ext uri="{FF2B5EF4-FFF2-40B4-BE49-F238E27FC236}">
                <a16:creationId xmlns:a16="http://schemas.microsoft.com/office/drawing/2014/main" id="{51576470-064C-8141-86BE-B6157758E901}"/>
              </a:ext>
            </a:extLst>
          </p:cNvPr>
          <p:cNvSpPr/>
          <p:nvPr/>
        </p:nvSpPr>
        <p:spPr>
          <a:xfrm>
            <a:off x="10789920" y="448056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6.8 %</a:t>
            </a:r>
            <a:endParaRPr lang="en-US" sz="850" dirty="0"/>
          </a:p>
        </p:txBody>
      </p:sp>
      <p:sp>
        <p:nvSpPr>
          <p:cNvPr id="745" name="Text 194">
            <a:extLst>
              <a:ext uri="{FF2B5EF4-FFF2-40B4-BE49-F238E27FC236}">
                <a16:creationId xmlns:a16="http://schemas.microsoft.com/office/drawing/2014/main" id="{163BA47C-96FA-7411-29BD-180D7035A8DA}"/>
              </a:ext>
            </a:extLst>
          </p:cNvPr>
          <p:cNvSpPr/>
          <p:nvPr/>
        </p:nvSpPr>
        <p:spPr>
          <a:xfrm>
            <a:off x="9445752" y="4745736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Cliente-mes</a:t>
            </a:r>
            <a:endParaRPr lang="en-US" sz="850" dirty="0"/>
          </a:p>
        </p:txBody>
      </p:sp>
      <p:sp>
        <p:nvSpPr>
          <p:cNvPr id="747" name="Text 195">
            <a:extLst>
              <a:ext uri="{FF2B5EF4-FFF2-40B4-BE49-F238E27FC236}">
                <a16:creationId xmlns:a16="http://schemas.microsoft.com/office/drawing/2014/main" id="{3550173F-16E0-D731-858E-F3D88830C16D}"/>
              </a:ext>
            </a:extLst>
          </p:cNvPr>
          <p:cNvSpPr/>
          <p:nvPr/>
        </p:nvSpPr>
        <p:spPr>
          <a:xfrm>
            <a:off x="10680192" y="474573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318</a:t>
            </a:r>
            <a:endParaRPr lang="en-US" sz="1000" dirty="0"/>
          </a:p>
        </p:txBody>
      </p:sp>
      <p:sp>
        <p:nvSpPr>
          <p:cNvPr id="749" name="Shape 196">
            <a:extLst>
              <a:ext uri="{FF2B5EF4-FFF2-40B4-BE49-F238E27FC236}">
                <a16:creationId xmlns:a16="http://schemas.microsoft.com/office/drawing/2014/main" id="{44B2D17A-A66C-3BD3-CA9E-93F90E73A38A}"/>
              </a:ext>
            </a:extLst>
          </p:cNvPr>
          <p:cNvSpPr/>
          <p:nvPr/>
        </p:nvSpPr>
        <p:spPr>
          <a:xfrm>
            <a:off x="9445752" y="4974336"/>
            <a:ext cx="20025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751" name="Text 197">
            <a:extLst>
              <a:ext uri="{FF2B5EF4-FFF2-40B4-BE49-F238E27FC236}">
                <a16:creationId xmlns:a16="http://schemas.microsoft.com/office/drawing/2014/main" id="{D41A33EF-9EF6-8F81-BFB0-2E089645AD64}"/>
              </a:ext>
            </a:extLst>
          </p:cNvPr>
          <p:cNvSpPr/>
          <p:nvPr/>
        </p:nvSpPr>
        <p:spPr>
          <a:xfrm>
            <a:off x="9445752" y="4983480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Malos</a:t>
            </a:r>
            <a:endParaRPr lang="en-US" sz="850" dirty="0"/>
          </a:p>
        </p:txBody>
      </p:sp>
      <p:sp>
        <p:nvSpPr>
          <p:cNvPr id="753" name="Text 198">
            <a:extLst>
              <a:ext uri="{FF2B5EF4-FFF2-40B4-BE49-F238E27FC236}">
                <a16:creationId xmlns:a16="http://schemas.microsoft.com/office/drawing/2014/main" id="{818A710A-6CC2-75A4-4A3D-210832F54C77}"/>
              </a:ext>
            </a:extLst>
          </p:cNvPr>
          <p:cNvSpPr/>
          <p:nvPr/>
        </p:nvSpPr>
        <p:spPr>
          <a:xfrm>
            <a:off x="10680192" y="498348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000" dirty="0"/>
          </a:p>
        </p:txBody>
      </p:sp>
      <p:sp>
        <p:nvSpPr>
          <p:cNvPr id="755" name="Shape 199">
            <a:extLst>
              <a:ext uri="{FF2B5EF4-FFF2-40B4-BE49-F238E27FC236}">
                <a16:creationId xmlns:a16="http://schemas.microsoft.com/office/drawing/2014/main" id="{458096A0-0512-B251-37BA-980AE908C00D}"/>
              </a:ext>
            </a:extLst>
          </p:cNvPr>
          <p:cNvSpPr/>
          <p:nvPr/>
        </p:nvSpPr>
        <p:spPr>
          <a:xfrm>
            <a:off x="9445752" y="5212080"/>
            <a:ext cx="2002536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757" name="Text 200">
            <a:extLst>
              <a:ext uri="{FF2B5EF4-FFF2-40B4-BE49-F238E27FC236}">
                <a16:creationId xmlns:a16="http://schemas.microsoft.com/office/drawing/2014/main" id="{A2A4B051-2F84-D9B9-C0B9-EB0915DA6A63}"/>
              </a:ext>
            </a:extLst>
          </p:cNvPr>
          <p:cNvSpPr/>
          <p:nvPr/>
        </p:nvSpPr>
        <p:spPr>
          <a:xfrm>
            <a:off x="9445752" y="5221224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Tasa RD12</a:t>
            </a:r>
            <a:endParaRPr lang="en-US" sz="850" dirty="0"/>
          </a:p>
        </p:txBody>
      </p:sp>
      <p:sp>
        <p:nvSpPr>
          <p:cNvPr id="759" name="Text 201">
            <a:extLst>
              <a:ext uri="{FF2B5EF4-FFF2-40B4-BE49-F238E27FC236}">
                <a16:creationId xmlns:a16="http://schemas.microsoft.com/office/drawing/2014/main" id="{280C6132-640E-07DA-B086-F627E3EFB86C}"/>
              </a:ext>
            </a:extLst>
          </p:cNvPr>
          <p:cNvSpPr/>
          <p:nvPr/>
        </p:nvSpPr>
        <p:spPr>
          <a:xfrm>
            <a:off x="10680192" y="522122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4.09%</a:t>
            </a:r>
            <a:endParaRPr lang="en-US" sz="1000" dirty="0"/>
          </a:p>
        </p:txBody>
      </p:sp>
      <p:sp>
        <p:nvSpPr>
          <p:cNvPr id="761" name="Shape 202">
            <a:extLst>
              <a:ext uri="{FF2B5EF4-FFF2-40B4-BE49-F238E27FC236}">
                <a16:creationId xmlns:a16="http://schemas.microsoft.com/office/drawing/2014/main" id="{38D564FA-08A0-E008-01F9-7620A1A170E7}"/>
              </a:ext>
            </a:extLst>
          </p:cNvPr>
          <p:cNvSpPr/>
          <p:nvPr/>
        </p:nvSpPr>
        <p:spPr>
          <a:xfrm>
            <a:off x="5074920" y="4261104"/>
            <a:ext cx="1874520" cy="987552"/>
          </a:xfrm>
          <a:prstGeom prst="roundRect">
            <a:avLst>
              <a:gd name="adj" fmla="val 2778"/>
            </a:avLst>
          </a:prstGeom>
          <a:solidFill>
            <a:srgbClr val="EFF2F0"/>
          </a:solidFill>
          <a:ln w="12700">
            <a:solidFill>
              <a:srgbClr val="8B968F"/>
            </a:solidFill>
            <a:prstDash val="dash"/>
          </a:ln>
        </p:spPr>
      </p:sp>
      <p:sp>
        <p:nvSpPr>
          <p:cNvPr id="763" name="Text 203">
            <a:extLst>
              <a:ext uri="{FF2B5EF4-FFF2-40B4-BE49-F238E27FC236}">
                <a16:creationId xmlns:a16="http://schemas.microsoft.com/office/drawing/2014/main" id="{1A9570A8-7851-880C-A6D0-9FAE93516FC6}"/>
              </a:ext>
            </a:extLst>
          </p:cNvPr>
          <p:cNvSpPr/>
          <p:nvPr/>
        </p:nvSpPr>
        <p:spPr>
          <a:xfrm>
            <a:off x="5221224" y="431596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Liberado → se conserva</a:t>
            </a:r>
            <a:endParaRPr lang="en-US" sz="850" dirty="0"/>
          </a:p>
        </p:txBody>
      </p:sp>
      <p:sp>
        <p:nvSpPr>
          <p:cNvPr id="765" name="Text 204">
            <a:extLst>
              <a:ext uri="{FF2B5EF4-FFF2-40B4-BE49-F238E27FC236}">
                <a16:creationId xmlns:a16="http://schemas.microsoft.com/office/drawing/2014/main" id="{BF2F9B92-EDBE-2905-3830-B70769C3622A}"/>
              </a:ext>
            </a:extLst>
          </p:cNvPr>
          <p:cNvSpPr/>
          <p:nvPr/>
        </p:nvSpPr>
        <p:spPr>
          <a:xfrm>
            <a:off x="5221224" y="453542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Indeterminado   </a:t>
            </a:r>
            <a:r>
              <a:rPr lang="en-US" sz="8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3.4 %</a:t>
            </a:r>
            <a:endParaRPr lang="en-US" sz="850" dirty="0"/>
          </a:p>
        </p:txBody>
      </p:sp>
      <p:sp>
        <p:nvSpPr>
          <p:cNvPr id="767" name="Text 205">
            <a:extLst>
              <a:ext uri="{FF2B5EF4-FFF2-40B4-BE49-F238E27FC236}">
                <a16:creationId xmlns:a16="http://schemas.microsoft.com/office/drawing/2014/main" id="{91F08200-F7C4-1D40-466B-E5ADB1C4792D}"/>
              </a:ext>
            </a:extLst>
          </p:cNvPr>
          <p:cNvSpPr/>
          <p:nvPr/>
        </p:nvSpPr>
        <p:spPr>
          <a:xfrm>
            <a:off x="5221224" y="4736592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A8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Insuficiente   </a:t>
            </a:r>
            <a:r>
              <a:rPr lang="en-US" sz="85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1.0 %</a:t>
            </a:r>
            <a:endParaRPr lang="en-US" sz="850" dirty="0"/>
          </a:p>
        </p:txBody>
      </p:sp>
      <p:sp>
        <p:nvSpPr>
          <p:cNvPr id="769" name="Text 206">
            <a:extLst>
              <a:ext uri="{FF2B5EF4-FFF2-40B4-BE49-F238E27FC236}">
                <a16:creationId xmlns:a16="http://schemas.microsoft.com/office/drawing/2014/main" id="{F253DDE9-8830-8509-3B48-AD9B54F6B132}"/>
              </a:ext>
            </a:extLst>
          </p:cNvPr>
          <p:cNvSpPr/>
          <p:nvPr/>
        </p:nvSpPr>
        <p:spPr>
          <a:xfrm>
            <a:off x="5221224" y="4956048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207 cliente-mes que el modelo apartaba</a:t>
            </a:r>
            <a:endParaRPr lang="en-US" sz="700" dirty="0"/>
          </a:p>
        </p:txBody>
      </p:sp>
      <p:sp>
        <p:nvSpPr>
          <p:cNvPr id="771" name="Shape 81">
            <a:extLst>
              <a:ext uri="{FF2B5EF4-FFF2-40B4-BE49-F238E27FC236}">
                <a16:creationId xmlns:a16="http://schemas.microsoft.com/office/drawing/2014/main" id="{5023F9EC-1542-E74C-EA50-7C3363D14103}"/>
              </a:ext>
            </a:extLst>
          </p:cNvPr>
          <p:cNvSpPr/>
          <p:nvPr/>
        </p:nvSpPr>
        <p:spPr>
          <a:xfrm>
            <a:off x="566928" y="3671130"/>
            <a:ext cx="4206240" cy="2217603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773" name="Shape 82">
            <a:extLst>
              <a:ext uri="{FF2B5EF4-FFF2-40B4-BE49-F238E27FC236}">
                <a16:creationId xmlns:a16="http://schemas.microsoft.com/office/drawing/2014/main" id="{797229BB-5DFC-0BEE-1B34-40F5B8D90151}"/>
              </a:ext>
            </a:extLst>
          </p:cNvPr>
          <p:cNvSpPr/>
          <p:nvPr/>
        </p:nvSpPr>
        <p:spPr>
          <a:xfrm>
            <a:off x="566928" y="3671131"/>
            <a:ext cx="4206240" cy="402336"/>
          </a:xfrm>
          <a:prstGeom prst="rect">
            <a:avLst/>
          </a:prstGeom>
          <a:solidFill>
            <a:srgbClr val="00703C"/>
          </a:solidFill>
          <a:ln w="12700">
            <a:noFill/>
            <a:prstDash val="solid"/>
          </a:ln>
        </p:spPr>
      </p:sp>
      <p:sp>
        <p:nvSpPr>
          <p:cNvPr id="775" name="Text 83">
            <a:extLst>
              <a:ext uri="{FF2B5EF4-FFF2-40B4-BE49-F238E27FC236}">
                <a16:creationId xmlns:a16="http://schemas.microsoft.com/office/drawing/2014/main" id="{221C88C4-582A-9569-2009-CF509DCA0745}"/>
              </a:ext>
            </a:extLst>
          </p:cNvPr>
          <p:cNvSpPr/>
          <p:nvPr/>
        </p:nvSpPr>
        <p:spPr>
          <a:xfrm>
            <a:off x="749808" y="372599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Criterios de calibracion</a:t>
            </a:r>
            <a:endParaRPr lang="en-US" sz="1300" dirty="0"/>
          </a:p>
        </p:txBody>
      </p:sp>
      <p:sp>
        <p:nvSpPr>
          <p:cNvPr id="777" name="Text 84">
            <a:extLst>
              <a:ext uri="{FF2B5EF4-FFF2-40B4-BE49-F238E27FC236}">
                <a16:creationId xmlns:a16="http://schemas.microsoft.com/office/drawing/2014/main" id="{7A9CC951-8511-FCC6-29E9-602B7E0C1EB9}"/>
              </a:ext>
            </a:extLst>
          </p:cNvPr>
          <p:cNvSpPr/>
          <p:nvPr/>
        </p:nvSpPr>
        <p:spPr>
          <a:xfrm>
            <a:off x="749808" y="4238059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Poblacion</a:t>
            </a:r>
            <a:endParaRPr lang="en-US" sz="750" dirty="0"/>
          </a:p>
        </p:txBody>
      </p:sp>
      <p:sp>
        <p:nvSpPr>
          <p:cNvPr id="779" name="Text 85">
            <a:extLst>
              <a:ext uri="{FF2B5EF4-FFF2-40B4-BE49-F238E27FC236}">
                <a16:creationId xmlns:a16="http://schemas.microsoft.com/office/drawing/2014/main" id="{B160FB22-A8F6-5868-6418-39EA29AC55DB}"/>
              </a:ext>
            </a:extLst>
          </p:cNvPr>
          <p:cNvSpPr/>
          <p:nvPr/>
        </p:nvSpPr>
        <p:spPr>
          <a:xfrm>
            <a:off x="749808" y="4384363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 PP con marca de </a:t>
            </a:r>
            <a:r>
              <a:rPr lang="en-US" sz="900" b="1" dirty="0" err="1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reenganche</a:t>
            </a:r>
            <a:endParaRPr lang="en-US" sz="900" dirty="0"/>
          </a:p>
        </p:txBody>
      </p:sp>
      <p:sp>
        <p:nvSpPr>
          <p:cNvPr id="781" name="Shape 86">
            <a:extLst>
              <a:ext uri="{FF2B5EF4-FFF2-40B4-BE49-F238E27FC236}">
                <a16:creationId xmlns:a16="http://schemas.microsoft.com/office/drawing/2014/main" id="{E51A2731-4044-385B-E4E8-08AD64178361}"/>
              </a:ext>
            </a:extLst>
          </p:cNvPr>
          <p:cNvSpPr/>
          <p:nvPr/>
        </p:nvSpPr>
        <p:spPr>
          <a:xfrm>
            <a:off x="749808" y="4567243"/>
            <a:ext cx="3840480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783" name="Text 87">
            <a:extLst>
              <a:ext uri="{FF2B5EF4-FFF2-40B4-BE49-F238E27FC236}">
                <a16:creationId xmlns:a16="http://schemas.microsoft.com/office/drawing/2014/main" id="{E29D524B-507F-756C-2C1E-F8C040B0A567}"/>
              </a:ext>
            </a:extLst>
          </p:cNvPr>
          <p:cNvSpPr/>
          <p:nvPr/>
        </p:nvSpPr>
        <p:spPr>
          <a:xfrm>
            <a:off x="749808" y="4603819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Driver de calibracion</a:t>
            </a:r>
            <a:endParaRPr lang="en-US" sz="750" dirty="0"/>
          </a:p>
        </p:txBody>
      </p:sp>
      <p:sp>
        <p:nvSpPr>
          <p:cNvPr id="785" name="Text 88">
            <a:extLst>
              <a:ext uri="{FF2B5EF4-FFF2-40B4-BE49-F238E27FC236}">
                <a16:creationId xmlns:a16="http://schemas.microsoft.com/office/drawing/2014/main" id="{DAC095EA-020D-5478-44B7-6F29AAFFCD7C}"/>
              </a:ext>
            </a:extLst>
          </p:cNvPr>
          <p:cNvSpPr/>
          <p:nvPr/>
        </p:nvSpPr>
        <p:spPr>
          <a:xfrm>
            <a:off x="749808" y="4750123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Tipo de </a:t>
            </a:r>
            <a:r>
              <a:rPr lang="en-US" sz="900" b="1" dirty="0" err="1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</a:t>
            </a:r>
            <a:r>
              <a:rPr lang="en-US" sz="9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Dep y No Dep </a:t>
            </a:r>
            <a:r>
              <a:rPr lang="en-US" sz="900" b="1" dirty="0" err="1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Validado</a:t>
            </a:r>
            <a:endParaRPr lang="en-US" sz="900" dirty="0"/>
          </a:p>
        </p:txBody>
      </p:sp>
      <p:sp>
        <p:nvSpPr>
          <p:cNvPr id="787" name="Shape 89">
            <a:extLst>
              <a:ext uri="{FF2B5EF4-FFF2-40B4-BE49-F238E27FC236}">
                <a16:creationId xmlns:a16="http://schemas.microsoft.com/office/drawing/2014/main" id="{AFAF3C5F-5E07-3A77-263A-D0E8F11104EA}"/>
              </a:ext>
            </a:extLst>
          </p:cNvPr>
          <p:cNvSpPr/>
          <p:nvPr/>
        </p:nvSpPr>
        <p:spPr>
          <a:xfrm>
            <a:off x="749808" y="4933003"/>
            <a:ext cx="3840480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789" name="Text 90">
            <a:extLst>
              <a:ext uri="{FF2B5EF4-FFF2-40B4-BE49-F238E27FC236}">
                <a16:creationId xmlns:a16="http://schemas.microsoft.com/office/drawing/2014/main" id="{BC124662-5F44-26E7-223B-3FE551FFE8A4}"/>
              </a:ext>
            </a:extLst>
          </p:cNvPr>
          <p:cNvSpPr/>
          <p:nvPr/>
        </p:nvSpPr>
        <p:spPr>
          <a:xfrm>
            <a:off x="749808" y="4969579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Definicion de malo</a:t>
            </a:r>
            <a:endParaRPr lang="en-US" sz="750" dirty="0"/>
          </a:p>
        </p:txBody>
      </p:sp>
      <p:sp>
        <p:nvSpPr>
          <p:cNvPr id="791" name="Text 91">
            <a:extLst>
              <a:ext uri="{FF2B5EF4-FFF2-40B4-BE49-F238E27FC236}">
                <a16:creationId xmlns:a16="http://schemas.microsoft.com/office/drawing/2014/main" id="{5F052BFD-4149-271F-1663-AF20C9E33DA2}"/>
              </a:ext>
            </a:extLst>
          </p:cNvPr>
          <p:cNvSpPr/>
          <p:nvPr/>
        </p:nvSpPr>
        <p:spPr>
          <a:xfrm>
            <a:off x="749808" y="5115883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60d / horizonte 12m + refinanciado + castigo</a:t>
            </a:r>
            <a:endParaRPr lang="en-US" sz="900" dirty="0"/>
          </a:p>
        </p:txBody>
      </p:sp>
      <p:sp>
        <p:nvSpPr>
          <p:cNvPr id="793" name="Shape 92">
            <a:extLst>
              <a:ext uri="{FF2B5EF4-FFF2-40B4-BE49-F238E27FC236}">
                <a16:creationId xmlns:a16="http://schemas.microsoft.com/office/drawing/2014/main" id="{908BB1C2-A3BF-DD57-C3E7-33592AF17441}"/>
              </a:ext>
            </a:extLst>
          </p:cNvPr>
          <p:cNvSpPr/>
          <p:nvPr/>
        </p:nvSpPr>
        <p:spPr>
          <a:xfrm>
            <a:off x="749808" y="5298763"/>
            <a:ext cx="3840480" cy="0"/>
          </a:xfrm>
          <a:prstGeom prst="line">
            <a:avLst/>
          </a:prstGeom>
          <a:noFill/>
          <a:ln w="9525">
            <a:solidFill>
              <a:srgbClr val="DDE3DF"/>
            </a:solidFill>
            <a:prstDash val="solid"/>
          </a:ln>
        </p:spPr>
      </p:sp>
      <p:sp>
        <p:nvSpPr>
          <p:cNvPr id="795" name="Text 93">
            <a:extLst>
              <a:ext uri="{FF2B5EF4-FFF2-40B4-BE49-F238E27FC236}">
                <a16:creationId xmlns:a16="http://schemas.microsoft.com/office/drawing/2014/main" id="{4E7A38CD-2F76-989B-4D36-D0885E85592F}"/>
              </a:ext>
            </a:extLst>
          </p:cNvPr>
          <p:cNvSpPr/>
          <p:nvPr/>
        </p:nvSpPr>
        <p:spPr>
          <a:xfrm>
            <a:off x="749808" y="5335339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6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Ventana</a:t>
            </a:r>
            <a:endParaRPr lang="en-US" sz="750" dirty="0"/>
          </a:p>
        </p:txBody>
      </p:sp>
      <p:sp>
        <p:nvSpPr>
          <p:cNvPr id="797" name="Text 94">
            <a:extLst>
              <a:ext uri="{FF2B5EF4-FFF2-40B4-BE49-F238E27FC236}">
                <a16:creationId xmlns:a16="http://schemas.microsoft.com/office/drawing/2014/main" id="{00D14398-53F7-F939-BC9E-E0E9759A4293}"/>
              </a:ext>
            </a:extLst>
          </p:cNvPr>
          <p:cNvSpPr/>
          <p:nvPr/>
        </p:nvSpPr>
        <p:spPr>
          <a:xfrm>
            <a:off x="749808" y="5481643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2B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202312 – 202506  </a:t>
            </a:r>
            <a:endParaRPr lang="en-US" sz="900" dirty="0"/>
          </a:p>
        </p:txBody>
      </p:sp>
      <p:sp>
        <p:nvSpPr>
          <p:cNvPr id="799" name="Elipse 798">
            <a:extLst>
              <a:ext uri="{FF2B5EF4-FFF2-40B4-BE49-F238E27FC236}">
                <a16:creationId xmlns:a16="http://schemas.microsoft.com/office/drawing/2014/main" id="{EBC64904-E662-D904-AB3C-C284A5415CFB}"/>
              </a:ext>
            </a:extLst>
          </p:cNvPr>
          <p:cNvSpPr/>
          <p:nvPr/>
        </p:nvSpPr>
        <p:spPr>
          <a:xfrm>
            <a:off x="10450257" y="827599"/>
            <a:ext cx="72000" cy="72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01" name="Marcador de texto 3">
            <a:extLst>
              <a:ext uri="{FF2B5EF4-FFF2-40B4-BE49-F238E27FC236}">
                <a16:creationId xmlns:a16="http://schemas.microsoft.com/office/drawing/2014/main" id="{A83D3B2C-07C9-E47C-2D6B-F580D31AD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37" y="260790"/>
            <a:ext cx="8326867" cy="44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2400" dirty="0">
                <a:solidFill>
                  <a:srgbClr val="00703C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PP Reenganche </a:t>
            </a: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703C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| </a:t>
            </a: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87938C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Diseño de Calibración</a:t>
            </a:r>
          </a:p>
        </p:txBody>
      </p:sp>
    </p:spTree>
    <p:extLst>
      <p:ext uri="{BB962C8B-B14F-4D97-AF65-F5344CB8AC3E}">
        <p14:creationId xmlns:p14="http://schemas.microsoft.com/office/powerpoint/2010/main" val="1271453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5B18-CAE4-96A1-F901-C0F6A893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80EAB56-C67D-FD7B-5ECD-42B7FE24D93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6" imgH="428" progId="TCLayout.ActiveDocument.1">
                  <p:embed/>
                </p:oleObj>
              </mc:Choice>
              <mc:Fallback>
                <p:oleObj name="Diapositiva de think-cell" r:id="rId4" imgW="426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0EAB56-C67D-FD7B-5ECD-42B7FE24D9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6">
            <a:extLst>
              <a:ext uri="{FF2B5EF4-FFF2-40B4-BE49-F238E27FC236}">
                <a16:creationId xmlns:a16="http://schemas.microsoft.com/office/drawing/2014/main" id="{DF7A3953-F4F9-2EF9-121A-FEE300084016}"/>
              </a:ext>
            </a:extLst>
          </p:cNvPr>
          <p:cNvSpPr/>
          <p:nvPr/>
        </p:nvSpPr>
        <p:spPr>
          <a:xfrm>
            <a:off x="6968552" y="1255056"/>
            <a:ext cx="2086676" cy="2616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2" name="Rectángulo: esquinas redondeadas 1">
            <a:extLst>
              <a:ext uri="{FF2B5EF4-FFF2-40B4-BE49-F238E27FC236}">
                <a16:creationId xmlns:a16="http://schemas.microsoft.com/office/drawing/2014/main" id="{94AA6EB2-62D4-EA47-270F-8AC6F0FECBFA}"/>
              </a:ext>
            </a:extLst>
          </p:cNvPr>
          <p:cNvSpPr/>
          <p:nvPr/>
        </p:nvSpPr>
        <p:spPr>
          <a:xfrm>
            <a:off x="6703406" y="1141776"/>
            <a:ext cx="4326396" cy="5121864"/>
          </a:xfrm>
          <a:prstGeom prst="roundRect">
            <a:avLst>
              <a:gd name="adj" fmla="val 247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3" name="Rectángulo: esquinas superiores redondeadas 52">
            <a:extLst>
              <a:ext uri="{FF2B5EF4-FFF2-40B4-BE49-F238E27FC236}">
                <a16:creationId xmlns:a16="http://schemas.microsoft.com/office/drawing/2014/main" id="{00D50C5A-82D5-8189-72B1-20F395D3F802}"/>
              </a:ext>
            </a:extLst>
          </p:cNvPr>
          <p:cNvSpPr/>
          <p:nvPr/>
        </p:nvSpPr>
        <p:spPr>
          <a:xfrm>
            <a:off x="6703405" y="855225"/>
            <a:ext cx="4326397" cy="44660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70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       Resultado General (100%)</a:t>
            </a:r>
            <a:endParaRPr kumimoji="0" lang="es-PE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ángulo 35">
            <a:extLst>
              <a:ext uri="{FF2B5EF4-FFF2-40B4-BE49-F238E27FC236}">
                <a16:creationId xmlns:a16="http://schemas.microsoft.com/office/drawing/2014/main" id="{7BF0F7E9-A84A-AD11-339B-F1C4275C3B0C}"/>
              </a:ext>
            </a:extLst>
          </p:cNvPr>
          <p:cNvSpPr/>
          <p:nvPr/>
        </p:nvSpPr>
        <p:spPr>
          <a:xfrm>
            <a:off x="6723094" y="1406076"/>
            <a:ext cx="27142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120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Diagnóstico:</a:t>
            </a:r>
          </a:p>
        </p:txBody>
      </p:sp>
      <p:sp>
        <p:nvSpPr>
          <p:cNvPr id="58" name="Rectángulo 35">
            <a:extLst>
              <a:ext uri="{FF2B5EF4-FFF2-40B4-BE49-F238E27FC236}">
                <a16:creationId xmlns:a16="http://schemas.microsoft.com/office/drawing/2014/main" id="{3065CB91-5BA0-E72B-4190-AACD28BC5C82}"/>
              </a:ext>
            </a:extLst>
          </p:cNvPr>
          <p:cNvSpPr/>
          <p:nvPr/>
        </p:nvSpPr>
        <p:spPr>
          <a:xfrm>
            <a:off x="6749816" y="3766542"/>
            <a:ext cx="27142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1200" cap="none" spc="0" normalizeH="0" baseline="0" noProof="0" dirty="0">
                <a:ln>
                  <a:noFill/>
                </a:ln>
                <a:solidFill>
                  <a:srgbClr val="00A65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Calibrado:</a:t>
            </a:r>
          </a:p>
        </p:txBody>
      </p:sp>
      <p:sp>
        <p:nvSpPr>
          <p:cNvPr id="76" name="Rectángulo: esquinas redondeadas 1">
            <a:extLst>
              <a:ext uri="{FF2B5EF4-FFF2-40B4-BE49-F238E27FC236}">
                <a16:creationId xmlns:a16="http://schemas.microsoft.com/office/drawing/2014/main" id="{0E46D8DF-9DAE-E8B2-DC7F-FA757911F154}"/>
              </a:ext>
            </a:extLst>
          </p:cNvPr>
          <p:cNvSpPr/>
          <p:nvPr/>
        </p:nvSpPr>
        <p:spPr>
          <a:xfrm>
            <a:off x="940265" y="1593684"/>
            <a:ext cx="830942" cy="1014791"/>
          </a:xfrm>
          <a:prstGeom prst="roundRect">
            <a:avLst>
              <a:gd name="adj" fmla="val 10054"/>
            </a:avLst>
          </a:prstGeom>
          <a:solidFill>
            <a:srgbClr val="00703C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br>
              <a:rPr lang="es-PE" sz="1400"/>
            </a:br>
            <a:r>
              <a:rPr lang="es-PE" sz="1400"/>
              <a:t>	</a:t>
            </a:r>
            <a:r>
              <a:rPr lang="es-PE" sz="1400" b="1">
                <a:solidFill>
                  <a:srgbClr val="00B050"/>
                </a:solidFill>
                <a:latin typeface="Poppins" pitchFamily="2" charset="77"/>
                <a:cs typeface="Poppins" pitchFamily="2" charset="77"/>
              </a:rPr>
              <a:t>Metodología</a:t>
            </a:r>
            <a:endParaRPr kumimoji="0" lang="es-MX" sz="200" b="1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7" name="Rectángulo: esquinas redondeadas 1">
            <a:extLst>
              <a:ext uri="{FF2B5EF4-FFF2-40B4-BE49-F238E27FC236}">
                <a16:creationId xmlns:a16="http://schemas.microsoft.com/office/drawing/2014/main" id="{B88A70D6-BD67-1645-F4BC-9C85BD90B2A9}"/>
              </a:ext>
            </a:extLst>
          </p:cNvPr>
          <p:cNvSpPr/>
          <p:nvPr/>
        </p:nvSpPr>
        <p:spPr>
          <a:xfrm>
            <a:off x="971528" y="1589695"/>
            <a:ext cx="3820240" cy="1014790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r>
              <a:rPr lang="es-PE" sz="14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	</a:t>
            </a:r>
            <a:r>
              <a:rPr lang="es-PE" sz="1100" b="1" dirty="0">
                <a:solidFill>
                  <a:srgbClr val="00703C"/>
                </a:solidFill>
                <a:latin typeface="Poppins" pitchFamily="2" charset="77"/>
                <a:cs typeface="Poppins" pitchFamily="2" charset="77"/>
              </a:rPr>
              <a:t>Componente A:</a:t>
            </a:r>
          </a:p>
          <a:p>
            <a:pPr lvl="0">
              <a:defRPr/>
            </a:pPr>
            <a:r>
              <a:rPr lang="es-PE" sz="14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	</a:t>
            </a:r>
            <a:r>
              <a:rPr lang="es-PE" sz="1400" b="1" dirty="0">
                <a:latin typeface="Poppins" pitchFamily="2" charset="77"/>
                <a:cs typeface="Poppins" pitchFamily="2" charset="77"/>
              </a:rPr>
              <a:t>Ajuste de Nivel</a:t>
            </a:r>
            <a:endParaRPr lang="es-PE" sz="1400" b="1" dirty="0"/>
          </a:p>
          <a:p>
            <a:pPr>
              <a:defRPr/>
            </a:pPr>
            <a:r>
              <a:rPr lang="es-PE" sz="1000" dirty="0">
                <a:latin typeface="Poppins" pitchFamily="2" charset="77"/>
                <a:cs typeface="Poppins" pitchFamily="2" charset="77"/>
              </a:rPr>
              <a:t>	Ajustar </a:t>
            </a:r>
            <a:r>
              <a:rPr lang="es-419" sz="1000" dirty="0">
                <a:latin typeface="Poppins" pitchFamily="2" charset="77"/>
                <a:cs typeface="Poppins" pitchFamily="2" charset="77"/>
              </a:rPr>
              <a:t>la PD al promedio histórico</a:t>
            </a:r>
            <a:endParaRPr kumimoji="0" lang="es-PE" sz="9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8" name="Rectángulo redondeado 54">
            <a:extLst>
              <a:ext uri="{FF2B5EF4-FFF2-40B4-BE49-F238E27FC236}">
                <a16:creationId xmlns:a16="http://schemas.microsoft.com/office/drawing/2014/main" id="{FE87EC2D-7102-BD40-9930-3CB16941B6EE}"/>
              </a:ext>
            </a:extLst>
          </p:cNvPr>
          <p:cNvSpPr/>
          <p:nvPr/>
        </p:nvSpPr>
        <p:spPr>
          <a:xfrm>
            <a:off x="1057520" y="1716333"/>
            <a:ext cx="733375" cy="657929"/>
          </a:xfrm>
          <a:prstGeom prst="roundRect">
            <a:avLst/>
          </a:prstGeom>
          <a:solidFill>
            <a:srgbClr val="007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9" name="Gráfico 78" descr="Anchor con relleno sólido">
            <a:extLst>
              <a:ext uri="{FF2B5EF4-FFF2-40B4-BE49-F238E27FC236}">
                <a16:creationId xmlns:a16="http://schemas.microsoft.com/office/drawing/2014/main" id="{0EE6FDA1-99C1-5164-1C31-9E0B896E15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3947" y="1754726"/>
            <a:ext cx="581142" cy="581142"/>
          </a:xfrm>
          <a:prstGeom prst="rect">
            <a:avLst/>
          </a:prstGeom>
        </p:spPr>
      </p:pic>
      <p:sp>
        <p:nvSpPr>
          <p:cNvPr id="80" name="Rectángulo: esquinas redondeadas 1">
            <a:extLst>
              <a:ext uri="{FF2B5EF4-FFF2-40B4-BE49-F238E27FC236}">
                <a16:creationId xmlns:a16="http://schemas.microsoft.com/office/drawing/2014/main" id="{BC754EEB-BCF0-C766-C3DF-6F094B7999E0}"/>
              </a:ext>
            </a:extLst>
          </p:cNvPr>
          <p:cNvSpPr/>
          <p:nvPr/>
        </p:nvSpPr>
        <p:spPr>
          <a:xfrm>
            <a:off x="940265" y="2848138"/>
            <a:ext cx="830942" cy="1226181"/>
          </a:xfrm>
          <a:prstGeom prst="roundRect">
            <a:avLst>
              <a:gd name="adj" fmla="val 10054"/>
            </a:avLst>
          </a:prstGeom>
          <a:solidFill>
            <a:srgbClr val="00A651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br>
              <a:rPr lang="es-PE" sz="1400"/>
            </a:br>
            <a:r>
              <a:rPr lang="es-PE" sz="1400"/>
              <a:t>	</a:t>
            </a:r>
            <a:r>
              <a:rPr lang="es-PE" sz="1400" b="1">
                <a:solidFill>
                  <a:srgbClr val="00B050"/>
                </a:solidFill>
                <a:latin typeface="Poppins" pitchFamily="2" charset="77"/>
                <a:cs typeface="Poppins" pitchFamily="2" charset="77"/>
              </a:rPr>
              <a:t>Metodología</a:t>
            </a:r>
            <a:endParaRPr kumimoji="0" lang="es-MX" sz="200" b="1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1" name="Rectángulo: esquinas redondeadas 1">
            <a:extLst>
              <a:ext uri="{FF2B5EF4-FFF2-40B4-BE49-F238E27FC236}">
                <a16:creationId xmlns:a16="http://schemas.microsoft.com/office/drawing/2014/main" id="{ED143044-F808-2602-AA98-0118ED09A874}"/>
              </a:ext>
            </a:extLst>
          </p:cNvPr>
          <p:cNvSpPr/>
          <p:nvPr/>
        </p:nvSpPr>
        <p:spPr>
          <a:xfrm>
            <a:off x="971528" y="2844149"/>
            <a:ext cx="3820240" cy="1230170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r>
              <a:rPr lang="es-PE" sz="1400" b="1" dirty="0">
                <a:solidFill>
                  <a:srgbClr val="00A651"/>
                </a:solidFill>
                <a:latin typeface="Poppins" pitchFamily="2" charset="77"/>
                <a:cs typeface="Poppins" pitchFamily="2" charset="77"/>
              </a:rPr>
              <a:t>	</a:t>
            </a:r>
            <a:r>
              <a:rPr lang="es-PE" sz="1100" b="1" dirty="0">
                <a:solidFill>
                  <a:srgbClr val="00A651"/>
                </a:solidFill>
                <a:latin typeface="Poppins" pitchFamily="2" charset="77"/>
                <a:cs typeface="Poppins" pitchFamily="2" charset="77"/>
              </a:rPr>
              <a:t>Componente B:</a:t>
            </a:r>
          </a:p>
          <a:p>
            <a:pPr lvl="0">
              <a:defRPr/>
            </a:pPr>
            <a:r>
              <a:rPr lang="es-PE" sz="14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	</a:t>
            </a:r>
            <a:r>
              <a:rPr lang="es-PE" sz="1400" b="1" dirty="0">
                <a:latin typeface="Poppins" pitchFamily="2" charset="77"/>
                <a:cs typeface="Poppins" pitchFamily="2" charset="77"/>
              </a:rPr>
              <a:t>Ajuste de Ciclo</a:t>
            </a:r>
          </a:p>
          <a:p>
            <a:pPr>
              <a:defRPr/>
            </a:pPr>
            <a:r>
              <a:rPr kumimoji="0" lang="es-PE" sz="1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	</a:t>
            </a:r>
            <a:r>
              <a:rPr lang="es-MX" sz="1000" dirty="0">
                <a:latin typeface="Poppins" pitchFamily="2" charset="77"/>
                <a:cs typeface="Poppins" pitchFamily="2" charset="77"/>
              </a:rPr>
              <a:t>Movemos la PD con el ciclo económico 	vía factor macro</a:t>
            </a:r>
            <a:endParaRPr lang="es-PE" sz="10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ectángulo redondeado 76">
            <a:extLst>
              <a:ext uri="{FF2B5EF4-FFF2-40B4-BE49-F238E27FC236}">
                <a16:creationId xmlns:a16="http://schemas.microsoft.com/office/drawing/2014/main" id="{9F57610A-45AD-95F8-08AF-432A0FA0BA6E}"/>
              </a:ext>
            </a:extLst>
          </p:cNvPr>
          <p:cNvSpPr/>
          <p:nvPr/>
        </p:nvSpPr>
        <p:spPr>
          <a:xfrm>
            <a:off x="1057520" y="3151789"/>
            <a:ext cx="733375" cy="657929"/>
          </a:xfrm>
          <a:prstGeom prst="roundRect">
            <a:avLst/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83" name="Gráfico 82" descr="Periodic Graph con relleno sólido">
            <a:extLst>
              <a:ext uri="{FF2B5EF4-FFF2-40B4-BE49-F238E27FC236}">
                <a16:creationId xmlns:a16="http://schemas.microsoft.com/office/drawing/2014/main" id="{AE193549-9A54-9251-B7D6-7FE35FBC8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5157" y="3126207"/>
            <a:ext cx="727276" cy="727276"/>
          </a:xfrm>
          <a:prstGeom prst="rect">
            <a:avLst/>
          </a:prstGeom>
        </p:spPr>
      </p:pic>
      <p:sp>
        <p:nvSpPr>
          <p:cNvPr id="84" name="Rectángulo: esquinas redondeadas 1">
            <a:extLst>
              <a:ext uri="{FF2B5EF4-FFF2-40B4-BE49-F238E27FC236}">
                <a16:creationId xmlns:a16="http://schemas.microsoft.com/office/drawing/2014/main" id="{FFFC5408-E509-9B34-DC6D-B5FE79677CF3}"/>
              </a:ext>
            </a:extLst>
          </p:cNvPr>
          <p:cNvSpPr/>
          <p:nvPr/>
        </p:nvSpPr>
        <p:spPr>
          <a:xfrm>
            <a:off x="971528" y="4327269"/>
            <a:ext cx="830942" cy="1014791"/>
          </a:xfrm>
          <a:prstGeom prst="roundRect">
            <a:avLst>
              <a:gd name="adj" fmla="val 10054"/>
            </a:avLst>
          </a:prstGeom>
          <a:solidFill>
            <a:srgbClr val="6FC38A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br>
              <a:rPr lang="es-PE" sz="1400" dirty="0"/>
            </a:br>
            <a:r>
              <a:rPr lang="es-PE" sz="1400" dirty="0"/>
              <a:t>	</a:t>
            </a:r>
            <a:r>
              <a:rPr lang="es-PE" sz="1400" b="1" dirty="0">
                <a:solidFill>
                  <a:srgbClr val="00B050"/>
                </a:solidFill>
                <a:latin typeface="Poppins" pitchFamily="2" charset="77"/>
                <a:cs typeface="Poppins" pitchFamily="2" charset="77"/>
              </a:rPr>
              <a:t>Metodología</a:t>
            </a:r>
            <a:endParaRPr kumimoji="0" lang="es-MX" sz="2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5" name="Rectángulo: esquinas redondeadas 1">
            <a:extLst>
              <a:ext uri="{FF2B5EF4-FFF2-40B4-BE49-F238E27FC236}">
                <a16:creationId xmlns:a16="http://schemas.microsoft.com/office/drawing/2014/main" id="{8DD5B9BD-0DA9-9D12-9692-96EA4FC02AD1}"/>
              </a:ext>
            </a:extLst>
          </p:cNvPr>
          <p:cNvSpPr/>
          <p:nvPr/>
        </p:nvSpPr>
        <p:spPr>
          <a:xfrm>
            <a:off x="1002791" y="4323280"/>
            <a:ext cx="3820240" cy="1014790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r>
              <a:rPr lang="es-PE" sz="1400" b="1" dirty="0">
                <a:solidFill>
                  <a:srgbClr val="2F7C5F"/>
                </a:solidFill>
                <a:latin typeface="Poppins" pitchFamily="2" charset="77"/>
                <a:cs typeface="Poppins" pitchFamily="2" charset="77"/>
              </a:rPr>
              <a:t>	</a:t>
            </a:r>
            <a:r>
              <a:rPr lang="es-PE" sz="1100" b="1" dirty="0">
                <a:solidFill>
                  <a:srgbClr val="2F7C5F"/>
                </a:solidFill>
                <a:latin typeface="Poppins" pitchFamily="2" charset="77"/>
                <a:cs typeface="Poppins" pitchFamily="2" charset="77"/>
              </a:rPr>
              <a:t>Componente C:</a:t>
            </a:r>
          </a:p>
          <a:p>
            <a:pPr lvl="0">
              <a:defRPr/>
            </a:pPr>
            <a:r>
              <a:rPr lang="es-PE" sz="14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	</a:t>
            </a:r>
            <a:r>
              <a:rPr lang="es-PE" sz="1400" b="1" dirty="0">
                <a:latin typeface="Poppins" pitchFamily="2" charset="77"/>
                <a:cs typeface="Poppins" pitchFamily="2" charset="77"/>
              </a:rPr>
              <a:t>Ajuste de Sensibilidad</a:t>
            </a:r>
          </a:p>
          <a:p>
            <a:pPr>
              <a:defRPr/>
            </a:pPr>
            <a:r>
              <a:rPr kumimoji="0" lang="es-PE" sz="1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	</a:t>
            </a:r>
            <a:r>
              <a:rPr kumimoji="0" lang="es-MX" sz="10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Definimos cuánto reacciona la PD ante el 	ciclo.</a:t>
            </a:r>
            <a:endParaRPr kumimoji="0" lang="es-PE" sz="9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6" name="Rectángulo redondeado 84">
            <a:extLst>
              <a:ext uri="{FF2B5EF4-FFF2-40B4-BE49-F238E27FC236}">
                <a16:creationId xmlns:a16="http://schemas.microsoft.com/office/drawing/2014/main" id="{C95C934B-9572-CB07-AC89-63874ECE59AC}"/>
              </a:ext>
            </a:extLst>
          </p:cNvPr>
          <p:cNvSpPr/>
          <p:nvPr/>
        </p:nvSpPr>
        <p:spPr>
          <a:xfrm>
            <a:off x="1088783" y="4449918"/>
            <a:ext cx="733375" cy="657929"/>
          </a:xfrm>
          <a:prstGeom prst="roundRect">
            <a:avLst/>
          </a:prstGeom>
          <a:solidFill>
            <a:srgbClr val="6FC3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87" name="Gráfico 86" descr="Soundwave con relleno sólido">
            <a:extLst>
              <a:ext uri="{FF2B5EF4-FFF2-40B4-BE49-F238E27FC236}">
                <a16:creationId xmlns:a16="http://schemas.microsoft.com/office/drawing/2014/main" id="{A5A45A2F-46C2-A6C1-90A7-AFC717534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6787" y="4492497"/>
            <a:ext cx="578575" cy="578575"/>
          </a:xfrm>
          <a:prstGeom prst="rect">
            <a:avLst/>
          </a:prstGeom>
        </p:spPr>
      </p:pic>
      <p:sp>
        <p:nvSpPr>
          <p:cNvPr id="88" name="CuadroTexto 87">
            <a:extLst>
              <a:ext uri="{FF2B5EF4-FFF2-40B4-BE49-F238E27FC236}">
                <a16:creationId xmlns:a16="http://schemas.microsoft.com/office/drawing/2014/main" id="{DE02B32C-E1EA-FBC4-94A3-70BD7A60E80F}"/>
              </a:ext>
            </a:extLst>
          </p:cNvPr>
          <p:cNvSpPr txBox="1"/>
          <p:nvPr/>
        </p:nvSpPr>
        <p:spPr>
          <a:xfrm>
            <a:off x="900889" y="1394353"/>
            <a:ext cx="297829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900" b="0" i="0">
                <a:solidFill>
                  <a:schemeClr val="bg2">
                    <a:lumMod val="50000"/>
                  </a:schemeClr>
                </a:solidFill>
                <a:effectLst/>
                <a:latin typeface="Poppins" pitchFamily="2" charset="77"/>
                <a:cs typeface="Poppins" pitchFamily="2" charset="77"/>
              </a:rPr>
              <a:t>¿Cuál es la PD promedio en el largo plazo?</a:t>
            </a:r>
            <a:endParaRPr lang="es-PE" sz="9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C632DFFB-C626-C924-CD6D-43043EAD977C}"/>
              </a:ext>
            </a:extLst>
          </p:cNvPr>
          <p:cNvSpPr txBox="1"/>
          <p:nvPr/>
        </p:nvSpPr>
        <p:spPr>
          <a:xfrm>
            <a:off x="920577" y="2651054"/>
            <a:ext cx="249831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900" b="0" i="0">
                <a:solidFill>
                  <a:schemeClr val="bg2">
                    <a:lumMod val="50000"/>
                  </a:schemeClr>
                </a:solidFill>
                <a:effectLst/>
                <a:latin typeface="Poppins" pitchFamily="2" charset="77"/>
                <a:cs typeface="Poppins" pitchFamily="2" charset="77"/>
              </a:rPr>
              <a:t>¿En qué estado del ciclo estamos hoy?</a:t>
            </a:r>
            <a:endParaRPr lang="es-PE" sz="9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916B36FD-C19D-F7BB-454B-280946D05E31}"/>
              </a:ext>
            </a:extLst>
          </p:cNvPr>
          <p:cNvSpPr txBox="1"/>
          <p:nvPr/>
        </p:nvSpPr>
        <p:spPr>
          <a:xfrm>
            <a:off x="971528" y="4132832"/>
            <a:ext cx="31885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900" b="0" i="0">
                <a:solidFill>
                  <a:schemeClr val="bg2">
                    <a:lumMod val="50000"/>
                  </a:schemeClr>
                </a:solidFill>
                <a:effectLst/>
                <a:latin typeface="Poppins" pitchFamily="2" charset="77"/>
                <a:cs typeface="Poppins" pitchFamily="2" charset="77"/>
              </a:rPr>
              <a:t>¿Cuánto debe moverse la PD ante ese estado?</a:t>
            </a:r>
            <a:endParaRPr lang="es-PE" sz="9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3" name="Título 34">
            <a:extLst>
              <a:ext uri="{FF2B5EF4-FFF2-40B4-BE49-F238E27FC236}">
                <a16:creationId xmlns:a16="http://schemas.microsoft.com/office/drawing/2014/main" id="{B622809E-D677-999D-E4D9-EB0A75244441}"/>
              </a:ext>
            </a:extLst>
          </p:cNvPr>
          <p:cNvSpPr txBox="1">
            <a:spLocks/>
          </p:cNvSpPr>
          <p:nvPr/>
        </p:nvSpPr>
        <p:spPr>
          <a:xfrm>
            <a:off x="477460" y="855225"/>
            <a:ext cx="4845998" cy="358820"/>
          </a:xfrm>
          <a:prstGeom prst="rect">
            <a:avLst/>
          </a:prstGeom>
          <a:solidFill>
            <a:sysClr val="window" lastClr="FFFFFF"/>
          </a:solidFill>
        </p:spPr>
        <p:txBody>
          <a:bodyPr vert="horz" lIns="91440" tIns="45720" rIns="91440" bIns="45720" rtlCol="0" anchor="t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>
                <a:solidFill>
                  <a:srgbClr val="00D03C"/>
                </a:solidFill>
                <a:latin typeface="Geometria"/>
                <a:cs typeface="Poppins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sz="2000" kern="0" dirty="0">
                <a:solidFill>
                  <a:srgbClr val="97A19B"/>
                </a:solidFill>
                <a:latin typeface="Poppins"/>
                <a:cs typeface="Poppins"/>
              </a:rPr>
              <a:t>Metodología:</a:t>
            </a:r>
            <a:endParaRPr kumimoji="0" lang="es-MX" sz="2400" b="1" i="0" u="none" strike="noStrike" kern="0" cap="none" spc="0" normalizeH="0" baseline="0" noProof="0" dirty="0">
              <a:ln>
                <a:noFill/>
              </a:ln>
              <a:solidFill>
                <a:srgbClr val="97A19B"/>
              </a:solidFill>
              <a:effectLst/>
              <a:uLnTx/>
              <a:uFillTx/>
              <a:latin typeface="Poppins"/>
              <a:ea typeface="+mn-ea"/>
              <a:cs typeface="Poppins" panose="00000500000000000000" pitchFamily="2" charset="0"/>
            </a:endParaRPr>
          </a:p>
        </p:txBody>
      </p:sp>
      <p:sp>
        <p:nvSpPr>
          <p:cNvPr id="95" name="Rectángulo redondeado 86">
            <a:extLst>
              <a:ext uri="{FF2B5EF4-FFF2-40B4-BE49-F238E27FC236}">
                <a16:creationId xmlns:a16="http://schemas.microsoft.com/office/drawing/2014/main" id="{CB17BC04-8BAF-77BD-3D6B-84C3FA1E527D}"/>
              </a:ext>
            </a:extLst>
          </p:cNvPr>
          <p:cNvSpPr/>
          <p:nvPr/>
        </p:nvSpPr>
        <p:spPr>
          <a:xfrm>
            <a:off x="696890" y="5528513"/>
            <a:ext cx="4565663" cy="4740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rgbClr val="00703C"/>
                </a:solidFill>
                <a:latin typeface="Poppins" pitchFamily="2" charset="77"/>
                <a:cs typeface="Poppins" pitchFamily="2" charset="77"/>
              </a:rPr>
              <a:t>PD cal </a:t>
            </a:r>
            <a:r>
              <a:rPr lang="es-PE" b="1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= </a:t>
            </a:r>
            <a:r>
              <a:rPr lang="es-419" b="1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f (Nivel, Ciclo, Sensibilidad)</a:t>
            </a:r>
            <a:endParaRPr lang="es-PE" sz="105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7" name="Rectángulo: esquinas redondeadas 96">
            <a:extLst>
              <a:ext uri="{FF2B5EF4-FFF2-40B4-BE49-F238E27FC236}">
                <a16:creationId xmlns:a16="http://schemas.microsoft.com/office/drawing/2014/main" id="{D28139CE-29AD-EDDC-1F7A-C9C8BC5BE7FF}"/>
              </a:ext>
            </a:extLst>
          </p:cNvPr>
          <p:cNvSpPr/>
          <p:nvPr/>
        </p:nvSpPr>
        <p:spPr>
          <a:xfrm>
            <a:off x="1968426" y="2299283"/>
            <a:ext cx="1039804" cy="167333"/>
          </a:xfrm>
          <a:prstGeom prst="roundRect">
            <a:avLst/>
          </a:prstGeom>
          <a:solidFill>
            <a:srgbClr val="E4EF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 dirty="0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Beta </a:t>
            </a:r>
            <a:r>
              <a:rPr lang="es-MX" sz="700" b="1" dirty="0" err="1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Calibration</a:t>
            </a:r>
            <a:endParaRPr lang="es-PE" sz="700" b="1" dirty="0">
              <a:solidFill>
                <a:srgbClr val="00703C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Rectángulo: esquinas redondeadas 97">
            <a:extLst>
              <a:ext uri="{FF2B5EF4-FFF2-40B4-BE49-F238E27FC236}">
                <a16:creationId xmlns:a16="http://schemas.microsoft.com/office/drawing/2014/main" id="{F3E4A454-4910-9036-EA0F-BB456D281987}"/>
              </a:ext>
            </a:extLst>
          </p:cNvPr>
          <p:cNvSpPr/>
          <p:nvPr/>
        </p:nvSpPr>
        <p:spPr>
          <a:xfrm>
            <a:off x="3040708" y="2299283"/>
            <a:ext cx="1156641" cy="167333"/>
          </a:xfrm>
          <a:prstGeom prst="roundRect">
            <a:avLst/>
          </a:prstGeom>
          <a:solidFill>
            <a:srgbClr val="E4EF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 dirty="0" err="1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Dep</a:t>
            </a:r>
            <a:r>
              <a:rPr lang="es-MX" sz="700" b="1" dirty="0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 No </a:t>
            </a:r>
            <a:r>
              <a:rPr lang="es-MX" sz="700" b="1" dirty="0" err="1">
                <a:solidFill>
                  <a:srgbClr val="00703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Dep</a:t>
            </a:r>
            <a:endParaRPr lang="es-PE" sz="700" b="1" dirty="0">
              <a:solidFill>
                <a:srgbClr val="00703C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Rectángulo: esquinas redondeadas 100">
            <a:extLst>
              <a:ext uri="{FF2B5EF4-FFF2-40B4-BE49-F238E27FC236}">
                <a16:creationId xmlns:a16="http://schemas.microsoft.com/office/drawing/2014/main" id="{3874F26D-2A6C-DD4C-D07E-703C4C1BBFD0}"/>
              </a:ext>
            </a:extLst>
          </p:cNvPr>
          <p:cNvSpPr/>
          <p:nvPr/>
        </p:nvSpPr>
        <p:spPr>
          <a:xfrm>
            <a:off x="1987861" y="3654120"/>
            <a:ext cx="1132189" cy="167333"/>
          </a:xfrm>
          <a:prstGeom prst="roundRect">
            <a:avLst/>
          </a:prstGeom>
          <a:solidFill>
            <a:srgbClr val="E3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 dirty="0">
                <a:solidFill>
                  <a:srgbClr val="00A65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IPC </a:t>
            </a:r>
            <a:r>
              <a:rPr lang="es-MX" sz="700" b="1" dirty="0" err="1">
                <a:solidFill>
                  <a:srgbClr val="00A65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Lag</a:t>
            </a:r>
            <a:r>
              <a:rPr lang="es-MX" sz="700" b="1" dirty="0">
                <a:solidFill>
                  <a:srgbClr val="00A65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5 ma6</a:t>
            </a:r>
            <a:endParaRPr lang="es-PE" sz="700" b="1" dirty="0">
              <a:solidFill>
                <a:srgbClr val="00A65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Rectángulo: esquinas redondeadas 102">
            <a:extLst>
              <a:ext uri="{FF2B5EF4-FFF2-40B4-BE49-F238E27FC236}">
                <a16:creationId xmlns:a16="http://schemas.microsoft.com/office/drawing/2014/main" id="{BB9C772B-C2F1-443B-E670-1519CE01DA51}"/>
              </a:ext>
            </a:extLst>
          </p:cNvPr>
          <p:cNvSpPr/>
          <p:nvPr/>
        </p:nvSpPr>
        <p:spPr>
          <a:xfrm>
            <a:off x="2019124" y="5145858"/>
            <a:ext cx="1132189" cy="167333"/>
          </a:xfrm>
          <a:prstGeom prst="roundRect">
            <a:avLst/>
          </a:prstGeom>
          <a:solidFill>
            <a:srgbClr val="EFF7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 dirty="0">
                <a:solidFill>
                  <a:srgbClr val="2F7C5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Vasicek </a:t>
            </a:r>
            <a:r>
              <a:rPr lang="el-GR" sz="700" b="1" dirty="0">
                <a:solidFill>
                  <a:srgbClr val="2F7C5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ρ=0.03</a:t>
            </a:r>
            <a:r>
              <a:rPr lang="es-ES" sz="700" b="1" dirty="0">
                <a:solidFill>
                  <a:srgbClr val="2F7C5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</a:t>
            </a:r>
            <a:endParaRPr lang="es-PE" sz="700" b="1" dirty="0">
              <a:solidFill>
                <a:srgbClr val="2F7C5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Rectángulo: esquinas redondeadas 103">
            <a:extLst>
              <a:ext uri="{FF2B5EF4-FFF2-40B4-BE49-F238E27FC236}">
                <a16:creationId xmlns:a16="http://schemas.microsoft.com/office/drawing/2014/main" id="{6FAA30EB-C672-6ABB-449E-1325964B39C3}"/>
              </a:ext>
            </a:extLst>
          </p:cNvPr>
          <p:cNvSpPr/>
          <p:nvPr/>
        </p:nvSpPr>
        <p:spPr>
          <a:xfrm>
            <a:off x="3207639" y="5137856"/>
            <a:ext cx="1132189" cy="167333"/>
          </a:xfrm>
          <a:prstGeom prst="roundRect">
            <a:avLst/>
          </a:prstGeom>
          <a:solidFill>
            <a:srgbClr val="EFF7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700" b="1" dirty="0">
                <a:solidFill>
                  <a:srgbClr val="2F7C5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λ̂=</a:t>
            </a:r>
            <a:r>
              <a:rPr lang="es-MX" sz="700" b="1" dirty="0">
                <a:solidFill>
                  <a:srgbClr val="2F7C5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endParaRPr lang="es-PE" sz="700" b="1" dirty="0">
              <a:solidFill>
                <a:srgbClr val="2F7C5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AABE1CD7-0ECC-DF08-D7D2-52D50F1F3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37" y="260790"/>
            <a:ext cx="8326867" cy="44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2400" dirty="0">
                <a:solidFill>
                  <a:srgbClr val="00703C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PP Reenganche </a:t>
            </a: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703C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| </a:t>
            </a: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87938C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Ficha Técnica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1D161A04-AAF7-46E7-8527-F2F907BA4C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1016084"/>
              </p:ext>
            </p:extLst>
          </p:nvPr>
        </p:nvGraphicFramePr>
        <p:xfrm>
          <a:off x="6840125" y="1721743"/>
          <a:ext cx="4066000" cy="2102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0AD854CF-6095-C5EE-2E4D-53EBD84E48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8148630"/>
              </p:ext>
            </p:extLst>
          </p:nvPr>
        </p:nvGraphicFramePr>
        <p:xfrm>
          <a:off x="6876902" y="4074320"/>
          <a:ext cx="4025814" cy="2102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2862374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A5FA-FF55-BC02-2AF8-C3B62BD7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455FE1A-3E47-2032-5AC6-1201B523D96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6" imgH="428" progId="TCLayout.ActiveDocument.1">
                  <p:embed/>
                </p:oleObj>
              </mc:Choice>
              <mc:Fallback>
                <p:oleObj name="Diapositiva de think-cell" r:id="rId4" imgW="426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55FE1A-3E47-2032-5AC6-1201B523D9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6">
            <a:extLst>
              <a:ext uri="{FF2B5EF4-FFF2-40B4-BE49-F238E27FC236}">
                <a16:creationId xmlns:a16="http://schemas.microsoft.com/office/drawing/2014/main" id="{041C5317-50AA-708A-F53D-F20DA5E9D827}"/>
              </a:ext>
            </a:extLst>
          </p:cNvPr>
          <p:cNvSpPr/>
          <p:nvPr/>
        </p:nvSpPr>
        <p:spPr>
          <a:xfrm>
            <a:off x="1849302" y="1271815"/>
            <a:ext cx="2086676" cy="2616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2" name="Rectángulo: esquinas redondeadas 1">
            <a:extLst>
              <a:ext uri="{FF2B5EF4-FFF2-40B4-BE49-F238E27FC236}">
                <a16:creationId xmlns:a16="http://schemas.microsoft.com/office/drawing/2014/main" id="{DFCAA985-6F5A-FCB0-9E99-CE2C331C7DBE}"/>
              </a:ext>
            </a:extLst>
          </p:cNvPr>
          <p:cNvSpPr/>
          <p:nvPr/>
        </p:nvSpPr>
        <p:spPr>
          <a:xfrm>
            <a:off x="1584156" y="1158535"/>
            <a:ext cx="4326396" cy="5024688"/>
          </a:xfrm>
          <a:prstGeom prst="roundRect">
            <a:avLst>
              <a:gd name="adj" fmla="val 247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3" name="Rectángulo: esquinas superiores redondeadas 52">
            <a:extLst>
              <a:ext uri="{FF2B5EF4-FFF2-40B4-BE49-F238E27FC236}">
                <a16:creationId xmlns:a16="http://schemas.microsoft.com/office/drawing/2014/main" id="{34289142-135A-1356-578A-DF3E1A96F360}"/>
              </a:ext>
            </a:extLst>
          </p:cNvPr>
          <p:cNvSpPr/>
          <p:nvPr/>
        </p:nvSpPr>
        <p:spPr>
          <a:xfrm>
            <a:off x="1584155" y="871984"/>
            <a:ext cx="4326397" cy="446602"/>
          </a:xfrm>
          <a:prstGeom prst="round2SameRect">
            <a:avLst/>
          </a:prstGeom>
          <a:solidFill>
            <a:srgbClr val="0070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Dependiente</a:t>
            </a: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 (41%)</a:t>
            </a:r>
            <a:endParaRPr kumimoji="0" lang="es-PE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ángulo 35">
            <a:extLst>
              <a:ext uri="{FF2B5EF4-FFF2-40B4-BE49-F238E27FC236}">
                <a16:creationId xmlns:a16="http://schemas.microsoft.com/office/drawing/2014/main" id="{31A2D3E4-FC40-DC74-CEBA-F06D81CA4335}"/>
              </a:ext>
            </a:extLst>
          </p:cNvPr>
          <p:cNvSpPr/>
          <p:nvPr/>
        </p:nvSpPr>
        <p:spPr>
          <a:xfrm>
            <a:off x="1724395" y="1379536"/>
            <a:ext cx="27142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120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Diagnóstico:</a:t>
            </a:r>
          </a:p>
        </p:txBody>
      </p:sp>
      <p:sp>
        <p:nvSpPr>
          <p:cNvPr id="58" name="Rectángulo 35">
            <a:extLst>
              <a:ext uri="{FF2B5EF4-FFF2-40B4-BE49-F238E27FC236}">
                <a16:creationId xmlns:a16="http://schemas.microsoft.com/office/drawing/2014/main" id="{15C87BFA-2DCC-6E79-00CB-B0CEA86323C2}"/>
              </a:ext>
            </a:extLst>
          </p:cNvPr>
          <p:cNvSpPr/>
          <p:nvPr/>
        </p:nvSpPr>
        <p:spPr>
          <a:xfrm>
            <a:off x="1724395" y="3697043"/>
            <a:ext cx="27142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Calibrado:</a:t>
            </a:r>
          </a:p>
        </p:txBody>
      </p:sp>
      <p:sp>
        <p:nvSpPr>
          <p:cNvPr id="27" name="Rectángulo 6">
            <a:extLst>
              <a:ext uri="{FF2B5EF4-FFF2-40B4-BE49-F238E27FC236}">
                <a16:creationId xmlns:a16="http://schemas.microsoft.com/office/drawing/2014/main" id="{28C3CFA0-4F67-D445-CAA2-035DBDA5102B}"/>
              </a:ext>
            </a:extLst>
          </p:cNvPr>
          <p:cNvSpPr/>
          <p:nvPr/>
        </p:nvSpPr>
        <p:spPr>
          <a:xfrm>
            <a:off x="6546597" y="1271815"/>
            <a:ext cx="2086676" cy="2616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8" name="Rectángulo: esquinas redondeadas 1">
            <a:extLst>
              <a:ext uri="{FF2B5EF4-FFF2-40B4-BE49-F238E27FC236}">
                <a16:creationId xmlns:a16="http://schemas.microsoft.com/office/drawing/2014/main" id="{8B6C11B7-09A2-8DC4-25F9-7ED359AB288E}"/>
              </a:ext>
            </a:extLst>
          </p:cNvPr>
          <p:cNvSpPr/>
          <p:nvPr/>
        </p:nvSpPr>
        <p:spPr>
          <a:xfrm>
            <a:off x="6281451" y="1158535"/>
            <a:ext cx="4326396" cy="5024688"/>
          </a:xfrm>
          <a:prstGeom prst="roundRect">
            <a:avLst>
              <a:gd name="adj" fmla="val 247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9" name="Rectángulo: esquinas superiores redondeadas 28">
            <a:extLst>
              <a:ext uri="{FF2B5EF4-FFF2-40B4-BE49-F238E27FC236}">
                <a16:creationId xmlns:a16="http://schemas.microsoft.com/office/drawing/2014/main" id="{50C6CE7C-7BA9-ECFC-C41B-40FD77EA3AF2}"/>
              </a:ext>
            </a:extLst>
          </p:cNvPr>
          <p:cNvSpPr/>
          <p:nvPr/>
        </p:nvSpPr>
        <p:spPr>
          <a:xfrm>
            <a:off x="6281450" y="871984"/>
            <a:ext cx="4326397" cy="446602"/>
          </a:xfrm>
          <a:prstGeom prst="round2SameRect">
            <a:avLst/>
          </a:prstGeom>
          <a:solidFill>
            <a:srgbClr val="0070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 Dependiente</a:t>
            </a: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 (59%)</a:t>
            </a:r>
            <a:endParaRPr kumimoji="0" lang="es-PE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Rectángulo 35">
            <a:extLst>
              <a:ext uri="{FF2B5EF4-FFF2-40B4-BE49-F238E27FC236}">
                <a16:creationId xmlns:a16="http://schemas.microsoft.com/office/drawing/2014/main" id="{2AC30586-80AB-4FEF-1FAE-FE2491C269A2}"/>
              </a:ext>
            </a:extLst>
          </p:cNvPr>
          <p:cNvSpPr/>
          <p:nvPr/>
        </p:nvSpPr>
        <p:spPr>
          <a:xfrm>
            <a:off x="6421690" y="1364751"/>
            <a:ext cx="27142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120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Diagnóstico:</a:t>
            </a:r>
          </a:p>
        </p:txBody>
      </p:sp>
      <p:sp>
        <p:nvSpPr>
          <p:cNvPr id="31" name="Rectángulo 35">
            <a:extLst>
              <a:ext uri="{FF2B5EF4-FFF2-40B4-BE49-F238E27FC236}">
                <a16:creationId xmlns:a16="http://schemas.microsoft.com/office/drawing/2014/main" id="{C13358E4-A022-8730-45E8-9AEC127FE1B6}"/>
              </a:ext>
            </a:extLst>
          </p:cNvPr>
          <p:cNvSpPr/>
          <p:nvPr/>
        </p:nvSpPr>
        <p:spPr>
          <a:xfrm>
            <a:off x="6421690" y="3697043"/>
            <a:ext cx="27142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Calibrado: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A7778C5B-EF5F-364C-0AD7-7ACEE0AC4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37" y="260790"/>
            <a:ext cx="8326867" cy="44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2400" dirty="0">
                <a:solidFill>
                  <a:srgbClr val="00703C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PP Reenganche </a:t>
            </a: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703C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| </a:t>
            </a: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87938C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Ficha Técnica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5EDCEF4D-DD87-75BE-B077-E030941F7C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1479130"/>
              </p:ext>
            </p:extLst>
          </p:nvPr>
        </p:nvGraphicFramePr>
        <p:xfrm>
          <a:off x="1724395" y="4004819"/>
          <a:ext cx="4049702" cy="2260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F2B195A6-E9B5-12F2-DD1B-468B9C6CCF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7381522"/>
              </p:ext>
            </p:extLst>
          </p:nvPr>
        </p:nvGraphicFramePr>
        <p:xfrm>
          <a:off x="6421690" y="4004820"/>
          <a:ext cx="4101530" cy="2260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832718B9-C4BB-4F5D-B4DC-2D6647545B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2267650"/>
              </p:ext>
            </p:extLst>
          </p:nvPr>
        </p:nvGraphicFramePr>
        <p:xfrm>
          <a:off x="6421690" y="1733479"/>
          <a:ext cx="4101530" cy="1937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25B46072-EDCE-4567-A5E0-B26A30762B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6772100"/>
              </p:ext>
            </p:extLst>
          </p:nvPr>
        </p:nvGraphicFramePr>
        <p:xfrm>
          <a:off x="1724395" y="1733478"/>
          <a:ext cx="4049702" cy="1937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409256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408D-9623-9035-A761-BD4086729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1">
            <a:extLst>
              <a:ext uri="{FF2B5EF4-FFF2-40B4-BE49-F238E27FC236}">
                <a16:creationId xmlns:a16="http://schemas.microsoft.com/office/drawing/2014/main" id="{E31838C3-FDC6-F69B-F7F3-9D2A7A827F63}"/>
              </a:ext>
            </a:extLst>
          </p:cNvPr>
          <p:cNvSpPr/>
          <p:nvPr/>
        </p:nvSpPr>
        <p:spPr>
          <a:xfrm>
            <a:off x="3972483" y="812846"/>
            <a:ext cx="3284769" cy="5908316"/>
          </a:xfrm>
          <a:prstGeom prst="roundRect">
            <a:avLst>
              <a:gd name="adj" fmla="val 247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Rectángulo: esquinas redondeadas 1">
            <a:extLst>
              <a:ext uri="{FF2B5EF4-FFF2-40B4-BE49-F238E27FC236}">
                <a16:creationId xmlns:a16="http://schemas.microsoft.com/office/drawing/2014/main" id="{D12E0D26-1475-D049-DFAC-525DF601EDB0}"/>
              </a:ext>
            </a:extLst>
          </p:cNvPr>
          <p:cNvSpPr/>
          <p:nvPr/>
        </p:nvSpPr>
        <p:spPr>
          <a:xfrm>
            <a:off x="217661" y="823087"/>
            <a:ext cx="3695513" cy="5908316"/>
          </a:xfrm>
          <a:prstGeom prst="roundRect">
            <a:avLst>
              <a:gd name="adj" fmla="val 247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9" name="Rectángulo: esquinas superiores redondeadas 28">
            <a:extLst>
              <a:ext uri="{FF2B5EF4-FFF2-40B4-BE49-F238E27FC236}">
                <a16:creationId xmlns:a16="http://schemas.microsoft.com/office/drawing/2014/main" id="{3E4A1F1C-B7C2-847F-9228-A892E6F87FB4}"/>
              </a:ext>
            </a:extLst>
          </p:cNvPr>
          <p:cNvSpPr/>
          <p:nvPr/>
        </p:nvSpPr>
        <p:spPr>
          <a:xfrm>
            <a:off x="217663" y="707392"/>
            <a:ext cx="3695511" cy="573102"/>
          </a:xfrm>
          <a:prstGeom prst="round2SameRect">
            <a:avLst/>
          </a:prstGeom>
          <a:solidFill>
            <a:srgbClr val="0070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Métrica EC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</a:t>
            </a:r>
            <a:r>
              <a:rPr lang="es-MX" sz="1000" ker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Error de calibración – PD vs RD</a:t>
            </a:r>
            <a:endParaRPr kumimoji="0" lang="es-PE" sz="120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9C410BD-487B-8266-D702-F0A1CCE4B9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6" imgH="428" progId="TCLayout.ActiveDocument.1">
                  <p:embed/>
                </p:oleObj>
              </mc:Choice>
              <mc:Fallback>
                <p:oleObj name="Diapositiva de think-cell" r:id="rId4" imgW="426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C410BD-487B-8266-D702-F0A1CCE4B9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ítulo 34">
            <a:extLst>
              <a:ext uri="{FF2B5EF4-FFF2-40B4-BE49-F238E27FC236}">
                <a16:creationId xmlns:a16="http://schemas.microsoft.com/office/drawing/2014/main" id="{C90F8A93-D3A3-2D5B-165A-49CF761FC439}"/>
              </a:ext>
            </a:extLst>
          </p:cNvPr>
          <p:cNvSpPr txBox="1">
            <a:spLocks/>
          </p:cNvSpPr>
          <p:nvPr/>
        </p:nvSpPr>
        <p:spPr>
          <a:xfrm>
            <a:off x="351188" y="6084914"/>
            <a:ext cx="983970" cy="151552"/>
          </a:xfrm>
          <a:prstGeom prst="rect">
            <a:avLst/>
          </a:prstGeom>
          <a:solidFill>
            <a:sysClr val="window" lastClr="FFFFFF"/>
          </a:solidFill>
        </p:spPr>
        <p:txBody>
          <a:bodyPr vert="horz" lIns="91440" tIns="45720" rIns="91440" bIns="45720" rtlCol="0" anchor="t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>
                <a:solidFill>
                  <a:srgbClr val="00D03C"/>
                </a:solidFill>
                <a:latin typeface="Geometria"/>
                <a:cs typeface="Poppins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900" b="1" i="0" u="none" strike="noStrike" kern="0" cap="none" spc="0" normalizeH="0" baseline="0" noProof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Umbrales:</a:t>
            </a:r>
            <a:endParaRPr kumimoji="0" lang="es-MX" sz="1000" b="1" i="0" u="none" strike="noStrike" kern="0" cap="none" spc="0" normalizeH="0" baseline="0" noProof="0">
              <a:ln>
                <a:noFill/>
              </a:ln>
              <a:solidFill>
                <a:srgbClr val="97A19B"/>
              </a:solidFill>
              <a:effectLst/>
              <a:uLnTx/>
              <a:uFillTx/>
              <a:latin typeface="Poppins"/>
              <a:ea typeface="+mn-ea"/>
              <a:cs typeface="Poppins" panose="00000500000000000000" pitchFamily="2" charset="0"/>
            </a:endParaRPr>
          </a:p>
        </p:txBody>
      </p:sp>
      <p:sp>
        <p:nvSpPr>
          <p:cNvPr id="15" name="Marcador de texto 1">
            <a:extLst>
              <a:ext uri="{FF2B5EF4-FFF2-40B4-BE49-F238E27FC236}">
                <a16:creationId xmlns:a16="http://schemas.microsoft.com/office/drawing/2014/main" id="{A8DC964E-D3E5-963A-7125-D08D02F6B5AA}"/>
              </a:ext>
            </a:extLst>
          </p:cNvPr>
          <p:cNvSpPr txBox="1">
            <a:spLocks/>
          </p:cNvSpPr>
          <p:nvPr/>
        </p:nvSpPr>
        <p:spPr>
          <a:xfrm>
            <a:off x="532860" y="6373668"/>
            <a:ext cx="923622" cy="1678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</a:t>
            </a:r>
            <a:r>
              <a:rPr kumimoji="0" lang="es-P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 &lt;15%</a:t>
            </a:r>
          </a:p>
        </p:txBody>
      </p:sp>
      <p:sp>
        <p:nvSpPr>
          <p:cNvPr id="16" name="Marcador de texto 1">
            <a:extLst>
              <a:ext uri="{FF2B5EF4-FFF2-40B4-BE49-F238E27FC236}">
                <a16:creationId xmlns:a16="http://schemas.microsoft.com/office/drawing/2014/main" id="{20930FF5-4E7D-D159-98C7-9991E893071D}"/>
              </a:ext>
            </a:extLst>
          </p:cNvPr>
          <p:cNvSpPr txBox="1">
            <a:spLocks/>
          </p:cNvSpPr>
          <p:nvPr/>
        </p:nvSpPr>
        <p:spPr>
          <a:xfrm>
            <a:off x="1603055" y="6373668"/>
            <a:ext cx="923622" cy="1678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EC&lt;</a:t>
            </a:r>
            <a:r>
              <a:rPr lang="es-PE" sz="9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40</a:t>
            </a:r>
            <a:r>
              <a:rPr kumimoji="0" lang="es-P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%</a:t>
            </a:r>
          </a:p>
        </p:txBody>
      </p:sp>
      <p:sp>
        <p:nvSpPr>
          <p:cNvPr id="17" name="Marcador de texto 1">
            <a:extLst>
              <a:ext uri="{FF2B5EF4-FFF2-40B4-BE49-F238E27FC236}">
                <a16:creationId xmlns:a16="http://schemas.microsoft.com/office/drawing/2014/main" id="{500717D2-33FA-DA95-3529-0DB1A7BB0E46}"/>
              </a:ext>
            </a:extLst>
          </p:cNvPr>
          <p:cNvSpPr txBox="1">
            <a:spLocks/>
          </p:cNvSpPr>
          <p:nvPr/>
        </p:nvSpPr>
        <p:spPr>
          <a:xfrm>
            <a:off x="2673249" y="6373668"/>
            <a:ext cx="923622" cy="1678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P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EC&gt;</a:t>
            </a:r>
            <a:r>
              <a:rPr lang="es-PE" sz="900" b="0" dirty="0">
                <a:solidFill>
                  <a:prstClr val="black">
                    <a:lumMod val="95000"/>
                    <a:lumOff val="5000"/>
                  </a:prstClr>
                </a:solidFill>
              </a:rPr>
              <a:t>40</a:t>
            </a:r>
            <a:r>
              <a:rPr kumimoji="0" lang="es-P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%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811EE07-A10F-38D7-9A21-942D3CFBE104}"/>
              </a:ext>
            </a:extLst>
          </p:cNvPr>
          <p:cNvSpPr/>
          <p:nvPr/>
        </p:nvSpPr>
        <p:spPr>
          <a:xfrm>
            <a:off x="402243" y="6358330"/>
            <a:ext cx="180000" cy="180000"/>
          </a:xfrm>
          <a:prstGeom prst="ellipse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9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A4981A1-7BB1-7C61-73B3-C76BDC19C6E2}"/>
              </a:ext>
            </a:extLst>
          </p:cNvPr>
          <p:cNvSpPr/>
          <p:nvPr/>
        </p:nvSpPr>
        <p:spPr>
          <a:xfrm>
            <a:off x="1476407" y="6358330"/>
            <a:ext cx="180000" cy="180000"/>
          </a:xfrm>
          <a:prstGeom prst="ellipse">
            <a:avLst/>
          </a:pr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9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233BC15-629A-33A4-7314-CA0E57E542DC}"/>
              </a:ext>
            </a:extLst>
          </p:cNvPr>
          <p:cNvSpPr/>
          <p:nvPr/>
        </p:nvSpPr>
        <p:spPr>
          <a:xfrm>
            <a:off x="2536732" y="6358330"/>
            <a:ext cx="180000" cy="180000"/>
          </a:xfrm>
          <a:prstGeom prst="ellipse">
            <a:avLst/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9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D9C577DA-B35F-5C78-1E59-A903DE753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29710"/>
              </p:ext>
            </p:extLst>
          </p:nvPr>
        </p:nvGraphicFramePr>
        <p:xfrm>
          <a:off x="352645" y="1454438"/>
          <a:ext cx="3384706" cy="1463199"/>
        </p:xfrm>
        <a:graphic>
          <a:graphicData uri="http://schemas.openxmlformats.org/drawingml/2006/table">
            <a:tbl>
              <a:tblPr/>
              <a:tblGrid>
                <a:gridCol w="1047763">
                  <a:extLst>
                    <a:ext uri="{9D8B030D-6E8A-4147-A177-3AD203B41FA5}">
                      <a16:colId xmlns:a16="http://schemas.microsoft.com/office/drawing/2014/main" val="2995060182"/>
                    </a:ext>
                  </a:extLst>
                </a:gridCol>
                <a:gridCol w="778981">
                  <a:extLst>
                    <a:ext uri="{9D8B030D-6E8A-4147-A177-3AD203B41FA5}">
                      <a16:colId xmlns:a16="http://schemas.microsoft.com/office/drawing/2014/main" val="2535488017"/>
                    </a:ext>
                  </a:extLst>
                </a:gridCol>
                <a:gridCol w="859319">
                  <a:extLst>
                    <a:ext uri="{9D8B030D-6E8A-4147-A177-3AD203B41FA5}">
                      <a16:colId xmlns:a16="http://schemas.microsoft.com/office/drawing/2014/main" val="1897681626"/>
                    </a:ext>
                  </a:extLst>
                </a:gridCol>
                <a:gridCol w="698643">
                  <a:extLst>
                    <a:ext uri="{9D8B030D-6E8A-4147-A177-3AD203B41FA5}">
                      <a16:colId xmlns:a16="http://schemas.microsoft.com/office/drawing/2014/main" val="3956746074"/>
                    </a:ext>
                  </a:extLst>
                </a:gridCol>
              </a:tblGrid>
              <a:tr h="320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i="0" u="none" strike="noStrike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Segmentos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i="0" u="none" strike="noStrike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EC Original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EC Calibrado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Status</a:t>
                      </a:r>
                      <a:endParaRPr lang="es-PE" sz="900" b="1" i="0" u="none" strike="noStrike">
                        <a:solidFill>
                          <a:srgbClr val="97A19B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683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E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Global</a:t>
                      </a:r>
                      <a:endParaRPr lang="es-PE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545%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6%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PE" sz="9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715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PE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Dep</a:t>
                      </a:r>
                      <a:r>
                        <a:rPr lang="es-PE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CS</a:t>
                      </a: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571%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-8.2%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PE" sz="900" b="1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564200"/>
                  </a:ext>
                </a:extLst>
              </a:tr>
              <a:tr h="188686"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</a:t>
                      </a:r>
                      <a:r>
                        <a:rPr lang="es-PE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ep</a:t>
                      </a:r>
                      <a:r>
                        <a:rPr lang="es-PE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No CS</a:t>
                      </a: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629%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9.0%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9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474814"/>
                  </a:ext>
                </a:extLst>
              </a:tr>
              <a:tr h="188686"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I</a:t>
                      </a:r>
                      <a:r>
                        <a:rPr lang="es-PE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ndependiente</a:t>
                      </a:r>
                      <a:endParaRPr lang="es-PE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542%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14.2%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097629"/>
                  </a:ext>
                </a:extLst>
              </a:tr>
              <a:tr h="188686"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Mixto</a:t>
                      </a:r>
                      <a:endParaRPr lang="es-PE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406%</a:t>
                      </a:r>
                      <a:endParaRPr lang="es-PE" sz="900" b="1" i="0" u="none" strike="noStrike" kern="1200" dirty="0">
                        <a:solidFill>
                          <a:schemeClr val="bg2">
                            <a:lumMod val="75000"/>
                          </a:schemeClr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-9.6%</a:t>
                      </a:r>
                      <a:endParaRPr lang="es-PE" sz="900" b="1" i="0" u="none" strike="noStrike" kern="1200" dirty="0">
                        <a:solidFill>
                          <a:srgbClr val="00703C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PE" sz="9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897024"/>
                  </a:ext>
                </a:extLst>
              </a:tr>
            </a:tbl>
          </a:graphicData>
        </a:graphic>
      </p:graphicFrame>
      <p:sp>
        <p:nvSpPr>
          <p:cNvPr id="31" name="CuadroTexto 30">
            <a:extLst>
              <a:ext uri="{FF2B5EF4-FFF2-40B4-BE49-F238E27FC236}">
                <a16:creationId xmlns:a16="http://schemas.microsoft.com/office/drawing/2014/main" id="{8EFBEBDF-642F-76AA-089A-B63D4E67FE76}"/>
              </a:ext>
            </a:extLst>
          </p:cNvPr>
          <p:cNvSpPr txBox="1"/>
          <p:nvPr/>
        </p:nvSpPr>
        <p:spPr>
          <a:xfrm>
            <a:off x="2998312" y="6515957"/>
            <a:ext cx="9777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dirty="0">
                <a:solidFill>
                  <a:schemeClr val="bg2">
                    <a:lumMod val="50000"/>
                  </a:schemeClr>
                </a:solidFill>
                <a:latin typeface="Poppins"/>
                <a:cs typeface="Poppins"/>
              </a:rPr>
              <a:t>Low Default</a:t>
            </a:r>
            <a:endParaRPr kumimoji="0" lang="es-PE" sz="8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D819AF0E-7E55-FC66-1295-AC33908FA7E2}"/>
              </a:ext>
            </a:extLst>
          </p:cNvPr>
          <p:cNvSpPr/>
          <p:nvPr/>
        </p:nvSpPr>
        <p:spPr>
          <a:xfrm>
            <a:off x="3265028" y="1800856"/>
            <a:ext cx="144000" cy="144000"/>
          </a:xfrm>
          <a:prstGeom prst="ellipse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7A5D4892-5604-8F0B-91A4-164A11D5727D}"/>
              </a:ext>
            </a:extLst>
          </p:cNvPr>
          <p:cNvSpPr/>
          <p:nvPr/>
        </p:nvSpPr>
        <p:spPr>
          <a:xfrm>
            <a:off x="3263310" y="2037468"/>
            <a:ext cx="144000" cy="144000"/>
          </a:xfrm>
          <a:prstGeom prst="ellipse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0C942EB2-1AED-9B3E-3403-C60DD56443EB}"/>
              </a:ext>
            </a:extLst>
          </p:cNvPr>
          <p:cNvSpPr/>
          <p:nvPr/>
        </p:nvSpPr>
        <p:spPr>
          <a:xfrm>
            <a:off x="3263310" y="2273629"/>
            <a:ext cx="144000" cy="144000"/>
          </a:xfrm>
          <a:prstGeom prst="ellipse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4E52AD6C-CE7A-2DD2-35B3-96BD52449E4C}"/>
              </a:ext>
            </a:extLst>
          </p:cNvPr>
          <p:cNvCxnSpPr>
            <a:cxnSpLocks/>
          </p:cNvCxnSpPr>
          <p:nvPr/>
        </p:nvCxnSpPr>
        <p:spPr>
          <a:xfrm>
            <a:off x="351188" y="6063617"/>
            <a:ext cx="3487768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: esquinas superiores redondeadas 44">
            <a:extLst>
              <a:ext uri="{FF2B5EF4-FFF2-40B4-BE49-F238E27FC236}">
                <a16:creationId xmlns:a16="http://schemas.microsoft.com/office/drawing/2014/main" id="{A201DF21-F925-8014-373E-8D9DCBDE384A}"/>
              </a:ext>
            </a:extLst>
          </p:cNvPr>
          <p:cNvSpPr/>
          <p:nvPr/>
        </p:nvSpPr>
        <p:spPr>
          <a:xfrm>
            <a:off x="3979957" y="707392"/>
            <a:ext cx="3277295" cy="573102"/>
          </a:xfrm>
          <a:prstGeom prst="round2SameRect">
            <a:avLst/>
          </a:prstGeom>
          <a:solidFill>
            <a:srgbClr val="0070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Comparación Gini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</a:t>
            </a:r>
            <a:r>
              <a:rPr lang="es-MX" sz="1000" ker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Poder Discriminante – Raw vs </a:t>
            </a:r>
            <a:r>
              <a:rPr lang="es-MX" sz="1000" kern="0" err="1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PiT</a:t>
            </a:r>
            <a:endParaRPr kumimoji="0" lang="es-PE" sz="120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BCF5D707-02CD-7E83-E939-73860F56F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246686"/>
              </p:ext>
            </p:extLst>
          </p:nvPr>
        </p:nvGraphicFramePr>
        <p:xfrm>
          <a:off x="4114939" y="1454438"/>
          <a:ext cx="3078886" cy="1461601"/>
        </p:xfrm>
        <a:graphic>
          <a:graphicData uri="http://schemas.openxmlformats.org/drawingml/2006/table">
            <a:tbl>
              <a:tblPr/>
              <a:tblGrid>
                <a:gridCol w="1129435">
                  <a:extLst>
                    <a:ext uri="{9D8B030D-6E8A-4147-A177-3AD203B41FA5}">
                      <a16:colId xmlns:a16="http://schemas.microsoft.com/office/drawing/2014/main" val="2995060182"/>
                    </a:ext>
                  </a:extLst>
                </a:gridCol>
                <a:gridCol w="964461">
                  <a:extLst>
                    <a:ext uri="{9D8B030D-6E8A-4147-A177-3AD203B41FA5}">
                      <a16:colId xmlns:a16="http://schemas.microsoft.com/office/drawing/2014/main" val="2535488017"/>
                    </a:ext>
                  </a:extLst>
                </a:gridCol>
                <a:gridCol w="984990">
                  <a:extLst>
                    <a:ext uri="{9D8B030D-6E8A-4147-A177-3AD203B41FA5}">
                      <a16:colId xmlns:a16="http://schemas.microsoft.com/office/drawing/2014/main" val="1897681626"/>
                    </a:ext>
                  </a:extLst>
                </a:gridCol>
              </a:tblGrid>
              <a:tr h="3819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i="0" u="none" strike="noStrike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Segmentos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i="0" u="none" strike="noStrike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Gini Original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Gini Calibrado</a:t>
                      </a:r>
                    </a:p>
                  </a:txBody>
                  <a:tcPr marL="45720" marR="4572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683704"/>
                  </a:ext>
                </a:extLst>
              </a:tr>
              <a:tr h="178311"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ES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Global</a:t>
                      </a:r>
                      <a:endParaRPr lang="es-PE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53.2%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53.7%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564200"/>
                  </a:ext>
                </a:extLst>
              </a:tr>
              <a:tr h="225082"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PE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Dep</a:t>
                      </a:r>
                      <a:r>
                        <a:rPr lang="es-PE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CS</a:t>
                      </a: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</a:t>
                      </a:r>
                      <a:r>
                        <a:rPr lang="es-PE" sz="900" b="1" i="0" u="none" strike="noStrike" kern="1200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7.5%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PE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58.0%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474814"/>
                  </a:ext>
                </a:extLst>
              </a:tr>
              <a:tr h="225082"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</a:t>
                      </a:r>
                      <a:r>
                        <a:rPr lang="es-PE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ep</a:t>
                      </a:r>
                      <a:r>
                        <a:rPr lang="es-PE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No CS</a:t>
                      </a: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</a:t>
                      </a:r>
                      <a:r>
                        <a:rPr lang="es-PE" sz="900" b="1" i="0" u="none" strike="noStrike" kern="1200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4.5%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</a:t>
                      </a:r>
                      <a:r>
                        <a:rPr lang="es-PE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4.0%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097629"/>
                  </a:ext>
                </a:extLst>
              </a:tr>
              <a:tr h="225583"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I</a:t>
                      </a:r>
                      <a:r>
                        <a:rPr lang="es-PE" sz="9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ndependiente</a:t>
                      </a:r>
                      <a:endParaRPr lang="es-PE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</a:t>
                      </a:r>
                      <a:r>
                        <a:rPr lang="es-PE" sz="900" b="1" i="0" u="none" strike="noStrike" kern="1200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2.5%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5</a:t>
                      </a:r>
                      <a:r>
                        <a:rPr lang="es-PE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2.6%</a:t>
                      </a: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425144"/>
                  </a:ext>
                </a:extLst>
              </a:tr>
              <a:tr h="225583"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>
                        <a:lnSpc>
                          <a:spcPts val="1350"/>
                        </a:lnSpc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Mixto</a:t>
                      </a:r>
                      <a:endParaRPr lang="es-PE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42.2%</a:t>
                      </a:r>
                      <a:endParaRPr lang="es-PE" sz="900" b="1" i="0" u="none" strike="noStrike" kern="1200" dirty="0">
                        <a:solidFill>
                          <a:srgbClr val="97A19B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MX" sz="900" b="1" i="0" u="none" strike="noStrike" kern="1200" dirty="0">
                          <a:solidFill>
                            <a:srgbClr val="00703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46.5%</a:t>
                      </a:r>
                      <a:endParaRPr lang="es-PE" sz="900" b="1" i="0" u="none" strike="noStrike" kern="1200" dirty="0">
                        <a:solidFill>
                          <a:srgbClr val="00703C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L="6350" marR="6350" marT="635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248074"/>
                  </a:ext>
                </a:extLst>
              </a:tr>
            </a:tbl>
          </a:graphicData>
        </a:graphic>
      </p:graphicFrame>
      <p:sp>
        <p:nvSpPr>
          <p:cNvPr id="63" name="CuadroTexto 62">
            <a:extLst>
              <a:ext uri="{FF2B5EF4-FFF2-40B4-BE49-F238E27FC236}">
                <a16:creationId xmlns:a16="http://schemas.microsoft.com/office/drawing/2014/main" id="{942D9557-9B97-8DA1-F7AF-441B5180922F}"/>
              </a:ext>
            </a:extLst>
          </p:cNvPr>
          <p:cNvSpPr txBox="1"/>
          <p:nvPr/>
        </p:nvSpPr>
        <p:spPr>
          <a:xfrm>
            <a:off x="2853994" y="2974301"/>
            <a:ext cx="10075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dirty="0">
                <a:solidFill>
                  <a:schemeClr val="bg2">
                    <a:lumMod val="50000"/>
                  </a:schemeClr>
                </a:solidFill>
                <a:latin typeface="Poppins"/>
                <a:cs typeface="Poppins"/>
              </a:rPr>
              <a:t>202401-202506</a:t>
            </a:r>
            <a:endParaRPr kumimoji="0" lang="es-PE" sz="8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314E0076-D679-950E-C1B7-8F8AB7E4A7C5}"/>
              </a:ext>
            </a:extLst>
          </p:cNvPr>
          <p:cNvSpPr txBox="1"/>
          <p:nvPr/>
        </p:nvSpPr>
        <p:spPr>
          <a:xfrm>
            <a:off x="6230912" y="2985894"/>
            <a:ext cx="10075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dirty="0">
                <a:solidFill>
                  <a:schemeClr val="bg2">
                    <a:lumMod val="50000"/>
                  </a:schemeClr>
                </a:solidFill>
                <a:latin typeface="Poppins"/>
                <a:cs typeface="Poppins"/>
              </a:rPr>
              <a:t>202401-202506</a:t>
            </a:r>
            <a:endParaRPr kumimoji="0" lang="es-PE" sz="8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E7086598-D90D-C035-F942-4291CC0357B7}"/>
              </a:ext>
            </a:extLst>
          </p:cNvPr>
          <p:cNvSpPr/>
          <p:nvPr/>
        </p:nvSpPr>
        <p:spPr>
          <a:xfrm>
            <a:off x="4173673" y="3628575"/>
            <a:ext cx="2783405" cy="947195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1594314F-5087-13C6-DDE8-0AEB8FFB7437}"/>
              </a:ext>
            </a:extLst>
          </p:cNvPr>
          <p:cNvSpPr/>
          <p:nvPr/>
        </p:nvSpPr>
        <p:spPr>
          <a:xfrm>
            <a:off x="4226784" y="3628575"/>
            <a:ext cx="2818960" cy="947195"/>
          </a:xfrm>
          <a:prstGeom prst="rect">
            <a:avLst/>
          </a:prstGeom>
          <a:solidFill>
            <a:srgbClr val="EEF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0D9BD63B-4776-CBFC-91E0-AE230FA3ED97}"/>
              </a:ext>
            </a:extLst>
          </p:cNvPr>
          <p:cNvSpPr txBox="1"/>
          <p:nvPr/>
        </p:nvSpPr>
        <p:spPr>
          <a:xfrm>
            <a:off x="4343058" y="3747081"/>
            <a:ext cx="2649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0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 proceso de </a:t>
            </a:r>
            <a:r>
              <a:rPr lang="es-MX" sz="900" b="1">
                <a:solidFill>
                  <a:srgbClr val="197C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calibración preserva la capacidad discriminante </a:t>
            </a:r>
            <a:r>
              <a:rPr lang="es-MX" sz="90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del modelo: el Gini de </a:t>
            </a:r>
            <a:r>
              <a:rPr lang="es-MX" sz="900" b="1">
                <a:solidFill>
                  <a:srgbClr val="197C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PD raw y </a:t>
            </a:r>
            <a:r>
              <a:rPr lang="es-MX" sz="900" b="1" err="1">
                <a:solidFill>
                  <a:srgbClr val="197C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PiT</a:t>
            </a:r>
            <a:r>
              <a:rPr lang="es-MX" sz="900" b="1">
                <a:solidFill>
                  <a:srgbClr val="197C4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son prácticamente idénticos </a:t>
            </a:r>
            <a:r>
              <a:rPr lang="es-MX" sz="90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nivel de driver.</a:t>
            </a:r>
            <a:endParaRPr lang="es-PE" sz="900">
              <a:solidFill>
                <a:srgbClr val="97A19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094E48F-4063-72BF-58ED-D9E4D4890680}"/>
              </a:ext>
            </a:extLst>
          </p:cNvPr>
          <p:cNvSpPr/>
          <p:nvPr/>
        </p:nvSpPr>
        <p:spPr>
          <a:xfrm>
            <a:off x="3263310" y="2516777"/>
            <a:ext cx="144000" cy="144000"/>
          </a:xfrm>
          <a:prstGeom prst="ellipse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BEA7043-3238-569B-8427-26C3A859B9ED}"/>
              </a:ext>
            </a:extLst>
          </p:cNvPr>
          <p:cNvSpPr/>
          <p:nvPr/>
        </p:nvSpPr>
        <p:spPr>
          <a:xfrm>
            <a:off x="645613" y="3628575"/>
            <a:ext cx="2783405" cy="1057330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8AAC50-D5E5-0FED-8178-827C89B005BC}"/>
              </a:ext>
            </a:extLst>
          </p:cNvPr>
          <p:cNvSpPr/>
          <p:nvPr/>
        </p:nvSpPr>
        <p:spPr>
          <a:xfrm>
            <a:off x="698724" y="3628575"/>
            <a:ext cx="2818960" cy="1057331"/>
          </a:xfrm>
          <a:prstGeom prst="rect">
            <a:avLst/>
          </a:prstGeom>
          <a:solidFill>
            <a:srgbClr val="EEF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ángulo 7">
                <a:extLst>
                  <a:ext uri="{FF2B5EF4-FFF2-40B4-BE49-F238E27FC236}">
                    <a16:creationId xmlns:a16="http://schemas.microsoft.com/office/drawing/2014/main" id="{2E7BD7FE-DCA9-ED4B-C233-3438E5CE6317}"/>
                  </a:ext>
                </a:extLst>
              </p:cNvPr>
              <p:cNvSpPr/>
              <p:nvPr/>
            </p:nvSpPr>
            <p:spPr>
              <a:xfrm>
                <a:off x="994671" y="3673325"/>
                <a:ext cx="2402193" cy="967829"/>
              </a:xfrm>
              <a:prstGeom prst="rect">
                <a:avLst/>
              </a:prstGeom>
            </p:spPr>
            <p:txBody>
              <a:bodyPr wrap="square" lIns="91440" tIns="45720" rIns="91440" bIns="45720" anchor="ctr">
                <a:spAutoFit/>
              </a:bodyPr>
              <a:lstStyle>
                <a:defPPr>
                  <a:defRPr lang="es-P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MX" sz="1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57A4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𝑬𝑪</m:t>
                      </m:r>
                      <m:r>
                        <a:rPr kumimoji="0" lang="es-ES" sz="1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7A19B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</m:t>
                      </m:r>
                      <m:f>
                        <m:fPr>
                          <m:ctrlPr>
                            <a:rPr lang="es-PE" sz="1200" i="1">
                              <a:solidFill>
                                <a:srgbClr val="97A19B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fPr>
                        <m:num>
                          <m:r>
                            <a:rPr lang="es-MX" sz="1200" i="1">
                              <a:solidFill>
                                <a:srgbClr val="97A19B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𝐴𝑣𝑔</m:t>
                          </m:r>
                          <m:r>
                            <a:rPr lang="es-MX" sz="1200" i="1">
                              <a:solidFill>
                                <a:srgbClr val="97A19B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s-MX" sz="1200" i="1">
                                  <a:solidFill>
                                    <a:srgbClr val="97A19B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solidFill>
                                    <a:srgbClr val="97A19B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 </m:t>
                              </m:r>
                              <m:r>
                                <a:rPr lang="es-MX" sz="1200" i="1">
                                  <a:solidFill>
                                    <a:srgbClr val="157A40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𝑃𝐷</m:t>
                              </m:r>
                            </m:e>
                          </m:d>
                        </m:num>
                        <m:den>
                          <m:r>
                            <a:rPr lang="es-MX" sz="1200" i="1">
                              <a:solidFill>
                                <a:srgbClr val="97A19B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𝐴𝑣𝑔</m:t>
                          </m:r>
                          <m:r>
                            <a:rPr lang="es-MX" sz="1200" i="1">
                              <a:solidFill>
                                <a:srgbClr val="97A19B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s-MX" sz="1200" i="1">
                                  <a:solidFill>
                                    <a:srgbClr val="97A19B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1200" i="1">
                                  <a:solidFill>
                                    <a:srgbClr val="157A40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𝑅𝐷</m:t>
                              </m:r>
                            </m:e>
                          </m:d>
                        </m:den>
                      </m:f>
                      <m:r>
                        <a:rPr lang="es-ES" sz="1200" b="0" i="1" smtClean="0">
                          <a:solidFill>
                            <a:srgbClr val="157A40"/>
                          </a:solidFill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 −1</m:t>
                      </m:r>
                    </m:oMath>
                  </m:oMathPara>
                </a14:m>
                <a:endParaRPr kumimoji="0" lang="es-PE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97A19B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7A19B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Diferencia relativa entre la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9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57A40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PD y RD:  ~545% → &lt;10%</a:t>
                </a:r>
                <a:r>
                  <a:rPr kumimoji="0" lang="es-PE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EA72E">
                        <a:lumMod val="50000"/>
                      </a:srgbClr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rPr>
                  <a:t>	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Poppins" panose="00000500000000000000" pitchFamily="2" charset="0"/>
                  <a:ea typeface="+mn-ea"/>
                  <a:cs typeface="Poppins" panose="00000500000000000000" pitchFamily="2" charset="0"/>
                </a:endParaRPr>
              </a:p>
            </p:txBody>
          </p:sp>
        </mc:Choice>
        <mc:Fallback>
          <p:sp>
            <p:nvSpPr>
              <p:cNvPr id="22" name="Rectángulo 7">
                <a:extLst>
                  <a:ext uri="{FF2B5EF4-FFF2-40B4-BE49-F238E27FC236}">
                    <a16:creationId xmlns:a16="http://schemas.microsoft.com/office/drawing/2014/main" id="{2E7BD7FE-DCA9-ED4B-C233-3438E5CE63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71" y="3673325"/>
                <a:ext cx="2402193" cy="967829"/>
              </a:xfrm>
              <a:prstGeom prst="rect">
                <a:avLst/>
              </a:prstGeom>
              <a:blipFill>
                <a:blip r:embed="rId6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ángulo: esquinas redondeadas 1">
            <a:extLst>
              <a:ext uri="{FF2B5EF4-FFF2-40B4-BE49-F238E27FC236}">
                <a16:creationId xmlns:a16="http://schemas.microsoft.com/office/drawing/2014/main" id="{14034910-DD49-42BF-33B7-B11CDD8F0091}"/>
              </a:ext>
            </a:extLst>
          </p:cNvPr>
          <p:cNvSpPr/>
          <p:nvPr/>
        </p:nvSpPr>
        <p:spPr>
          <a:xfrm>
            <a:off x="7316560" y="823085"/>
            <a:ext cx="4654637" cy="5908316"/>
          </a:xfrm>
          <a:prstGeom prst="roundRect">
            <a:avLst>
              <a:gd name="adj" fmla="val 247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4" name="Rectángulo: esquinas superiores redondeadas 33">
            <a:extLst>
              <a:ext uri="{FF2B5EF4-FFF2-40B4-BE49-F238E27FC236}">
                <a16:creationId xmlns:a16="http://schemas.microsoft.com/office/drawing/2014/main" id="{8F5381BC-502F-7090-5078-076CFA04E167}"/>
              </a:ext>
            </a:extLst>
          </p:cNvPr>
          <p:cNvSpPr/>
          <p:nvPr/>
        </p:nvSpPr>
        <p:spPr>
          <a:xfrm>
            <a:off x="7317573" y="717631"/>
            <a:ext cx="4653625" cy="573102"/>
          </a:xfrm>
          <a:prstGeom prst="round2SameRect">
            <a:avLst/>
          </a:prstGeom>
          <a:solidFill>
            <a:srgbClr val="0070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Grupos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</a:t>
            </a:r>
            <a:r>
              <a:rPr lang="es-MX" sz="1000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 Grupos</a:t>
            </a:r>
            <a:endParaRPr kumimoji="0" lang="es-PE" sz="12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50" name="Tabla 49">
            <a:extLst>
              <a:ext uri="{FF2B5EF4-FFF2-40B4-BE49-F238E27FC236}">
                <a16:creationId xmlns:a16="http://schemas.microsoft.com/office/drawing/2014/main" id="{CE7C40FA-1AD7-8A43-C326-A980DB975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489691"/>
              </p:ext>
            </p:extLst>
          </p:nvPr>
        </p:nvGraphicFramePr>
        <p:xfrm>
          <a:off x="7741861" y="1468275"/>
          <a:ext cx="3724276" cy="1426386"/>
        </p:xfrm>
        <a:graphic>
          <a:graphicData uri="http://schemas.openxmlformats.org/drawingml/2006/table">
            <a:tbl>
              <a:tblPr/>
              <a:tblGrid>
                <a:gridCol w="714375">
                  <a:extLst>
                    <a:ext uri="{9D8B030D-6E8A-4147-A177-3AD203B41FA5}">
                      <a16:colId xmlns:a16="http://schemas.microsoft.com/office/drawing/2014/main" val="2116249832"/>
                    </a:ext>
                  </a:extLst>
                </a:gridCol>
                <a:gridCol w="958468">
                  <a:extLst>
                    <a:ext uri="{9D8B030D-6E8A-4147-A177-3AD203B41FA5}">
                      <a16:colId xmlns:a16="http://schemas.microsoft.com/office/drawing/2014/main" val="4182233998"/>
                    </a:ext>
                  </a:extLst>
                </a:gridCol>
                <a:gridCol w="683811">
                  <a:extLst>
                    <a:ext uri="{9D8B030D-6E8A-4147-A177-3AD203B41FA5}">
                      <a16:colId xmlns:a16="http://schemas.microsoft.com/office/drawing/2014/main" val="2932775888"/>
                    </a:ext>
                  </a:extLst>
                </a:gridCol>
                <a:gridCol w="683811">
                  <a:extLst>
                    <a:ext uri="{9D8B030D-6E8A-4147-A177-3AD203B41FA5}">
                      <a16:colId xmlns:a16="http://schemas.microsoft.com/office/drawing/2014/main" val="4155352374"/>
                    </a:ext>
                  </a:extLst>
                </a:gridCol>
                <a:gridCol w="683811">
                  <a:extLst>
                    <a:ext uri="{9D8B030D-6E8A-4147-A177-3AD203B41FA5}">
                      <a16:colId xmlns:a16="http://schemas.microsoft.com/office/drawing/2014/main" val="1041430382"/>
                    </a:ext>
                  </a:extLst>
                </a:gridCol>
              </a:tblGrid>
              <a:tr h="2377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</a:rPr>
                        <a:t>Grupos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900" b="1" i="0" u="none" strike="noStrike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</a:rPr>
                        <a:t>Puntaje</a:t>
                      </a:r>
                      <a:endParaRPr lang="es-PE" sz="900" b="1" i="0" u="none" strike="noStrike" dirty="0">
                        <a:solidFill>
                          <a:srgbClr val="97A19B"/>
                        </a:solidFill>
                        <a:effectLst/>
                        <a:latin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</a:rPr>
                        <a:t>RD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</a:rPr>
                        <a:t>PD Cal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</a:rPr>
                        <a:t>N 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6357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G1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991–1000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0.48%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0.47%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439576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G2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977–990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1.62%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1.58%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760553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G3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944–976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3.42%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3.70%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317970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G4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920–943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6.47%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6.72%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501961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G5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0–919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11.38%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12.47%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140338"/>
                  </a:ext>
                </a:extLst>
              </a:tr>
            </a:tbl>
          </a:graphicData>
        </a:graphic>
      </p:graphicFrame>
      <p:graphicFrame>
        <p:nvGraphicFramePr>
          <p:cNvPr id="51" name="Gráfico 50">
            <a:extLst>
              <a:ext uri="{FF2B5EF4-FFF2-40B4-BE49-F238E27FC236}">
                <a16:creationId xmlns:a16="http://schemas.microsoft.com/office/drawing/2014/main" id="{64E797CA-169A-769C-4E56-9330B42A6B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6853271"/>
              </p:ext>
            </p:extLst>
          </p:nvPr>
        </p:nvGraphicFramePr>
        <p:xfrm>
          <a:off x="7486649" y="3110876"/>
          <a:ext cx="4314458" cy="1527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2" name="Gráfico 51">
            <a:extLst>
              <a:ext uri="{FF2B5EF4-FFF2-40B4-BE49-F238E27FC236}">
                <a16:creationId xmlns:a16="http://schemas.microsoft.com/office/drawing/2014/main" id="{9D8A09F2-A740-57F5-37EF-217A7045B1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4872873"/>
              </p:ext>
            </p:extLst>
          </p:nvPr>
        </p:nvGraphicFramePr>
        <p:xfrm>
          <a:off x="7316559" y="4650227"/>
          <a:ext cx="4574880" cy="1973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55" name="Elipse 54">
            <a:extLst>
              <a:ext uri="{FF2B5EF4-FFF2-40B4-BE49-F238E27FC236}">
                <a16:creationId xmlns:a16="http://schemas.microsoft.com/office/drawing/2014/main" id="{156513E0-724B-EB19-EC3D-6E1E1BFBD90B}"/>
              </a:ext>
            </a:extLst>
          </p:cNvPr>
          <p:cNvSpPr/>
          <p:nvPr/>
        </p:nvSpPr>
        <p:spPr>
          <a:xfrm>
            <a:off x="3263310" y="2765817"/>
            <a:ext cx="144000" cy="144000"/>
          </a:xfrm>
          <a:prstGeom prst="ellipse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Marcador de texto 3">
            <a:extLst>
              <a:ext uri="{FF2B5EF4-FFF2-40B4-BE49-F238E27FC236}">
                <a16:creationId xmlns:a16="http://schemas.microsoft.com/office/drawing/2014/main" id="{7B4FE0BA-177C-154A-035A-64FA4AF47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61" y="202815"/>
            <a:ext cx="8326867" cy="44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2400" dirty="0">
                <a:solidFill>
                  <a:srgbClr val="00703C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PP Reenganche </a:t>
            </a: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00703C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| </a:t>
            </a:r>
            <a:r>
              <a:rPr kumimoji="0" lang="es-PE" altLang="es-PE" sz="2400" b="0" i="0" u="none" strike="noStrike" kern="1200" cap="none" spc="0" normalizeH="0" baseline="0" noProof="0" dirty="0">
                <a:ln>
                  <a:noFill/>
                </a:ln>
                <a:solidFill>
                  <a:srgbClr val="87938C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Resultados Calibración</a:t>
            </a:r>
          </a:p>
        </p:txBody>
      </p:sp>
    </p:spTree>
    <p:extLst>
      <p:ext uri="{BB962C8B-B14F-4D97-AF65-F5344CB8AC3E}">
        <p14:creationId xmlns:p14="http://schemas.microsoft.com/office/powerpoint/2010/main" val="1357168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59077-9A05-A04E-CE4E-DB09A636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C6FD62D-F493-11D2-4928-74C3BCC2C1A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426" imgH="428" progId="TCLayout.ActiveDocument.1">
                  <p:embed/>
                </p:oleObj>
              </mc:Choice>
              <mc:Fallback>
                <p:oleObj name="Diapositiva de think-cell" r:id="rId5" imgW="426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6FD62D-F493-11D2-4928-74C3BCC2C1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2375774B-B7FE-862A-6D3E-6CF6F6BD9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37" y="260790"/>
            <a:ext cx="8326867" cy="44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s-PE" altLang="es-PE" sz="2400">
                <a:solidFill>
                  <a:srgbClr val="005F1E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Comp. BN – </a:t>
            </a:r>
            <a:r>
              <a:rPr lang="es-PE" altLang="es-PE" sz="2400" err="1">
                <a:solidFill>
                  <a:srgbClr val="005F1E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Pasivero</a:t>
            </a:r>
            <a:r>
              <a:rPr lang="es-PE" altLang="es-PE" sz="2400">
                <a:solidFill>
                  <a:srgbClr val="005F1E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 </a:t>
            </a:r>
            <a:r>
              <a:rPr kumimoji="0" lang="es-PE" altLang="es-PE" sz="24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| </a:t>
            </a:r>
            <a:r>
              <a:rPr lang="es-PE" altLang="es-PE" sz="2400">
                <a:solidFill>
                  <a:srgbClr val="87938C"/>
                </a:solidFill>
                <a:latin typeface="Poppins SemiBold" pitchFamily="2" charset="77"/>
                <a:cs typeface="Poppins SemiBold" pitchFamily="2" charset="77"/>
              </a:rPr>
              <a:t>Factor Macro</a:t>
            </a:r>
          </a:p>
        </p:txBody>
      </p:sp>
      <p:sp>
        <p:nvSpPr>
          <p:cNvPr id="27" name="Rectángulo: esquinas redondeadas 1">
            <a:extLst>
              <a:ext uri="{FF2B5EF4-FFF2-40B4-BE49-F238E27FC236}">
                <a16:creationId xmlns:a16="http://schemas.microsoft.com/office/drawing/2014/main" id="{E1A6941F-735D-E251-362A-FB2828B5F049}"/>
              </a:ext>
            </a:extLst>
          </p:cNvPr>
          <p:cNvSpPr/>
          <p:nvPr/>
        </p:nvSpPr>
        <p:spPr>
          <a:xfrm>
            <a:off x="400038" y="2387155"/>
            <a:ext cx="881329" cy="701372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E3B2993-FF0E-075B-0A8B-11D4F90A760A}"/>
              </a:ext>
            </a:extLst>
          </p:cNvPr>
          <p:cNvSpPr txBox="1"/>
          <p:nvPr/>
        </p:nvSpPr>
        <p:spPr>
          <a:xfrm>
            <a:off x="428272" y="2441840"/>
            <a:ext cx="824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85%</a:t>
            </a:r>
            <a:endParaRPr lang="es-PE" b="1" dirty="0">
              <a:solidFill>
                <a:srgbClr val="08979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R² del ajuste</a:t>
            </a:r>
            <a:b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(53 meses)</a:t>
            </a:r>
          </a:p>
        </p:txBody>
      </p:sp>
      <p:sp>
        <p:nvSpPr>
          <p:cNvPr id="34" name="Rectángulo: esquinas redondeadas 1">
            <a:extLst>
              <a:ext uri="{FF2B5EF4-FFF2-40B4-BE49-F238E27FC236}">
                <a16:creationId xmlns:a16="http://schemas.microsoft.com/office/drawing/2014/main" id="{EEB721F7-2C3B-C5F3-199E-7EB8BA31FA71}"/>
              </a:ext>
            </a:extLst>
          </p:cNvPr>
          <p:cNvSpPr/>
          <p:nvPr/>
        </p:nvSpPr>
        <p:spPr>
          <a:xfrm>
            <a:off x="1352928" y="2387155"/>
            <a:ext cx="790946" cy="701372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8678603-534D-5D06-FDB9-97E8D7F84950}"/>
              </a:ext>
            </a:extLst>
          </p:cNvPr>
          <p:cNvSpPr txBox="1"/>
          <p:nvPr/>
        </p:nvSpPr>
        <p:spPr>
          <a:xfrm>
            <a:off x="1352928" y="2433965"/>
            <a:ext cx="790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-7.7</a:t>
            </a:r>
            <a:endParaRPr lang="es-PE" b="1" dirty="0">
              <a:solidFill>
                <a:srgbClr val="08979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 - </a:t>
            </a:r>
            <a:r>
              <a:rPr lang="es-PE" sz="800" b="1" dirty="0" err="1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</a:t>
            </a:r>
            <a:b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 &lt; 0.001</a:t>
            </a:r>
          </a:p>
        </p:txBody>
      </p:sp>
      <p:sp>
        <p:nvSpPr>
          <p:cNvPr id="43" name="Rectángulo: esquinas redondeadas 1">
            <a:extLst>
              <a:ext uri="{FF2B5EF4-FFF2-40B4-BE49-F238E27FC236}">
                <a16:creationId xmlns:a16="http://schemas.microsoft.com/office/drawing/2014/main" id="{C7C33CAF-1C45-F98C-D5DC-EBFA9289CACC}"/>
              </a:ext>
            </a:extLst>
          </p:cNvPr>
          <p:cNvSpPr/>
          <p:nvPr/>
        </p:nvSpPr>
        <p:spPr>
          <a:xfrm>
            <a:off x="2236232" y="2387155"/>
            <a:ext cx="1082150" cy="701372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8A5E1E7-9676-22B5-158C-897592760CB5}"/>
              </a:ext>
            </a:extLst>
          </p:cNvPr>
          <p:cNvSpPr txBox="1"/>
          <p:nvPr/>
        </p:nvSpPr>
        <p:spPr>
          <a:xfrm>
            <a:off x="2267334" y="2441840"/>
            <a:ext cx="1019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150bps</a:t>
            </a:r>
            <a:endParaRPr lang="es-PE" b="1" dirty="0">
              <a:solidFill>
                <a:srgbClr val="08979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Error Medio</a:t>
            </a:r>
            <a:b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(MAE)</a:t>
            </a:r>
          </a:p>
        </p:txBody>
      </p:sp>
      <p:sp>
        <p:nvSpPr>
          <p:cNvPr id="51" name="Rectángulo: esquinas redondeadas 1">
            <a:extLst>
              <a:ext uri="{FF2B5EF4-FFF2-40B4-BE49-F238E27FC236}">
                <a16:creationId xmlns:a16="http://schemas.microsoft.com/office/drawing/2014/main" id="{8430287A-8A12-E71C-A929-7C7ECFFF3F99}"/>
              </a:ext>
            </a:extLst>
          </p:cNvPr>
          <p:cNvSpPr/>
          <p:nvPr/>
        </p:nvSpPr>
        <p:spPr>
          <a:xfrm>
            <a:off x="400035" y="3210980"/>
            <a:ext cx="2918345" cy="1280768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6886F4A9-7CED-7A09-DC18-43AB3BC91E9C}"/>
              </a:ext>
            </a:extLst>
          </p:cNvPr>
          <p:cNvSpPr txBox="1"/>
          <p:nvPr/>
        </p:nvSpPr>
        <p:spPr>
          <a:xfrm>
            <a:off x="428272" y="3307138"/>
            <a:ext cx="2842920" cy="1126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800" b="1" cap="all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Estable en todo el ciclo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MAE por </a:t>
            </a:r>
            <a:r>
              <a:rPr lang="pt-BR" sz="1000" b="1" dirty="0" err="1">
                <a:latin typeface="Poppins" panose="00000500000000000000" pitchFamily="2" charset="0"/>
                <a:cs typeface="Poppins" panose="00000500000000000000" pitchFamily="2" charset="0"/>
              </a:rPr>
              <a:t>régimen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900" b="1" dirty="0">
                <a:latin typeface="Poppins" panose="00000500000000000000" pitchFamily="2" charset="0"/>
                <a:cs typeface="Poppins" panose="00000500000000000000" pitchFamily="2" charset="0"/>
              </a:rPr>
              <a:t>Ult. 36 M</a:t>
            </a:r>
          </a:p>
          <a:p>
            <a:pPr>
              <a:lnSpc>
                <a:spcPct val="150000"/>
              </a:lnSpc>
            </a:pPr>
            <a:r>
              <a:rPr lang="pt-BR" sz="900" b="1" dirty="0">
                <a:latin typeface="Poppins" panose="00000500000000000000" pitchFamily="2" charset="0"/>
                <a:cs typeface="Poppins" panose="00000500000000000000" pitchFamily="2" charset="0"/>
              </a:rPr>
              <a:t>Ult. 24 M</a:t>
            </a:r>
          </a:p>
          <a:p>
            <a:pPr>
              <a:lnSpc>
                <a:spcPct val="150000"/>
              </a:lnSpc>
            </a:pPr>
            <a:r>
              <a:rPr lang="pt-BR" sz="900" b="1" dirty="0">
                <a:latin typeface="Poppins" panose="00000500000000000000" pitchFamily="2" charset="0"/>
                <a:cs typeface="Poppins" panose="00000500000000000000" pitchFamily="2" charset="0"/>
              </a:rPr>
              <a:t>Ult. 12 M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92CE828-ED4D-0882-EBDC-C5210D68F8C5}"/>
              </a:ext>
            </a:extLst>
          </p:cNvPr>
          <p:cNvSpPr/>
          <p:nvPr/>
        </p:nvSpPr>
        <p:spPr>
          <a:xfrm>
            <a:off x="1214889" y="3807266"/>
            <a:ext cx="1869697" cy="12794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DD1D1F5D-1FFC-9F8F-5B40-3A7D6426AC65}"/>
              </a:ext>
            </a:extLst>
          </p:cNvPr>
          <p:cNvSpPr/>
          <p:nvPr/>
        </p:nvSpPr>
        <p:spPr>
          <a:xfrm>
            <a:off x="1214888" y="3807266"/>
            <a:ext cx="1740014" cy="127014"/>
          </a:xfrm>
          <a:prstGeom prst="roundRect">
            <a:avLst/>
          </a:prstGeom>
          <a:solidFill>
            <a:srgbClr val="089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MX" sz="700" b="1" dirty="0">
                <a:latin typeface="Poppins" panose="00000500000000000000" pitchFamily="2" charset="0"/>
                <a:cs typeface="Poppins" panose="00000500000000000000" pitchFamily="2" charset="0"/>
              </a:rPr>
              <a:t>140 bps</a:t>
            </a:r>
            <a:endParaRPr lang="es-PE" sz="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FDFF12B6-68C6-2BA9-1465-F84F44064069}"/>
              </a:ext>
            </a:extLst>
          </p:cNvPr>
          <p:cNvSpPr/>
          <p:nvPr/>
        </p:nvSpPr>
        <p:spPr>
          <a:xfrm>
            <a:off x="1214889" y="4002875"/>
            <a:ext cx="1869697" cy="12794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2CEC7937-410D-588D-00D7-3292BE5BD04C}"/>
              </a:ext>
            </a:extLst>
          </p:cNvPr>
          <p:cNvSpPr/>
          <p:nvPr/>
        </p:nvSpPr>
        <p:spPr>
          <a:xfrm>
            <a:off x="1214889" y="4002874"/>
            <a:ext cx="1672595" cy="135395"/>
          </a:xfrm>
          <a:prstGeom prst="roundRect">
            <a:avLst/>
          </a:prstGeom>
          <a:solidFill>
            <a:srgbClr val="089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MX" sz="7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131 bps</a:t>
            </a:r>
            <a:endParaRPr lang="es-PE" sz="7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A6C61C68-AB6F-E295-A400-77434FE34E47}"/>
              </a:ext>
            </a:extLst>
          </p:cNvPr>
          <p:cNvSpPr/>
          <p:nvPr/>
        </p:nvSpPr>
        <p:spPr>
          <a:xfrm>
            <a:off x="1209025" y="4206864"/>
            <a:ext cx="1869697" cy="12794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DB668157-C72A-D935-9433-8DC1BE8365C6}"/>
              </a:ext>
            </a:extLst>
          </p:cNvPr>
          <p:cNvSpPr/>
          <p:nvPr/>
        </p:nvSpPr>
        <p:spPr>
          <a:xfrm>
            <a:off x="1220625" y="4195114"/>
            <a:ext cx="1460664" cy="127949"/>
          </a:xfrm>
          <a:prstGeom prst="roundRect">
            <a:avLst/>
          </a:prstGeom>
          <a:solidFill>
            <a:srgbClr val="089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MX" sz="7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110 bps</a:t>
            </a:r>
            <a:endParaRPr lang="es-PE" sz="7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F22B3A90-55C9-6581-80B8-842A659BBB48}"/>
              </a:ext>
            </a:extLst>
          </p:cNvPr>
          <p:cNvGrpSpPr/>
          <p:nvPr/>
        </p:nvGrpSpPr>
        <p:grpSpPr>
          <a:xfrm>
            <a:off x="400035" y="4575298"/>
            <a:ext cx="2918345" cy="1310432"/>
            <a:chOff x="5679503" y="3300279"/>
            <a:chExt cx="2330171" cy="1545555"/>
          </a:xfrm>
        </p:grpSpPr>
        <p:sp>
          <p:nvSpPr>
            <p:cNvPr id="77" name="Rectángulo: esquinas redondeadas 76">
              <a:extLst>
                <a:ext uri="{FF2B5EF4-FFF2-40B4-BE49-F238E27FC236}">
                  <a16:creationId xmlns:a16="http://schemas.microsoft.com/office/drawing/2014/main" id="{99D891EC-A050-6B7D-5068-2A41A847561C}"/>
                </a:ext>
              </a:extLst>
            </p:cNvPr>
            <p:cNvSpPr/>
            <p:nvPr/>
          </p:nvSpPr>
          <p:spPr>
            <a:xfrm>
              <a:off x="5679503" y="3300279"/>
              <a:ext cx="2330171" cy="1332281"/>
            </a:xfrm>
            <a:prstGeom prst="roundRect">
              <a:avLst>
                <a:gd name="adj" fmla="val 10054"/>
              </a:avLst>
            </a:prstGeom>
            <a:solidFill>
              <a:srgbClr val="7030A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br>
                <a:rPr lang="es-PE" sz="1400"/>
              </a:br>
              <a:r>
                <a:rPr lang="es-PE" sz="1400"/>
                <a:t>	</a:t>
              </a:r>
              <a:r>
                <a:rPr lang="es-PE" sz="1400" b="1">
                  <a:solidFill>
                    <a:srgbClr val="00B050"/>
                  </a:solidFill>
                  <a:latin typeface="Poppins" pitchFamily="2" charset="77"/>
                  <a:cs typeface="Poppins" pitchFamily="2" charset="77"/>
                </a:rPr>
                <a:t>Metodología</a:t>
              </a:r>
              <a:endParaRPr kumimoji="0" lang="es-MX" sz="2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78" name="Rectángulo: esquinas redondeadas 1">
              <a:extLst>
                <a:ext uri="{FF2B5EF4-FFF2-40B4-BE49-F238E27FC236}">
                  <a16:creationId xmlns:a16="http://schemas.microsoft.com/office/drawing/2014/main" id="{4C3E1C32-06CB-8C87-B373-BE9104AF2CD5}"/>
                </a:ext>
              </a:extLst>
            </p:cNvPr>
            <p:cNvSpPr/>
            <p:nvPr/>
          </p:nvSpPr>
          <p:spPr>
            <a:xfrm>
              <a:off x="5679503" y="3339164"/>
              <a:ext cx="2330171" cy="1506670"/>
            </a:xfrm>
            <a:prstGeom prst="roundRect">
              <a:avLst>
                <a:gd name="adj" fmla="val 6649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endParaRPr kumimoji="0" lang="es-PE" sz="9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0" name="CuadroTexto 79">
            <a:extLst>
              <a:ext uri="{FF2B5EF4-FFF2-40B4-BE49-F238E27FC236}">
                <a16:creationId xmlns:a16="http://schemas.microsoft.com/office/drawing/2014/main" id="{0A8E388C-F733-2181-F0CB-022518B8662F}"/>
              </a:ext>
            </a:extLst>
          </p:cNvPr>
          <p:cNvSpPr txBox="1"/>
          <p:nvPr/>
        </p:nvSpPr>
        <p:spPr>
          <a:xfrm>
            <a:off x="444360" y="4727056"/>
            <a:ext cx="284292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000" b="1" dirty="0">
                <a:latin typeface="Poppins" panose="00000500000000000000" pitchFamily="2" charset="0"/>
                <a:cs typeface="Poppins" panose="00000500000000000000" pitchFamily="2" charset="0"/>
              </a:rPr>
              <a:t>ρ = 0.0</a:t>
            </a:r>
            <a:r>
              <a:rPr lang="es-ES" sz="1000" b="1" dirty="0">
                <a:latin typeface="Poppins" panose="00000500000000000000" pitchFamily="2" charset="0"/>
                <a:cs typeface="Poppins" panose="00000500000000000000" pitchFamily="2" charset="0"/>
              </a:rPr>
              <a:t>75</a:t>
            </a:r>
            <a:r>
              <a:rPr lang="el-GR" sz="1000" b="1" dirty="0">
                <a:latin typeface="Poppins" panose="00000500000000000000" pitchFamily="2" charset="0"/>
                <a:cs typeface="Poppins" panose="00000500000000000000" pitchFamily="2" charset="0"/>
              </a:rPr>
              <a:t>· </a:t>
            </a:r>
            <a:r>
              <a:rPr lang="es-PE" sz="1000" b="1" dirty="0">
                <a:latin typeface="Poppins" panose="00000500000000000000" pitchFamily="2" charset="0"/>
                <a:cs typeface="Poppins" panose="00000500000000000000" pitchFamily="2" charset="0"/>
              </a:rPr>
              <a:t>transmisión</a:t>
            </a:r>
          </a:p>
          <a:p>
            <a:r>
              <a:rPr lang="es-MX" sz="7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Cómo se relacionan los clientes entre sí ¿fallan juntos o separados?  </a:t>
            </a:r>
          </a:p>
          <a:p>
            <a:endParaRPr lang="es-MX" sz="7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7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l-GR" sz="1000" b="1" dirty="0">
                <a:cs typeface="Poppins" panose="00000500000000000000" pitchFamily="2" charset="0"/>
              </a:rPr>
              <a:t>λ = </a:t>
            </a:r>
            <a:r>
              <a:rPr lang="es-ES" sz="1000" b="1" dirty="0">
                <a:latin typeface="Poppins" panose="00000500000000000000" pitchFamily="2" charset="0"/>
                <a:cs typeface="Poppins" panose="00000500000000000000" pitchFamily="2" charset="0"/>
              </a:rPr>
              <a:t>1.0 </a:t>
            </a:r>
            <a:r>
              <a:rPr lang="el-GR" sz="1000" b="1" dirty="0">
                <a:cs typeface="Poppins" panose="00000500000000000000" pitchFamily="2" charset="0"/>
              </a:rPr>
              <a:t>· </a:t>
            </a:r>
            <a:r>
              <a:rPr lang="es-PE" sz="1000" b="1" dirty="0">
                <a:latin typeface="Poppins" panose="00000500000000000000" pitchFamily="2" charset="0"/>
                <a:cs typeface="Poppins" panose="00000500000000000000" pitchFamily="2" charset="0"/>
              </a:rPr>
              <a:t>sensibilidad</a:t>
            </a:r>
          </a:p>
          <a:p>
            <a:r>
              <a:rPr lang="es-MX" sz="7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Cómo responde la PD al termómetro macro ¿cuánto reacciona la PD al ciclo?</a:t>
            </a:r>
            <a:endParaRPr lang="es-PE" sz="70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Rectángulo: esquinas redondeadas 89">
            <a:extLst>
              <a:ext uri="{FF2B5EF4-FFF2-40B4-BE49-F238E27FC236}">
                <a16:creationId xmlns:a16="http://schemas.microsoft.com/office/drawing/2014/main" id="{1B16F7AD-39B0-7AAE-42B8-12A781F41CC9}"/>
              </a:ext>
            </a:extLst>
          </p:cNvPr>
          <p:cNvSpPr/>
          <p:nvPr/>
        </p:nvSpPr>
        <p:spPr>
          <a:xfrm>
            <a:off x="2069822" y="4779420"/>
            <a:ext cx="740053" cy="136891"/>
          </a:xfrm>
          <a:prstGeom prst="roundRect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Moderado</a:t>
            </a:r>
            <a:endParaRPr lang="es-PE" sz="700" b="1">
              <a:solidFill>
                <a:srgbClr val="FFC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2F42CC85-D7E5-0DE9-52C0-4EF80D534A3F}"/>
              </a:ext>
            </a:extLst>
          </p:cNvPr>
          <p:cNvSpPr/>
          <p:nvPr/>
        </p:nvSpPr>
        <p:spPr>
          <a:xfrm>
            <a:off x="2069822" y="5348468"/>
            <a:ext cx="740053" cy="136891"/>
          </a:xfrm>
          <a:prstGeom prst="roundRect">
            <a:avLst/>
          </a:prstGeom>
          <a:solidFill>
            <a:srgbClr val="E7F4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Estándar</a:t>
            </a:r>
            <a:endParaRPr lang="es-PE" sz="7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A86A9D68-103D-9FF9-4B79-220A4007A699}"/>
              </a:ext>
            </a:extLst>
          </p:cNvPr>
          <p:cNvGrpSpPr/>
          <p:nvPr/>
        </p:nvGrpSpPr>
        <p:grpSpPr>
          <a:xfrm>
            <a:off x="400036" y="707392"/>
            <a:ext cx="2918346" cy="1563368"/>
            <a:chOff x="5679503" y="3300279"/>
            <a:chExt cx="2330171" cy="1545555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7081973D-CA5B-990D-D161-83D23B5E671D}"/>
                </a:ext>
              </a:extLst>
            </p:cNvPr>
            <p:cNvSpPr/>
            <p:nvPr/>
          </p:nvSpPr>
          <p:spPr>
            <a:xfrm>
              <a:off x="5679503" y="3300279"/>
              <a:ext cx="2330171" cy="1332281"/>
            </a:xfrm>
            <a:prstGeom prst="roundRect">
              <a:avLst>
                <a:gd name="adj" fmla="val 10054"/>
              </a:avLst>
            </a:prstGeom>
            <a:solidFill>
              <a:srgbClr val="08979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br>
                <a:rPr lang="es-PE" sz="1400"/>
              </a:br>
              <a:r>
                <a:rPr lang="es-PE" sz="1400"/>
                <a:t>	</a:t>
              </a:r>
              <a:r>
                <a:rPr lang="es-PE" sz="1400" b="1">
                  <a:solidFill>
                    <a:srgbClr val="00B050"/>
                  </a:solidFill>
                  <a:latin typeface="Poppins" pitchFamily="2" charset="77"/>
                  <a:cs typeface="Poppins" pitchFamily="2" charset="77"/>
                </a:rPr>
                <a:t>Metodología</a:t>
              </a:r>
              <a:endParaRPr kumimoji="0" lang="es-MX" sz="2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23" name="Rectángulo: esquinas redondeadas 1">
              <a:extLst>
                <a:ext uri="{FF2B5EF4-FFF2-40B4-BE49-F238E27FC236}">
                  <a16:creationId xmlns:a16="http://schemas.microsoft.com/office/drawing/2014/main" id="{35B22C46-9828-66E7-6BF1-5A6445A29A67}"/>
                </a:ext>
              </a:extLst>
            </p:cNvPr>
            <p:cNvSpPr/>
            <p:nvPr/>
          </p:nvSpPr>
          <p:spPr>
            <a:xfrm>
              <a:off x="5679503" y="3339164"/>
              <a:ext cx="2330171" cy="1506670"/>
            </a:xfrm>
            <a:prstGeom prst="roundRect">
              <a:avLst>
                <a:gd name="adj" fmla="val 6649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endParaRPr kumimoji="0" lang="es-PE" sz="9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ECF4B3B-6095-BE90-DD9E-58CAB95D46DB}"/>
              </a:ext>
            </a:extLst>
          </p:cNvPr>
          <p:cNvSpPr txBox="1"/>
          <p:nvPr/>
        </p:nvSpPr>
        <p:spPr>
          <a:xfrm>
            <a:off x="491473" y="818480"/>
            <a:ext cx="25798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 b="1" cap="all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Variables seleccionadas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021AB87-E26A-D811-F722-57363663DE9E}"/>
              </a:ext>
            </a:extLst>
          </p:cNvPr>
          <p:cNvSpPr txBox="1"/>
          <p:nvPr/>
        </p:nvSpPr>
        <p:spPr>
          <a:xfrm>
            <a:off x="400036" y="1078852"/>
            <a:ext cx="277937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900" b="1">
                <a:latin typeface="Poppins" panose="00000500000000000000" pitchFamily="2" charset="0"/>
                <a:cs typeface="Poppins" panose="00000500000000000000" pitchFamily="2" charset="0"/>
              </a:rPr>
              <a:t>Expectativas Macroeconómicas Servicios – </a:t>
            </a:r>
            <a:r>
              <a:rPr lang="es-ES" sz="900" b="1" err="1">
                <a:latin typeface="Poppins" panose="00000500000000000000" pitchFamily="2" charset="0"/>
                <a:cs typeface="Poppins" panose="00000500000000000000" pitchFamily="2" charset="0"/>
              </a:rPr>
              <a:t>Lag</a:t>
            </a:r>
            <a:r>
              <a:rPr lang="es-ES" sz="900" b="1">
                <a:latin typeface="Poppins" panose="00000500000000000000" pitchFamily="2" charset="0"/>
                <a:cs typeface="Poppins" panose="00000500000000000000" pitchFamily="2" charset="0"/>
              </a:rPr>
              <a:t> 6</a:t>
            </a:r>
            <a:endParaRPr lang="es-ES" sz="9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900" u="sng">
                <a:latin typeface="Poppins" panose="00000500000000000000" pitchFamily="2" charset="0"/>
                <a:cs typeface="Poppins" panose="00000500000000000000" pitchFamily="2" charset="0"/>
              </a:rPr>
              <a:t>Sentido</a:t>
            </a:r>
            <a:r>
              <a:rPr lang="es-ES" sz="900">
                <a:latin typeface="Poppins" panose="00000500000000000000" pitchFamily="2" charset="0"/>
                <a:cs typeface="Poppins" panose="00000500000000000000" pitchFamily="2" charset="0"/>
              </a:rPr>
              <a:t>:  Inverso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90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Mejores expectativas empresariales del sector servicios anticipan mayor actividad e ingresos del cliente </a:t>
            </a:r>
            <a:r>
              <a:rPr lang="es-ES" sz="900" err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pasivero</a:t>
            </a:r>
            <a:r>
              <a:rPr lang="es-ES" sz="90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→ menor riesgo de default</a:t>
            </a:r>
          </a:p>
        </p:txBody>
      </p:sp>
      <p:sp>
        <p:nvSpPr>
          <p:cNvPr id="28" name="Rectángulo: esquinas redondeadas 1">
            <a:extLst>
              <a:ext uri="{FF2B5EF4-FFF2-40B4-BE49-F238E27FC236}">
                <a16:creationId xmlns:a16="http://schemas.microsoft.com/office/drawing/2014/main" id="{5DAD74C6-027A-273E-6FC8-5F1E10B69DF6}"/>
              </a:ext>
            </a:extLst>
          </p:cNvPr>
          <p:cNvSpPr/>
          <p:nvPr/>
        </p:nvSpPr>
        <p:spPr>
          <a:xfrm>
            <a:off x="3839809" y="5257015"/>
            <a:ext cx="7907831" cy="628715"/>
          </a:xfrm>
          <a:prstGeom prst="roundRect">
            <a:avLst>
              <a:gd name="adj" fmla="val 8591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rgbClr val="08979D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Ft</a:t>
            </a:r>
            <a:r>
              <a:rPr lang="es-MX" sz="1100" b="1" kern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ciclo dónde estamos   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×</a:t>
            </a:r>
            <a:r>
              <a:rPr lang="es-MX" sz="1100" b="1" kern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√ρ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transmisión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· 0.27 ×</a:t>
            </a:r>
            <a:r>
              <a:rPr lang="es-MX" sz="1100" b="1" kern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λ</a:t>
            </a:r>
            <a:r>
              <a:rPr lang="es-MX" sz="1100" b="1" kern="0">
                <a:solidFill>
                  <a:srgbClr val="7030A0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sensibilidad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· 1.0 =</a:t>
            </a:r>
            <a:r>
              <a:rPr lang="es-MX" sz="1100" b="1" kern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desplazamiento cuánto se mueve la PD 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→ 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rgbClr val="1A944D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PDPIT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PD del mes</a:t>
            </a:r>
            <a:endParaRPr kumimoji="0" lang="es-PE" sz="1100" b="1" i="0" u="none" strike="noStrike" kern="0" cap="none" spc="0" normalizeH="0" baseline="0" noProof="0">
              <a:ln>
                <a:noFill/>
              </a:ln>
              <a:solidFill>
                <a:srgbClr val="97A19B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9" name="Título 34">
            <a:extLst>
              <a:ext uri="{FF2B5EF4-FFF2-40B4-BE49-F238E27FC236}">
                <a16:creationId xmlns:a16="http://schemas.microsoft.com/office/drawing/2014/main" id="{A50DCD23-2AF7-09EA-9BDB-6626F0515FF8}"/>
              </a:ext>
            </a:extLst>
          </p:cNvPr>
          <p:cNvSpPr txBox="1">
            <a:spLocks/>
          </p:cNvSpPr>
          <p:nvPr/>
        </p:nvSpPr>
        <p:spPr>
          <a:xfrm>
            <a:off x="3792184" y="4857882"/>
            <a:ext cx="4845998" cy="358821"/>
          </a:xfrm>
          <a:prstGeom prst="rect">
            <a:avLst/>
          </a:prstGeom>
          <a:solidFill>
            <a:sysClr val="window" lastClr="FFFFFF"/>
          </a:solidFill>
        </p:spPr>
        <p:txBody>
          <a:bodyPr vert="horz" lIns="91440" tIns="45720" rIns="91440" bIns="45720" rtlCol="0" anchor="t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>
                <a:solidFill>
                  <a:srgbClr val="00D03C"/>
                </a:solidFill>
                <a:latin typeface="Geometria"/>
                <a:cs typeface="Poppins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sz="1400" kern="0">
                <a:solidFill>
                  <a:schemeClr val="tx1"/>
                </a:solidFill>
                <a:latin typeface="Poppins"/>
                <a:cs typeface="Poppins"/>
              </a:rPr>
              <a:t>¿Cómo conjugan?</a:t>
            </a:r>
            <a:endParaRPr kumimoji="0" lang="es-MX" sz="1600" b="1" i="0" u="none" strike="noStrike" kern="0" cap="none" spc="0" normalizeH="0" baseline="0" noProof="0">
              <a:ln>
                <a:noFill/>
              </a:ln>
              <a:solidFill>
                <a:srgbClr val="08979D"/>
              </a:solidFill>
              <a:effectLst/>
              <a:uLnTx/>
              <a:uFillTx/>
              <a:latin typeface="Poppins"/>
              <a:ea typeface="+mn-ea"/>
              <a:cs typeface="Poppins" panose="00000500000000000000" pitchFamily="2" charset="0"/>
            </a:endParaRP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2C758C66-B2F9-2FAC-800B-E77585B4AD98}"/>
              </a:ext>
            </a:extLst>
          </p:cNvPr>
          <p:cNvSpPr/>
          <p:nvPr/>
        </p:nvSpPr>
        <p:spPr>
          <a:xfrm rot="10800000">
            <a:off x="1796109" y="1413111"/>
            <a:ext cx="139425" cy="11161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F07481D5-C652-0B7A-09F8-1D24F5F7F1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0675013"/>
              </p:ext>
            </p:extLst>
          </p:nvPr>
        </p:nvGraphicFramePr>
        <p:xfrm>
          <a:off x="3839808" y="1572391"/>
          <a:ext cx="7780692" cy="3133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8" name="Título 34">
            <a:extLst>
              <a:ext uri="{FF2B5EF4-FFF2-40B4-BE49-F238E27FC236}">
                <a16:creationId xmlns:a16="http://schemas.microsoft.com/office/drawing/2014/main" id="{804CAEC9-057A-FA64-0309-6FB28F05A118}"/>
              </a:ext>
            </a:extLst>
          </p:cNvPr>
          <p:cNvSpPr txBox="1">
            <a:spLocks/>
          </p:cNvSpPr>
          <p:nvPr/>
        </p:nvSpPr>
        <p:spPr>
          <a:xfrm>
            <a:off x="3839808" y="899441"/>
            <a:ext cx="7418741" cy="358821"/>
          </a:xfrm>
          <a:prstGeom prst="rect">
            <a:avLst/>
          </a:prstGeom>
          <a:solidFill>
            <a:sysClr val="window" lastClr="FFFFFF"/>
          </a:solidFill>
        </p:spPr>
        <p:txBody>
          <a:bodyPr vert="horz" lIns="91440" tIns="45720" rIns="91440" bIns="45720" rtlCol="0" anchor="t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>
                <a:solidFill>
                  <a:srgbClr val="00D03C"/>
                </a:solidFill>
                <a:latin typeface="Geometria"/>
                <a:cs typeface="Poppins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sz="1400" kern="0">
                <a:solidFill>
                  <a:srgbClr val="08979D"/>
                </a:solidFill>
                <a:latin typeface="Poppins"/>
                <a:cs typeface="Poppins"/>
              </a:rPr>
              <a:t>Más confianza </a:t>
            </a:r>
            <a:r>
              <a:rPr lang="es-ES" sz="1400" kern="0">
                <a:solidFill>
                  <a:schemeClr val="tx1"/>
                </a:solidFill>
                <a:latin typeface="Poppins"/>
                <a:cs typeface="Poppins"/>
              </a:rPr>
              <a:t>del comercio y servicios hoy,  </a:t>
            </a:r>
            <a:r>
              <a:rPr lang="es-ES" sz="1400" kern="0">
                <a:solidFill>
                  <a:srgbClr val="08979D"/>
                </a:solidFill>
                <a:latin typeface="Poppins"/>
                <a:cs typeface="Poppins"/>
              </a:rPr>
              <a:t>menos mora </a:t>
            </a:r>
            <a:r>
              <a:rPr lang="es-ES" sz="1400" kern="0">
                <a:solidFill>
                  <a:schemeClr val="tx1"/>
                </a:solidFill>
                <a:latin typeface="Poppins"/>
                <a:cs typeface="Poppins"/>
              </a:rPr>
              <a:t>del cliente </a:t>
            </a:r>
            <a:r>
              <a:rPr lang="es-ES" sz="1400" kern="0" err="1">
                <a:solidFill>
                  <a:schemeClr val="tx1"/>
                </a:solidFill>
                <a:latin typeface="Poppins"/>
                <a:cs typeface="Poppins"/>
              </a:rPr>
              <a:t>pasivero</a:t>
            </a:r>
            <a:r>
              <a:rPr lang="es-ES" sz="1400" kern="0">
                <a:solidFill>
                  <a:schemeClr val="tx1"/>
                </a:solidFill>
                <a:latin typeface="Poppins"/>
                <a:cs typeface="Poppins"/>
              </a:rPr>
              <a:t> mañana.</a:t>
            </a:r>
            <a:endParaRPr kumimoji="0" lang="es-MX" sz="1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Poppins"/>
              <a:ea typeface="+mn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471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D19F4-6517-FF55-964A-4F474654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ángulo: esquinas redondeadas 1">
            <a:extLst>
              <a:ext uri="{FF2B5EF4-FFF2-40B4-BE49-F238E27FC236}">
                <a16:creationId xmlns:a16="http://schemas.microsoft.com/office/drawing/2014/main" id="{53A25C34-F544-F47C-8526-94AC31131AC0}"/>
              </a:ext>
            </a:extLst>
          </p:cNvPr>
          <p:cNvSpPr/>
          <p:nvPr/>
        </p:nvSpPr>
        <p:spPr>
          <a:xfrm>
            <a:off x="534188" y="1194018"/>
            <a:ext cx="3740163" cy="2012459"/>
          </a:xfrm>
          <a:prstGeom prst="roundRect">
            <a:avLst>
              <a:gd name="adj" fmla="val 4256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0DC3059-C726-8E94-B640-6E6CBD571EB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6" imgH="428" progId="TCLayout.ActiveDocument.1">
                  <p:embed/>
                </p:oleObj>
              </mc:Choice>
              <mc:Fallback>
                <p:oleObj name="Diapositiva de think-cell" r:id="rId4" imgW="426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DC3059-C726-8E94-B640-6E6CBD571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5B8CD128-D882-8469-9981-F106B6069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37" y="260790"/>
            <a:ext cx="8326867" cy="44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31736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PE" altLang="es-PE" sz="2400">
                <a:solidFill>
                  <a:srgbClr val="005F1E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Comp. BN </a:t>
            </a:r>
            <a:r>
              <a:rPr kumimoji="0" lang="es-PE" altLang="es-PE" sz="24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| </a:t>
            </a:r>
            <a:r>
              <a:rPr kumimoji="0" lang="es-PE" altLang="es-PE" sz="2400" b="0" i="0" u="none" strike="noStrike" kern="1200" cap="none" spc="0" normalizeH="0" baseline="0" noProof="0">
                <a:ln>
                  <a:noFill/>
                </a:ln>
                <a:solidFill>
                  <a:srgbClr val="87938C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Diseño de Calibración</a:t>
            </a:r>
          </a:p>
        </p:txBody>
      </p:sp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BB1D1B9D-3D46-25C1-F179-D1F0F4A955AB}"/>
              </a:ext>
            </a:extLst>
          </p:cNvPr>
          <p:cNvSpPr/>
          <p:nvPr/>
        </p:nvSpPr>
        <p:spPr>
          <a:xfrm>
            <a:off x="534190" y="1078323"/>
            <a:ext cx="3740161" cy="261327"/>
          </a:xfrm>
          <a:prstGeom prst="round2SameRect">
            <a:avLst/>
          </a:prstGeom>
          <a:solidFill>
            <a:srgbClr val="549E39">
              <a:lumMod val="50000"/>
            </a:srgbClr>
          </a:solidFill>
          <a:ln w="12700" cap="flat" cmpd="sng" algn="ctr">
            <a:solidFill>
              <a:srgbClr val="2A4F1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</a:t>
            </a:r>
            <a:r>
              <a:rPr kumimoji="0" lang="es-MX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Filtros</a:t>
            </a:r>
            <a:endParaRPr kumimoji="0" lang="es-PE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CEDC233-D0A6-D354-FD62-17669F93F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906572"/>
              </p:ext>
            </p:extLst>
          </p:nvPr>
        </p:nvGraphicFramePr>
        <p:xfrm>
          <a:off x="581533" y="1323896"/>
          <a:ext cx="35933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166">
                  <a:extLst>
                    <a:ext uri="{9D8B030D-6E8A-4147-A177-3AD203B41FA5}">
                      <a16:colId xmlns:a16="http://schemas.microsoft.com/office/drawing/2014/main" val="260038797"/>
                    </a:ext>
                  </a:extLst>
                </a:gridCol>
                <a:gridCol w="746607">
                  <a:extLst>
                    <a:ext uri="{9D8B030D-6E8A-4147-A177-3AD203B41FA5}">
                      <a16:colId xmlns:a16="http://schemas.microsoft.com/office/drawing/2014/main" val="2499319268"/>
                    </a:ext>
                  </a:extLst>
                </a:gridCol>
                <a:gridCol w="746607">
                  <a:extLst>
                    <a:ext uri="{9D8B030D-6E8A-4147-A177-3AD203B41FA5}">
                      <a16:colId xmlns:a16="http://schemas.microsoft.com/office/drawing/2014/main" val="3619391011"/>
                    </a:ext>
                  </a:extLst>
                </a:gridCol>
              </a:tblGrid>
              <a:tr h="178071">
                <a:tc>
                  <a:txBody>
                    <a:bodyPr/>
                    <a:lstStyle/>
                    <a:p>
                      <a:endParaRPr lang="es-PE" sz="900">
                        <a:solidFill>
                          <a:sysClr val="windowText" lastClr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>
                          <a:solidFill>
                            <a:sysClr val="windowText" lastClr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Model.</a:t>
                      </a:r>
                      <a:endParaRPr lang="es-PE" sz="900">
                        <a:solidFill>
                          <a:sysClr val="windowText" lastClr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>
                          <a:solidFill>
                            <a:sysClr val="windowText" lastClr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Calib.</a:t>
                      </a:r>
                      <a:endParaRPr lang="es-PE" sz="900">
                        <a:solidFill>
                          <a:sysClr val="windowText" lastClr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712867"/>
                  </a:ext>
                </a:extLst>
              </a:tr>
              <a:tr h="178071">
                <a:tc>
                  <a:txBody>
                    <a:bodyPr/>
                    <a:lstStyle/>
                    <a:p>
                      <a:r>
                        <a:rPr lang="es-ES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</a:t>
                      </a:r>
                      <a:r>
                        <a:rPr lang="es-PE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alos en el origen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282383"/>
                  </a:ext>
                </a:extLst>
              </a:tr>
              <a:tr h="178071">
                <a:tc>
                  <a:txBody>
                    <a:bodyPr/>
                    <a:lstStyle/>
                    <a:p>
                      <a:r>
                        <a:rPr lang="es-ES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</a:t>
                      </a:r>
                      <a:r>
                        <a:rPr lang="es-PE" sz="9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ndeterminados</a:t>
                      </a:r>
                      <a:r>
                        <a:rPr lang="es-PE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en el origen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179217"/>
                  </a:ext>
                </a:extLst>
              </a:tr>
              <a:tr h="1780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</a:t>
                      </a:r>
                      <a:r>
                        <a:rPr lang="es-PE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 deuda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497775"/>
                  </a:ext>
                </a:extLst>
              </a:tr>
              <a:tr h="178071">
                <a:tc>
                  <a:txBody>
                    <a:bodyPr/>
                    <a:lstStyle/>
                    <a:p>
                      <a:r>
                        <a:rPr lang="es-ES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</a:t>
                      </a:r>
                      <a:r>
                        <a:rPr lang="es-PE" sz="9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ntigüedad</a:t>
                      </a:r>
                      <a:r>
                        <a:rPr lang="es-PE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del cliente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282410"/>
                  </a:ext>
                </a:extLst>
              </a:tr>
              <a:tr h="178071">
                <a:tc>
                  <a:txBody>
                    <a:bodyPr/>
                    <a:lstStyle/>
                    <a:p>
                      <a:r>
                        <a:rPr lang="es-ES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Segmento (Neg + Mixto)</a:t>
                      </a:r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541469"/>
                  </a:ext>
                </a:extLst>
              </a:tr>
              <a:tr h="178071">
                <a:tc>
                  <a:txBody>
                    <a:bodyPr/>
                    <a:lstStyle/>
                    <a:p>
                      <a:r>
                        <a:rPr lang="es-PE" sz="900" b="1">
                          <a:solidFill>
                            <a:srgbClr val="335743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Insuficientes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B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solidFill>
                          <a:srgbClr val="335743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B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solidFill>
                          <a:srgbClr val="335743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412824"/>
                  </a:ext>
                </a:extLst>
              </a:tr>
              <a:tr h="178071">
                <a:tc>
                  <a:txBody>
                    <a:bodyPr/>
                    <a:lstStyle/>
                    <a:p>
                      <a:r>
                        <a:rPr lang="es-PE" sz="900" b="1">
                          <a:solidFill>
                            <a:srgbClr val="335743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Indeterminados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B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solidFill>
                          <a:srgbClr val="335743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B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solidFill>
                          <a:srgbClr val="335743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666185"/>
                  </a:ext>
                </a:extLst>
              </a:tr>
            </a:tbl>
          </a:graphicData>
        </a:graphic>
      </p:graphicFrame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7D94547-5FCD-7BA4-7CAF-E8B690F38A7B}"/>
              </a:ext>
            </a:extLst>
          </p:cNvPr>
          <p:cNvSpPr/>
          <p:nvPr/>
        </p:nvSpPr>
        <p:spPr>
          <a:xfrm>
            <a:off x="1744446" y="2720814"/>
            <a:ext cx="609600" cy="136891"/>
          </a:xfrm>
          <a:prstGeom prst="roundRect">
            <a:avLst/>
          </a:prstGeom>
          <a:solidFill>
            <a:srgbClr val="009F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Libera</a:t>
            </a:r>
            <a:endParaRPr lang="es-PE" sz="7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107F665-8AA7-21A5-6669-5542478DACC5}"/>
              </a:ext>
            </a:extLst>
          </p:cNvPr>
          <p:cNvSpPr/>
          <p:nvPr/>
        </p:nvSpPr>
        <p:spPr>
          <a:xfrm>
            <a:off x="1744446" y="2940867"/>
            <a:ext cx="609600" cy="136891"/>
          </a:xfrm>
          <a:prstGeom prst="roundRect">
            <a:avLst/>
          </a:prstGeom>
          <a:solidFill>
            <a:srgbClr val="009F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Libera</a:t>
            </a:r>
            <a:endParaRPr lang="es-PE" sz="7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4E70479-26EA-052E-A20F-380745FE8786}"/>
              </a:ext>
            </a:extLst>
          </p:cNvPr>
          <p:cNvSpPr/>
          <p:nvPr/>
        </p:nvSpPr>
        <p:spPr>
          <a:xfrm>
            <a:off x="2750286" y="1617695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3997BFE6-F9B9-3C73-D060-F7A63A1A4BFB}"/>
              </a:ext>
            </a:extLst>
          </p:cNvPr>
          <p:cNvSpPr/>
          <p:nvPr/>
        </p:nvSpPr>
        <p:spPr>
          <a:xfrm>
            <a:off x="3514785" y="1617695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FCC74D61-0DB0-308B-AD59-636BFEF634CA}"/>
              </a:ext>
            </a:extLst>
          </p:cNvPr>
          <p:cNvSpPr/>
          <p:nvPr/>
        </p:nvSpPr>
        <p:spPr>
          <a:xfrm>
            <a:off x="2750286" y="1842766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F21F684F-D9BF-1BFF-3EF5-89BAFB846988}"/>
              </a:ext>
            </a:extLst>
          </p:cNvPr>
          <p:cNvSpPr/>
          <p:nvPr/>
        </p:nvSpPr>
        <p:spPr>
          <a:xfrm>
            <a:off x="3514785" y="1842766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24CBC763-DF3B-053A-DD91-0A46AC147297}"/>
              </a:ext>
            </a:extLst>
          </p:cNvPr>
          <p:cNvSpPr/>
          <p:nvPr/>
        </p:nvSpPr>
        <p:spPr>
          <a:xfrm>
            <a:off x="2750286" y="2067837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7F208681-611D-FED7-28E3-A73EA2AD6974}"/>
              </a:ext>
            </a:extLst>
          </p:cNvPr>
          <p:cNvSpPr/>
          <p:nvPr/>
        </p:nvSpPr>
        <p:spPr>
          <a:xfrm>
            <a:off x="3514785" y="2067837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62844417-73E9-89E3-C4B9-9D5967CE699C}"/>
              </a:ext>
            </a:extLst>
          </p:cNvPr>
          <p:cNvSpPr/>
          <p:nvPr/>
        </p:nvSpPr>
        <p:spPr>
          <a:xfrm>
            <a:off x="2750286" y="2292908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7E2E0802-7C94-E75E-A940-A9D0C6A112DC}"/>
              </a:ext>
            </a:extLst>
          </p:cNvPr>
          <p:cNvSpPr/>
          <p:nvPr/>
        </p:nvSpPr>
        <p:spPr>
          <a:xfrm>
            <a:off x="3514785" y="2292908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D6DFEE1A-2CC2-01ED-4CDF-9BCCDE1E8F7E}"/>
              </a:ext>
            </a:extLst>
          </p:cNvPr>
          <p:cNvSpPr/>
          <p:nvPr/>
        </p:nvSpPr>
        <p:spPr>
          <a:xfrm>
            <a:off x="2750286" y="2707239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8464B4FE-9169-0525-7457-6E79B00EBEB2}"/>
              </a:ext>
            </a:extLst>
          </p:cNvPr>
          <p:cNvSpPr/>
          <p:nvPr/>
        </p:nvSpPr>
        <p:spPr>
          <a:xfrm>
            <a:off x="3514785" y="2707239"/>
            <a:ext cx="609600" cy="136891"/>
          </a:xfrm>
          <a:prstGeom prst="roundRect">
            <a:avLst/>
          </a:prstGeom>
          <a:solidFill>
            <a:srgbClr val="E7F4EC"/>
          </a:solidFill>
          <a:ln>
            <a:solidFill>
              <a:srgbClr val="D9E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Incluye</a:t>
            </a:r>
            <a:endParaRPr lang="es-PE" sz="7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D8083AFD-18FA-E2DF-8A2B-5707A6C4BF11}"/>
              </a:ext>
            </a:extLst>
          </p:cNvPr>
          <p:cNvSpPr/>
          <p:nvPr/>
        </p:nvSpPr>
        <p:spPr>
          <a:xfrm>
            <a:off x="2750286" y="2932310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FD948E3D-53C5-535A-F444-B49BEDEE41FB}"/>
              </a:ext>
            </a:extLst>
          </p:cNvPr>
          <p:cNvSpPr/>
          <p:nvPr/>
        </p:nvSpPr>
        <p:spPr>
          <a:xfrm>
            <a:off x="3514785" y="2927278"/>
            <a:ext cx="609600" cy="136891"/>
          </a:xfrm>
          <a:prstGeom prst="roundRect">
            <a:avLst/>
          </a:prstGeom>
          <a:solidFill>
            <a:srgbClr val="E7F4EC"/>
          </a:solidFill>
          <a:ln>
            <a:solidFill>
              <a:srgbClr val="D9E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Incluye</a:t>
            </a:r>
            <a:endParaRPr lang="es-PE" sz="7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Rectángulo: esquinas redondeadas 1">
            <a:extLst>
              <a:ext uri="{FF2B5EF4-FFF2-40B4-BE49-F238E27FC236}">
                <a16:creationId xmlns:a16="http://schemas.microsoft.com/office/drawing/2014/main" id="{272A7002-EB8E-EAA0-B037-E24B14820511}"/>
              </a:ext>
            </a:extLst>
          </p:cNvPr>
          <p:cNvSpPr/>
          <p:nvPr/>
        </p:nvSpPr>
        <p:spPr>
          <a:xfrm>
            <a:off x="547384" y="3689801"/>
            <a:ext cx="3740163" cy="2443253"/>
          </a:xfrm>
          <a:prstGeom prst="roundRect">
            <a:avLst>
              <a:gd name="adj" fmla="val 327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7" name="Rectángulo: esquinas superiores redondeadas 56">
            <a:extLst>
              <a:ext uri="{FF2B5EF4-FFF2-40B4-BE49-F238E27FC236}">
                <a16:creationId xmlns:a16="http://schemas.microsoft.com/office/drawing/2014/main" id="{0E98AFEA-57C8-D405-95C9-18A7496C6096}"/>
              </a:ext>
            </a:extLst>
          </p:cNvPr>
          <p:cNvSpPr/>
          <p:nvPr/>
        </p:nvSpPr>
        <p:spPr>
          <a:xfrm>
            <a:off x="534190" y="3387728"/>
            <a:ext cx="3740161" cy="261327"/>
          </a:xfrm>
          <a:prstGeom prst="round2SameRect">
            <a:avLst/>
          </a:prstGeom>
          <a:solidFill>
            <a:srgbClr val="549E39">
              <a:lumMod val="50000"/>
            </a:srgbClr>
          </a:solidFill>
          <a:ln w="12700" cap="flat" cmpd="sng" algn="ctr">
            <a:solidFill>
              <a:srgbClr val="2A4F1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b="1" ker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</a:t>
            </a:r>
            <a:r>
              <a:rPr kumimoji="0" lang="es-MX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Criterios de Calibración</a:t>
            </a:r>
            <a:endParaRPr kumimoji="0" lang="es-PE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58" name="Tabla 57">
            <a:extLst>
              <a:ext uri="{FF2B5EF4-FFF2-40B4-BE49-F238E27FC236}">
                <a16:creationId xmlns:a16="http://schemas.microsoft.com/office/drawing/2014/main" id="{859D44EA-2D15-4353-F5D2-538793B2B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33996"/>
              </p:ext>
            </p:extLst>
          </p:nvPr>
        </p:nvGraphicFramePr>
        <p:xfrm>
          <a:off x="607581" y="3915472"/>
          <a:ext cx="3593380" cy="2202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3380">
                  <a:extLst>
                    <a:ext uri="{9D8B030D-6E8A-4147-A177-3AD203B41FA5}">
                      <a16:colId xmlns:a16="http://schemas.microsoft.com/office/drawing/2014/main" val="260038797"/>
                    </a:ext>
                  </a:extLst>
                </a:gridCol>
              </a:tblGrid>
              <a:tr h="221143">
                <a:tc>
                  <a:txBody>
                    <a:bodyPr/>
                    <a:lstStyle/>
                    <a:p>
                      <a:r>
                        <a:rPr lang="es-MX" sz="900">
                          <a:solidFill>
                            <a:sysClr val="windowText" lastClr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</a:t>
                      </a:r>
                      <a:r>
                        <a:rPr lang="es-MX" sz="900">
                          <a:solidFill>
                            <a:srgbClr val="335743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Población</a:t>
                      </a:r>
                      <a:endParaRPr lang="es-PE" sz="900">
                        <a:solidFill>
                          <a:srgbClr val="335743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712867"/>
                  </a:ext>
                </a:extLst>
              </a:tr>
              <a:tr h="221143">
                <a:tc>
                  <a:txBody>
                    <a:bodyPr/>
                    <a:lstStyle/>
                    <a:p>
                      <a:r>
                        <a:rPr lang="es-PE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Comportamental BN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28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</a:t>
                      </a:r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179217"/>
                  </a:ext>
                </a:extLst>
              </a:tr>
              <a:tr h="2211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9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</a:t>
                      </a:r>
                      <a:r>
                        <a:rPr lang="es-MX" sz="900" b="1">
                          <a:solidFill>
                            <a:srgbClr val="335743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Driver de Calibración: Tipo de Ingreso</a:t>
                      </a:r>
                      <a:endParaRPr lang="es-PE" sz="900" b="1">
                        <a:solidFill>
                          <a:srgbClr val="335743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497775"/>
                  </a:ext>
                </a:extLst>
              </a:tr>
              <a:tr h="221143"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282410"/>
                  </a:ext>
                </a:extLst>
              </a:tr>
              <a:tr h="221143">
                <a:tc>
                  <a:txBody>
                    <a:bodyPr/>
                    <a:lstStyle/>
                    <a:p>
                      <a:endParaRPr lang="es-PE" sz="800">
                        <a:solidFill>
                          <a:schemeClr val="bg1">
                            <a:lumMod val="5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377913"/>
                  </a:ext>
                </a:extLst>
              </a:tr>
              <a:tr h="70837">
                <a:tc>
                  <a:txBody>
                    <a:bodyPr/>
                    <a:lstStyle/>
                    <a:p>
                      <a:endParaRPr lang="es-PE" sz="800">
                        <a:solidFill>
                          <a:schemeClr val="bg1">
                            <a:lumMod val="50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303405"/>
                  </a:ext>
                </a:extLst>
              </a:tr>
              <a:tr h="221143">
                <a:tc>
                  <a:txBody>
                    <a:bodyPr/>
                    <a:lstStyle/>
                    <a:p>
                      <a:r>
                        <a:rPr lang="es-MX" sz="8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</a:t>
                      </a:r>
                      <a:r>
                        <a:rPr lang="es-MX" sz="900" b="1" kern="1200">
                          <a:solidFill>
                            <a:srgbClr val="335743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Definición de Malos</a:t>
                      </a:r>
                      <a:endParaRPr lang="es-PE" sz="900" b="1" kern="1200">
                        <a:solidFill>
                          <a:srgbClr val="335743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455375"/>
                  </a:ext>
                </a:extLst>
              </a:tr>
              <a:tr h="22114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900" kern="1200">
                          <a:solidFill>
                            <a:schemeClr val="dk1"/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90d en horizonte 12m – BN (IBK)</a:t>
                      </a:r>
                      <a:endParaRPr lang="es-PE" sz="900" kern="1200">
                        <a:solidFill>
                          <a:schemeClr val="dk1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268625"/>
                  </a:ext>
                </a:extLst>
              </a:tr>
              <a:tr h="2211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+ Castigo + Refinanciados en SS.FF</a:t>
                      </a:r>
                      <a:endParaRPr lang="es-PE" sz="800" kern="1200">
                        <a:solidFill>
                          <a:schemeClr val="bg1">
                            <a:lumMod val="50000"/>
                          </a:schemeClr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  <a:p>
                      <a:endParaRPr lang="es-PE" sz="900" b="1" kern="1200">
                        <a:solidFill>
                          <a:srgbClr val="335743"/>
                        </a:solidFill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39868"/>
                  </a:ext>
                </a:extLst>
              </a:tr>
            </a:tbl>
          </a:graphicData>
        </a:graphic>
      </p:graphicFrame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3BA524CB-BEFF-186E-AF40-30FE648724C4}"/>
              </a:ext>
            </a:extLst>
          </p:cNvPr>
          <p:cNvSpPr/>
          <p:nvPr/>
        </p:nvSpPr>
        <p:spPr>
          <a:xfrm>
            <a:off x="777597" y="4928419"/>
            <a:ext cx="684000" cy="136891"/>
          </a:xfrm>
          <a:prstGeom prst="roundRect">
            <a:avLst/>
          </a:prstGeom>
          <a:solidFill>
            <a:srgbClr val="E7F4EC"/>
          </a:solidFill>
          <a:ln>
            <a:solidFill>
              <a:srgbClr val="D9E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 err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Pasivero</a:t>
            </a:r>
            <a:endParaRPr lang="es-PE" sz="7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AD872EA8-228A-FB9C-43C3-DB6666566580}"/>
              </a:ext>
            </a:extLst>
          </p:cNvPr>
          <p:cNvSpPr/>
          <p:nvPr/>
        </p:nvSpPr>
        <p:spPr>
          <a:xfrm>
            <a:off x="1521794" y="4928419"/>
            <a:ext cx="683889" cy="136891"/>
          </a:xfrm>
          <a:prstGeom prst="roundRect">
            <a:avLst/>
          </a:prstGeom>
          <a:solidFill>
            <a:srgbClr val="E7F4EC"/>
          </a:solidFill>
          <a:ln>
            <a:solidFill>
              <a:srgbClr val="D9E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Natural</a:t>
            </a:r>
            <a:endParaRPr lang="es-PE" sz="7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39D1E15B-5170-98E8-FA80-093FAB9EA4BC}"/>
              </a:ext>
            </a:extLst>
          </p:cNvPr>
          <p:cNvSpPr/>
          <p:nvPr/>
        </p:nvSpPr>
        <p:spPr>
          <a:xfrm>
            <a:off x="2256272" y="4928418"/>
            <a:ext cx="906044" cy="136891"/>
          </a:xfrm>
          <a:prstGeom prst="roundRect">
            <a:avLst/>
          </a:prstGeom>
          <a:solidFill>
            <a:srgbClr val="E7F4EC"/>
          </a:solidFill>
          <a:ln>
            <a:solidFill>
              <a:srgbClr val="D9E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Jurídica</a:t>
            </a:r>
            <a:endParaRPr lang="es-PE" sz="7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1ED8D3F-AEEF-4094-9080-90E14573C61E}"/>
              </a:ext>
            </a:extLst>
          </p:cNvPr>
          <p:cNvSpPr/>
          <p:nvPr/>
        </p:nvSpPr>
        <p:spPr>
          <a:xfrm>
            <a:off x="2750727" y="2512500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6D26C12-5567-A60E-8A43-F99D51770A9D}"/>
              </a:ext>
            </a:extLst>
          </p:cNvPr>
          <p:cNvSpPr/>
          <p:nvPr/>
        </p:nvSpPr>
        <p:spPr>
          <a:xfrm>
            <a:off x="3515226" y="2512500"/>
            <a:ext cx="609600" cy="136891"/>
          </a:xfrm>
          <a:prstGeom prst="roundRect">
            <a:avLst/>
          </a:prstGeom>
          <a:solidFill>
            <a:srgbClr val="EEF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96A19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Excluye</a:t>
            </a:r>
            <a:endParaRPr lang="es-PE" sz="700" b="1">
              <a:solidFill>
                <a:srgbClr val="96A19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A236DE67-3196-32E1-299D-70ABE4E8B85D}"/>
              </a:ext>
            </a:extLst>
          </p:cNvPr>
          <p:cNvSpPr/>
          <p:nvPr/>
        </p:nvSpPr>
        <p:spPr>
          <a:xfrm>
            <a:off x="7013018" y="1162632"/>
            <a:ext cx="2350747" cy="564066"/>
          </a:xfrm>
          <a:prstGeom prst="roundRect">
            <a:avLst/>
          </a:prstGeom>
          <a:solidFill>
            <a:srgbClr val="2A4F1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Comportamental BN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100%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5DEF20F1-C0CF-9451-EA7C-4204E8A89B8D}"/>
              </a:ext>
            </a:extLst>
          </p:cNvPr>
          <p:cNvSpPr/>
          <p:nvPr/>
        </p:nvSpPr>
        <p:spPr>
          <a:xfrm>
            <a:off x="5148509" y="1928192"/>
            <a:ext cx="3039883" cy="847741"/>
          </a:xfrm>
          <a:prstGeom prst="roundRect">
            <a:avLst>
              <a:gd name="adj" fmla="val 18798"/>
            </a:avLst>
          </a:prstGeom>
          <a:noFill/>
          <a:ln w="12700" cap="flat" cmpd="sng" algn="ctr">
            <a:solidFill>
              <a:srgbClr val="00A049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0" u="none" strike="noStrike" kern="0" cap="none" spc="0" normalizeH="0" baseline="0" noProof="0">
              <a:ln>
                <a:noFill/>
              </a:ln>
              <a:solidFill>
                <a:srgbClr val="335743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Pasivos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900" b="1" kern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9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9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b="1" kern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9EE135BC-3506-2837-CC3B-D46DE829C58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rot="5400000">
            <a:off x="7327675" y="1067475"/>
            <a:ext cx="201494" cy="1519941"/>
          </a:xfrm>
          <a:prstGeom prst="bentConnector3">
            <a:avLst>
              <a:gd name="adj1" fmla="val 50000"/>
            </a:avLst>
          </a:prstGeom>
          <a:ln w="12700">
            <a:solidFill>
              <a:srgbClr val="00A0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2D77ED2-DAD8-B713-BC24-2CDB1444C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745616"/>
              </p:ext>
            </p:extLst>
          </p:nvPr>
        </p:nvGraphicFramePr>
        <p:xfrm>
          <a:off x="5292411" y="2267079"/>
          <a:ext cx="283663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544">
                  <a:extLst>
                    <a:ext uri="{9D8B030D-6E8A-4147-A177-3AD203B41FA5}">
                      <a16:colId xmlns:a16="http://schemas.microsoft.com/office/drawing/2014/main" val="1856674294"/>
                    </a:ext>
                  </a:extLst>
                </a:gridCol>
                <a:gridCol w="945544">
                  <a:extLst>
                    <a:ext uri="{9D8B030D-6E8A-4147-A177-3AD203B41FA5}">
                      <a16:colId xmlns:a16="http://schemas.microsoft.com/office/drawing/2014/main" val="3040410079"/>
                    </a:ext>
                  </a:extLst>
                </a:gridCol>
                <a:gridCol w="945544">
                  <a:extLst>
                    <a:ext uri="{9D8B030D-6E8A-4147-A177-3AD203B41FA5}">
                      <a16:colId xmlns:a16="http://schemas.microsoft.com/office/drawing/2014/main" val="1274184637"/>
                    </a:ext>
                  </a:extLst>
                </a:gridCol>
              </a:tblGrid>
              <a:tr h="164119">
                <a:tc>
                  <a:txBody>
                    <a:bodyPr/>
                    <a:lstStyle/>
                    <a:p>
                      <a:r>
                        <a:rPr lang="es-MX" sz="8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Clientes/mes</a:t>
                      </a:r>
                      <a:endParaRPr lang="es-PE" sz="8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8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Malos/mes</a:t>
                      </a:r>
                      <a:endParaRPr lang="es-PE" sz="8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8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Tasa de Malos</a:t>
                      </a:r>
                      <a:endParaRPr lang="es-PE" sz="8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151547"/>
                  </a:ext>
                </a:extLst>
              </a:tr>
              <a:tr h="163213">
                <a:tc>
                  <a:txBody>
                    <a:bodyPr/>
                    <a:lstStyle/>
                    <a:p>
                      <a:r>
                        <a:rPr lang="es-MX" sz="1000" b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879</a:t>
                      </a:r>
                      <a:endParaRPr lang="es-PE" sz="1000" b="1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000" b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33</a:t>
                      </a:r>
                      <a:endParaRPr lang="es-PE" sz="1000" b="1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000" b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3.75%</a:t>
                      </a:r>
                      <a:endParaRPr lang="es-PE" sz="1000" b="1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661665"/>
                  </a:ext>
                </a:extLst>
              </a:tr>
            </a:tbl>
          </a:graphicData>
        </a:graphic>
      </p:graphicFrame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B0F044B7-2572-BE46-EBF4-B36315A1BC3B}"/>
              </a:ext>
            </a:extLst>
          </p:cNvPr>
          <p:cNvSpPr/>
          <p:nvPr/>
        </p:nvSpPr>
        <p:spPr>
          <a:xfrm>
            <a:off x="6006766" y="2075590"/>
            <a:ext cx="609600" cy="136891"/>
          </a:xfrm>
          <a:prstGeom prst="roundRect">
            <a:avLst>
              <a:gd name="adj" fmla="val 50000"/>
            </a:avLst>
          </a:prstGeom>
          <a:solidFill>
            <a:srgbClr val="009F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29%</a:t>
            </a:r>
            <a:endParaRPr lang="es-PE" sz="7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D941DCD9-44EA-0493-88D8-515EB4F572BB}"/>
              </a:ext>
            </a:extLst>
          </p:cNvPr>
          <p:cNvSpPr/>
          <p:nvPr/>
        </p:nvSpPr>
        <p:spPr>
          <a:xfrm>
            <a:off x="8630523" y="1925321"/>
            <a:ext cx="3039883" cy="860929"/>
          </a:xfrm>
          <a:prstGeom prst="roundRect">
            <a:avLst>
              <a:gd name="adj" fmla="val 18798"/>
            </a:avLst>
          </a:prstGeom>
          <a:noFill/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0" u="none" strike="noStrike" kern="0" cap="none" spc="0" normalizeH="0" baseline="0" noProof="0">
              <a:ln>
                <a:noFill/>
              </a:ln>
              <a:solidFill>
                <a:srgbClr val="335743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No Pasivos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900" b="1" kern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9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9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b="1" kern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F70F1082-6507-E4E6-C5DB-561462116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719850"/>
              </p:ext>
            </p:extLst>
          </p:nvPr>
        </p:nvGraphicFramePr>
        <p:xfrm>
          <a:off x="8781947" y="2297026"/>
          <a:ext cx="283663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544">
                  <a:extLst>
                    <a:ext uri="{9D8B030D-6E8A-4147-A177-3AD203B41FA5}">
                      <a16:colId xmlns:a16="http://schemas.microsoft.com/office/drawing/2014/main" val="1856674294"/>
                    </a:ext>
                  </a:extLst>
                </a:gridCol>
                <a:gridCol w="945544">
                  <a:extLst>
                    <a:ext uri="{9D8B030D-6E8A-4147-A177-3AD203B41FA5}">
                      <a16:colId xmlns:a16="http://schemas.microsoft.com/office/drawing/2014/main" val="3040410079"/>
                    </a:ext>
                  </a:extLst>
                </a:gridCol>
                <a:gridCol w="945544">
                  <a:extLst>
                    <a:ext uri="{9D8B030D-6E8A-4147-A177-3AD203B41FA5}">
                      <a16:colId xmlns:a16="http://schemas.microsoft.com/office/drawing/2014/main" val="1274184637"/>
                    </a:ext>
                  </a:extLst>
                </a:gridCol>
              </a:tblGrid>
              <a:tr h="164119">
                <a:tc>
                  <a:txBody>
                    <a:bodyPr/>
                    <a:lstStyle/>
                    <a:p>
                      <a:r>
                        <a:rPr lang="es-MX" sz="8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Clientes/mes</a:t>
                      </a:r>
                      <a:endParaRPr lang="es-PE" sz="8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8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Malos/mes</a:t>
                      </a:r>
                      <a:endParaRPr lang="es-PE" sz="8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8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Tasa de Malos</a:t>
                      </a:r>
                      <a:endParaRPr lang="es-PE" sz="8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151547"/>
                  </a:ext>
                </a:extLst>
              </a:tr>
              <a:tr h="163213">
                <a:tc>
                  <a:txBody>
                    <a:bodyPr/>
                    <a:lstStyle/>
                    <a:p>
                      <a:r>
                        <a:rPr lang="es-MX" sz="1000" b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2.2k</a:t>
                      </a:r>
                      <a:endParaRPr lang="es-PE" sz="1000" b="1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000" b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167</a:t>
                      </a:r>
                      <a:endParaRPr lang="es-PE" sz="1000" b="1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000" b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7.76%</a:t>
                      </a:r>
                      <a:endParaRPr lang="es-PE" sz="1000" b="1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661665"/>
                  </a:ext>
                </a:extLst>
              </a:tr>
            </a:tbl>
          </a:graphicData>
        </a:graphic>
      </p:graphicFrame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86DB4F9D-352B-2905-AB3D-940FC5059A26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8188391" y="1827445"/>
            <a:ext cx="1962074" cy="97876"/>
          </a:xfrm>
          <a:prstGeom prst="bentConnector2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upo 50">
            <a:extLst>
              <a:ext uri="{FF2B5EF4-FFF2-40B4-BE49-F238E27FC236}">
                <a16:creationId xmlns:a16="http://schemas.microsoft.com/office/drawing/2014/main" id="{3EE4865C-2B28-86B9-EAD0-A8D384A7000B}"/>
              </a:ext>
            </a:extLst>
          </p:cNvPr>
          <p:cNvGrpSpPr/>
          <p:nvPr/>
        </p:nvGrpSpPr>
        <p:grpSpPr>
          <a:xfrm>
            <a:off x="8976073" y="2895714"/>
            <a:ext cx="2266123" cy="1545555"/>
            <a:chOff x="5679503" y="3300279"/>
            <a:chExt cx="2330171" cy="1545555"/>
          </a:xfrm>
        </p:grpSpPr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1FE419A7-12A4-C6AE-8E9A-C4E0F3163E7E}"/>
                </a:ext>
              </a:extLst>
            </p:cNvPr>
            <p:cNvSpPr/>
            <p:nvPr/>
          </p:nvSpPr>
          <p:spPr>
            <a:xfrm>
              <a:off x="5679503" y="3300279"/>
              <a:ext cx="2330171" cy="1332281"/>
            </a:xfrm>
            <a:prstGeom prst="roundRect">
              <a:avLst>
                <a:gd name="adj" fmla="val 10054"/>
              </a:avLst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br>
                <a:rPr lang="es-PE" sz="1400"/>
              </a:br>
              <a:r>
                <a:rPr lang="es-PE" sz="1400"/>
                <a:t>	</a:t>
              </a:r>
              <a:r>
                <a:rPr lang="es-PE" sz="1400" b="1">
                  <a:solidFill>
                    <a:srgbClr val="00B050"/>
                  </a:solidFill>
                  <a:latin typeface="Poppins" pitchFamily="2" charset="77"/>
                  <a:cs typeface="Poppins" pitchFamily="2" charset="77"/>
                </a:rPr>
                <a:t>Metodología</a:t>
              </a:r>
              <a:endParaRPr kumimoji="0" lang="es-MX" sz="2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53" name="Rectángulo: esquinas redondeadas 1">
              <a:extLst>
                <a:ext uri="{FF2B5EF4-FFF2-40B4-BE49-F238E27FC236}">
                  <a16:creationId xmlns:a16="http://schemas.microsoft.com/office/drawing/2014/main" id="{8BA72862-E5EB-D986-9CB5-714B0F5A2190}"/>
                </a:ext>
              </a:extLst>
            </p:cNvPr>
            <p:cNvSpPr/>
            <p:nvPr/>
          </p:nvSpPr>
          <p:spPr>
            <a:xfrm>
              <a:off x="5679503" y="3339164"/>
              <a:ext cx="2330171" cy="1506670"/>
            </a:xfrm>
            <a:prstGeom prst="roundRect">
              <a:avLst>
                <a:gd name="adj" fmla="val 6649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endParaRPr kumimoji="0" lang="es-PE" sz="9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</p:grp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67429084-867A-BE9A-4888-3C731C27F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821918"/>
              </p:ext>
            </p:extLst>
          </p:nvPr>
        </p:nvGraphicFramePr>
        <p:xfrm>
          <a:off x="9027469" y="3088466"/>
          <a:ext cx="2133494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536">
                  <a:extLst>
                    <a:ext uri="{9D8B030D-6E8A-4147-A177-3AD203B41FA5}">
                      <a16:colId xmlns:a16="http://schemas.microsoft.com/office/drawing/2014/main" val="260038797"/>
                    </a:ext>
                  </a:extLst>
                </a:gridCol>
                <a:gridCol w="575979">
                  <a:extLst>
                    <a:ext uri="{9D8B030D-6E8A-4147-A177-3AD203B41FA5}">
                      <a16:colId xmlns:a16="http://schemas.microsoft.com/office/drawing/2014/main" val="2499319268"/>
                    </a:ext>
                  </a:extLst>
                </a:gridCol>
                <a:gridCol w="575979">
                  <a:extLst>
                    <a:ext uri="{9D8B030D-6E8A-4147-A177-3AD203B41FA5}">
                      <a16:colId xmlns:a16="http://schemas.microsoft.com/office/drawing/2014/main" val="3619391011"/>
                    </a:ext>
                  </a:extLst>
                </a:gridCol>
              </a:tblGrid>
              <a:tr h="178071">
                <a:tc>
                  <a:txBody>
                    <a:bodyPr/>
                    <a:lstStyle/>
                    <a:p>
                      <a:r>
                        <a:rPr lang="es-MX" sz="1000">
                          <a:solidFill>
                            <a:srgbClr val="00B05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P. Natural</a:t>
                      </a:r>
                      <a:endParaRPr lang="es-PE" sz="900">
                        <a:solidFill>
                          <a:srgbClr val="00B05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900">
                        <a:solidFill>
                          <a:sysClr val="windowText" lastClr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>
                          <a:solidFill>
                            <a:sysClr val="windowText" lastClr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44%</a:t>
                      </a:r>
                      <a:endParaRPr lang="es-PE" sz="900">
                        <a:solidFill>
                          <a:sysClr val="windowText" lastClr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712867"/>
                  </a:ext>
                </a:extLst>
              </a:tr>
              <a:tr h="178071">
                <a:tc>
                  <a:txBody>
                    <a:bodyPr/>
                    <a:lstStyle/>
                    <a:p>
                      <a:r>
                        <a:rPr lang="es-MX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Clientes/mes</a:t>
                      </a:r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956</a:t>
                      </a:r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282383"/>
                  </a:ext>
                </a:extLst>
              </a:tr>
              <a:tr h="178071">
                <a:tc>
                  <a:txBody>
                    <a:bodyPr/>
                    <a:lstStyle/>
                    <a:p>
                      <a:r>
                        <a:rPr lang="es-MX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</a:t>
                      </a:r>
                      <a:r>
                        <a:rPr lang="es-PE" sz="9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alos</a:t>
                      </a:r>
                      <a:r>
                        <a:rPr lang="es-PE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/mes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70</a:t>
                      </a:r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179217"/>
                  </a:ext>
                </a:extLst>
              </a:tr>
            </a:tbl>
          </a:graphicData>
        </a:graphic>
      </p:graphicFrame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21597918-7B59-37A4-29C8-3D4913D014F4}"/>
              </a:ext>
            </a:extLst>
          </p:cNvPr>
          <p:cNvSpPr/>
          <p:nvPr/>
        </p:nvSpPr>
        <p:spPr>
          <a:xfrm>
            <a:off x="9086437" y="3988129"/>
            <a:ext cx="2072089" cy="287860"/>
          </a:xfrm>
          <a:prstGeom prst="round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Tasa de Malos  </a:t>
            </a:r>
            <a:r>
              <a:rPr kumimoji="0" lang="es-MX" sz="12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7.3%</a:t>
            </a:r>
            <a:endParaRPr kumimoji="0" lang="es-MX" sz="10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F9D8D492-40A7-A23D-9EB2-5A8B83DF7DF2}"/>
              </a:ext>
            </a:extLst>
          </p:cNvPr>
          <p:cNvGrpSpPr/>
          <p:nvPr/>
        </p:nvGrpSpPr>
        <p:grpSpPr>
          <a:xfrm>
            <a:off x="8976073" y="4589618"/>
            <a:ext cx="2266123" cy="1545555"/>
            <a:chOff x="5679503" y="3300279"/>
            <a:chExt cx="2330171" cy="1545555"/>
          </a:xfrm>
        </p:grpSpPr>
        <p:sp>
          <p:nvSpPr>
            <p:cNvPr id="61" name="Rectángulo: esquinas redondeadas 60">
              <a:extLst>
                <a:ext uri="{FF2B5EF4-FFF2-40B4-BE49-F238E27FC236}">
                  <a16:creationId xmlns:a16="http://schemas.microsoft.com/office/drawing/2014/main" id="{59A63370-E78F-AB30-6378-FD676C97F68B}"/>
                </a:ext>
              </a:extLst>
            </p:cNvPr>
            <p:cNvSpPr/>
            <p:nvPr/>
          </p:nvSpPr>
          <p:spPr>
            <a:xfrm>
              <a:off x="5679503" y="3300279"/>
              <a:ext cx="2330171" cy="1332281"/>
            </a:xfrm>
            <a:prstGeom prst="roundRect">
              <a:avLst>
                <a:gd name="adj" fmla="val 10054"/>
              </a:avLst>
            </a:prstGeom>
            <a:solidFill>
              <a:srgbClr val="00B05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br>
                <a:rPr lang="es-PE" sz="1400"/>
              </a:br>
              <a:r>
                <a:rPr lang="es-PE" sz="1400"/>
                <a:t>	</a:t>
              </a:r>
              <a:r>
                <a:rPr lang="es-PE" sz="1400" b="1">
                  <a:solidFill>
                    <a:srgbClr val="00B050"/>
                  </a:solidFill>
                  <a:latin typeface="Poppins" pitchFamily="2" charset="77"/>
                  <a:cs typeface="Poppins" pitchFamily="2" charset="77"/>
                </a:rPr>
                <a:t>Metodología</a:t>
              </a:r>
              <a:endParaRPr kumimoji="0" lang="es-MX" sz="2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62" name="Rectángulo: esquinas redondeadas 1">
              <a:extLst>
                <a:ext uri="{FF2B5EF4-FFF2-40B4-BE49-F238E27FC236}">
                  <a16:creationId xmlns:a16="http://schemas.microsoft.com/office/drawing/2014/main" id="{68C7F0BF-4B67-120A-E027-925CF9866401}"/>
                </a:ext>
              </a:extLst>
            </p:cNvPr>
            <p:cNvSpPr/>
            <p:nvPr/>
          </p:nvSpPr>
          <p:spPr>
            <a:xfrm>
              <a:off x="5679503" y="3339164"/>
              <a:ext cx="2330171" cy="1506670"/>
            </a:xfrm>
            <a:prstGeom prst="roundRect">
              <a:avLst>
                <a:gd name="adj" fmla="val 6649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endParaRPr kumimoji="0" lang="es-PE" sz="9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</p:grpSp>
      <p:graphicFrame>
        <p:nvGraphicFramePr>
          <p:cNvPr id="63" name="Tabla 62">
            <a:extLst>
              <a:ext uri="{FF2B5EF4-FFF2-40B4-BE49-F238E27FC236}">
                <a16:creationId xmlns:a16="http://schemas.microsoft.com/office/drawing/2014/main" id="{0B441CCA-A1ED-B559-52A3-5B4E1C0C0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297402"/>
              </p:ext>
            </p:extLst>
          </p:nvPr>
        </p:nvGraphicFramePr>
        <p:xfrm>
          <a:off x="9027469" y="4782370"/>
          <a:ext cx="2133494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536">
                  <a:extLst>
                    <a:ext uri="{9D8B030D-6E8A-4147-A177-3AD203B41FA5}">
                      <a16:colId xmlns:a16="http://schemas.microsoft.com/office/drawing/2014/main" val="260038797"/>
                    </a:ext>
                  </a:extLst>
                </a:gridCol>
                <a:gridCol w="575979">
                  <a:extLst>
                    <a:ext uri="{9D8B030D-6E8A-4147-A177-3AD203B41FA5}">
                      <a16:colId xmlns:a16="http://schemas.microsoft.com/office/drawing/2014/main" val="2499319268"/>
                    </a:ext>
                  </a:extLst>
                </a:gridCol>
                <a:gridCol w="575979">
                  <a:extLst>
                    <a:ext uri="{9D8B030D-6E8A-4147-A177-3AD203B41FA5}">
                      <a16:colId xmlns:a16="http://schemas.microsoft.com/office/drawing/2014/main" val="3619391011"/>
                    </a:ext>
                  </a:extLst>
                </a:gridCol>
              </a:tblGrid>
              <a:tr h="178071">
                <a:tc>
                  <a:txBody>
                    <a:bodyPr/>
                    <a:lstStyle/>
                    <a:p>
                      <a:r>
                        <a:rPr lang="es-MX" sz="1000">
                          <a:solidFill>
                            <a:srgbClr val="00B05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P. Jurídica</a:t>
                      </a:r>
                      <a:endParaRPr lang="es-PE" sz="900">
                        <a:solidFill>
                          <a:srgbClr val="00B05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900">
                        <a:solidFill>
                          <a:sysClr val="windowText" lastClr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00">
                          <a:solidFill>
                            <a:sysClr val="windowText" lastClr="00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56%</a:t>
                      </a:r>
                      <a:endParaRPr lang="es-PE" sz="900">
                        <a:solidFill>
                          <a:sysClr val="windowText" lastClr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712867"/>
                  </a:ext>
                </a:extLst>
              </a:tr>
              <a:tr h="178071">
                <a:tc>
                  <a:txBody>
                    <a:bodyPr/>
                    <a:lstStyle/>
                    <a:p>
                      <a:r>
                        <a:rPr lang="es-MX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Clientes/mes</a:t>
                      </a:r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1.2k</a:t>
                      </a:r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282383"/>
                  </a:ext>
                </a:extLst>
              </a:tr>
              <a:tr h="178071">
                <a:tc>
                  <a:txBody>
                    <a:bodyPr/>
                    <a:lstStyle/>
                    <a:p>
                      <a:r>
                        <a:rPr lang="es-MX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</a:t>
                      </a:r>
                      <a:r>
                        <a:rPr lang="es-PE" sz="9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alos</a:t>
                      </a:r>
                      <a:r>
                        <a:rPr lang="es-PE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/mes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97</a:t>
                      </a:r>
                      <a:endParaRPr lang="es-PE" sz="9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179217"/>
                  </a:ext>
                </a:extLst>
              </a:tr>
            </a:tbl>
          </a:graphicData>
        </a:graphic>
      </p:graphicFrame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C2863850-CA48-6E20-DCF0-185EECC91177}"/>
              </a:ext>
            </a:extLst>
          </p:cNvPr>
          <p:cNvSpPr/>
          <p:nvPr/>
        </p:nvSpPr>
        <p:spPr>
          <a:xfrm>
            <a:off x="9086437" y="5682033"/>
            <a:ext cx="2072089" cy="287860"/>
          </a:xfrm>
          <a:prstGeom prst="round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Tasa de Malos </a:t>
            </a:r>
            <a:r>
              <a:rPr kumimoji="0" lang="es-MX" sz="12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8.1%</a:t>
            </a:r>
            <a:endParaRPr kumimoji="0" lang="es-MX" sz="10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A22B1941-04D6-94FE-7F76-2972A01960F6}"/>
              </a:ext>
            </a:extLst>
          </p:cNvPr>
          <p:cNvCxnSpPr>
            <a:cxnSpLocks/>
            <a:stCxn id="30" idx="1"/>
            <a:endCxn id="53" idx="1"/>
          </p:cNvCxnSpPr>
          <p:nvPr/>
        </p:nvCxnSpPr>
        <p:spPr>
          <a:xfrm rot="10800000" flipH="1" flipV="1">
            <a:off x="8630523" y="2355786"/>
            <a:ext cx="345550" cy="1332148"/>
          </a:xfrm>
          <a:prstGeom prst="bentConnector3">
            <a:avLst>
              <a:gd name="adj1" fmla="val -66155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: angular 66">
            <a:extLst>
              <a:ext uri="{FF2B5EF4-FFF2-40B4-BE49-F238E27FC236}">
                <a16:creationId xmlns:a16="http://schemas.microsoft.com/office/drawing/2014/main" id="{9BCCD48B-71AC-B327-555E-2C0CB0C7A53C}"/>
              </a:ext>
            </a:extLst>
          </p:cNvPr>
          <p:cNvCxnSpPr>
            <a:cxnSpLocks/>
            <a:stCxn id="30" idx="1"/>
            <a:endCxn id="62" idx="1"/>
          </p:cNvCxnSpPr>
          <p:nvPr/>
        </p:nvCxnSpPr>
        <p:spPr>
          <a:xfrm rot="10800000" flipH="1" flipV="1">
            <a:off x="8630523" y="2355786"/>
            <a:ext cx="345550" cy="3026052"/>
          </a:xfrm>
          <a:prstGeom prst="bentConnector3">
            <a:avLst>
              <a:gd name="adj1" fmla="val -66155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ángulo: esquinas redondeadas 75">
            <a:extLst>
              <a:ext uri="{FF2B5EF4-FFF2-40B4-BE49-F238E27FC236}">
                <a16:creationId xmlns:a16="http://schemas.microsoft.com/office/drawing/2014/main" id="{5CE7A7B8-32CF-5D13-42C0-509F570A8164}"/>
              </a:ext>
            </a:extLst>
          </p:cNvPr>
          <p:cNvSpPr/>
          <p:nvPr/>
        </p:nvSpPr>
        <p:spPr>
          <a:xfrm>
            <a:off x="10391775" y="1036715"/>
            <a:ext cx="1472565" cy="211330"/>
          </a:xfrm>
          <a:prstGeom prst="roundRect">
            <a:avLst/>
          </a:prstGeom>
          <a:solidFill>
            <a:srgbClr val="E7F4EC"/>
          </a:solidFill>
          <a:ln>
            <a:solidFill>
              <a:srgbClr val="D9E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MX" sz="1000" b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Ventana 202504</a:t>
            </a:r>
            <a:endParaRPr lang="es-PE" sz="10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C7104AF4-D4FC-75F4-1CF4-6EF8E6585A46}"/>
              </a:ext>
            </a:extLst>
          </p:cNvPr>
          <p:cNvSpPr/>
          <p:nvPr/>
        </p:nvSpPr>
        <p:spPr>
          <a:xfrm>
            <a:off x="10525671" y="1106380"/>
            <a:ext cx="72000" cy="72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E19B8866-CCAB-05A6-1E2F-FD4603195B37}"/>
              </a:ext>
            </a:extLst>
          </p:cNvPr>
          <p:cNvSpPr/>
          <p:nvPr/>
        </p:nvSpPr>
        <p:spPr>
          <a:xfrm>
            <a:off x="9661866" y="2070301"/>
            <a:ext cx="609600" cy="136891"/>
          </a:xfrm>
          <a:prstGeom prst="roundRect">
            <a:avLst>
              <a:gd name="adj" fmla="val 50000"/>
            </a:avLst>
          </a:prstGeom>
          <a:solidFill>
            <a:srgbClr val="009F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71%</a:t>
            </a:r>
            <a:endParaRPr lang="es-PE" sz="7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034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D0733-DA98-DD02-388D-85AB298A3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A230593-421F-38C7-E055-C642BBFCEE0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426" imgH="428" progId="TCLayout.ActiveDocument.1">
                  <p:embed/>
                </p:oleObj>
              </mc:Choice>
              <mc:Fallback>
                <p:oleObj name="Diapositiva de think-cell" r:id="rId5" imgW="426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230593-421F-38C7-E055-C642BBFCEE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9F3CADDF-9A30-500A-1E0B-80EE25948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37" y="260790"/>
            <a:ext cx="8326867" cy="44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s-PE" altLang="es-PE" sz="2400">
                <a:solidFill>
                  <a:srgbClr val="005F1E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Comp. BN – Natural </a:t>
            </a:r>
            <a:r>
              <a:rPr kumimoji="0" lang="es-PE" altLang="es-PE" sz="24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| </a:t>
            </a:r>
            <a:r>
              <a:rPr lang="es-PE" altLang="es-PE" sz="2400">
                <a:solidFill>
                  <a:srgbClr val="87938C"/>
                </a:solidFill>
                <a:latin typeface="Poppins SemiBold" pitchFamily="2" charset="77"/>
                <a:cs typeface="Poppins SemiBold" pitchFamily="2" charset="77"/>
              </a:rPr>
              <a:t>Factor Macro</a:t>
            </a:r>
          </a:p>
        </p:txBody>
      </p:sp>
      <p:sp>
        <p:nvSpPr>
          <p:cNvPr id="27" name="Rectángulo: esquinas redondeadas 1">
            <a:extLst>
              <a:ext uri="{FF2B5EF4-FFF2-40B4-BE49-F238E27FC236}">
                <a16:creationId xmlns:a16="http://schemas.microsoft.com/office/drawing/2014/main" id="{1F3A1B5B-0943-D548-17F2-85336415E30F}"/>
              </a:ext>
            </a:extLst>
          </p:cNvPr>
          <p:cNvSpPr/>
          <p:nvPr/>
        </p:nvSpPr>
        <p:spPr>
          <a:xfrm>
            <a:off x="400040" y="3098635"/>
            <a:ext cx="881329" cy="701372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5113E53-B94B-203F-A7DD-085C1B595402}"/>
              </a:ext>
            </a:extLst>
          </p:cNvPr>
          <p:cNvSpPr txBox="1"/>
          <p:nvPr/>
        </p:nvSpPr>
        <p:spPr>
          <a:xfrm>
            <a:off x="428274" y="3153320"/>
            <a:ext cx="824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91%</a:t>
            </a:r>
            <a:endParaRPr lang="es-PE" b="1" dirty="0">
              <a:solidFill>
                <a:srgbClr val="08979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R² del ajuste</a:t>
            </a:r>
            <a:b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(53 meses)</a:t>
            </a:r>
          </a:p>
        </p:txBody>
      </p:sp>
      <p:sp>
        <p:nvSpPr>
          <p:cNvPr id="34" name="Rectángulo: esquinas redondeadas 1">
            <a:extLst>
              <a:ext uri="{FF2B5EF4-FFF2-40B4-BE49-F238E27FC236}">
                <a16:creationId xmlns:a16="http://schemas.microsoft.com/office/drawing/2014/main" id="{C691F667-4AA2-3008-D23A-59074CDD5397}"/>
              </a:ext>
            </a:extLst>
          </p:cNvPr>
          <p:cNvSpPr/>
          <p:nvPr/>
        </p:nvSpPr>
        <p:spPr>
          <a:xfrm>
            <a:off x="1352930" y="3098635"/>
            <a:ext cx="790946" cy="701372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F8A99B6-5711-C39B-6EBE-7BDBEBCE6767}"/>
              </a:ext>
            </a:extLst>
          </p:cNvPr>
          <p:cNvSpPr txBox="1"/>
          <p:nvPr/>
        </p:nvSpPr>
        <p:spPr>
          <a:xfrm>
            <a:off x="1352930" y="3104895"/>
            <a:ext cx="790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−10.4  / +6.8  </a:t>
            </a:r>
            <a:endParaRPr lang="es-PE" sz="1050" b="1" dirty="0">
              <a:solidFill>
                <a:srgbClr val="08979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 - </a:t>
            </a:r>
            <a:r>
              <a:rPr lang="es-PE" sz="800" b="1" dirty="0" err="1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</a:t>
            </a:r>
            <a:b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 &lt; 0.001</a:t>
            </a:r>
          </a:p>
        </p:txBody>
      </p:sp>
      <p:sp>
        <p:nvSpPr>
          <p:cNvPr id="43" name="Rectángulo: esquinas redondeadas 1">
            <a:extLst>
              <a:ext uri="{FF2B5EF4-FFF2-40B4-BE49-F238E27FC236}">
                <a16:creationId xmlns:a16="http://schemas.microsoft.com/office/drawing/2014/main" id="{CB649D10-DE2F-9F46-BF98-85BB2BD7B6FE}"/>
              </a:ext>
            </a:extLst>
          </p:cNvPr>
          <p:cNvSpPr/>
          <p:nvPr/>
        </p:nvSpPr>
        <p:spPr>
          <a:xfrm>
            <a:off x="2236234" y="3098635"/>
            <a:ext cx="1082150" cy="701372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F492A72-89B1-D44E-3041-6D7BB52CDCA5}"/>
              </a:ext>
            </a:extLst>
          </p:cNvPr>
          <p:cNvSpPr txBox="1"/>
          <p:nvPr/>
        </p:nvSpPr>
        <p:spPr>
          <a:xfrm>
            <a:off x="2267336" y="3153320"/>
            <a:ext cx="1019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105 bps</a:t>
            </a:r>
            <a:endParaRPr lang="es-PE" b="1" dirty="0">
              <a:solidFill>
                <a:srgbClr val="08979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Error Medio</a:t>
            </a:r>
            <a:b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(MAE)</a:t>
            </a:r>
          </a:p>
        </p:txBody>
      </p:sp>
      <p:sp>
        <p:nvSpPr>
          <p:cNvPr id="51" name="Rectángulo: esquinas redondeadas 1">
            <a:extLst>
              <a:ext uri="{FF2B5EF4-FFF2-40B4-BE49-F238E27FC236}">
                <a16:creationId xmlns:a16="http://schemas.microsoft.com/office/drawing/2014/main" id="{4C1198D5-11E7-EFBD-2A85-54C854175816}"/>
              </a:ext>
            </a:extLst>
          </p:cNvPr>
          <p:cNvSpPr/>
          <p:nvPr/>
        </p:nvSpPr>
        <p:spPr>
          <a:xfrm>
            <a:off x="400037" y="3922460"/>
            <a:ext cx="2918345" cy="1280768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DDC2594-2061-753F-E038-A1B3A5BE994C}"/>
              </a:ext>
            </a:extLst>
          </p:cNvPr>
          <p:cNvSpPr txBox="1"/>
          <p:nvPr/>
        </p:nvSpPr>
        <p:spPr>
          <a:xfrm>
            <a:off x="428274" y="4018618"/>
            <a:ext cx="2842920" cy="1111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700" b="1" cap="all" dirty="0" err="1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EsTABLE</a:t>
            </a:r>
            <a:r>
              <a:rPr lang="es-PE" sz="700" b="1" cap="all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EN TODO EL CICLO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MAE por </a:t>
            </a:r>
            <a:r>
              <a:rPr lang="pt-BR" sz="1000" b="1" dirty="0" err="1">
                <a:latin typeface="Poppins" panose="00000500000000000000" pitchFamily="2" charset="0"/>
                <a:cs typeface="Poppins" panose="00000500000000000000" pitchFamily="2" charset="0"/>
              </a:rPr>
              <a:t>régimen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900" b="1" dirty="0">
                <a:latin typeface="Poppins" panose="00000500000000000000" pitchFamily="2" charset="0"/>
                <a:cs typeface="Poppins" panose="00000500000000000000" pitchFamily="2" charset="0"/>
              </a:rPr>
              <a:t>Ult. 36 M</a:t>
            </a:r>
          </a:p>
          <a:p>
            <a:pPr>
              <a:lnSpc>
                <a:spcPct val="150000"/>
              </a:lnSpc>
            </a:pPr>
            <a:r>
              <a:rPr lang="pt-BR" sz="900" b="1" dirty="0">
                <a:latin typeface="Poppins" panose="00000500000000000000" pitchFamily="2" charset="0"/>
                <a:cs typeface="Poppins" panose="00000500000000000000" pitchFamily="2" charset="0"/>
              </a:rPr>
              <a:t>Ult. 24 M</a:t>
            </a:r>
          </a:p>
          <a:p>
            <a:pPr>
              <a:lnSpc>
                <a:spcPct val="150000"/>
              </a:lnSpc>
            </a:pPr>
            <a:r>
              <a:rPr lang="pt-BR" sz="900" b="1" dirty="0">
                <a:latin typeface="Poppins" panose="00000500000000000000" pitchFamily="2" charset="0"/>
                <a:cs typeface="Poppins" panose="00000500000000000000" pitchFamily="2" charset="0"/>
              </a:rPr>
              <a:t>Ult. 12 M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3D0D0E8A-4BE2-B5D2-E3DB-9F3373F63E1A}"/>
              </a:ext>
            </a:extLst>
          </p:cNvPr>
          <p:cNvSpPr/>
          <p:nvPr/>
        </p:nvSpPr>
        <p:spPr>
          <a:xfrm>
            <a:off x="1214891" y="4518746"/>
            <a:ext cx="1869697" cy="12794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BEAE3FE6-4413-38E0-E149-FA0ECBF76DC3}"/>
              </a:ext>
            </a:extLst>
          </p:cNvPr>
          <p:cNvSpPr/>
          <p:nvPr/>
        </p:nvSpPr>
        <p:spPr>
          <a:xfrm>
            <a:off x="1214890" y="4518746"/>
            <a:ext cx="1723573" cy="127014"/>
          </a:xfrm>
          <a:prstGeom prst="roundRect">
            <a:avLst/>
          </a:prstGeom>
          <a:solidFill>
            <a:srgbClr val="089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MX" sz="700" b="1" dirty="0">
                <a:latin typeface="Poppins" panose="00000500000000000000" pitchFamily="2" charset="0"/>
                <a:cs typeface="Poppins" panose="00000500000000000000" pitchFamily="2" charset="0"/>
              </a:rPr>
              <a:t>83 bps</a:t>
            </a:r>
            <a:endParaRPr lang="es-PE" sz="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5CE2B212-B188-9101-50ED-8A81843C166D}"/>
              </a:ext>
            </a:extLst>
          </p:cNvPr>
          <p:cNvSpPr/>
          <p:nvPr/>
        </p:nvSpPr>
        <p:spPr>
          <a:xfrm>
            <a:off x="1214891" y="4714355"/>
            <a:ext cx="1869697" cy="12794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3EFEA70B-F65C-C530-E420-E06CB4504385}"/>
              </a:ext>
            </a:extLst>
          </p:cNvPr>
          <p:cNvSpPr/>
          <p:nvPr/>
        </p:nvSpPr>
        <p:spPr>
          <a:xfrm>
            <a:off x="1214892" y="4714354"/>
            <a:ext cx="1753734" cy="119088"/>
          </a:xfrm>
          <a:prstGeom prst="roundRect">
            <a:avLst/>
          </a:prstGeom>
          <a:solidFill>
            <a:srgbClr val="089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MX" sz="7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86 bps</a:t>
            </a:r>
            <a:endParaRPr lang="es-PE" sz="7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6228C985-36FC-9FD4-52BE-CE3D4203AD96}"/>
              </a:ext>
            </a:extLst>
          </p:cNvPr>
          <p:cNvSpPr/>
          <p:nvPr/>
        </p:nvSpPr>
        <p:spPr>
          <a:xfrm>
            <a:off x="1209027" y="4918344"/>
            <a:ext cx="1869697" cy="12794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C822119E-D51A-F279-66DB-3C48E7583006}"/>
              </a:ext>
            </a:extLst>
          </p:cNvPr>
          <p:cNvSpPr/>
          <p:nvPr/>
        </p:nvSpPr>
        <p:spPr>
          <a:xfrm>
            <a:off x="1209027" y="4912959"/>
            <a:ext cx="1587095" cy="127949"/>
          </a:xfrm>
          <a:prstGeom prst="roundRect">
            <a:avLst/>
          </a:prstGeom>
          <a:solidFill>
            <a:srgbClr val="089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MX" sz="7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64bps</a:t>
            </a:r>
            <a:endParaRPr lang="es-PE" sz="7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777F7178-9953-3B61-8BBB-873B1A41EEF2}"/>
              </a:ext>
            </a:extLst>
          </p:cNvPr>
          <p:cNvGrpSpPr/>
          <p:nvPr/>
        </p:nvGrpSpPr>
        <p:grpSpPr>
          <a:xfrm>
            <a:off x="400037" y="5286778"/>
            <a:ext cx="2918345" cy="1310432"/>
            <a:chOff x="5679503" y="3300279"/>
            <a:chExt cx="2330171" cy="1545555"/>
          </a:xfrm>
        </p:grpSpPr>
        <p:sp>
          <p:nvSpPr>
            <p:cNvPr id="77" name="Rectángulo: esquinas redondeadas 76">
              <a:extLst>
                <a:ext uri="{FF2B5EF4-FFF2-40B4-BE49-F238E27FC236}">
                  <a16:creationId xmlns:a16="http://schemas.microsoft.com/office/drawing/2014/main" id="{F6D5CBA9-4CD0-C207-3564-631C4CCD461B}"/>
                </a:ext>
              </a:extLst>
            </p:cNvPr>
            <p:cNvSpPr/>
            <p:nvPr/>
          </p:nvSpPr>
          <p:spPr>
            <a:xfrm>
              <a:off x="5679503" y="3300279"/>
              <a:ext cx="2330171" cy="1332281"/>
            </a:xfrm>
            <a:prstGeom prst="roundRect">
              <a:avLst>
                <a:gd name="adj" fmla="val 10054"/>
              </a:avLst>
            </a:prstGeom>
            <a:solidFill>
              <a:srgbClr val="7030A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br>
                <a:rPr lang="es-PE" sz="1400"/>
              </a:br>
              <a:r>
                <a:rPr lang="es-PE" sz="1400"/>
                <a:t>	</a:t>
              </a:r>
              <a:r>
                <a:rPr lang="es-PE" sz="1400" b="1">
                  <a:solidFill>
                    <a:srgbClr val="00B050"/>
                  </a:solidFill>
                  <a:latin typeface="Poppins" pitchFamily="2" charset="77"/>
                  <a:cs typeface="Poppins" pitchFamily="2" charset="77"/>
                </a:rPr>
                <a:t>Metodología</a:t>
              </a:r>
              <a:endParaRPr kumimoji="0" lang="es-MX" sz="2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78" name="Rectángulo: esquinas redondeadas 1">
              <a:extLst>
                <a:ext uri="{FF2B5EF4-FFF2-40B4-BE49-F238E27FC236}">
                  <a16:creationId xmlns:a16="http://schemas.microsoft.com/office/drawing/2014/main" id="{F1BD3F9F-8FB5-1C15-78E9-F37172330A47}"/>
                </a:ext>
              </a:extLst>
            </p:cNvPr>
            <p:cNvSpPr/>
            <p:nvPr/>
          </p:nvSpPr>
          <p:spPr>
            <a:xfrm>
              <a:off x="5679503" y="3339164"/>
              <a:ext cx="2330171" cy="1506670"/>
            </a:xfrm>
            <a:prstGeom prst="roundRect">
              <a:avLst>
                <a:gd name="adj" fmla="val 6649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endParaRPr kumimoji="0" lang="es-PE" sz="9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0" name="CuadroTexto 79">
            <a:extLst>
              <a:ext uri="{FF2B5EF4-FFF2-40B4-BE49-F238E27FC236}">
                <a16:creationId xmlns:a16="http://schemas.microsoft.com/office/drawing/2014/main" id="{6BC760B0-D131-0859-EE94-AC00416B24CE}"/>
              </a:ext>
            </a:extLst>
          </p:cNvPr>
          <p:cNvSpPr txBox="1"/>
          <p:nvPr/>
        </p:nvSpPr>
        <p:spPr>
          <a:xfrm>
            <a:off x="444362" y="5438536"/>
            <a:ext cx="284292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000" b="1" dirty="0">
                <a:latin typeface="Poppins" panose="00000500000000000000" pitchFamily="2" charset="0"/>
                <a:cs typeface="Poppins" panose="00000500000000000000" pitchFamily="2" charset="0"/>
              </a:rPr>
              <a:t>ρ = 0.03</a:t>
            </a:r>
            <a:r>
              <a:rPr lang="es-ES" sz="1000" b="1" dirty="0"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  <a:r>
              <a:rPr lang="el-GR" sz="1000" b="1" dirty="0">
                <a:latin typeface="Poppins" panose="00000500000000000000" pitchFamily="2" charset="0"/>
                <a:cs typeface="Poppins" panose="00000500000000000000" pitchFamily="2" charset="0"/>
              </a:rPr>
              <a:t> · </a:t>
            </a:r>
            <a:r>
              <a:rPr lang="es-PE" sz="1000" b="1" dirty="0">
                <a:latin typeface="Poppins" panose="00000500000000000000" pitchFamily="2" charset="0"/>
                <a:cs typeface="Poppins" panose="00000500000000000000" pitchFamily="2" charset="0"/>
              </a:rPr>
              <a:t>transmisión</a:t>
            </a:r>
          </a:p>
          <a:p>
            <a:r>
              <a:rPr lang="es-MX" sz="7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Cómo se relacionan los clientes entre sí ¿fallan juntos o separados?  </a:t>
            </a:r>
          </a:p>
          <a:p>
            <a:endParaRPr lang="es-MX" sz="7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7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l-GR" sz="1000" b="1" dirty="0">
                <a:cs typeface="Poppins" panose="00000500000000000000" pitchFamily="2" charset="0"/>
              </a:rPr>
              <a:t>λ = </a:t>
            </a:r>
            <a:r>
              <a:rPr lang="es-ES" sz="1000" b="1" dirty="0"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l-GR" sz="1000" b="1" dirty="0">
                <a:cs typeface="Poppins" panose="00000500000000000000" pitchFamily="2" charset="0"/>
              </a:rPr>
              <a:t>· </a:t>
            </a:r>
            <a:r>
              <a:rPr lang="es-PE" sz="1000" b="1" dirty="0">
                <a:latin typeface="Poppins" panose="00000500000000000000" pitchFamily="2" charset="0"/>
                <a:cs typeface="Poppins" panose="00000500000000000000" pitchFamily="2" charset="0"/>
              </a:rPr>
              <a:t>sensibilidad</a:t>
            </a:r>
          </a:p>
          <a:p>
            <a:r>
              <a:rPr lang="es-MX" sz="7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Cómo responde la PD al termómetro macro ¿cuánto reacciona la PD al ciclo?</a:t>
            </a:r>
            <a:endParaRPr lang="es-PE" sz="70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Rectángulo: esquinas redondeadas 89">
            <a:extLst>
              <a:ext uri="{FF2B5EF4-FFF2-40B4-BE49-F238E27FC236}">
                <a16:creationId xmlns:a16="http://schemas.microsoft.com/office/drawing/2014/main" id="{8A04D648-222B-96B1-EFA1-5223CE16D918}"/>
              </a:ext>
            </a:extLst>
          </p:cNvPr>
          <p:cNvSpPr/>
          <p:nvPr/>
        </p:nvSpPr>
        <p:spPr>
          <a:xfrm>
            <a:off x="2056069" y="5493313"/>
            <a:ext cx="740053" cy="136891"/>
          </a:xfrm>
          <a:prstGeom prst="roundRect">
            <a:avLst/>
          </a:prstGeom>
          <a:solidFill>
            <a:srgbClr val="E7F4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Baja</a:t>
            </a:r>
            <a:endParaRPr lang="es-PE" sz="7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47637F88-123D-1745-6845-93E98F3974D6}"/>
              </a:ext>
            </a:extLst>
          </p:cNvPr>
          <p:cNvGrpSpPr/>
          <p:nvPr/>
        </p:nvGrpSpPr>
        <p:grpSpPr>
          <a:xfrm>
            <a:off x="400036" y="707392"/>
            <a:ext cx="2918346" cy="2307460"/>
            <a:chOff x="5679503" y="3300279"/>
            <a:chExt cx="2330171" cy="1545555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18FBCE9E-BEC1-C3B0-ECB4-6AEAEF1E1D55}"/>
                </a:ext>
              </a:extLst>
            </p:cNvPr>
            <p:cNvSpPr/>
            <p:nvPr/>
          </p:nvSpPr>
          <p:spPr>
            <a:xfrm>
              <a:off x="5679503" y="3300279"/>
              <a:ext cx="2330171" cy="1332281"/>
            </a:xfrm>
            <a:prstGeom prst="roundRect">
              <a:avLst>
                <a:gd name="adj" fmla="val 10054"/>
              </a:avLst>
            </a:prstGeom>
            <a:solidFill>
              <a:srgbClr val="08979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br>
                <a:rPr lang="es-PE" sz="1400"/>
              </a:br>
              <a:r>
                <a:rPr lang="es-PE" sz="1400"/>
                <a:t>	</a:t>
              </a:r>
              <a:r>
                <a:rPr lang="es-PE" sz="1400" b="1">
                  <a:solidFill>
                    <a:srgbClr val="00B050"/>
                  </a:solidFill>
                  <a:latin typeface="Poppins" pitchFamily="2" charset="77"/>
                  <a:cs typeface="Poppins" pitchFamily="2" charset="77"/>
                </a:rPr>
                <a:t>Metodología</a:t>
              </a:r>
              <a:endParaRPr kumimoji="0" lang="es-MX" sz="2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21" name="Rectángulo: esquinas redondeadas 1">
              <a:extLst>
                <a:ext uri="{FF2B5EF4-FFF2-40B4-BE49-F238E27FC236}">
                  <a16:creationId xmlns:a16="http://schemas.microsoft.com/office/drawing/2014/main" id="{B30ABA7D-776B-09DF-2B6D-F48576B8162D}"/>
                </a:ext>
              </a:extLst>
            </p:cNvPr>
            <p:cNvSpPr/>
            <p:nvPr/>
          </p:nvSpPr>
          <p:spPr>
            <a:xfrm>
              <a:off x="5679503" y="3339164"/>
              <a:ext cx="2330171" cy="1506670"/>
            </a:xfrm>
            <a:prstGeom prst="roundRect">
              <a:avLst>
                <a:gd name="adj" fmla="val 6649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endParaRPr kumimoji="0" lang="es-PE" sz="9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788F216-5412-E5A0-DF1F-DFBE88053ECE}"/>
              </a:ext>
            </a:extLst>
          </p:cNvPr>
          <p:cNvSpPr txBox="1"/>
          <p:nvPr/>
        </p:nvSpPr>
        <p:spPr>
          <a:xfrm>
            <a:off x="491473" y="818480"/>
            <a:ext cx="25798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900" b="1" cap="all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Variables seleccionadas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5FB4735-CCF4-714C-458D-74C247483C07}"/>
              </a:ext>
            </a:extLst>
          </p:cNvPr>
          <p:cNvSpPr txBox="1"/>
          <p:nvPr/>
        </p:nvSpPr>
        <p:spPr>
          <a:xfrm>
            <a:off x="400036" y="1078852"/>
            <a:ext cx="27793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900" b="1" dirty="0">
                <a:latin typeface="Poppins" panose="00000500000000000000" pitchFamily="2" charset="0"/>
                <a:cs typeface="Poppins" panose="00000500000000000000" pitchFamily="2" charset="0"/>
              </a:rPr>
              <a:t>IPC No Transables (BCRP) – </a:t>
            </a:r>
            <a:r>
              <a:rPr lang="es-ES" sz="900" b="1" dirty="0" err="1">
                <a:latin typeface="Poppins" panose="00000500000000000000" pitchFamily="2" charset="0"/>
                <a:cs typeface="Poppins" panose="00000500000000000000" pitchFamily="2" charset="0"/>
              </a:rPr>
              <a:t>Lag</a:t>
            </a:r>
            <a:r>
              <a:rPr lang="es-ES" sz="900" b="1" dirty="0">
                <a:latin typeface="Poppins" panose="00000500000000000000" pitchFamily="2" charset="0"/>
                <a:cs typeface="Poppins" panose="00000500000000000000" pitchFamily="2" charset="0"/>
              </a:rPr>
              <a:t> 2</a:t>
            </a:r>
            <a:endParaRPr lang="es-ES" sz="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900" u="sng" dirty="0">
                <a:latin typeface="Poppins" panose="00000500000000000000" pitchFamily="2" charset="0"/>
                <a:cs typeface="Poppins" panose="00000500000000000000" pitchFamily="2" charset="0"/>
              </a:rPr>
              <a:t>Sentido:  </a:t>
            </a:r>
            <a:r>
              <a:rPr lang="es-ES" sz="900" dirty="0">
                <a:latin typeface="Poppins" panose="00000500000000000000" pitchFamily="2" charset="0"/>
                <a:cs typeface="Poppins" panose="00000500000000000000" pitchFamily="2" charset="0"/>
              </a:rPr>
              <a:t>Directo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9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Mayor inflación de no transables (servicios, alquileres, insumos locales) , mayor riesgo de default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s-ES" sz="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9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la economía a 3 meses – General – </a:t>
            </a:r>
            <a:r>
              <a:rPr lang="es-ES" sz="900" b="1" dirty="0" err="1">
                <a:latin typeface="Poppins" panose="00000500000000000000" pitchFamily="2" charset="0"/>
                <a:cs typeface="Poppins" panose="00000500000000000000" pitchFamily="2" charset="0"/>
              </a:rPr>
              <a:t>Lag</a:t>
            </a:r>
            <a:r>
              <a:rPr lang="es-ES" sz="900" b="1" dirty="0">
                <a:latin typeface="Poppins" panose="00000500000000000000" pitchFamily="2" charset="0"/>
                <a:cs typeface="Poppins" panose="00000500000000000000" pitchFamily="2" charset="0"/>
              </a:rPr>
              <a:t> 7</a:t>
            </a:r>
            <a:endParaRPr lang="es-ES" sz="9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900" u="sng" dirty="0">
                <a:latin typeface="Poppins" panose="00000500000000000000" pitchFamily="2" charset="0"/>
                <a:cs typeface="Poppins" panose="00000500000000000000" pitchFamily="2" charset="0"/>
              </a:rPr>
              <a:t>Sentido: </a:t>
            </a:r>
            <a:r>
              <a:rPr lang="es-ES" sz="900" dirty="0">
                <a:latin typeface="Poppins" panose="00000500000000000000" pitchFamily="2" charset="0"/>
                <a:cs typeface="Poppins" panose="00000500000000000000" pitchFamily="2" charset="0"/>
              </a:rPr>
              <a:t>Inverso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9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Mejores expectativas de la actividad económica de corto plazo, menor riesgo de default</a:t>
            </a:r>
          </a:p>
        </p:txBody>
      </p:sp>
      <p:sp>
        <p:nvSpPr>
          <p:cNvPr id="24" name="Rectángulo: esquinas redondeadas 1">
            <a:extLst>
              <a:ext uri="{FF2B5EF4-FFF2-40B4-BE49-F238E27FC236}">
                <a16:creationId xmlns:a16="http://schemas.microsoft.com/office/drawing/2014/main" id="{5B100941-DB9F-248B-8F9D-8B14C08912A1}"/>
              </a:ext>
            </a:extLst>
          </p:cNvPr>
          <p:cNvSpPr/>
          <p:nvPr/>
        </p:nvSpPr>
        <p:spPr>
          <a:xfrm>
            <a:off x="3839807" y="5513125"/>
            <a:ext cx="7907831" cy="628715"/>
          </a:xfrm>
          <a:prstGeom prst="roundRect">
            <a:avLst>
              <a:gd name="adj" fmla="val 8591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08979D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Ft</a:t>
            </a:r>
            <a:r>
              <a:rPr lang="es-MX" sz="1100" b="1" kern="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ciclo dónde estamos  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×</a:t>
            </a:r>
            <a:r>
              <a:rPr lang="es-MX" sz="1100" b="1" kern="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√ρ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transmisión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· 0.19 ×</a:t>
            </a:r>
            <a:r>
              <a:rPr lang="es-MX" sz="1100" b="1" kern="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λ</a:t>
            </a:r>
            <a:r>
              <a:rPr lang="es-MX" sz="1100" b="1" kern="0" dirty="0">
                <a:solidFill>
                  <a:srgbClr val="7030A0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sensibilidad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· </a:t>
            </a:r>
            <a:r>
              <a:rPr lang="es-MX" sz="1100" b="1" kern="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1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=</a:t>
            </a:r>
            <a:r>
              <a:rPr lang="es-MX" sz="1100" b="1" kern="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desplazamiento cuánto se mueve la PD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→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1A944D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PDPIT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PD del mes</a:t>
            </a:r>
            <a:endParaRPr kumimoji="0" lang="es-PE" sz="1100" b="1" i="0" u="none" strike="noStrike" kern="0" cap="none" spc="0" normalizeH="0" baseline="0" noProof="0" dirty="0">
              <a:ln>
                <a:noFill/>
              </a:ln>
              <a:solidFill>
                <a:srgbClr val="97A19B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ítulo 34">
            <a:extLst>
              <a:ext uri="{FF2B5EF4-FFF2-40B4-BE49-F238E27FC236}">
                <a16:creationId xmlns:a16="http://schemas.microsoft.com/office/drawing/2014/main" id="{535D08A9-63D0-E94A-1313-318D3063A537}"/>
              </a:ext>
            </a:extLst>
          </p:cNvPr>
          <p:cNvSpPr txBox="1">
            <a:spLocks/>
          </p:cNvSpPr>
          <p:nvPr/>
        </p:nvSpPr>
        <p:spPr>
          <a:xfrm>
            <a:off x="3792182" y="5113992"/>
            <a:ext cx="4845998" cy="358821"/>
          </a:xfrm>
          <a:prstGeom prst="rect">
            <a:avLst/>
          </a:prstGeom>
          <a:solidFill>
            <a:sysClr val="window" lastClr="FFFFFF"/>
          </a:solidFill>
        </p:spPr>
        <p:txBody>
          <a:bodyPr vert="horz" lIns="91440" tIns="45720" rIns="91440" bIns="45720" rtlCol="0" anchor="t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>
                <a:solidFill>
                  <a:srgbClr val="00D03C"/>
                </a:solidFill>
                <a:latin typeface="Geometria"/>
                <a:cs typeface="Poppins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sz="1400" kern="0">
                <a:solidFill>
                  <a:schemeClr val="tx1"/>
                </a:solidFill>
                <a:latin typeface="Poppins"/>
                <a:cs typeface="Poppins"/>
              </a:rPr>
              <a:t>¿Cómo conjugan?</a:t>
            </a:r>
            <a:endParaRPr kumimoji="0" lang="es-MX" sz="1600" b="1" i="0" u="none" strike="noStrike" kern="0" cap="none" spc="0" normalizeH="0" baseline="0" noProof="0">
              <a:ln>
                <a:noFill/>
              </a:ln>
              <a:solidFill>
                <a:srgbClr val="08979D"/>
              </a:solidFill>
              <a:effectLst/>
              <a:uLnTx/>
              <a:uFillTx/>
              <a:latin typeface="Poppins"/>
              <a:ea typeface="+mn-ea"/>
              <a:cs typeface="Poppins" panose="00000500000000000000" pitchFamily="2" charset="0"/>
            </a:endParaRPr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A23F4ED8-F08A-3730-3FA9-0762939AE3BD}"/>
              </a:ext>
            </a:extLst>
          </p:cNvPr>
          <p:cNvSpPr/>
          <p:nvPr/>
        </p:nvSpPr>
        <p:spPr>
          <a:xfrm>
            <a:off x="1781376" y="1265154"/>
            <a:ext cx="139425" cy="111614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2D241F4C-3BA2-7CA3-6388-9CC132A3086B}"/>
              </a:ext>
            </a:extLst>
          </p:cNvPr>
          <p:cNvSpPr/>
          <p:nvPr/>
        </p:nvSpPr>
        <p:spPr>
          <a:xfrm rot="10800000">
            <a:off x="1780021" y="2228569"/>
            <a:ext cx="139425" cy="11161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F07481D5-C652-0B7A-09F8-1D24F5F7F1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6025138"/>
              </p:ext>
            </p:extLst>
          </p:nvPr>
        </p:nvGraphicFramePr>
        <p:xfrm>
          <a:off x="3960166" y="1415905"/>
          <a:ext cx="7907831" cy="365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8" name="Título 34">
            <a:extLst>
              <a:ext uri="{FF2B5EF4-FFF2-40B4-BE49-F238E27FC236}">
                <a16:creationId xmlns:a16="http://schemas.microsoft.com/office/drawing/2014/main" id="{695DF015-D19A-ED46-B185-9C3E78DFB101}"/>
              </a:ext>
            </a:extLst>
          </p:cNvPr>
          <p:cNvSpPr txBox="1">
            <a:spLocks/>
          </p:cNvSpPr>
          <p:nvPr/>
        </p:nvSpPr>
        <p:spPr>
          <a:xfrm>
            <a:off x="3839808" y="899441"/>
            <a:ext cx="7418741" cy="358821"/>
          </a:xfrm>
          <a:prstGeom prst="rect">
            <a:avLst/>
          </a:prstGeom>
          <a:solidFill>
            <a:sysClr val="window" lastClr="FFFFFF"/>
          </a:solidFill>
        </p:spPr>
        <p:txBody>
          <a:bodyPr vert="horz" lIns="91440" tIns="45720" rIns="91440" bIns="45720" rtlCol="0" anchor="t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>
                <a:solidFill>
                  <a:srgbClr val="00D03C"/>
                </a:solidFill>
                <a:latin typeface="Geometria"/>
                <a:cs typeface="Poppins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sz="1400" kern="0">
                <a:solidFill>
                  <a:schemeClr val="tx1"/>
                </a:solidFill>
                <a:latin typeface="Poppins"/>
                <a:cs typeface="Poppins"/>
              </a:rPr>
              <a:t>Cuando la confianza de </a:t>
            </a:r>
            <a:r>
              <a:rPr lang="es-ES" sz="1400" kern="0">
                <a:solidFill>
                  <a:srgbClr val="08979D"/>
                </a:solidFill>
                <a:latin typeface="Poppins"/>
                <a:cs typeface="Poppins"/>
              </a:rPr>
              <a:t>mejora</a:t>
            </a:r>
            <a:r>
              <a:rPr lang="es-ES" sz="1400" kern="0">
                <a:solidFill>
                  <a:schemeClr val="tx1"/>
                </a:solidFill>
                <a:latin typeface="Poppins"/>
                <a:cs typeface="Poppins"/>
              </a:rPr>
              <a:t> en la </a:t>
            </a:r>
            <a:r>
              <a:rPr lang="es-ES" sz="1400" kern="0">
                <a:solidFill>
                  <a:srgbClr val="08979D"/>
                </a:solidFill>
                <a:latin typeface="Poppins"/>
                <a:cs typeface="Poppins"/>
              </a:rPr>
              <a:t>economía </a:t>
            </a:r>
            <a:r>
              <a:rPr lang="es-ES" sz="1400" kern="0">
                <a:solidFill>
                  <a:schemeClr val="tx1"/>
                </a:solidFill>
                <a:latin typeface="Poppins"/>
                <a:cs typeface="Poppins"/>
              </a:rPr>
              <a:t>y la </a:t>
            </a:r>
            <a:r>
              <a:rPr lang="es-ES" sz="1400" kern="0">
                <a:solidFill>
                  <a:srgbClr val="08979D"/>
                </a:solidFill>
                <a:latin typeface="Poppins"/>
                <a:cs typeface="Poppins"/>
              </a:rPr>
              <a:t>inflación baja </a:t>
            </a:r>
            <a:r>
              <a:rPr lang="es-ES" sz="1400" kern="0">
                <a:solidFill>
                  <a:schemeClr val="tx1"/>
                </a:solidFill>
                <a:latin typeface="Poppins"/>
                <a:cs typeface="Poppins"/>
              </a:rPr>
              <a:t>en el corto plazo, la persona natural cae </a:t>
            </a:r>
            <a:r>
              <a:rPr lang="es-ES" sz="1400" kern="0">
                <a:solidFill>
                  <a:srgbClr val="08979D"/>
                </a:solidFill>
                <a:latin typeface="Poppins"/>
                <a:cs typeface="Poppins"/>
              </a:rPr>
              <a:t>menos en mora</a:t>
            </a:r>
            <a:r>
              <a:rPr lang="es-ES" sz="1400" kern="0">
                <a:solidFill>
                  <a:schemeClr val="tx1"/>
                </a:solidFill>
                <a:latin typeface="Poppins"/>
                <a:cs typeface="Poppins"/>
              </a:rPr>
              <a:t>.</a:t>
            </a:r>
            <a:endParaRPr kumimoji="0" lang="es-MX" sz="1600" b="1" i="0" u="none" strike="noStrike" kern="0" cap="none" spc="0" normalizeH="0" baseline="0" noProof="0">
              <a:ln>
                <a:noFill/>
              </a:ln>
              <a:solidFill>
                <a:srgbClr val="08979D"/>
              </a:solidFill>
              <a:effectLst/>
              <a:uLnTx/>
              <a:uFillTx/>
              <a:latin typeface="Poppins"/>
              <a:ea typeface="+mn-ea"/>
              <a:cs typeface="Poppins" panose="00000500000000000000" pitchFamily="2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60A70A4-D18F-D22F-81B5-73AF48B43ED2}"/>
              </a:ext>
            </a:extLst>
          </p:cNvPr>
          <p:cNvSpPr/>
          <p:nvPr/>
        </p:nvSpPr>
        <p:spPr>
          <a:xfrm>
            <a:off x="2056070" y="6073394"/>
            <a:ext cx="740053" cy="136891"/>
          </a:xfrm>
          <a:prstGeom prst="roundRect">
            <a:avLst/>
          </a:prstGeom>
          <a:solidFill>
            <a:srgbClr val="E7F4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Estándar</a:t>
            </a:r>
            <a:endParaRPr lang="es-PE" sz="7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457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BEF95-135D-44EF-78AB-634FB544A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58E15D7-8485-73AF-8748-3416A4877E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426" imgH="428" progId="TCLayout.ActiveDocument.1">
                  <p:embed/>
                </p:oleObj>
              </mc:Choice>
              <mc:Fallback>
                <p:oleObj name="Diapositiva de think-cell" r:id="rId5" imgW="426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8E15D7-8485-73AF-8748-3416A4877E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F078108D-229E-7781-56CF-906794546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37" y="260790"/>
            <a:ext cx="8326867" cy="44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s-PE" altLang="es-PE" sz="2400">
                <a:solidFill>
                  <a:srgbClr val="005F1E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Comp. BN - Jurídica</a:t>
            </a:r>
            <a:r>
              <a:rPr kumimoji="0" lang="es-PE" altLang="es-PE" sz="24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| </a:t>
            </a:r>
            <a:r>
              <a:rPr lang="es-PE" altLang="es-PE" sz="2400">
                <a:solidFill>
                  <a:srgbClr val="87938C"/>
                </a:solidFill>
                <a:latin typeface="Poppins SemiBold" pitchFamily="2" charset="77"/>
                <a:cs typeface="Poppins SemiBold" pitchFamily="2" charset="77"/>
              </a:rPr>
              <a:t>Factor Macro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304514F-14E9-EC18-4CC1-79F2B6A49EC1}"/>
              </a:ext>
            </a:extLst>
          </p:cNvPr>
          <p:cNvGrpSpPr/>
          <p:nvPr/>
        </p:nvGrpSpPr>
        <p:grpSpPr>
          <a:xfrm>
            <a:off x="400036" y="707392"/>
            <a:ext cx="2918346" cy="1907019"/>
            <a:chOff x="5679503" y="3300279"/>
            <a:chExt cx="2330171" cy="1545555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2FF79E83-4642-4F3E-5659-ABE95F844753}"/>
                </a:ext>
              </a:extLst>
            </p:cNvPr>
            <p:cNvSpPr/>
            <p:nvPr/>
          </p:nvSpPr>
          <p:spPr>
            <a:xfrm>
              <a:off x="5679503" y="3300279"/>
              <a:ext cx="2330171" cy="1332281"/>
            </a:xfrm>
            <a:prstGeom prst="roundRect">
              <a:avLst>
                <a:gd name="adj" fmla="val 10054"/>
              </a:avLst>
            </a:prstGeom>
            <a:solidFill>
              <a:srgbClr val="08979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br>
                <a:rPr lang="es-PE" sz="1400"/>
              </a:br>
              <a:r>
                <a:rPr lang="es-PE" sz="1400"/>
                <a:t>	</a:t>
              </a:r>
              <a:r>
                <a:rPr lang="es-PE" sz="1400" b="1">
                  <a:solidFill>
                    <a:srgbClr val="00B050"/>
                  </a:solidFill>
                  <a:latin typeface="Poppins" pitchFamily="2" charset="77"/>
                  <a:cs typeface="Poppins" pitchFamily="2" charset="77"/>
                </a:rPr>
                <a:t>Metodología</a:t>
              </a:r>
              <a:endParaRPr kumimoji="0" lang="es-MX" sz="2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5" name="Rectángulo: esquinas redondeadas 1">
              <a:extLst>
                <a:ext uri="{FF2B5EF4-FFF2-40B4-BE49-F238E27FC236}">
                  <a16:creationId xmlns:a16="http://schemas.microsoft.com/office/drawing/2014/main" id="{181FC10F-C869-99A6-BCDE-DD88B6017869}"/>
                </a:ext>
              </a:extLst>
            </p:cNvPr>
            <p:cNvSpPr/>
            <p:nvPr/>
          </p:nvSpPr>
          <p:spPr>
            <a:xfrm>
              <a:off x="5679503" y="3339164"/>
              <a:ext cx="2330171" cy="1506670"/>
            </a:xfrm>
            <a:prstGeom prst="roundRect">
              <a:avLst>
                <a:gd name="adj" fmla="val 6649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endParaRPr kumimoji="0" lang="es-PE" sz="9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27" name="Rectángulo: esquinas redondeadas 1">
            <a:extLst>
              <a:ext uri="{FF2B5EF4-FFF2-40B4-BE49-F238E27FC236}">
                <a16:creationId xmlns:a16="http://schemas.microsoft.com/office/drawing/2014/main" id="{7C78676D-5D6A-C7CD-7616-844741192899}"/>
              </a:ext>
            </a:extLst>
          </p:cNvPr>
          <p:cNvSpPr/>
          <p:nvPr/>
        </p:nvSpPr>
        <p:spPr>
          <a:xfrm>
            <a:off x="394744" y="2685517"/>
            <a:ext cx="881329" cy="701372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4499C22-25B1-17E7-F945-DCC412B40D30}"/>
              </a:ext>
            </a:extLst>
          </p:cNvPr>
          <p:cNvSpPr txBox="1"/>
          <p:nvPr/>
        </p:nvSpPr>
        <p:spPr>
          <a:xfrm>
            <a:off x="422978" y="2740202"/>
            <a:ext cx="824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84%</a:t>
            </a:r>
            <a:endParaRPr lang="es-PE" b="1" dirty="0">
              <a:solidFill>
                <a:srgbClr val="08979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R² del ajuste</a:t>
            </a:r>
            <a:b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(52 meses)</a:t>
            </a:r>
          </a:p>
        </p:txBody>
      </p:sp>
      <p:sp>
        <p:nvSpPr>
          <p:cNvPr id="34" name="Rectángulo: esquinas redondeadas 1">
            <a:extLst>
              <a:ext uri="{FF2B5EF4-FFF2-40B4-BE49-F238E27FC236}">
                <a16:creationId xmlns:a16="http://schemas.microsoft.com/office/drawing/2014/main" id="{12BD5DB4-8BD7-404A-86C7-855241B4780D}"/>
              </a:ext>
            </a:extLst>
          </p:cNvPr>
          <p:cNvSpPr/>
          <p:nvPr/>
        </p:nvSpPr>
        <p:spPr>
          <a:xfrm>
            <a:off x="1347634" y="2685517"/>
            <a:ext cx="790946" cy="701372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A5DD401-449B-5BEB-E7CB-01C9471363B2}"/>
              </a:ext>
            </a:extLst>
          </p:cNvPr>
          <p:cNvSpPr txBox="1"/>
          <p:nvPr/>
        </p:nvSpPr>
        <p:spPr>
          <a:xfrm>
            <a:off x="1347634" y="2732327"/>
            <a:ext cx="790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-7.8</a:t>
            </a:r>
            <a:endParaRPr lang="es-PE" b="1" dirty="0">
              <a:solidFill>
                <a:srgbClr val="08979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 - </a:t>
            </a:r>
            <a:r>
              <a:rPr lang="es-PE" sz="800" b="1" dirty="0" err="1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student</a:t>
            </a:r>
            <a:b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 &lt; 0.001</a:t>
            </a:r>
          </a:p>
        </p:txBody>
      </p:sp>
      <p:sp>
        <p:nvSpPr>
          <p:cNvPr id="43" name="Rectángulo: esquinas redondeadas 1">
            <a:extLst>
              <a:ext uri="{FF2B5EF4-FFF2-40B4-BE49-F238E27FC236}">
                <a16:creationId xmlns:a16="http://schemas.microsoft.com/office/drawing/2014/main" id="{2C7913C9-E4ED-0FDA-FC76-95FAEF863567}"/>
              </a:ext>
            </a:extLst>
          </p:cNvPr>
          <p:cNvSpPr/>
          <p:nvPr/>
        </p:nvSpPr>
        <p:spPr>
          <a:xfrm>
            <a:off x="2230938" y="2685517"/>
            <a:ext cx="1082150" cy="701372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6275635-F92A-AC36-C29D-58CACD3DA774}"/>
              </a:ext>
            </a:extLst>
          </p:cNvPr>
          <p:cNvSpPr txBox="1"/>
          <p:nvPr/>
        </p:nvSpPr>
        <p:spPr>
          <a:xfrm>
            <a:off x="2262040" y="2740202"/>
            <a:ext cx="1019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600" b="1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156bps</a:t>
            </a:r>
            <a:endParaRPr lang="es-PE" b="1" dirty="0">
              <a:solidFill>
                <a:srgbClr val="08979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Error Medio</a:t>
            </a:r>
            <a:b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PE" sz="800" b="1" dirty="0">
                <a:solidFill>
                  <a:srgbClr val="97A1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(MAE)</a:t>
            </a:r>
          </a:p>
        </p:txBody>
      </p:sp>
      <p:sp>
        <p:nvSpPr>
          <p:cNvPr id="51" name="Rectángulo: esquinas redondeadas 1">
            <a:extLst>
              <a:ext uri="{FF2B5EF4-FFF2-40B4-BE49-F238E27FC236}">
                <a16:creationId xmlns:a16="http://schemas.microsoft.com/office/drawing/2014/main" id="{DB4CAECC-0492-2DE0-9BE2-1C0E8EF28CBB}"/>
              </a:ext>
            </a:extLst>
          </p:cNvPr>
          <p:cNvSpPr/>
          <p:nvPr/>
        </p:nvSpPr>
        <p:spPr>
          <a:xfrm>
            <a:off x="394741" y="3509342"/>
            <a:ext cx="2918345" cy="1280768"/>
          </a:xfrm>
          <a:prstGeom prst="roundRect">
            <a:avLst>
              <a:gd name="adj" fmla="val 6649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4718F768-5910-E92B-6C04-27A1252E4F9A}"/>
              </a:ext>
            </a:extLst>
          </p:cNvPr>
          <p:cNvSpPr txBox="1"/>
          <p:nvPr/>
        </p:nvSpPr>
        <p:spPr>
          <a:xfrm>
            <a:off x="422978" y="3605500"/>
            <a:ext cx="2842920" cy="1111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700" b="1" cap="all" dirty="0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Estable en todo el ciclo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MAE por </a:t>
            </a:r>
            <a:r>
              <a:rPr lang="pt-BR" sz="1000" b="1" dirty="0" err="1">
                <a:latin typeface="Poppins" panose="00000500000000000000" pitchFamily="2" charset="0"/>
                <a:cs typeface="Poppins" panose="00000500000000000000" pitchFamily="2" charset="0"/>
              </a:rPr>
              <a:t>régimen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900" b="1" dirty="0">
                <a:latin typeface="Poppins" panose="00000500000000000000" pitchFamily="2" charset="0"/>
                <a:cs typeface="Poppins" panose="00000500000000000000" pitchFamily="2" charset="0"/>
              </a:rPr>
              <a:t>Ult. 36 M</a:t>
            </a:r>
          </a:p>
          <a:p>
            <a:pPr>
              <a:lnSpc>
                <a:spcPct val="150000"/>
              </a:lnSpc>
            </a:pPr>
            <a:r>
              <a:rPr lang="pt-BR" sz="900" b="1" dirty="0">
                <a:latin typeface="Poppins" panose="00000500000000000000" pitchFamily="2" charset="0"/>
                <a:cs typeface="Poppins" panose="00000500000000000000" pitchFamily="2" charset="0"/>
              </a:rPr>
              <a:t>Ult. 24 M</a:t>
            </a:r>
          </a:p>
          <a:p>
            <a:pPr>
              <a:lnSpc>
                <a:spcPct val="150000"/>
              </a:lnSpc>
            </a:pPr>
            <a:r>
              <a:rPr lang="pt-BR" sz="900" b="1" dirty="0">
                <a:latin typeface="Poppins" panose="00000500000000000000" pitchFamily="2" charset="0"/>
                <a:cs typeface="Poppins" panose="00000500000000000000" pitchFamily="2" charset="0"/>
              </a:rPr>
              <a:t>Ult. 12 M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33016B9B-1308-8520-E343-50F6F71FA19F}"/>
              </a:ext>
            </a:extLst>
          </p:cNvPr>
          <p:cNvSpPr/>
          <p:nvPr/>
        </p:nvSpPr>
        <p:spPr>
          <a:xfrm>
            <a:off x="1209595" y="4105628"/>
            <a:ext cx="1869697" cy="12794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35D2548C-B8CB-02FD-ADE9-729C49DC285B}"/>
              </a:ext>
            </a:extLst>
          </p:cNvPr>
          <p:cNvSpPr/>
          <p:nvPr/>
        </p:nvSpPr>
        <p:spPr>
          <a:xfrm>
            <a:off x="1209594" y="4105628"/>
            <a:ext cx="1562419" cy="127014"/>
          </a:xfrm>
          <a:prstGeom prst="roundRect">
            <a:avLst/>
          </a:prstGeom>
          <a:solidFill>
            <a:srgbClr val="089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MX" sz="700" b="1" dirty="0">
                <a:latin typeface="Poppins" panose="00000500000000000000" pitchFamily="2" charset="0"/>
                <a:cs typeface="Poppins" panose="00000500000000000000" pitchFamily="2" charset="0"/>
              </a:rPr>
              <a:t>167 bps</a:t>
            </a:r>
            <a:endParaRPr lang="es-PE" sz="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A314B4F9-8F58-D7D8-C13A-B30A197E99C3}"/>
              </a:ext>
            </a:extLst>
          </p:cNvPr>
          <p:cNvSpPr/>
          <p:nvPr/>
        </p:nvSpPr>
        <p:spPr>
          <a:xfrm>
            <a:off x="1209595" y="4301237"/>
            <a:ext cx="1869697" cy="12794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5E1D56EF-BC95-C5B5-F0E1-0A33B52AF484}"/>
              </a:ext>
            </a:extLst>
          </p:cNvPr>
          <p:cNvSpPr/>
          <p:nvPr/>
        </p:nvSpPr>
        <p:spPr>
          <a:xfrm>
            <a:off x="1209596" y="4301237"/>
            <a:ext cx="1493124" cy="127948"/>
          </a:xfrm>
          <a:prstGeom prst="roundRect">
            <a:avLst/>
          </a:prstGeom>
          <a:solidFill>
            <a:srgbClr val="089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MX" sz="7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147 bps</a:t>
            </a:r>
            <a:endParaRPr lang="es-PE" sz="7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B455E159-284E-1DA6-C233-96B93AA994F5}"/>
              </a:ext>
            </a:extLst>
          </p:cNvPr>
          <p:cNvSpPr/>
          <p:nvPr/>
        </p:nvSpPr>
        <p:spPr>
          <a:xfrm>
            <a:off x="1203731" y="4505226"/>
            <a:ext cx="1869697" cy="12794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E7CA9305-0224-FAE8-FD53-D6F9700BF4BA}"/>
              </a:ext>
            </a:extLst>
          </p:cNvPr>
          <p:cNvSpPr/>
          <p:nvPr/>
        </p:nvSpPr>
        <p:spPr>
          <a:xfrm>
            <a:off x="1208916" y="4504291"/>
            <a:ext cx="1331878" cy="127014"/>
          </a:xfrm>
          <a:prstGeom prst="roundRect">
            <a:avLst/>
          </a:prstGeom>
          <a:solidFill>
            <a:srgbClr val="0897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MX" sz="7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114bps</a:t>
            </a:r>
            <a:endParaRPr lang="es-PE" sz="7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CA40F39E-B8E8-FC73-D4BA-1A2148883963}"/>
              </a:ext>
            </a:extLst>
          </p:cNvPr>
          <p:cNvGrpSpPr/>
          <p:nvPr/>
        </p:nvGrpSpPr>
        <p:grpSpPr>
          <a:xfrm>
            <a:off x="394741" y="4873660"/>
            <a:ext cx="2918345" cy="1310432"/>
            <a:chOff x="5679503" y="3300279"/>
            <a:chExt cx="2330171" cy="1545555"/>
          </a:xfrm>
        </p:grpSpPr>
        <p:sp>
          <p:nvSpPr>
            <p:cNvPr id="77" name="Rectángulo: esquinas redondeadas 76">
              <a:extLst>
                <a:ext uri="{FF2B5EF4-FFF2-40B4-BE49-F238E27FC236}">
                  <a16:creationId xmlns:a16="http://schemas.microsoft.com/office/drawing/2014/main" id="{1047C436-A189-AAD5-55E9-4D6FCDFE0AC1}"/>
                </a:ext>
              </a:extLst>
            </p:cNvPr>
            <p:cNvSpPr/>
            <p:nvPr/>
          </p:nvSpPr>
          <p:spPr>
            <a:xfrm>
              <a:off x="5679503" y="3300279"/>
              <a:ext cx="2330171" cy="1332281"/>
            </a:xfrm>
            <a:prstGeom prst="roundRect">
              <a:avLst>
                <a:gd name="adj" fmla="val 10054"/>
              </a:avLst>
            </a:prstGeom>
            <a:solidFill>
              <a:srgbClr val="7030A0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br>
                <a:rPr lang="es-PE" sz="1400"/>
              </a:br>
              <a:r>
                <a:rPr lang="es-PE" sz="1400"/>
                <a:t>	</a:t>
              </a:r>
              <a:r>
                <a:rPr lang="es-PE" sz="1400" b="1">
                  <a:solidFill>
                    <a:srgbClr val="00B050"/>
                  </a:solidFill>
                  <a:latin typeface="Poppins" pitchFamily="2" charset="77"/>
                  <a:cs typeface="Poppins" pitchFamily="2" charset="77"/>
                </a:rPr>
                <a:t>Metodología</a:t>
              </a:r>
              <a:endParaRPr kumimoji="0" lang="es-MX" sz="2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  <p:sp>
          <p:nvSpPr>
            <p:cNvPr id="78" name="Rectángulo: esquinas redondeadas 1">
              <a:extLst>
                <a:ext uri="{FF2B5EF4-FFF2-40B4-BE49-F238E27FC236}">
                  <a16:creationId xmlns:a16="http://schemas.microsoft.com/office/drawing/2014/main" id="{D694042C-BC95-FC70-F2DA-DEF999581799}"/>
                </a:ext>
              </a:extLst>
            </p:cNvPr>
            <p:cNvSpPr/>
            <p:nvPr/>
          </p:nvSpPr>
          <p:spPr>
            <a:xfrm>
              <a:off x="5679503" y="3339164"/>
              <a:ext cx="2330171" cy="1506670"/>
            </a:xfrm>
            <a:prstGeom prst="roundRect">
              <a:avLst>
                <a:gd name="adj" fmla="val 6649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lvl="0">
                <a:defRPr/>
              </a:pPr>
              <a:endParaRPr kumimoji="0" lang="es-PE" sz="9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0" name="CuadroTexto 79">
            <a:extLst>
              <a:ext uri="{FF2B5EF4-FFF2-40B4-BE49-F238E27FC236}">
                <a16:creationId xmlns:a16="http://schemas.microsoft.com/office/drawing/2014/main" id="{1539E42C-C134-658B-D1FB-556425BD0A2B}"/>
              </a:ext>
            </a:extLst>
          </p:cNvPr>
          <p:cNvSpPr txBox="1"/>
          <p:nvPr/>
        </p:nvSpPr>
        <p:spPr>
          <a:xfrm>
            <a:off x="439066" y="5025418"/>
            <a:ext cx="284292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000" b="1" dirty="0">
                <a:latin typeface="Poppins" panose="00000500000000000000" pitchFamily="2" charset="0"/>
                <a:cs typeface="Poppins" panose="00000500000000000000" pitchFamily="2" charset="0"/>
              </a:rPr>
              <a:t>ρ = 0.03</a:t>
            </a:r>
            <a:r>
              <a:rPr lang="es-ES" sz="1000" b="1" dirty="0">
                <a:latin typeface="Poppins" panose="00000500000000000000" pitchFamily="2" charset="0"/>
                <a:cs typeface="Poppins" panose="00000500000000000000" pitchFamily="2" charset="0"/>
              </a:rPr>
              <a:t>6</a:t>
            </a:r>
            <a:r>
              <a:rPr lang="el-GR" sz="1000" b="1" dirty="0">
                <a:latin typeface="Poppins" panose="00000500000000000000" pitchFamily="2" charset="0"/>
                <a:cs typeface="Poppins" panose="00000500000000000000" pitchFamily="2" charset="0"/>
              </a:rPr>
              <a:t> · </a:t>
            </a:r>
            <a:r>
              <a:rPr lang="es-PE" sz="1000" b="1" dirty="0">
                <a:latin typeface="Poppins" panose="00000500000000000000" pitchFamily="2" charset="0"/>
                <a:cs typeface="Poppins" panose="00000500000000000000" pitchFamily="2" charset="0"/>
              </a:rPr>
              <a:t>transmisión</a:t>
            </a:r>
          </a:p>
          <a:p>
            <a:r>
              <a:rPr lang="es-MX" sz="7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Cómo se relacionan los clientes entre sí ¿fallan juntos o separados?  </a:t>
            </a:r>
          </a:p>
          <a:p>
            <a:endParaRPr lang="es-MX" sz="7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7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l-GR" sz="1000" b="1" dirty="0">
                <a:cs typeface="Poppins" panose="00000500000000000000" pitchFamily="2" charset="0"/>
              </a:rPr>
              <a:t>λ = </a:t>
            </a:r>
            <a:r>
              <a:rPr lang="es-ES" sz="1000" b="1" dirty="0"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r>
              <a:rPr lang="el-GR" sz="1000" b="1" dirty="0">
                <a:cs typeface="Poppins" panose="00000500000000000000" pitchFamily="2" charset="0"/>
              </a:rPr>
              <a:t> · </a:t>
            </a:r>
            <a:r>
              <a:rPr lang="es-PE" sz="1000" b="1" dirty="0">
                <a:latin typeface="Poppins" panose="00000500000000000000" pitchFamily="2" charset="0"/>
                <a:cs typeface="Poppins" panose="00000500000000000000" pitchFamily="2" charset="0"/>
              </a:rPr>
              <a:t>sensibilidad</a:t>
            </a:r>
          </a:p>
          <a:p>
            <a:r>
              <a:rPr lang="es-MX" sz="7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Cómo responde la PD al termómetro macro ¿cuánto reacciona la PD al ciclo?</a:t>
            </a:r>
            <a:endParaRPr lang="es-PE" sz="70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Rectángulo: esquinas redondeadas 89">
            <a:extLst>
              <a:ext uri="{FF2B5EF4-FFF2-40B4-BE49-F238E27FC236}">
                <a16:creationId xmlns:a16="http://schemas.microsoft.com/office/drawing/2014/main" id="{35094E2A-A035-3A2A-C211-123CF9D2F98E}"/>
              </a:ext>
            </a:extLst>
          </p:cNvPr>
          <p:cNvSpPr/>
          <p:nvPr/>
        </p:nvSpPr>
        <p:spPr>
          <a:xfrm>
            <a:off x="2031959" y="5084762"/>
            <a:ext cx="740053" cy="136891"/>
          </a:xfrm>
          <a:prstGeom prst="roundRect">
            <a:avLst/>
          </a:prstGeom>
          <a:solidFill>
            <a:srgbClr val="E7F4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Baja</a:t>
            </a:r>
            <a:endParaRPr lang="es-PE" sz="7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B780CA-D2E7-D714-A813-67F8A7C068C2}"/>
              </a:ext>
            </a:extLst>
          </p:cNvPr>
          <p:cNvSpPr txBox="1"/>
          <p:nvPr/>
        </p:nvSpPr>
        <p:spPr>
          <a:xfrm>
            <a:off x="491473" y="818480"/>
            <a:ext cx="257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700" b="1" cap="all">
                <a:solidFill>
                  <a:srgbClr val="08979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Variables seleccionadas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2BA4258-C0DC-1DF2-17C0-D55B755647B5}"/>
              </a:ext>
            </a:extLst>
          </p:cNvPr>
          <p:cNvSpPr txBox="1"/>
          <p:nvPr/>
        </p:nvSpPr>
        <p:spPr>
          <a:xfrm>
            <a:off x="400036" y="1078852"/>
            <a:ext cx="277937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900" b="1">
                <a:latin typeface="Poppins" panose="00000500000000000000" pitchFamily="2" charset="0"/>
                <a:cs typeface="Poppins" panose="00000500000000000000" pitchFamily="2" charset="0"/>
              </a:rPr>
              <a:t>Expectativas de la demanda a 12 meses – </a:t>
            </a:r>
            <a:r>
              <a:rPr lang="es-ES" sz="900" b="1" err="1">
                <a:latin typeface="Poppins" panose="00000500000000000000" pitchFamily="2" charset="0"/>
                <a:cs typeface="Poppins" panose="00000500000000000000" pitchFamily="2" charset="0"/>
              </a:rPr>
              <a:t>Lag</a:t>
            </a:r>
            <a:r>
              <a:rPr lang="es-ES" sz="900" b="1">
                <a:latin typeface="Poppins" panose="00000500000000000000" pitchFamily="2" charset="0"/>
                <a:cs typeface="Poppins" panose="00000500000000000000" pitchFamily="2" charset="0"/>
              </a:rPr>
              <a:t> 5 </a:t>
            </a:r>
            <a:endParaRPr lang="es-ES" sz="9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900" u="sng">
                <a:latin typeface="Poppins" panose="00000500000000000000" pitchFamily="2" charset="0"/>
                <a:cs typeface="Poppins" panose="00000500000000000000" pitchFamily="2" charset="0"/>
              </a:rPr>
              <a:t>Sentido:  </a:t>
            </a:r>
            <a:r>
              <a:rPr lang="es-ES" sz="900">
                <a:latin typeface="Poppins" panose="00000500000000000000" pitchFamily="2" charset="0"/>
                <a:cs typeface="Poppins" panose="00000500000000000000" pitchFamily="2" charset="0"/>
              </a:rPr>
              <a:t>Inverso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90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Mejores expectativas de demanda → más ventas esperadas de la empresa → mayor capacidad de pago → menor riesgo de default</a:t>
            </a:r>
          </a:p>
        </p:txBody>
      </p:sp>
      <p:sp>
        <p:nvSpPr>
          <p:cNvPr id="23" name="Rectángulo: esquinas redondeadas 1">
            <a:extLst>
              <a:ext uri="{FF2B5EF4-FFF2-40B4-BE49-F238E27FC236}">
                <a16:creationId xmlns:a16="http://schemas.microsoft.com/office/drawing/2014/main" id="{A3635D4A-0691-3BCD-C616-0A77D09D6214}"/>
              </a:ext>
            </a:extLst>
          </p:cNvPr>
          <p:cNvSpPr/>
          <p:nvPr/>
        </p:nvSpPr>
        <p:spPr>
          <a:xfrm>
            <a:off x="3839807" y="5513125"/>
            <a:ext cx="7907831" cy="628715"/>
          </a:xfrm>
          <a:prstGeom prst="roundRect">
            <a:avLst>
              <a:gd name="adj" fmla="val 8591"/>
            </a:avLst>
          </a:prstGeom>
          <a:solidFill>
            <a:sysClr val="window" lastClr="FFFFFF"/>
          </a:solidFill>
          <a:ln w="63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08979D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Ft</a:t>
            </a:r>
            <a:r>
              <a:rPr lang="es-MX" sz="1100" b="1" kern="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ciclo dónde estamos  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×</a:t>
            </a:r>
            <a:r>
              <a:rPr lang="es-MX" sz="1100" b="1" kern="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√ρ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transmisión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· 0.19 ×</a:t>
            </a:r>
            <a:r>
              <a:rPr lang="es-MX" sz="1100" b="1" kern="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λ</a:t>
            </a:r>
            <a:r>
              <a:rPr lang="es-MX" sz="1100" b="1" kern="0" dirty="0">
                <a:solidFill>
                  <a:srgbClr val="7030A0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sensibilidad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· 1 =</a:t>
            </a:r>
            <a:r>
              <a:rPr lang="es-MX" sz="1100" b="1" kern="0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desplazamiento cuánto se mueve la PD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→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1A944D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PDPIT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 </a:t>
            </a: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PD del mes</a:t>
            </a:r>
            <a:endParaRPr kumimoji="0" lang="es-PE" sz="1100" b="1" i="0" u="none" strike="noStrike" kern="0" cap="none" spc="0" normalizeH="0" baseline="0" noProof="0" dirty="0">
              <a:ln>
                <a:noFill/>
              </a:ln>
              <a:solidFill>
                <a:srgbClr val="97A19B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4" name="Título 34">
            <a:extLst>
              <a:ext uri="{FF2B5EF4-FFF2-40B4-BE49-F238E27FC236}">
                <a16:creationId xmlns:a16="http://schemas.microsoft.com/office/drawing/2014/main" id="{C2A5620C-4898-978A-4BCF-4CA39A718F7D}"/>
              </a:ext>
            </a:extLst>
          </p:cNvPr>
          <p:cNvSpPr txBox="1">
            <a:spLocks/>
          </p:cNvSpPr>
          <p:nvPr/>
        </p:nvSpPr>
        <p:spPr>
          <a:xfrm>
            <a:off x="3792182" y="5113992"/>
            <a:ext cx="4845998" cy="358821"/>
          </a:xfrm>
          <a:prstGeom prst="rect">
            <a:avLst/>
          </a:prstGeom>
          <a:solidFill>
            <a:sysClr val="window" lastClr="FFFFFF"/>
          </a:solidFill>
        </p:spPr>
        <p:txBody>
          <a:bodyPr vert="horz" lIns="91440" tIns="45720" rIns="91440" bIns="45720" rtlCol="0" anchor="t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>
                <a:solidFill>
                  <a:srgbClr val="00D03C"/>
                </a:solidFill>
                <a:latin typeface="Geometria"/>
                <a:cs typeface="Poppins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sz="1400" kern="0">
                <a:solidFill>
                  <a:schemeClr val="tx1"/>
                </a:solidFill>
                <a:latin typeface="Poppins"/>
                <a:cs typeface="Poppins"/>
              </a:rPr>
              <a:t>¿Cómo conjugan?</a:t>
            </a:r>
            <a:endParaRPr kumimoji="0" lang="es-MX" sz="1600" b="1" i="0" u="none" strike="noStrike" kern="0" cap="none" spc="0" normalizeH="0" baseline="0" noProof="0">
              <a:ln>
                <a:noFill/>
              </a:ln>
              <a:solidFill>
                <a:srgbClr val="08979D"/>
              </a:solidFill>
              <a:effectLst/>
              <a:uLnTx/>
              <a:uFillTx/>
              <a:latin typeface="Poppins"/>
              <a:ea typeface="+mn-ea"/>
              <a:cs typeface="Poppins" panose="00000500000000000000" pitchFamily="2" charset="0"/>
            </a:endParaRP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2D19DEB6-4E5E-78CE-8EA0-26ED02637C3A}"/>
              </a:ext>
            </a:extLst>
          </p:cNvPr>
          <p:cNvSpPr/>
          <p:nvPr/>
        </p:nvSpPr>
        <p:spPr>
          <a:xfrm rot="10800000">
            <a:off x="1796109" y="1413111"/>
            <a:ext cx="139425" cy="11161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1D14B60-4685-5997-ECA9-58729A03F870}"/>
              </a:ext>
            </a:extLst>
          </p:cNvPr>
          <p:cNvSpPr/>
          <p:nvPr/>
        </p:nvSpPr>
        <p:spPr>
          <a:xfrm>
            <a:off x="2031960" y="5626738"/>
            <a:ext cx="740053" cy="136891"/>
          </a:xfrm>
          <a:prstGeom prst="roundRect">
            <a:avLst/>
          </a:prstGeom>
          <a:solidFill>
            <a:srgbClr val="E7F4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00" b="1">
                <a:solidFill>
                  <a:srgbClr val="4A896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Estándar</a:t>
            </a:r>
            <a:endParaRPr lang="es-PE" sz="700" b="1">
              <a:solidFill>
                <a:srgbClr val="4A896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F07481D5-C652-0B7A-09F8-1D24F5F7F1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798139"/>
              </p:ext>
            </p:extLst>
          </p:nvPr>
        </p:nvGraphicFramePr>
        <p:xfrm>
          <a:off x="3839807" y="1449627"/>
          <a:ext cx="7778276" cy="3549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" name="Título 34">
            <a:extLst>
              <a:ext uri="{FF2B5EF4-FFF2-40B4-BE49-F238E27FC236}">
                <a16:creationId xmlns:a16="http://schemas.microsoft.com/office/drawing/2014/main" id="{97E8B741-823E-AC97-7FB5-71C07290FDB1}"/>
              </a:ext>
            </a:extLst>
          </p:cNvPr>
          <p:cNvSpPr txBox="1">
            <a:spLocks/>
          </p:cNvSpPr>
          <p:nvPr/>
        </p:nvSpPr>
        <p:spPr>
          <a:xfrm>
            <a:off x="3839808" y="899441"/>
            <a:ext cx="7418741" cy="358821"/>
          </a:xfrm>
          <a:prstGeom prst="rect">
            <a:avLst/>
          </a:prstGeom>
          <a:solidFill>
            <a:sysClr val="window" lastClr="FFFFFF"/>
          </a:solidFill>
        </p:spPr>
        <p:txBody>
          <a:bodyPr vert="horz" lIns="91440" tIns="45720" rIns="91440" bIns="45720" rtlCol="0" anchor="t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>
                <a:solidFill>
                  <a:srgbClr val="00D03C"/>
                </a:solidFill>
                <a:latin typeface="Geometria"/>
                <a:cs typeface="Poppins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defRPr/>
            </a:pPr>
            <a:r>
              <a:rPr lang="es-ES" sz="1400" kern="0">
                <a:solidFill>
                  <a:srgbClr val="08979D"/>
                </a:solidFill>
                <a:latin typeface="Poppins"/>
                <a:cs typeface="Poppins"/>
              </a:rPr>
              <a:t>Más demanda esperada </a:t>
            </a:r>
            <a:r>
              <a:rPr lang="es-ES" sz="1400" kern="0">
                <a:solidFill>
                  <a:schemeClr val="tx1"/>
                </a:solidFill>
                <a:latin typeface="Poppins"/>
                <a:cs typeface="Poppins"/>
              </a:rPr>
              <a:t>por las empresas hoy, </a:t>
            </a:r>
            <a:r>
              <a:rPr lang="es-ES" sz="1400" kern="0">
                <a:solidFill>
                  <a:srgbClr val="08979D"/>
                </a:solidFill>
                <a:latin typeface="Poppins"/>
                <a:cs typeface="Poppins"/>
              </a:rPr>
              <a:t>menos mora </a:t>
            </a:r>
            <a:r>
              <a:rPr lang="es-ES" sz="1400" kern="0">
                <a:solidFill>
                  <a:schemeClr val="tx1"/>
                </a:solidFill>
                <a:latin typeface="Poppins"/>
                <a:cs typeface="Poppins"/>
              </a:rPr>
              <a:t>de la persona jurídica mañana.</a:t>
            </a:r>
            <a:endParaRPr lang="es-MX" sz="1600" kern="0">
              <a:solidFill>
                <a:schemeClr val="tx1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678725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36294-8E24-6A0E-4242-BD1A5E4E8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5A95807-9E7E-9D33-D834-3A965580F3E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6" imgH="428" progId="TCLayout.ActiveDocument.1">
                  <p:embed/>
                </p:oleObj>
              </mc:Choice>
              <mc:Fallback>
                <p:oleObj name="Diapositiva de think-cell" r:id="rId4" imgW="426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A95807-9E7E-9D33-D834-3A965580F3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F1620455-E5AB-C179-F7D5-9C967A0CC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37" y="260790"/>
            <a:ext cx="8326867" cy="44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s-PE" altLang="es-PE" sz="2400">
                <a:solidFill>
                  <a:srgbClr val="005F1E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Comp. BN </a:t>
            </a:r>
            <a:r>
              <a:rPr kumimoji="0" lang="es-PE" altLang="es-PE" sz="24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| </a:t>
            </a:r>
            <a:r>
              <a:rPr lang="es-PE" altLang="es-PE" sz="2400">
                <a:solidFill>
                  <a:srgbClr val="87938C"/>
                </a:solidFill>
                <a:latin typeface="Poppins SemiBold" pitchFamily="2" charset="77"/>
                <a:cs typeface="Poppins SemiBold" pitchFamily="2" charset="77"/>
              </a:rPr>
              <a:t>Ficha técnica</a:t>
            </a:r>
          </a:p>
        </p:txBody>
      </p:sp>
      <p:sp>
        <p:nvSpPr>
          <p:cNvPr id="8" name="Rectángulo 6">
            <a:extLst>
              <a:ext uri="{FF2B5EF4-FFF2-40B4-BE49-F238E27FC236}">
                <a16:creationId xmlns:a16="http://schemas.microsoft.com/office/drawing/2014/main" id="{D08A2A32-C7F9-65A5-DEE8-F2D58321D0C5}"/>
              </a:ext>
            </a:extLst>
          </p:cNvPr>
          <p:cNvSpPr/>
          <p:nvPr/>
        </p:nvSpPr>
        <p:spPr>
          <a:xfrm>
            <a:off x="1901252" y="1331256"/>
            <a:ext cx="2086676" cy="2616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2" name="Rectángulo: esquinas redondeadas 1">
            <a:extLst>
              <a:ext uri="{FF2B5EF4-FFF2-40B4-BE49-F238E27FC236}">
                <a16:creationId xmlns:a16="http://schemas.microsoft.com/office/drawing/2014/main" id="{1CB16957-2AAA-1BA5-127B-90CC2D5655FD}"/>
              </a:ext>
            </a:extLst>
          </p:cNvPr>
          <p:cNvSpPr/>
          <p:nvPr/>
        </p:nvSpPr>
        <p:spPr>
          <a:xfrm>
            <a:off x="1636106" y="1217976"/>
            <a:ext cx="4326396" cy="5024688"/>
          </a:xfrm>
          <a:prstGeom prst="roundRect">
            <a:avLst>
              <a:gd name="adj" fmla="val 247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3" name="Rectángulo: esquinas superiores redondeadas 52">
            <a:extLst>
              <a:ext uri="{FF2B5EF4-FFF2-40B4-BE49-F238E27FC236}">
                <a16:creationId xmlns:a16="http://schemas.microsoft.com/office/drawing/2014/main" id="{CCF4A6C7-88B9-A9E2-2F4D-B01D90B5627A}"/>
              </a:ext>
            </a:extLst>
          </p:cNvPr>
          <p:cNvSpPr/>
          <p:nvPr/>
        </p:nvSpPr>
        <p:spPr>
          <a:xfrm>
            <a:off x="1636105" y="931425"/>
            <a:ext cx="4326397" cy="446602"/>
          </a:xfrm>
          <a:prstGeom prst="round2SameRect">
            <a:avLst/>
          </a:prstGeom>
          <a:solidFill>
            <a:srgbClr val="549E39">
              <a:lumMod val="50000"/>
            </a:srgbClr>
          </a:solidFill>
          <a:ln w="12700" cap="flat" cmpd="sng" algn="ctr">
            <a:solidFill>
              <a:srgbClr val="2A4F1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       Natural (36%)</a:t>
            </a:r>
            <a:endParaRPr kumimoji="0" lang="es-PE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ángulo 35">
            <a:extLst>
              <a:ext uri="{FF2B5EF4-FFF2-40B4-BE49-F238E27FC236}">
                <a16:creationId xmlns:a16="http://schemas.microsoft.com/office/drawing/2014/main" id="{FA8201BE-56EE-814F-DD40-3B960999AECA}"/>
              </a:ext>
            </a:extLst>
          </p:cNvPr>
          <p:cNvSpPr/>
          <p:nvPr/>
        </p:nvSpPr>
        <p:spPr>
          <a:xfrm>
            <a:off x="1809602" y="1491307"/>
            <a:ext cx="27142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Diagnóstico:</a:t>
            </a:r>
          </a:p>
        </p:txBody>
      </p:sp>
      <p:sp>
        <p:nvSpPr>
          <p:cNvPr id="58" name="Rectángulo 35">
            <a:extLst>
              <a:ext uri="{FF2B5EF4-FFF2-40B4-BE49-F238E27FC236}">
                <a16:creationId xmlns:a16="http://schemas.microsoft.com/office/drawing/2014/main" id="{618249D9-9237-6010-DA15-FE9CDB941894}"/>
              </a:ext>
            </a:extLst>
          </p:cNvPr>
          <p:cNvSpPr/>
          <p:nvPr/>
        </p:nvSpPr>
        <p:spPr>
          <a:xfrm>
            <a:off x="1776345" y="3756484"/>
            <a:ext cx="27142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Calibrado:</a:t>
            </a:r>
          </a:p>
        </p:txBody>
      </p:sp>
      <p:sp>
        <p:nvSpPr>
          <p:cNvPr id="2" name="Rectángulo 6">
            <a:extLst>
              <a:ext uri="{FF2B5EF4-FFF2-40B4-BE49-F238E27FC236}">
                <a16:creationId xmlns:a16="http://schemas.microsoft.com/office/drawing/2014/main" id="{CAA663D6-0636-1718-11C9-588A82111A8B}"/>
              </a:ext>
            </a:extLst>
          </p:cNvPr>
          <p:cNvSpPr/>
          <p:nvPr/>
        </p:nvSpPr>
        <p:spPr>
          <a:xfrm>
            <a:off x="6494644" y="1331256"/>
            <a:ext cx="2086676" cy="2616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" name="Rectángulo: esquinas redondeadas 1">
            <a:extLst>
              <a:ext uri="{FF2B5EF4-FFF2-40B4-BE49-F238E27FC236}">
                <a16:creationId xmlns:a16="http://schemas.microsoft.com/office/drawing/2014/main" id="{10C912D8-D416-8D88-BD6D-032EA474E5E3}"/>
              </a:ext>
            </a:extLst>
          </p:cNvPr>
          <p:cNvSpPr/>
          <p:nvPr/>
        </p:nvSpPr>
        <p:spPr>
          <a:xfrm>
            <a:off x="6229498" y="1217976"/>
            <a:ext cx="4326396" cy="5024688"/>
          </a:xfrm>
          <a:prstGeom prst="roundRect">
            <a:avLst>
              <a:gd name="adj" fmla="val 2470"/>
            </a:avLst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lvl="0">
              <a:defRPr/>
            </a:pPr>
            <a:endParaRPr kumimoji="0" lang="es-PE" sz="9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Rectángulo: esquinas superiores redondeadas 5">
            <a:extLst>
              <a:ext uri="{FF2B5EF4-FFF2-40B4-BE49-F238E27FC236}">
                <a16:creationId xmlns:a16="http://schemas.microsoft.com/office/drawing/2014/main" id="{7086E05D-F62E-4B8A-F1EB-80006366F400}"/>
              </a:ext>
            </a:extLst>
          </p:cNvPr>
          <p:cNvSpPr/>
          <p:nvPr/>
        </p:nvSpPr>
        <p:spPr>
          <a:xfrm>
            <a:off x="6229497" y="931425"/>
            <a:ext cx="4326397" cy="446602"/>
          </a:xfrm>
          <a:prstGeom prst="round2SameRect">
            <a:avLst/>
          </a:prstGeom>
          <a:solidFill>
            <a:srgbClr val="549E39">
              <a:lumMod val="50000"/>
            </a:srgbClr>
          </a:solidFill>
          <a:ln w="12700" cap="flat" cmpd="sng" algn="ctr">
            <a:solidFill>
              <a:srgbClr val="2A4F1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       Jurídica (64%)</a:t>
            </a:r>
            <a:endParaRPr kumimoji="0" lang="es-PE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Rectángulo 35">
            <a:extLst>
              <a:ext uri="{FF2B5EF4-FFF2-40B4-BE49-F238E27FC236}">
                <a16:creationId xmlns:a16="http://schemas.microsoft.com/office/drawing/2014/main" id="{94F544ED-D6D2-1ACF-4C65-CAC54CEB9F66}"/>
              </a:ext>
            </a:extLst>
          </p:cNvPr>
          <p:cNvSpPr/>
          <p:nvPr/>
        </p:nvSpPr>
        <p:spPr>
          <a:xfrm>
            <a:off x="6402994" y="1491307"/>
            <a:ext cx="27142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rgbClr val="97A19B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Diagnóstico:</a:t>
            </a:r>
          </a:p>
        </p:txBody>
      </p:sp>
      <p:sp>
        <p:nvSpPr>
          <p:cNvPr id="13" name="Rectángulo 35">
            <a:extLst>
              <a:ext uri="{FF2B5EF4-FFF2-40B4-BE49-F238E27FC236}">
                <a16:creationId xmlns:a16="http://schemas.microsoft.com/office/drawing/2014/main" id="{A3F7D082-8098-FBF2-097D-611B81C67068}"/>
              </a:ext>
            </a:extLst>
          </p:cNvPr>
          <p:cNvSpPr/>
          <p:nvPr/>
        </p:nvSpPr>
        <p:spPr>
          <a:xfrm>
            <a:off x="6369737" y="3756484"/>
            <a:ext cx="271426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Calibrado: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209CEDFA-27E1-46FC-BD58-7428F890E0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6553208"/>
              </p:ext>
            </p:extLst>
          </p:nvPr>
        </p:nvGraphicFramePr>
        <p:xfrm>
          <a:off x="1776345" y="1776484"/>
          <a:ext cx="396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3B453FA9-25B5-4ED9-8C4A-0DFAF4F97A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706747"/>
              </p:ext>
            </p:extLst>
          </p:nvPr>
        </p:nvGraphicFramePr>
        <p:xfrm>
          <a:off x="1776345" y="4200141"/>
          <a:ext cx="396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EACA2FEA-AD11-4D4C-B2B0-15928C124B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6921383"/>
              </p:ext>
            </p:extLst>
          </p:nvPr>
        </p:nvGraphicFramePr>
        <p:xfrm>
          <a:off x="6402994" y="1787784"/>
          <a:ext cx="396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B65741A4-094D-4B88-84C4-9FBC2E10D4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2881747"/>
              </p:ext>
            </p:extLst>
          </p:nvPr>
        </p:nvGraphicFramePr>
        <p:xfrm>
          <a:off x="6412695" y="4163462"/>
          <a:ext cx="396000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119539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A42594D-309E-AECC-D823-BF009B915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A2478DD-AA5F-BD98-F918-9531FA016DD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6" imgH="428" progId="TCLayout.ActiveDocument.1">
                  <p:embed/>
                </p:oleObj>
              </mc:Choice>
              <mc:Fallback>
                <p:oleObj name="Diapositiva de think-cell" r:id="rId4" imgW="426" imgH="42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2478DD-AA5F-BD98-F918-9531FA016D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Marcador de texto 3">
            <a:extLst>
              <a:ext uri="{FF2B5EF4-FFF2-40B4-BE49-F238E27FC236}">
                <a16:creationId xmlns:a16="http://schemas.microsoft.com/office/drawing/2014/main" id="{364BF630-D8D0-903B-7AA6-C3B0C0B17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37" y="260790"/>
            <a:ext cx="8326867" cy="44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9" tIns="45720" rIns="91439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PE"/>
            </a:defPPr>
            <a:lvl1pPr marL="329340" indent="-329340" algn="l" defTabSz="1317365" rtl="0" eaLnBrk="1" latinLnBrk="0" hangingPunct="1">
              <a:lnSpc>
                <a:spcPct val="90000"/>
              </a:lnSpc>
              <a:spcBef>
                <a:spcPts val="1441"/>
              </a:spcBef>
              <a:buFont typeface="Arial" panose="020B0604020202020204" pitchFamily="34" charset="0"/>
              <a:buChar char="•"/>
              <a:defRPr sz="4035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988022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3457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646705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881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30538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964069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b="0" i="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3622751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8143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40114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98797" indent="-329340" algn="l" defTabSz="1317365" rtl="0" eaLnBrk="1" latinLnBrk="0" hangingPunct="1">
              <a:lnSpc>
                <a:spcPct val="90000"/>
              </a:lnSpc>
              <a:spcBef>
                <a:spcPts val="720"/>
              </a:spcBef>
              <a:buFont typeface="Arial" panose="020B0604020202020204" pitchFamily="34" charset="0"/>
              <a:buChar char="•"/>
              <a:defRPr sz="259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s-PE" altLang="es-PE" sz="2400">
                <a:solidFill>
                  <a:srgbClr val="005F1E"/>
                </a:solidFill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Comp. BN </a:t>
            </a:r>
            <a:r>
              <a:rPr kumimoji="0" lang="es-PE" altLang="es-PE" sz="2400" b="0" i="0" u="none" strike="noStrike" kern="1200" cap="none" spc="0" normalizeH="0" baseline="0" noProof="0">
                <a:ln>
                  <a:noFill/>
                </a:ln>
                <a:solidFill>
                  <a:srgbClr val="005F1E"/>
                </a:solidFill>
                <a:effectLst/>
                <a:uLnTx/>
                <a:uFillTx/>
                <a:latin typeface="Poppins SemiBold" pitchFamily="2" charset="77"/>
                <a:ea typeface="Geometria" panose="020B0503020204020204" pitchFamily="34" charset="0"/>
                <a:cs typeface="Poppins SemiBold" pitchFamily="2" charset="77"/>
              </a:rPr>
              <a:t>| 7 Grupos - </a:t>
            </a:r>
            <a:r>
              <a:rPr lang="es-PE" altLang="es-PE" sz="2400">
                <a:solidFill>
                  <a:srgbClr val="87938C"/>
                </a:solidFill>
                <a:latin typeface="Poppins SemiBold" pitchFamily="2" charset="77"/>
                <a:cs typeface="Poppins SemiBold" pitchFamily="2" charset="77"/>
              </a:rPr>
              <a:t>Resultados Calibración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F58E8722-2912-85C0-CD66-B8CC1EB84A86}"/>
              </a:ext>
            </a:extLst>
          </p:cNvPr>
          <p:cNvSpPr txBox="1"/>
          <p:nvPr/>
        </p:nvSpPr>
        <p:spPr>
          <a:xfrm>
            <a:off x="10558187" y="3236463"/>
            <a:ext cx="10075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>
                <a:solidFill>
                  <a:schemeClr val="bg2">
                    <a:lumMod val="50000"/>
                  </a:schemeClr>
                </a:solidFill>
                <a:latin typeface="Poppins"/>
                <a:cs typeface="Poppins"/>
              </a:rPr>
              <a:t>202401-202504</a:t>
            </a:r>
            <a:endParaRPr kumimoji="0" lang="es-PE" sz="80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651363A-8AB9-5324-0C91-D6C5F25CD49A}"/>
              </a:ext>
            </a:extLst>
          </p:cNvPr>
          <p:cNvSpPr txBox="1"/>
          <p:nvPr/>
        </p:nvSpPr>
        <p:spPr>
          <a:xfrm>
            <a:off x="8644071" y="2724050"/>
            <a:ext cx="5522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32.03%</a:t>
            </a:r>
            <a:endParaRPr lang="es-PE" sz="8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7B5CB7A-EDD3-A8FF-88B1-ACF1FD78A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045672"/>
              </p:ext>
            </p:extLst>
          </p:nvPr>
        </p:nvGraphicFramePr>
        <p:xfrm>
          <a:off x="6496037" y="1578025"/>
          <a:ext cx="5295926" cy="1901848"/>
        </p:xfrm>
        <a:graphic>
          <a:graphicData uri="http://schemas.openxmlformats.org/drawingml/2006/table">
            <a:tbl>
              <a:tblPr/>
              <a:tblGrid>
                <a:gridCol w="1225563">
                  <a:extLst>
                    <a:ext uri="{9D8B030D-6E8A-4147-A177-3AD203B41FA5}">
                      <a16:colId xmlns:a16="http://schemas.microsoft.com/office/drawing/2014/main" val="2116249832"/>
                    </a:ext>
                  </a:extLst>
                </a:gridCol>
                <a:gridCol w="1528319">
                  <a:extLst>
                    <a:ext uri="{9D8B030D-6E8A-4147-A177-3AD203B41FA5}">
                      <a16:colId xmlns:a16="http://schemas.microsoft.com/office/drawing/2014/main" val="1710754233"/>
                    </a:ext>
                  </a:extLst>
                </a:gridCol>
                <a:gridCol w="847348">
                  <a:extLst>
                    <a:ext uri="{9D8B030D-6E8A-4147-A177-3AD203B41FA5}">
                      <a16:colId xmlns:a16="http://schemas.microsoft.com/office/drawing/2014/main" val="2932775888"/>
                    </a:ext>
                  </a:extLst>
                </a:gridCol>
                <a:gridCol w="847348">
                  <a:extLst>
                    <a:ext uri="{9D8B030D-6E8A-4147-A177-3AD203B41FA5}">
                      <a16:colId xmlns:a16="http://schemas.microsoft.com/office/drawing/2014/main" val="4155352374"/>
                    </a:ext>
                  </a:extLst>
                </a:gridCol>
                <a:gridCol w="847348">
                  <a:extLst>
                    <a:ext uri="{9D8B030D-6E8A-4147-A177-3AD203B41FA5}">
                      <a16:colId xmlns:a16="http://schemas.microsoft.com/office/drawing/2014/main" val="1041430382"/>
                    </a:ext>
                  </a:extLst>
                </a:gridCol>
              </a:tblGrid>
              <a:tr h="2377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50" b="1" i="0" u="none" strike="noStrike" dirty="0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</a:rPr>
                        <a:t>Grupos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50" b="1" i="0" u="none" strike="noStrike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</a:rPr>
                        <a:t>Apetito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50" b="1" i="0" u="none" strike="noStrike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</a:rPr>
                        <a:t>RD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50" b="1" i="0" u="none" strike="noStrike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</a:rPr>
                        <a:t>PD Cal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50" b="1" i="0" u="none" strike="noStrike">
                          <a:solidFill>
                            <a:srgbClr val="97A19B"/>
                          </a:solidFill>
                          <a:effectLst/>
                          <a:latin typeface="Poppins" panose="00000500000000000000" pitchFamily="2" charset="0"/>
                        </a:rPr>
                        <a:t>N 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6357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PE" sz="1000" b="1" i="0" u="none" strike="noStrike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G1a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2.43% (ex-G1)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0.81%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1.21%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3.18%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439576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G1b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2.43% (ex-G1)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2.08%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2.28%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18.00%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760553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PE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G2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4.60%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4.11%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4.23%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30.74%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05168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PE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G3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6.75%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6.48%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7.39%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</a:rPr>
                        <a:t>8.04%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317970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PE" sz="1000" b="1" i="0" u="none" strike="noStrike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G4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10.08%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10.10%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10.69%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12.57%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236088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PE" sz="1000" b="1" i="0" u="none" strike="noStrike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G5a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32.03% (ex-G5)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18.75%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18.90%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12.47%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501961"/>
                  </a:ext>
                </a:extLst>
              </a:tr>
              <a:tr h="2377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G5b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32.03% (ex-G5)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49.28%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51.33%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PE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Poppins" panose="00000500000000000000" pitchFamily="2" charset="0"/>
                        </a:rPr>
                        <a:t>14.99%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140338"/>
                  </a:ext>
                </a:extLst>
              </a:tr>
            </a:tbl>
          </a:graphicData>
        </a:graphic>
      </p:graphicFrame>
      <p:graphicFrame>
        <p:nvGraphicFramePr>
          <p:cNvPr id="6" name="Chart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9972570"/>
              </p:ext>
            </p:extLst>
          </p:nvPr>
        </p:nvGraphicFramePr>
        <p:xfrm>
          <a:off x="400037" y="1824457"/>
          <a:ext cx="5695963" cy="3387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0B9C7702-B3CD-7859-A801-2BEAF7560976}"/>
              </a:ext>
            </a:extLst>
          </p:cNvPr>
          <p:cNvSpPr/>
          <p:nvPr/>
        </p:nvSpPr>
        <p:spPr>
          <a:xfrm>
            <a:off x="400037" y="1072818"/>
            <a:ext cx="5695963" cy="446602"/>
          </a:xfrm>
          <a:prstGeom prst="round2SameRect">
            <a:avLst/>
          </a:prstGeom>
          <a:solidFill>
            <a:srgbClr val="549E39">
              <a:lumMod val="50000"/>
            </a:srgbClr>
          </a:solidFill>
          <a:ln w="12700" cap="flat" cmpd="sng" algn="ctr">
            <a:solidFill>
              <a:srgbClr val="2A4F1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600" b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RD 12 y PD calibrada por mes</a:t>
            </a:r>
            <a:endParaRPr kumimoji="0" lang="es-PE" sz="16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ángulo: esquinas superiores redondeadas 11">
            <a:extLst>
              <a:ext uri="{FF2B5EF4-FFF2-40B4-BE49-F238E27FC236}">
                <a16:creationId xmlns:a16="http://schemas.microsoft.com/office/drawing/2014/main" id="{24C6978D-44F1-0751-706C-237662F3F8C4}"/>
              </a:ext>
            </a:extLst>
          </p:cNvPr>
          <p:cNvSpPr/>
          <p:nvPr/>
        </p:nvSpPr>
        <p:spPr>
          <a:xfrm>
            <a:off x="6496038" y="1072818"/>
            <a:ext cx="5295926" cy="446602"/>
          </a:xfrm>
          <a:prstGeom prst="round2SameRect">
            <a:avLst/>
          </a:prstGeom>
          <a:solidFill>
            <a:srgbClr val="549E39">
              <a:lumMod val="50000"/>
            </a:srgbClr>
          </a:solidFill>
          <a:ln w="12700" cap="flat" cmpd="sng" algn="ctr">
            <a:solidFill>
              <a:srgbClr val="2A4F1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600" b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Grupos </a:t>
            </a:r>
            <a:endParaRPr kumimoji="0" lang="es-PE" sz="16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4" name="Chart 2">
            <a:extLst>
              <a:ext uri="{FF2B5EF4-FFF2-40B4-BE49-F238E27FC236}">
                <a16:creationId xmlns:a16="http://schemas.microsoft.com/office/drawing/2014/main" id="{00000000-0008-0000-02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0325995"/>
              </p:ext>
            </p:extLst>
          </p:nvPr>
        </p:nvGraphicFramePr>
        <p:xfrm>
          <a:off x="6496037" y="3538478"/>
          <a:ext cx="5295926" cy="2612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4418312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Verde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Verde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Verde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Verde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61F605C0F39E4198EEE3F14454EDCB" ma:contentTypeVersion="10" ma:contentTypeDescription="Create a new document." ma:contentTypeScope="" ma:versionID="6300a2ccc5347812439a75198dadd591">
  <xsd:schema xmlns:xsd="http://www.w3.org/2001/XMLSchema" xmlns:xs="http://www.w3.org/2001/XMLSchema" xmlns:p="http://schemas.microsoft.com/office/2006/metadata/properties" xmlns:ns3="e445a953-2d2d-416e-84a1-4b8e5a70c573" targetNamespace="http://schemas.microsoft.com/office/2006/metadata/properties" ma:root="true" ma:fieldsID="8a7a20888f80e163133785e306d4222c" ns3:_="">
    <xsd:import namespace="e445a953-2d2d-416e-84a1-4b8e5a70c57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5a953-2d2d-416e-84a1-4b8e5a70c57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45a953-2d2d-416e-84a1-4b8e5a70c573" xsi:nil="true"/>
  </documentManagement>
</p:properties>
</file>

<file path=customXml/itemProps1.xml><?xml version="1.0" encoding="utf-8"?>
<ds:datastoreItem xmlns:ds="http://schemas.openxmlformats.org/officeDocument/2006/customXml" ds:itemID="{588990EE-AEC1-47E4-84F4-8677027738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CCB019-F02A-47FD-87CB-D866EFC79127}">
  <ds:schemaRefs>
    <ds:schemaRef ds:uri="e445a953-2d2d-416e-84a1-4b8e5a70c5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B255AFD-4EDA-43CC-8BD7-D4B28195C89A}">
  <ds:schemaRefs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e445a953-2d2d-416e-84a1-4b8e5a70c573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6037</TotalTime>
  <Words>2430</Words>
  <Application>Microsoft Office PowerPoint</Application>
  <PresentationFormat>Panorámica</PresentationFormat>
  <Paragraphs>667</Paragraphs>
  <Slides>13</Slides>
  <Notes>12</Notes>
  <HiddenSlides>1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Poppins</vt:lpstr>
      <vt:lpstr>Poppins SemiBold</vt:lpstr>
      <vt:lpstr>Wingdings</vt:lpstr>
      <vt:lpstr>Tema de Office</vt:lpstr>
      <vt:lpstr>Diapositiva de think-cell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Acosta Tapia, Carlos Alberto</dc:creator>
  <cp:lastModifiedBy>CARLOS</cp:lastModifiedBy>
  <cp:revision>9</cp:revision>
  <dcterms:created xsi:type="dcterms:W3CDTF">2026-06-09T00:48:15Z</dcterms:created>
  <dcterms:modified xsi:type="dcterms:W3CDTF">2026-07-31T08:18:30Z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0x0101003861F605C0F39E4198EEE3F14454EDCB</vt:lpwstr>
  </property>
</Properties>
</file>