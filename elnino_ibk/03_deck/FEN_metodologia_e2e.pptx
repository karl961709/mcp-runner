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352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FEN · RIESGO DE CRÉDITO · METODOLOGÍA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Los cinco pasos,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 los insumos a la PD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91056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160934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Daño físico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84448" y="161848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 ( severidad , recurrencia , fragilidad , exposición , atribución 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567928" y="1618488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DesInventar 1970-2015 · INDECI 2003-2020 · SINPAD · CENEPRED · ICEN del IGP · cuencas del ANA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" y="2029968"/>
            <a:ext cx="11057839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17627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78408" y="2194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Afectación económica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84448" y="2203704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 ( actividad económica del distrito , sector del cliente 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567928" y="2203704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Censo 2017, PEA por rama · IMARPE y PRODUCE · SINPAD agropecuario · ADEX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66928" y="2615184"/>
            <a:ext cx="11057839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761488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8408" y="27797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Rezago de recuperación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84448" y="278892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 ( consumo observado , su propia tendencia 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67928" y="27889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Índice de consumo IBK+ por departamento · SARIMA sobre el nivel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" y="3200400"/>
            <a:ext cx="11057839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34670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78408" y="33649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Ubicación del cliente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584448" y="3374136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f ( distrito ) en admisión · y = f ( latitud , longitud ) en stock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567928" y="3374136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RENIEC 98,08% · punto censal 75,88% del stock · OpenStreetMap · SRTM 30 m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6928" y="3785616"/>
            <a:ext cx="11057839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93192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78408" y="395020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PD estresada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84448" y="395935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PD* = f ( PD calibrada , escenario nacional , los tres mapas , sector 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567928" y="3959352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8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aplica DESPUÉS de la calibración: no toca el modelo ni el ancla LRA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66928" y="4370832"/>
            <a:ext cx="11057839" cy="7315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33" name="Shape 31"/>
          <p:cNvSpPr/>
          <p:nvPr/>
        </p:nvSpPr>
        <p:spPr>
          <a:xfrm>
            <a:off x="566928" y="4608576"/>
            <a:ext cx="11057839" cy="47548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663440"/>
            <a:ext cx="1076523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PD estresada es POST-CALIBRACIÓN.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overlay se aplica encima de la PD ya calibrada: el modelo es el mismo todo el año y el overlay se enciende y se apaga con la temporada.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Ventana operativa: enero a abril, vertiente del Pacífico.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Año El Niño = máximo del Índice Costero El Niño entre enero y abril ≥ 1,3, el corte de «Cálida Moderada» del ENFEN.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2 · MAPA DE DAÑO FÍSICO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Dónde el agua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destruye el activo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8" name="Image 0" descr="img/s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72768"/>
            <a:ext cx="2827158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30168" y="1609344"/>
            <a:ext cx="7994599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1609344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3758184" y="1609344"/>
            <a:ext cx="78117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Daño físico = f ( severidad , recurrencia , fragilidad , exposición , atribución 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0168" y="2139696"/>
          <a:ext cx="7994600" cy="1700784"/>
        </p:xfrm>
        <a:graphic>
          <a:graphicData uri="http://schemas.openxmlformats.org/drawingml/2006/table">
            <a:tbl>
              <a:tblPr/>
              <a:tblGrid>
                <a:gridCol w="1918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MIDE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FUENTE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Severidad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damnificados y viviendas destruidas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DesInventar 83 y 98 · INDECI 2017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Recurrencia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cuántos de los 4 eventos se activó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DesInventar · INDECI · SINPAD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Fragilidad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activación en eventos recientes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SINPAD 2017 y 2023-24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Exposición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 de población en zona inundable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CENEPRED, escenario FEN 2023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Atribución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concentración del daño en años El Niño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cuencas del ANA · ICEN del IGP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63016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196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363016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distritos en riesgo alto,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1.891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6188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+0,50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596188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correlación con el daño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habitante de 2017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9360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A814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−0,04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829360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correlación de la pobreza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mismo daño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Ventana: enero a abril, vertiente del Pacífico.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atribución evita marcar cuencas que se inundan todos los años con o sin El Niño.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3 · MAPA DE AFECTACIÓN ECONÓMICA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 quién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se le rompe el ingreso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8" name="Image 0" descr="img/s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572768"/>
            <a:ext cx="2827158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30168" y="1609344"/>
            <a:ext cx="7994599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0" name="Shape 7"/>
          <p:cNvSpPr/>
          <p:nvPr/>
        </p:nvSpPr>
        <p:spPr>
          <a:xfrm>
            <a:off x="3630168" y="1609344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8"/>
          <p:cNvSpPr/>
          <p:nvPr/>
        </p:nvSpPr>
        <p:spPr>
          <a:xfrm>
            <a:off x="3758184" y="1609344"/>
            <a:ext cx="781171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Afectación económica = f ( actividad económica del distrito , sector del cliente )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0168" y="2139696"/>
          <a:ext cx="7994600" cy="1700784"/>
        </p:xfrm>
        <a:graphic>
          <a:graphicData uri="http://schemas.openxmlformats.org/drawingml/2006/table">
            <a:tbl>
              <a:tblPr/>
              <a:tblGrid>
                <a:gridCol w="1918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7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8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QUÉ MIDE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FUENTE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Pesca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cierra la temporada de anchoveta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IMARPE · PRODUCE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Agricultura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pierde la campaña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SINPAD · Censo 2017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Ganadería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 pierde el pasto y el hato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SINPAD · Censo 2017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Agroexportación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calor impide la floración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ADEX · SENAMHI agroclimático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Construcción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gana: la reconstrucción le da trabajo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A9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MEF · BCRP</a:t>
                      </a:r>
                      <a:endParaRPr lang="en-US" sz="8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363016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1,45 M</a:t>
            </a:r>
            <a:endParaRPr lang="en-US" sz="2500" dirty="0"/>
          </a:p>
        </p:txBody>
      </p:sp>
      <p:sp>
        <p:nvSpPr>
          <p:cNvPr id="14" name="Text 10"/>
          <p:cNvSpPr/>
          <p:nvPr/>
        </p:nvSpPr>
        <p:spPr>
          <a:xfrm>
            <a:off x="363016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hectáreas y 3,6 M de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cabezas ya dañadas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96188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A8140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−57%</a:t>
            </a:r>
            <a:endParaRPr lang="en-US" sz="2500" dirty="0"/>
          </a:p>
        </p:txBody>
      </p:sp>
      <p:sp>
        <p:nvSpPr>
          <p:cNvPr id="16" name="Text 12"/>
          <p:cNvSpPr/>
          <p:nvPr/>
        </p:nvSpPr>
        <p:spPr>
          <a:xfrm>
            <a:off x="596188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 de anchoveta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Niño costero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293608" y="4224528"/>
            <a:ext cx="2148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1.891</a:t>
            </a:r>
            <a:endParaRPr lang="en-US" sz="2500" dirty="0"/>
          </a:p>
        </p:txBody>
      </p:sp>
      <p:sp>
        <p:nvSpPr>
          <p:cNvPr id="18" name="Text 14"/>
          <p:cNvSpPr/>
          <p:nvPr/>
        </p:nvSpPr>
        <p:spPr>
          <a:xfrm>
            <a:off x="8293608" y="462686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distritos con PEA</a:t>
            </a:r>
            <a:endParaRPr lang="en-US" sz="900" dirty="0"/>
          </a:p>
          <a:p>
            <a:pPr marL="0" indent="0">
              <a:lnSpc>
                <a:spcPts val="1100"/>
              </a:lnSpc>
              <a:buNone/>
            </a:pPr>
            <a:r>
              <a:rPr lang="en-US" sz="9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rama, sin huecos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0" name="Text 16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El multiplicador sectorial puede ser negativo.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maestro de obra en Catacaos no es un cliente de mayor riesgo por el FEN: es uno de menor riesgo.  ·  La estructura productiva sale del Censo 2017, el último censo nacional: es la única fuente con los 1.891 distritos completos.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PASO 4 · REZAGO DE RECUPERACIÓN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Cuánto tarda la zona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en volver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8" name="Image 0" descr="img/s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65960"/>
            <a:ext cx="6263640" cy="208693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104888" y="1572768"/>
            <a:ext cx="10973" cy="3566160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0" name="Shape 7"/>
          <p:cNvSpPr/>
          <p:nvPr/>
        </p:nvSpPr>
        <p:spPr>
          <a:xfrm>
            <a:off x="7379208" y="1591056"/>
            <a:ext cx="4245559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1" name="Shape 8"/>
          <p:cNvSpPr/>
          <p:nvPr/>
        </p:nvSpPr>
        <p:spPr>
          <a:xfrm>
            <a:off x="7379208" y="1591056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7507224" y="1591056"/>
            <a:ext cx="406267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Rezago = f ( consumo observado , su propia tendencia 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79208" y="2029968"/>
            <a:ext cx="42455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Signo </a:t>
            </a:r>
            <a:r>
              <a:rPr lang="en-US" sz="10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positivo = peor</a:t>
            </a:r>
            <a:r>
              <a:rPr lang="en-US" sz="10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igual que los otros dos mapas: mide cuánto le falta a la zona para volver a donde estaba.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79208" y="2578608"/>
            <a:ext cx="424555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TRES LECTURAS DEL MISMO DATO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379208" y="2816352"/>
            <a:ext cx="4245559" cy="29261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9208" y="2980944"/>
          <a:ext cx="4245559" cy="932688"/>
        </p:xfrm>
        <a:graphic>
          <a:graphicData uri="http://schemas.openxmlformats.org/drawingml/2006/table">
            <a:tbl>
              <a:tblPr/>
              <a:tblGrid>
                <a:gridCol w="1952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3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Variación absoluta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cae nunca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8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falso negativo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 el nacional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A8140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señal invertida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Contra su propia tendencia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−0,75 pp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 válida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7379208" y="4059936"/>
            <a:ext cx="4245559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4"/>
          <p:cNvSpPr/>
          <p:nvPr/>
        </p:nvSpPr>
        <p:spPr>
          <a:xfrm>
            <a:off x="7525512" y="4114800"/>
            <a:ext cx="3952951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Piura durante Yaku subió.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 que crece —construcción, materiales, reposición— está bancarizado; lo que cae —pesca artesanal, agricultura de secano, comercio informal— no lo está. El índice mide la mitad que se beneficia.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379208" y="5047488"/>
            <a:ext cx="42455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 ese repunte es gasto financiado: parece recuperación y es apalancamiento. </a:t>
            </a:r>
            <a:r>
              <a:rPr lang="en-US" sz="95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entra como rezago, no como alivio.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1" name="Text 17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Índice de consumo IBK+, var. % real mensual por departamento.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Ene-2022 a jun-2026, 12 de 25 departamentos — sin Tumbes. La tendencia propia se estima con SARIMA sobre el nivel. Cobertura completa alternativa: Indicador de Actividad Productiva Departamental del INEI o la síntesis regional del BCRP.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UBICACIÓN DEL CLIENTE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Admisión por distrito,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stock por punto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095848" y="1591056"/>
            <a:ext cx="10973" cy="3657600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591056"/>
            <a:ext cx="520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Admisión — el lead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5208880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75104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502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Ubicación = f ( nombre del distrito 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432304"/>
            <a:ext cx="520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98,08%</a:t>
            </a:r>
            <a:r>
              <a:rPr lang="en-US" sz="11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por RENIEC. El domicilio es el del DNI y no hay punto para un tercio de la población de campaña.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999232"/>
            <a:ext cx="520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decisión de admisión —otorgar, línea, plazo y precio— </a:t>
            </a: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requiere más precisión que el distrito</a:t>
            </a:r>
            <a:r>
              <a:rPr lang="en-US" sz="1000" dirty="0">
                <a:solidFill>
                  <a:srgbClr val="A5A5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15888" y="1591056"/>
            <a:ext cx="520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Stock — el cliente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15888" y="1975104"/>
            <a:ext cx="5208880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15888" y="1975104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43904" y="1975104"/>
            <a:ext cx="502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Ubicación = f ( latitud , longitud 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15888" y="2432304"/>
            <a:ext cx="520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75,88%</a:t>
            </a:r>
            <a:r>
              <a:rPr lang="en-US" sz="11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 punto censal. Foto 2017, cae 0,4 pp por mes.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15888" y="2852928"/>
            <a:ext cx="29261" cy="106070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21" name="Text 19"/>
          <p:cNvSpPr/>
          <p:nvPr/>
        </p:nvSpPr>
        <p:spPr>
          <a:xfrm>
            <a:off x="6562192" y="2816352"/>
            <a:ext cx="502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a · El radio se mide desde el cauce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62192" y="3072384"/>
            <a:ext cx="502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 = f ( distancia al cauce , altura sobre el cauce 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62192" y="3310128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 círculo alrededor del cliente: es una franja a lo largo del cauce que se activa. Menos de 500 m y menos de 10 m de altura sobre él → corredor. Hasta 2 km y 25 m → interpolado. Fuera → promedio del distrito.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15888" y="4096512"/>
            <a:ext cx="29261" cy="106070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25" name="Text 23"/>
          <p:cNvSpPr/>
          <p:nvPr/>
        </p:nvSpPr>
        <p:spPr>
          <a:xfrm>
            <a:off x="6562192" y="4059936"/>
            <a:ext cx="502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b · Qué cauce, y cuándo cuenta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62192" y="4315968"/>
            <a:ext cx="502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A9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cauce = f ( punto ) · peso = f ( atribución El Niño de su cuenca 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62192" y="4553712"/>
            <a:ext cx="5026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quebrada es la unidad correcta, no la cuenca: la cuenca es 2,7× más grande que el distrito y no discrimina. La cuenca entra sólo como peso —cuánto de su daño ocurre en años El Niño— no como ubicación.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El total del distrito no cambia: el punto sólo redistribuye adentro.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el punto en 25% de las zonas de riesgo alto contra 16% en Lima; sin esa regla el overlay sería más preciso en Lima que en Piura.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UBICACIÓN DEL STOCK · CÓMO SE DEFINE EL RADIO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El radio se mide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desde el cauce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5727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San Juan de Lurigancho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18105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4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VALLE ANDINO · 188 A 2.184 M</a:t>
            </a:r>
            <a:endParaRPr lang="en-US" sz="750" dirty="0"/>
          </a:p>
        </p:txBody>
      </p:sp>
      <p:pic>
        <p:nvPicPr>
          <p:cNvPr id="10" name="Image 0" descr="img/s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48256"/>
            <a:ext cx="2331720" cy="31937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64408" y="1572768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Olmos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264408" y="18105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4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LLANURA COSTERA · −4 A 1.157 M</a:t>
            </a:r>
            <a:endParaRPr lang="en-US" sz="750" dirty="0"/>
          </a:p>
        </p:txBody>
      </p:sp>
      <p:pic>
        <p:nvPicPr>
          <p:cNvPr id="13" name="Image 1" descr="img/s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2048256"/>
            <a:ext cx="2331720" cy="319375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24728" y="1572768"/>
            <a:ext cx="10973" cy="3749040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5" name="Text 11"/>
          <p:cNvSpPr/>
          <p:nvPr/>
        </p:nvSpPr>
        <p:spPr>
          <a:xfrm>
            <a:off x="6099048" y="1572768"/>
            <a:ext cx="55257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FUNCIÓN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099048" y="1810512"/>
            <a:ext cx="5525719" cy="29261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Shape 13"/>
          <p:cNvSpPr/>
          <p:nvPr/>
        </p:nvSpPr>
        <p:spPr>
          <a:xfrm>
            <a:off x="6099048" y="1938528"/>
            <a:ext cx="5525719" cy="329184"/>
          </a:xfrm>
          <a:prstGeom prst="rect">
            <a:avLst/>
          </a:prstGeom>
          <a:solidFill>
            <a:srgbClr val="F4F5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099048" y="1938528"/>
            <a:ext cx="29261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5"/>
          <p:cNvSpPr/>
          <p:nvPr/>
        </p:nvSpPr>
        <p:spPr>
          <a:xfrm>
            <a:off x="6227064" y="1938528"/>
            <a:ext cx="53428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 = f ( distancia al cauce , altura sobre el cauce 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99048" y="2377440"/>
            <a:ext cx="5525719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es un círculo alrededor del cliente. Es una </a:t>
            </a: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franja a lo largo del cauce que se activa</a:t>
            </a:r>
            <a:r>
              <a:rPr lang="en-US" sz="10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 dentro de ella sólo lo que está </a:t>
            </a:r>
            <a:r>
              <a:rPr lang="en-US" sz="1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 altura del agua</a:t>
            </a:r>
            <a:r>
              <a:rPr lang="en-US" sz="10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El radio se ancla en el cauce, que es el origen del peligro, no en la población.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099048" y="3108960"/>
            <a:ext cx="55257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CUÁNTO DEL DISTRITO QUEDA MARCADO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099048" y="3346704"/>
            <a:ext cx="5525719" cy="29261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9048" y="3511296"/>
          <a:ext cx="5525720" cy="1536192"/>
        </p:xfrm>
        <a:graphic>
          <a:graphicData uri="http://schemas.openxmlformats.org/drawingml/2006/table">
            <a:tbl>
              <a:tblPr/>
              <a:tblGrid>
                <a:gridCol w="2762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LURIGANCHO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OLMOS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 que marca la cuenca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10 m sobre el cauce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6,6%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68,0%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500 m del cauce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2,7%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5,3%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 corredor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1,7%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4,9%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km²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2,5 de 142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263 de 5.370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Shape 19"/>
          <p:cNvSpPr/>
          <p:nvPr/>
        </p:nvSpPr>
        <p:spPr>
          <a:xfrm>
            <a:off x="566928" y="5399532"/>
            <a:ext cx="100584" cy="100584"/>
          </a:xfrm>
          <a:prstGeom prst="rect">
            <a:avLst/>
          </a:prstGeom>
          <a:solidFill>
            <a:srgbClr val="A8140F"/>
          </a:solidFill>
          <a:ln w="3175">
            <a:solidFill>
              <a:srgbClr val="A8140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31520" y="535838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corredor · cumple las dos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2304288" y="5399532"/>
            <a:ext cx="100584" cy="100584"/>
          </a:xfrm>
          <a:prstGeom prst="rect">
            <a:avLst/>
          </a:prstGeom>
          <a:solidFill>
            <a:srgbClr val="FFB347"/>
          </a:solidFill>
          <a:ln w="3175">
            <a:solidFill>
              <a:srgbClr val="FFB34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468880" y="535838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cerca del cauce pero por encima del agua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4041648" y="5399532"/>
            <a:ext cx="100584" cy="100584"/>
          </a:xfrm>
          <a:prstGeom prst="rect">
            <a:avLst/>
          </a:prstGeom>
          <a:solidFill>
            <a:srgbClr val="FFE9B8"/>
          </a:solidFill>
          <a:ln w="3175">
            <a:solidFill>
              <a:srgbClr val="FFE9B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206240" y="535838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 altura del agua pero lejos del cauce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566928" y="5637276"/>
            <a:ext cx="100584" cy="100584"/>
          </a:xfrm>
          <a:prstGeom prst="rect">
            <a:avLst/>
          </a:prstGeom>
          <a:solidFill>
            <a:srgbClr val="0B4D8F"/>
          </a:solidFill>
          <a:ln w="3175">
            <a:solidFill>
              <a:srgbClr val="0B4D8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31520" y="55961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cauce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2304288" y="5637276"/>
            <a:ext cx="100584" cy="100584"/>
          </a:xfrm>
          <a:prstGeom prst="rect">
            <a:avLst/>
          </a:prstGeom>
          <a:solidFill>
            <a:srgbClr val="CFE0F2"/>
          </a:solidFill>
          <a:ln w="3175">
            <a:solidFill>
              <a:srgbClr val="CFE0F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468880" y="55961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distrito · lo que marca la cuenca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4041648" y="5637276"/>
            <a:ext cx="100584" cy="100584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dash"/>
          </a:ln>
        </p:spPr>
      </p:sp>
      <p:sp>
        <p:nvSpPr>
          <p:cNvPr id="35" name="Text 30"/>
          <p:cNvSpPr/>
          <p:nvPr/>
        </p:nvSpPr>
        <p:spPr>
          <a:xfrm>
            <a:off x="4206240" y="5596128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 referencial sobre el cauce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6099048" y="5029200"/>
            <a:ext cx="5525719" cy="7132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7" name="Text 32"/>
          <p:cNvSpPr/>
          <p:nvPr/>
        </p:nvSpPr>
        <p:spPr>
          <a:xfrm>
            <a:off x="6245352" y="5084064"/>
            <a:ext cx="5233111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eso van las dos condiciones.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valle manda la altura: el radio solo sobre-marca 35%. En la llanura manda el radio: la altura casi no filtra —el 68% del distrito está a nivel del cauce— y sobre-marca 7%.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39" name="Text 34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Cauces y bordes distritales de OpenStreetMap; altitud de SRTM 30 m.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Malla de 336 × 307 m en Lurigancho y 1.847 × 1.757 m en Olmos. El borde de Olmos calza con el INEI (5.358 contra 5.361 km²); el de Lurigancho encierra 142 km² contra los 131 km² publicados.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· DE PUNTA A PUNTA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El mismo distrito,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distinto cliente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64208"/>
          <a:ext cx="10836683" cy="2560320"/>
        </p:xfrm>
        <a:graphic>
          <a:graphicData uri="http://schemas.openxmlformats.org/drawingml/2006/table">
            <a:tbl>
              <a:tblPr/>
              <a:tblGrid>
                <a:gridCol w="2875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3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3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0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2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0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495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379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perfil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calibrada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daño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físico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afectación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económica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rezago 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recuperación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ajuste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 hoy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agosto · 18%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 en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  <a:p>
                      <a:pPr marL="0" indent="0" algn="r">
                        <a:buNone/>
                      </a:pPr>
                      <a:r>
                        <a:rPr lang="en-US" sz="800" b="1" kern="0" spc="12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ene-abr · 100%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Chimbote · pescador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+2,36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+1,50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+0,49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8,70%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16,04%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Chimbote · empleado público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7,5%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+2,36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+0,20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+0,34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8,58%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14,96%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Catacaos · comerciante con local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+2,10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+1,00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+0,40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+0,41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6,96%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12,89%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San Isidro · empleado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−1,66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0,00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−0,10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−0,24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3,29%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4,93%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443984"/>
            <a:ext cx="3365906" cy="2560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90288"/>
            <a:ext cx="336590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Mismo distrito, distinto sector. </a:t>
            </a:r>
            <a:r>
              <a:rPr lang="en-US" sz="11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Chimbote el pescador termina en 16,04% y el empleado público en 14,96%: el sector explica 1,1 puntos.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2874" y="4443984"/>
            <a:ext cx="3365906" cy="2560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4252874" y="4590288"/>
            <a:ext cx="336590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peso del mes manda. </a:t>
            </a:r>
            <a:r>
              <a:rPr lang="en-US" sz="11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Hoy el movimiento es chico porque en agosto sólo conocemos el 18% del escenario. En temporada se aplica completo.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38821" y="4443984"/>
            <a:ext cx="3365906" cy="25603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1"/>
          <p:cNvSpPr/>
          <p:nvPr/>
        </p:nvSpPr>
        <p:spPr>
          <a:xfrm>
            <a:off x="7938821" y="4590288"/>
            <a:ext cx="336590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Todos suben, a distinta velocidad. </a:t>
            </a:r>
            <a:r>
              <a:rPr lang="en-US" sz="110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 Isidro también sube porque el escenario mueve la PD del banco; lo que reparte el score es cuánto más, no la dirección.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  <p:sp>
        <p:nvSpPr>
          <p:cNvPr id="16" name="Text 13"/>
          <p:cNvSpPr/>
          <p:nvPr/>
        </p:nvSpPr>
        <p:spPr>
          <a:xfrm>
            <a:off x="566928" y="58978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Los pesos del ejemplo son ilustrativos, no calibrados.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" y="6199632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estiman del spread observado entre zonas en 2017 y 2023, dentro de la caja que garantiza que el ajuste nunca se desborde.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63679" y="0"/>
            <a:ext cx="128016" cy="6858000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384048"/>
            <a:ext cx="100584" cy="100584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301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CRONOGRAMA · AGOSTO 2026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1208" y="566928"/>
            <a:ext cx="11057839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300" dirty="0">
                <a:solidFill>
                  <a:srgbClr val="000000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Roadmap </a:t>
            </a:r>
            <a:r>
              <a:rPr lang="en-US" sz="3300" dirty="0">
                <a:solidFill>
                  <a:srgbClr val="00A94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calibración × FEN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66928" y="1316736"/>
            <a:ext cx="960120" cy="41148"/>
          </a:xfrm>
          <a:prstGeom prst="rect">
            <a:avLst/>
          </a:prstGeom>
          <a:solidFill>
            <a:srgbClr val="00A94F"/>
          </a:solidFill>
          <a:ln/>
        </p:spPr>
      </p:sp>
      <p:sp>
        <p:nvSpPr>
          <p:cNvPr id="7" name="Shape 5"/>
          <p:cNvSpPr/>
          <p:nvPr/>
        </p:nvSpPr>
        <p:spPr>
          <a:xfrm>
            <a:off x="1527048" y="1316736"/>
            <a:ext cx="10097719" cy="41148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8" name="Image 0" descr="img/s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554480"/>
            <a:ext cx="11057839" cy="247293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42048" y="4114800"/>
            <a:ext cx="10973" cy="1463040"/>
          </a:xfrm>
          <a:prstGeom prst="rect">
            <a:avLst/>
          </a:prstGeom>
          <a:solidFill>
            <a:srgbClr val="D8D8D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6446520" cy="1569720"/>
        </p:xfrm>
        <a:graphic>
          <a:graphicData uri="http://schemas.openxmlformats.org/drawingml/2006/table">
            <a:tbl>
              <a:tblPr/>
              <a:tblGrid>
                <a:gridCol w="1869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5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84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FRENTE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ARRANQUE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CIERRE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HÁB.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kern="0" spc="16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RESPONSABLE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Framework calibración × FEN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 3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 7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Carlos Acosta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778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Calibración TC No Bank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 3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 10 ago est.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A94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Carlos Acosta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 VC Cash PP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 10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 21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Carlos Acosta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Adm TC Bank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lun 10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 21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Adrián Kashimirho · préstamos, estrategias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Stock VC · PP y TC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mié 12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 25 ago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6E6E6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Carlos Acosta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470648" y="4023360"/>
            <a:ext cx="415411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20" dirty="0">
                <a:solidFill>
                  <a:srgbClr val="6E6E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BACKLOG DE CALIBRACIONES · SIN FECHA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7470648" y="4261104"/>
            <a:ext cx="4154119" cy="29261"/>
          </a:xfrm>
          <a:prstGeom prst="rect">
            <a:avLst/>
          </a:prstGeom>
          <a:solidFill>
            <a:srgbClr val="000000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70648" y="4407408"/>
          <a:ext cx="4154120" cy="762000"/>
        </p:xfrm>
        <a:graphic>
          <a:graphicData uri="http://schemas.openxmlformats.org/drawingml/2006/table">
            <a:tbl>
              <a:tblPr/>
              <a:tblGrid>
                <a:gridCol w="3157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IL New Bank
</a:t>
                      </a:r>
                      <a:r>
                        <a:rPr lang="en-US" sz="85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nunca se ha calibrado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kern="0" spc="16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TBD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Comportamental BN
</a:t>
                      </a:r>
                      <a:r>
                        <a:rPr lang="en-US" sz="85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 evaluación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kern="0" spc="160" dirty="0">
                          <a:solidFill>
                            <a:srgbClr val="A5A5A5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TBD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470648" y="5193792"/>
            <a:ext cx="4154119" cy="56692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0"/>
          <p:cNvSpPr/>
          <p:nvPr/>
        </p:nvSpPr>
        <p:spPr>
          <a:xfrm>
            <a:off x="7616952" y="5248656"/>
            <a:ext cx="386151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framework es la compuerta: si no cierra el viernes 7, no arranca nada el lunes 10. </a:t>
            </a:r>
            <a:r>
              <a:rPr lang="en-US" sz="10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feriado del jueves 6 quedan cuatro días hábiles para cerrarlo, no cinco.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66928" y="5797296"/>
            <a:ext cx="11057839" cy="10973"/>
          </a:xfrm>
          <a:prstGeom prst="rect">
            <a:avLst/>
          </a:prstGeom>
          <a:solidFill>
            <a:srgbClr val="D8D8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1728</Words>
  <Application>Microsoft Office PowerPoint</Application>
  <PresentationFormat>Panorámica</PresentationFormat>
  <Paragraphs>260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Consolas</vt:lpstr>
      <vt:lpstr>Segoe UI</vt:lpstr>
      <vt:lpstr>Segoe UI Black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CARLOS</cp:lastModifiedBy>
  <cp:revision>2</cp:revision>
  <dcterms:created xsi:type="dcterms:W3CDTF">2026-08-03T20:43:11Z</dcterms:created>
  <dcterms:modified xsi:type="dcterms:W3CDTF">2026-08-03T20:44:01Z</dcterms:modified>
</cp:coreProperties>
</file>