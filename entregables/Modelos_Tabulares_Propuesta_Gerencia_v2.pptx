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7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Modelo tabular pre-entrenado (nuevo)</c:v>
                </c:pt>
              </c:strCache>
            </c:strRef>
          </c:tx>
          <c:spPr>
            <a:solidFill>
              <a:srgbClr val="009F46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Regresión logística</c:v>
                </c:pt>
                <c:pt idx="1">
                  <c:v>TabPFN v1</c:v>
                </c:pt>
                <c:pt idx="2">
                  <c:v>XGBoost</c:v>
                </c:pt>
                <c:pt idx="3">
                  <c:v>Random Forest</c:v>
                </c:pt>
                <c:pt idx="4">
                  <c:v>TabPFN v2</c:v>
                </c:pt>
                <c:pt idx="5">
                  <c:v>LightGBM</c:v>
                </c:pt>
                <c:pt idx="6">
                  <c:v>TabPFN-Real</c:v>
                </c:pt>
                <c:pt idx="7">
                  <c:v>CatBoost</c:v>
                </c:pt>
                <c:pt idx="8">
                  <c:v>TabICL</c:v>
                </c:pt>
              </c:strCache>
            </c:strRef>
          </c:cat>
          <c:val>
            <c:numRef>
              <c:f>Sheet1!$B$2:$B$10</c:f>
              <c:numCache>
                <c:formatCode>0.000;;;</c:formatCode>
                <c:ptCount val="9"/>
                <c:pt idx="0">
                  <c:v>0</c:v>
                </c:pt>
                <c:pt idx="1">
                  <c:v>0.722</c:v>
                </c:pt>
                <c:pt idx="2">
                  <c:v>0</c:v>
                </c:pt>
                <c:pt idx="3">
                  <c:v>0</c:v>
                </c:pt>
                <c:pt idx="4">
                  <c:v>0.7421</c:v>
                </c:pt>
                <c:pt idx="5">
                  <c:v>0</c:v>
                </c:pt>
                <c:pt idx="6">
                  <c:v>0.7474</c:v>
                </c:pt>
                <c:pt idx="7">
                  <c:v>0</c:v>
                </c:pt>
                <c:pt idx="8">
                  <c:v>0.7517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Modelo actual (boosting / clásico)</c:v>
                </c:pt>
              </c:strCache>
            </c:strRef>
          </c:tx>
          <c:spPr>
            <a:solidFill>
              <a:srgbClr val="B9C2BD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Regresión logística</c:v>
                </c:pt>
                <c:pt idx="1">
                  <c:v>TabPFN v1</c:v>
                </c:pt>
                <c:pt idx="2">
                  <c:v>XGBoost</c:v>
                </c:pt>
                <c:pt idx="3">
                  <c:v>Random Forest</c:v>
                </c:pt>
                <c:pt idx="4">
                  <c:v>TabPFN v2</c:v>
                </c:pt>
                <c:pt idx="5">
                  <c:v>LightGBM</c:v>
                </c:pt>
                <c:pt idx="6">
                  <c:v>TabPFN-Real</c:v>
                </c:pt>
                <c:pt idx="7">
                  <c:v>CatBoost</c:v>
                </c:pt>
                <c:pt idx="8">
                  <c:v>TabICL</c:v>
                </c:pt>
              </c:strCache>
            </c:strRef>
          </c:cat>
          <c:val>
            <c:numRef>
              <c:f>Sheet1!$C$2:$C$10</c:f>
              <c:numCache>
                <c:formatCode>0.000;;;</c:formatCode>
                <c:ptCount val="9"/>
                <c:pt idx="0">
                  <c:v>0.7148</c:v>
                </c:pt>
                <c:pt idx="1">
                  <c:v>0</c:v>
                </c:pt>
                <c:pt idx="2">
                  <c:v>0.7244</c:v>
                </c:pt>
                <c:pt idx="3">
                  <c:v>0.7381</c:v>
                </c:pt>
                <c:pt idx="4">
                  <c:v>0</c:v>
                </c:pt>
                <c:pt idx="5">
                  <c:v>0.7468</c:v>
                </c:pt>
                <c:pt idx="6">
                  <c:v>0</c:v>
                </c:pt>
                <c:pt idx="7">
                  <c:v>0.7494</c:v>
                </c:pt>
                <c:pt idx="8">
                  <c:v>0</c:v>
                </c:pt>
              </c:numCache>
            </c:numRef>
          </c:val>
        </c:ser>
        <c:dLbls>
          <c:numFmt formatCode="0.000;;;" sourceLinked="0"/>
          <c:txPr>
            <a:bodyPr/>
            <a:lstStyle/>
            <a:p>
              <a:pPr>
                <a:defRPr sz="1000">
                  <a:solidFill>
                    <a:srgbClr val="333333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1000">
                <a:solidFill>
                  <a:srgbClr val="97A19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6"/>
          <c:min val="0.68"/>
        </c:scaling>
        <c:delete val="0"/>
        <c:axPos val="b"/>
        <c:numFmt formatCode="0.000;;;" sourceLinked="0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1000">
                <a:solidFill>
                  <a:srgbClr val="97A19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7A19B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97A19B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Home Credit</c:v>
                </c:pt>
              </c:strCache>
            </c:strRef>
          </c:tx>
          <c:spPr>
            <a:solidFill>
              <a:srgbClr val="009F4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TabPFN</c:v>
                </c:pt>
                <c:pt idx="1">
                  <c:v>TabICL</c:v>
                </c:pt>
                <c:pt idx="2">
                  <c:v>Random Forest</c:v>
                </c:pt>
                <c:pt idx="3">
                  <c:v>XGBoost</c:v>
                </c:pt>
                <c:pt idx="4">
                  <c:v>LightGBM</c:v>
                </c:pt>
                <c:pt idx="5">
                  <c:v>CatBoost</c:v>
                </c:pt>
              </c:strCache>
            </c:strRef>
          </c:cat>
          <c:val>
            <c:numRef>
              <c:f>Sheet1!$B$2:$B$7</c:f>
              <c:numCache>
                <c:formatCode>0.000</c:formatCode>
                <c:ptCount val="6"/>
                <c:pt idx="0">
                  <c:v>0.786</c:v>
                </c:pt>
                <c:pt idx="1">
                  <c:v>0.771</c:v>
                </c:pt>
                <c:pt idx="2">
                  <c:v>0.739</c:v>
                </c:pt>
                <c:pt idx="3">
                  <c:v>0.719</c:v>
                </c:pt>
                <c:pt idx="4">
                  <c:v>0.713</c:v>
                </c:pt>
                <c:pt idx="5">
                  <c:v>0.638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Lending Club</c:v>
                </c:pt>
              </c:strCache>
            </c:strRef>
          </c:tx>
          <c:spPr>
            <a:solidFill>
              <a:srgbClr val="5A6B61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TabPFN</c:v>
                </c:pt>
                <c:pt idx="1">
                  <c:v>TabICL</c:v>
                </c:pt>
                <c:pt idx="2">
                  <c:v>Random Forest</c:v>
                </c:pt>
                <c:pt idx="3">
                  <c:v>XGBoost</c:v>
                </c:pt>
                <c:pt idx="4">
                  <c:v>LightGBM</c:v>
                </c:pt>
                <c:pt idx="5">
                  <c:v>CatBoost</c:v>
                </c:pt>
              </c:strCache>
            </c:strRef>
          </c:cat>
          <c:val>
            <c:numRef>
              <c:f>Sheet1!$C$2:$C$7</c:f>
              <c:numCache>
                <c:formatCode>0.000</c:formatCode>
                <c:ptCount val="6"/>
                <c:pt idx="0">
                  <c:v>0.705</c:v>
                </c:pt>
                <c:pt idx="1">
                  <c:v>0.713</c:v>
                </c:pt>
                <c:pt idx="2">
                  <c:v>0.703</c:v>
                </c:pt>
                <c:pt idx="3">
                  <c:v>0.718</c:v>
                </c:pt>
                <c:pt idx="4">
                  <c:v>0.65</c:v>
                </c:pt>
                <c:pt idx="5">
                  <c:v>0.655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333333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1000">
                <a:solidFill>
                  <a:srgbClr val="97A19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2"/>
          <c:min val="0.55"/>
        </c:scaling>
        <c:delete val="0"/>
        <c:axPos val="l"/>
        <c:numFmt formatCode="0.000" sourceLinked="0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1000">
                <a:solidFill>
                  <a:srgbClr val="97A19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7A19B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97A19B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Home Credit</c:v>
                </c:pt>
              </c:strCache>
            </c:strRef>
          </c:tx>
          <c:spPr>
            <a:solidFill>
              <a:srgbClr val="009F46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Al azar</c:v>
                </c:pt>
                <c:pt idx="1">
                  <c:v>Estratificada</c:v>
                </c:pt>
                <c:pt idx="2">
                  <c:v>Balanceada 50/50</c:v>
                </c:pt>
                <c:pt idx="3">
                  <c:v>Sobremuestreo</c:v>
                </c:pt>
                <c:pt idx="4">
                  <c:v>SMOTE</c:v>
                </c:pt>
                <c:pt idx="5">
                  <c:v>Por clusters</c:v>
                </c:pt>
                <c:pt idx="6">
                  <c:v>Híbrida</c:v>
                </c:pt>
              </c:strCache>
            </c:strRef>
          </c:cat>
          <c:val>
            <c:numRef>
              <c:f>Sheet1!$B$2:$B$8</c:f>
              <c:numCache>
                <c:formatCode>0.000</c:formatCode>
                <c:ptCount val="7"/>
                <c:pt idx="0">
                  <c:v>0.703</c:v>
                </c:pt>
                <c:pt idx="1">
                  <c:v>0.696</c:v>
                </c:pt>
                <c:pt idx="2">
                  <c:v>0.734</c:v>
                </c:pt>
                <c:pt idx="3">
                  <c:v>0.721</c:v>
                </c:pt>
                <c:pt idx="4">
                  <c:v>0.69</c:v>
                </c:pt>
                <c:pt idx="5">
                  <c:v>0.681</c:v>
                </c:pt>
                <c:pt idx="6">
                  <c:v>0.732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Lending Club</c:v>
                </c:pt>
              </c:strCache>
            </c:strRef>
          </c:tx>
          <c:spPr>
            <a:solidFill>
              <a:srgbClr val="5A6B61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Al azar</c:v>
                </c:pt>
                <c:pt idx="1">
                  <c:v>Estratificada</c:v>
                </c:pt>
                <c:pt idx="2">
                  <c:v>Balanceada 50/50</c:v>
                </c:pt>
                <c:pt idx="3">
                  <c:v>Sobremuestreo</c:v>
                </c:pt>
                <c:pt idx="4">
                  <c:v>SMOTE</c:v>
                </c:pt>
                <c:pt idx="5">
                  <c:v>Por clusters</c:v>
                </c:pt>
                <c:pt idx="6">
                  <c:v>Híbrida</c:v>
                </c:pt>
              </c:strCache>
            </c:strRef>
          </c:cat>
          <c:val>
            <c:numRef>
              <c:f>Sheet1!$C$2:$C$8</c:f>
              <c:numCache>
                <c:formatCode>0.000</c:formatCode>
                <c:ptCount val="7"/>
                <c:pt idx="0">
                  <c:v>0.673</c:v>
                </c:pt>
                <c:pt idx="1">
                  <c:v>0.677</c:v>
                </c:pt>
                <c:pt idx="2">
                  <c:v>0.683</c:v>
                </c:pt>
                <c:pt idx="3">
                  <c:v>0.669</c:v>
                </c:pt>
                <c:pt idx="4">
                  <c:v>0.673</c:v>
                </c:pt>
                <c:pt idx="5">
                  <c:v>0.656</c:v>
                </c:pt>
                <c:pt idx="6">
                  <c:v>0.686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50">
                  <a:solidFill>
                    <a:srgbClr val="333333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950">
                <a:solidFill>
                  <a:srgbClr val="97A19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62"/>
        </c:scaling>
        <c:delete val="0"/>
        <c:axPos val="l"/>
        <c:numFmt formatCode="0.000" sourceLinked="0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950">
                <a:solidFill>
                  <a:srgbClr val="97A19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97A19B"/>
              </a:solidFill>
            </a:defRPr>
          </a:pPr>
        </a:p>
      </c:txPr>
    </c:legend>
    <c:dispBlanksAs val="gap"/>
  </c:chart>
  <c:txPr>
    <a:bodyPr/>
    <a:lstStyle/>
    <a:p>
      <a:pPr>
        <a:defRPr sz="950">
          <a:solidFill>
            <a:srgbClr val="97A19B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Modelo tabular pre-entrenado (nuevo)</c:v>
                </c:pt>
              </c:strCache>
            </c:strRef>
          </c:tx>
          <c:spPr>
            <a:solidFill>
              <a:srgbClr val="009F46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Regresión logística</c:v>
                </c:pt>
                <c:pt idx="1">
                  <c:v>XGBoost</c:v>
                </c:pt>
                <c:pt idx="2">
                  <c:v>LightGBM</c:v>
                </c:pt>
                <c:pt idx="3">
                  <c:v>CatBoost</c:v>
                </c:pt>
                <c:pt idx="4">
                  <c:v>TabPFN 3</c:v>
                </c:pt>
                <c:pt idx="5">
                  <c:v>Mitra</c:v>
                </c:pt>
                <c:pt idx="6">
                  <c:v>TabICL v2</c:v>
                </c:pt>
                <c:pt idx="7">
                  <c:v>TabFM (Google)</c:v>
                </c:pt>
              </c:strCache>
            </c:strRef>
          </c:cat>
          <c:val>
            <c:numRef>
              <c:f>Sheet1!$B$2:$B$9</c:f>
              <c:numCache>
                <c:formatCode>0.000;;;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0.8704</c:v>
                </c:pt>
                <c:pt idx="5">
                  <c:v>0.871</c:v>
                </c:pt>
                <c:pt idx="6">
                  <c:v>0.8717</c:v>
                </c:pt>
                <c:pt idx="7">
                  <c:v>0.8789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Modelo actual (boosting / clásico)</c:v>
                </c:pt>
              </c:strCache>
            </c:strRef>
          </c:tx>
          <c:spPr>
            <a:solidFill>
              <a:srgbClr val="B9C2BD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Regresión logística</c:v>
                </c:pt>
                <c:pt idx="1">
                  <c:v>XGBoost</c:v>
                </c:pt>
                <c:pt idx="2">
                  <c:v>LightGBM</c:v>
                </c:pt>
                <c:pt idx="3">
                  <c:v>CatBoost</c:v>
                </c:pt>
                <c:pt idx="4">
                  <c:v>TabPFN 3</c:v>
                </c:pt>
                <c:pt idx="5">
                  <c:v>Mitra</c:v>
                </c:pt>
                <c:pt idx="6">
                  <c:v>TabICL v2</c:v>
                </c:pt>
                <c:pt idx="7">
                  <c:v>TabFM (Google)</c:v>
                </c:pt>
              </c:strCache>
            </c:strRef>
          </c:cat>
          <c:val>
            <c:numRef>
              <c:f>Sheet1!$C$2:$C$9</c:f>
              <c:numCache>
                <c:formatCode>0.000;;;</c:formatCode>
                <c:ptCount val="8"/>
                <c:pt idx="0">
                  <c:v>0.8475</c:v>
                </c:pt>
                <c:pt idx="1">
                  <c:v>0.8527</c:v>
                </c:pt>
                <c:pt idx="2">
                  <c:v>0.8613</c:v>
                </c:pt>
                <c:pt idx="3">
                  <c:v>0.8651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0.000;;;" sourceLinked="0"/>
          <c:txPr>
            <a:bodyPr/>
            <a:lstStyle/>
            <a:p>
              <a:pPr>
                <a:defRPr sz="1000">
                  <a:solidFill>
                    <a:srgbClr val="333333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1000">
                <a:solidFill>
                  <a:srgbClr val="97A19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9"/>
          <c:min val="0.82"/>
        </c:scaling>
        <c:delete val="0"/>
        <c:axPos val="b"/>
        <c:numFmt formatCode="0.000;;;" sourceLinked="0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1000">
                <a:solidFill>
                  <a:srgbClr val="97A19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7A19B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97A19B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12648" y="2377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9F46"/>
                </a:solidFill>
                <a:latin typeface="Poppins"/>
              </a:rPr>
              <a:t>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063240"/>
            <a:ext cx="877333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Poppins"/>
              </a:rPr>
              <a:t>Modelos tabulares de nueva generación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931920"/>
            <a:ext cx="712833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FCFB0"/>
                </a:solidFill>
                <a:latin typeface="Poppins"/>
              </a:rPr>
              <a:t>Qué son, qué dicen los estudios y cómo podemos aprovecharlos en riesgo de crédito · Setiembre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484632"/>
            <a:ext cx="1096667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Resumen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Un nuevo tipo de modelo ya iguala o supera a XGBoost en crédito, sobre todo cuando hay poca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38376"/>
            <a:ext cx="10966673" cy="2471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Síntesis de 9 estudios de 2025–2026 (ver anexo), incluido uno de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14 carteras de crédito reales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 (Baesens, Lessmann, Bravo et al.).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86330"/>
            <a:ext cx="2597650" cy="123444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12648" y="2186330"/>
            <a:ext cx="27432" cy="123444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2277770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MEJOR AUC EN 14 CARTERAS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60650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0.752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17850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TabICL vs 0.724 de XGBoost (+2.7 pts)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2322" y="2186330"/>
            <a:ext cx="2597650" cy="123444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402322" y="2186330"/>
            <a:ext cx="27432" cy="123444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57770" y="2277770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HOME CREDIT (307K CLIENTES)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770" y="2460650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+6.7</a:t>
            </a:r>
            <a:r>
              <a:rPr sz="1192" b="0" i="0">
                <a:solidFill>
                  <a:srgbClr val="97A19B"/>
                </a:solidFill>
                <a:latin typeface="Poppins"/>
              </a:rPr>
              <a:t>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770" y="2917850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AUC 0.786 vs 0.719 de XGBoost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1996" y="2186330"/>
            <a:ext cx="259765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191996" y="2186330"/>
            <a:ext cx="27432" cy="123444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47444" y="2277770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MÁS RÁPIDO DE CONSTRUIR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444" y="2460650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5,140×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444" y="2917850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2.8 segundos vs 4 horas de tuning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1671" y="2186330"/>
            <a:ext cx="259765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81671" y="2186330"/>
            <a:ext cx="27432" cy="123444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37119" y="2277770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FUE EL MEJOR 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7119" y="2460650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44%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7119" y="2917850"/>
            <a:ext cx="2314186" cy="294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de las pruebas en crédito (vs 16% CatBoost)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3649370"/>
            <a:ext cx="3527541" cy="264170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2648" y="3649370"/>
            <a:ext cx="27432" cy="2641701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8096" y="3740810"/>
            <a:ext cx="3244077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DÓNDE GANA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979443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Carteras chicas o nuevas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183659"/>
            <a:ext cx="3244077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su ventaja es máxima entre 500 y 2,000 clientes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4620666"/>
            <a:ext cx="3244077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8096" y="4894986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Sin tuning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099202"/>
            <a:ext cx="3244077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funciona bien "de fábrica", sin semanas de ajuste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2213" y="3649370"/>
            <a:ext cx="3527541" cy="2641701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332213" y="3649370"/>
            <a:ext cx="27432" cy="2641701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87661" y="3740810"/>
            <a:ext cx="3244077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DÓNDE TODAVÍA 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7661" y="3979443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Carteras grandes y en el tiempo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7661" y="4183659"/>
            <a:ext cx="3244077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con &gt;100K clientes y validación fuera de periodo, XGBoost/CatBoost tuneados siguen ganando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7661" y="4783353"/>
            <a:ext cx="3244077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487661" y="5057673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Operación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7661" y="5261889"/>
            <a:ext cx="3244077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predice en segundos (no milisegundos) y usa GPU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51779" y="3649370"/>
            <a:ext cx="3527541" cy="2641701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051779" y="3649370"/>
            <a:ext cx="27432" cy="2641701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07227" y="3740810"/>
            <a:ext cx="3244077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QUÉ PROPONEMOS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7227" y="3979443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Piloto acotado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7227" y="4183659"/>
            <a:ext cx="3244077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un segmento chico, como modelo challenger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07227" y="4620666"/>
            <a:ext cx="3244077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207227" y="4894986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Sin tocar producción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7227" y="5099202"/>
            <a:ext cx="3244077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decisión go / no-go al cierre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2 de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En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Ejemplo: un modelo de PD para un producto nuevo con 3,000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448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Mismo problema, dos caminos.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La diferencia está en los pasos 2 y 3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: uno se entrena y se tunea, el otro ya viene entrenado. (Caso ilustrativo.)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88412"/>
            <a:ext cx="5387324" cy="278892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2648" y="2388412"/>
            <a:ext cx="27432" cy="27889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2479852"/>
            <a:ext cx="510386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HOY · XGBOOST / 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718485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1. Preparar data y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22701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Athena, target, ventanas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131108"/>
            <a:ext cx="5103860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3176828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2. Entrenar desde cero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381044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el modelo solo conoce estos 3,000 clientes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" y="3589451"/>
            <a:ext cx="5103860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8096" y="3635171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3. Tunear hiperparámetros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839387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profundidad, tasa de aprendizaje, número de árboles…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4047794"/>
            <a:ext cx="5103860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" y="4093514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4. Validar y calibrar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297730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Gini, PSI, calibración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" y="4506137"/>
            <a:ext cx="5103860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8096" y="4551857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5. Llega data nueva → re-entrenar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756073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se repite el ciclo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996" y="2388412"/>
            <a:ext cx="5387324" cy="278892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191996" y="2388412"/>
            <a:ext cx="27432" cy="27889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47444" y="2479852"/>
            <a:ext cx="510386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NUEVO · MODELO TABULAR PRE-ENTRENADO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7444" y="2718485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1. Preparar data y variables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444" y="2922701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igual que hoy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47444" y="3131108"/>
            <a:ext cx="5103860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47444" y="3176828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2. Mostrarle los 3,000 clientes como ejemplos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7444" y="3381044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no se entrena: ya aprendió con millones de tablas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47444" y="3589451"/>
            <a:ext cx="5103860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47444" y="3635171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3. Predice en una sola pasada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7444" y="3839387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sin tuning; segundos en lugar de horas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47444" y="4047794"/>
            <a:ext cx="5103860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47444" y="4093514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4. Validar y calibrar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7444" y="4297730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igual que hoy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47444" y="4506137"/>
            <a:ext cx="5103860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47444" y="4551857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5. Llega data nueva → se agregan ejemplos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7444" y="4756073"/>
            <a:ext cx="5103860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sin re-entrenar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" y="5360212"/>
            <a:ext cx="5387324" cy="93085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12648" y="5360212"/>
            <a:ext cx="27432" cy="93085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68096" y="5451652"/>
            <a:ext cx="510386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ANALOGÍA · HOY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" y="5690285"/>
            <a:ext cx="5103860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Contratamos a un analista sin experiencia y lo capacitamos desde cero para cada cartera. Con pocos casos, aprende poco.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1996" y="5360212"/>
            <a:ext cx="5387324" cy="930859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91996" y="5360212"/>
            <a:ext cx="27432" cy="93085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347444" y="5451652"/>
            <a:ext cx="510386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ANALOGÍA · NUEVO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7444" y="5690285"/>
            <a:ext cx="5103860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Un analista senior que ya vio millones de tablas. Le mostramos casos resueltos y opina de inmediato. Con pocos casos, rinde mejor.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3 de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Qué es, en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Un modelo de IA que ya aprendió a predecir; nosotros solo le enseñamos nuestra cartera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448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Se entrena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una sola vez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 con millones de tablas simuladas. Después, con nuestros clientes marcados como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default = 1 / no default = 0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, estima la PD de clientes nuevos.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88412"/>
            <a:ext cx="3442197" cy="210312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2648" y="2388412"/>
            <a:ext cx="27432" cy="21031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2479852"/>
            <a:ext cx="3158733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① LO HIZO EL PROVEEDOR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718485"/>
            <a:ext cx="3158733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Millones de tablas simuladas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22701"/>
            <a:ext cx="3158733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TabPFN v2: ~130 millones, con ruido, faltantes y desbalance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293795"/>
            <a:ext cx="315873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3339515"/>
            <a:ext cx="3158733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Aprende a aprender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543731"/>
            <a:ext cx="3158733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a encontrar patrones en cualquier tabla, sobre todo problemas "sí / no"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" y="3914825"/>
            <a:ext cx="315873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8096" y="3960545"/>
            <a:ext cx="3158733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Sin data real de bancos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164761"/>
            <a:ext cx="3158733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TabPFN v2, TabICL, TabFM y Mitra: solo tablas simuladas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4885" y="2388412"/>
            <a:ext cx="3442197" cy="210312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74885" y="2388412"/>
            <a:ext cx="27432" cy="21031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30333" y="2479852"/>
            <a:ext cx="3158733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② LO PONEMOS NOSOTROS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0333" y="2718485"/>
            <a:ext cx="3158733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Nuestra cartera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0333" y="2922701"/>
            <a:ext cx="3158733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variables de ingreso, deuda, buró, comportamiento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0333" y="3329686"/>
            <a:ext cx="315873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30333" y="3411296"/>
            <a:ext cx="3158733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Marca default 1 /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0333" y="3615512"/>
            <a:ext cx="3158733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le dice a quién hay que predecir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0333" y="3859809"/>
            <a:ext cx="315873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30333" y="3941419"/>
            <a:ext cx="3158733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Muestra de 5K–50K clientes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0333" y="4145635"/>
            <a:ext cx="3158733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balanceada 50/50: +3 a 4 pts de AUC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7123" y="2388412"/>
            <a:ext cx="3442197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137123" y="2388412"/>
            <a:ext cx="27432" cy="21031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92571" y="2479852"/>
            <a:ext cx="3158733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③ RESULTADO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2571" y="2718485"/>
            <a:ext cx="3158733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PD del cliente nuevo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2571" y="2922701"/>
            <a:ext cx="3158733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en una sola pasada, sin entrenar ni tunear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92571" y="3207689"/>
            <a:ext cx="315873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92571" y="3329990"/>
            <a:ext cx="3158733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Se calibra como hoy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2571" y="3534206"/>
            <a:ext cx="3158733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LRA, PIT/TTC con nuestro marco vigente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92571" y="3819194"/>
            <a:ext cx="315873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92571" y="3941495"/>
            <a:ext cx="3158733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Se valida como hoy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2571" y="4145711"/>
            <a:ext cx="3158733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Gini, PSI, OOT, semáforo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4845" y="3257092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9F46"/>
                </a:solidFill>
                <a:latin typeface="Poppins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7083" y="3257092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9F46"/>
                </a:solidFill>
                <a:latin typeface="Poppin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4692700"/>
            <a:ext cx="109636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Qué es y qué no 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" y="4985308"/>
            <a:ext cx="2597650" cy="1031443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12648" y="4985308"/>
            <a:ext cx="27432" cy="1031443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8096" y="5076748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NO ES UN LLM NI UN SLM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" y="5315381"/>
            <a:ext cx="2314186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Entra una tabla, sale una probabilidad.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02322" y="4985308"/>
            <a:ext cx="2597650" cy="1031443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3402322" y="4985308"/>
            <a:ext cx="27432" cy="1031443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557770" y="5076748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NO ES BOOSTING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57770" y="5315381"/>
            <a:ext cx="2314186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No arma árboles como XGBoost.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91996" y="4985308"/>
            <a:ext cx="2597650" cy="1031443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191996" y="4985308"/>
            <a:ext cx="27432" cy="1031443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347444" y="5076748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NO ES PARAMÉTRICO CLÁSICO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7444" y="5315381"/>
            <a:ext cx="2314186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Parámetros congelados; compara ejemplos.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81671" y="4985308"/>
            <a:ext cx="2597650" cy="1031443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8981671" y="4985308"/>
            <a:ext cx="27432" cy="1031443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37119" y="5076748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SÍ ES 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7119" y="5315381"/>
            <a:ext cx="2314186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Base de ChatGPT, entrenada para tablas.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Las tablas simuladas le enseñaron a predecir 'sí o no'; nuestra data de default le enseña a quién predecir. Fuente: Hollmann et al., Nature 2025.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4 de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Hoy vs nuevo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Se entrena una sola vez con millones de tablas y luego se usa en cualquier cartera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448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Es la misma familia de tecnología que ChatGPT (Transformers), pero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especializada en tablas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: filas = clientes, columnas =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88412"/>
            <a:ext cx="2570218" cy="77724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" y="2461564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5F1E"/>
                </a:solidFill>
                <a:latin typeface="Poppins"/>
              </a:rPr>
              <a:t>Pre-entrenamiento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26156"/>
            <a:ext cx="2460490" cy="294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millones de tablas sintéticas (lo hace el proveedor)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866" y="2388412"/>
            <a:ext cx="2286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1466" y="2388412"/>
            <a:ext cx="2570218" cy="77724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009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66330" y="2461564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5F1E"/>
                </a:solidFill>
                <a:latin typeface="Poppins"/>
              </a:rPr>
              <a:t>Contexto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6330" y="2626156"/>
            <a:ext cx="2460490" cy="294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le pasamos nuestros clientes con su resultado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1684" y="2388412"/>
            <a:ext cx="2286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284" y="2388412"/>
            <a:ext cx="2570218" cy="77724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009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65148" y="2461564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5F1E"/>
                </a:solidFill>
                <a:latin typeface="Poppins"/>
              </a:rPr>
              <a:t>Predicción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5148" y="2626156"/>
            <a:ext cx="246049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PD de clientes nuevos en una pasada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0503" y="2388412"/>
            <a:ext cx="2286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9103" y="2388412"/>
            <a:ext cx="2570218" cy="77724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63967" y="2461564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5F1E"/>
                </a:solidFill>
                <a:latin typeface="Poppins"/>
              </a:rPr>
              <a:t>Calibración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3967" y="2626156"/>
            <a:ext cx="246049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nuestro marco de calibración vigente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2648" y="3394252"/>
          <a:ext cx="10963656" cy="257677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1367"/>
                <a:gridCol w="3837280"/>
                <a:gridCol w="5025009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XGBoost / LightGBM (hoy)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Modelo tabular pre-entrenado (nuevo)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37155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¿Cómo aprende?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Se entrena con nuestra data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Ya viene entrenado; lee nuestros ejemplos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7155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¿Necesita tuning?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Sí: horas o días de pruebas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No: funciona con parámetros de fábrica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7155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¿Con cuánta data rinde?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Mejor con decenas de miles o más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Brilla con 500 a 10,000 clientes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7155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Tiempo de predicción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0.01 segundos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24 a 148 segundos (mismo lote, con GPU)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7155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Explicabilidad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SHAP, estándar de mercado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SHAP posible; sin casos de uso regulatorio publicados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7155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Licencia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Libre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Depende: TabICL, TabPFN v2 y Mitra libres; versiones nuevas de TabPFN y TabFM no comerciales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Tiempos: benchmark de hardware sobre Adult, 48K filas (Gangwani &amp; Bansal, ICML 2025). Rango de data: Hollmann et al., Nature 2025.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5 de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Versiones y proveedores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Hay varias marcas de la misma idea; para un banco pesan la licencia y cuánta data soporta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448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Todas funcionan igual (pre-entrenadas + ejemplos). Cambian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quién las hace, cuánta data aceptan y si se pueden usar comercialmente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" y="2388412"/>
          <a:ext cx="10963656" cy="253105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91057"/>
                <a:gridCol w="1754185"/>
                <a:gridCol w="1578766"/>
                <a:gridCol w="1666476"/>
                <a:gridCol w="1403348"/>
                <a:gridCol w="3069824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Modelo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Quién · año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Data que soporta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Pre-entrenado con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Uso comercial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Lo destacable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36393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TabPFN v2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Prior Labs · 2025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~10K filas · 500 var.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~130M tablas simuladas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Sí · Apache 2.0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Nature: 2.8 s vs 4 h de tuning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393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TabPFN-2.5 / 3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Prior Labs · 2025–26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2.5: 50K filas · 2,000 var.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Tablas simuladas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No · Enterprise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Gana a XGBoost default en 100% de bases ≤10K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393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RealTabPFN-2.5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Prior Labs · 2025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Igual a 2.5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Simuladas + reales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No comercial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Ajustado con data real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393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5F1E"/>
                          </a:solidFill>
                          <a:latin typeface="Poppins"/>
                        </a:rPr>
                        <a:t>TabICL / TabICL v2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5F1E"/>
                          </a:solidFill>
                          <a:latin typeface="Poppins"/>
                        </a:rPr>
                        <a:t>INRIA (Francia) · 2025–26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5F1E"/>
                          </a:solidFill>
                          <a:latin typeface="Poppins"/>
                        </a:rPr>
                        <a:t>Hasta ~500K filas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5F1E"/>
                          </a:solidFill>
                          <a:latin typeface="Poppins"/>
                        </a:rPr>
                        <a:t>Tablas simuladas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5F1E"/>
                          </a:solidFill>
                          <a:latin typeface="Poppins"/>
                        </a:rPr>
                        <a:t>Sí · BSD-3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5F1E"/>
                          </a:solidFill>
                          <a:latin typeface="Poppins"/>
                        </a:rPr>
                        <a:t>Mejor AUC en 14 carteras de crédito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393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TabFM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Google · jun-2026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≤500 variables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Cientos de millones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No · licencia Google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Integrado a BigQuery; top 10 en TabArena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393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Mitra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Amazon (AWS) · 2025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[no publicado]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Tablas simuladas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Sí · Apache 2.0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72M parámetros; en AutoGluon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2648" y="5102352"/>
            <a:ext cx="5387324" cy="91440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2648" y="5102352"/>
            <a:ext cx="27432" cy="91440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5193792"/>
            <a:ext cx="510386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PARA EL PILOTO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432425"/>
            <a:ext cx="5103860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TabICL: licencia abierta, soporta carteras más grandes y lideró el estudio de crédito.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996" y="5102352"/>
            <a:ext cx="5387324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91996" y="5102352"/>
            <a:ext cx="27432" cy="91440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47444" y="5193792"/>
            <a:ext cx="510386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ALTERNATIVAS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444" y="5432425"/>
            <a:ext cx="5103860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TabPFN v2 y Mitra también son de uso comercial libre. TabPFN-2.5+ (destilable a árboles) requiere licencia Enterprise.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Licencias verificadas en GitHub / Hugging Face oficiales (set-2026): licencia de pesos del modelo, no solo del código. Confirmar con Legal.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6 de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Evidencia 1 · 14 carteras de crédito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En el estudio más amplio de crédito, el modelo nuevo tiene el mejor AUC sin ningún ajuste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448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Baesens, Lessmann, Bravo et al. (2026) compararon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29 modelos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 en 14 carteras de PD (1K a 532K clientes, default de 6.7% a 40%) y 7 de LGD.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2648" y="2388412"/>
          <a:ext cx="6492240" cy="35826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33488" y="2388412"/>
            <a:ext cx="4242816" cy="35826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333488" y="2388412"/>
            <a:ext cx="27432" cy="358261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88936" y="2479852"/>
            <a:ext cx="3959352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QUÉ LEER DEL GRÁFICO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2718485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Gini promedio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936" y="2922701"/>
            <a:ext cx="3959352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TabICL 0.504 · CatBoost 0.499 · XGBoost 0.449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88936" y="3325266"/>
            <a:ext cx="3959352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88936" y="3565143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Fue el mejor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3769359"/>
            <a:ext cx="3959352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44% de las pruebas un modelo tabular nuevo quedó 1.°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88936" y="4171924"/>
            <a:ext cx="3959352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88936" y="4411802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LGD también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4616018"/>
            <a:ext cx="3959352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TabPFN v2 R² 0.446 vs XGBoost 0.433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88936" y="5018582"/>
            <a:ext cx="3959352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88936" y="5258460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Ojo con la calibración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5462676"/>
            <a:ext cx="3959352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CatBoost calibra mejor (Brier 0.133 vs 0.162 de TabICL): la PD debe recalibrarse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Fuente: Baesens, Goethals, Lessmann, Bravo, Martens, Óskarsdóttir, Verbeke et al. (2026). Foundation Models for Credit Risk Prediction: A Game Changer? arXiv 2605.18147. AUC promedio de 14 carteras.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7 de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Evidencia 2 · Home Credit y Lending 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Con 50K ejemplos, el modelo nuevo gana en Home Credit y empata en Lending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448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Dos carteras grandes de consumo: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Home Credit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 (307K solicitudes, 8% default) y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Lending Club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 (533K préstamos, corte temporal 2019).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2648" y="2388412"/>
          <a:ext cx="6492240" cy="35826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33488" y="2388412"/>
            <a:ext cx="4242816" cy="35826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333488" y="2388412"/>
            <a:ext cx="27432" cy="358261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88936" y="2479852"/>
            <a:ext cx="3959352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QUÉ LEER DEL GRÁFICO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2718485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Home Credit: +6.7 pts de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936" y="2922701"/>
            <a:ext cx="3959352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TabPFN 0.786 vs XGBoost 0.719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88936" y="3298139"/>
            <a:ext cx="3959352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88936" y="3510889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Lending Club: empate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3715105"/>
            <a:ext cx="3959352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XGBoost 0.718 vs TabICL 0.713; data plana y temporal favorece a los árboles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88936" y="4253230"/>
            <a:ext cx="3959352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88936" y="4465980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Con menos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4670196"/>
            <a:ext cx="3959352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en Home Credit, con 5K–10K ejemplos ya iguala a modelos entrenados con 246K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88936" y="5208320"/>
            <a:ext cx="3959352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88936" y="5421071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Salvedad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5625287"/>
            <a:ext cx="3959352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XGBoost y LightGBM corrieron sin tuning ni pesos por clase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Fuente: Tanna et al. (2026). Data Presentation Over Architecture: Resampling Strategies for Credit Risk Prediction with TFMs. arXiv 2605.18635. Modelos nuevos con 50K ejemplos balanceados.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8 de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Evidencia 3 · Cómo le mostramos la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Qué ejemplos le mostramos importa más que qué modelo nuevo elegimos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448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Si 92% de los ejemplos son buenos pagadores, el modelo tiende a ver a todos como buenos.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Balancear 50/50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 sube el AUC entre 3 y 4 puntos.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2648" y="2388412"/>
          <a:ext cx="6492240" cy="35826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33488" y="2388412"/>
            <a:ext cx="4242816" cy="35826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333488" y="2388412"/>
            <a:ext cx="27432" cy="358261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88936" y="2479852"/>
            <a:ext cx="3959352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QUÉ SIGNIFICA PARA NOSOTROS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2718485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La data es la palanca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936" y="2922701"/>
            <a:ext cx="3959352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armar bien la muestra de ejemplos vale más que cambiar de modelo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88936" y="3460826"/>
            <a:ext cx="3959352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88936" y="3673576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Cuánta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3877792"/>
            <a:ext cx="3959352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ventaja máxima con 500–2,000 clientes; se achica hacia 15,000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88936" y="4415917"/>
            <a:ext cx="3959352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88936" y="4628667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En LGD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4832883"/>
            <a:ext cx="3959352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XGBoost lo alcanza y supera desde ~8,000 casos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88936" y="5208320"/>
            <a:ext cx="3959352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88936" y="5421071"/>
            <a:ext cx="39593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Nuestro know-how aplica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5625287"/>
            <a:ext cx="3959352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muestreo, ventanas y target siguen siendo nuestro trabajo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Fuentes: Tanna et al. (2026), arXiv 2605.18635 (AUC promedio de 5 modelos nuevos por estrategia) · Baesens et al. (2026), arXiv 2605.18147 (curvas de aprendizaje).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9 de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Evidencia 4 · Benchmarks generales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Fuera de crédito el patrón se repite: TabFM de Google lidera en 15 de 19 bases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2471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Benchmark independiente de 19 bases públicas (435 a 48,800 filas),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todos los modelos sin tuning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2648" y="2186330"/>
          <a:ext cx="6035040" cy="37847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76288" y="2186330"/>
          <a:ext cx="4700015" cy="1444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80006"/>
                <a:gridCol w="940003"/>
                <a:gridCol w="940003"/>
                <a:gridCol w="940003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Base (AUC)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TabFM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XGBoost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LightGBM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German Credit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0.809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0.765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0.767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Bank Marketing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0.947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0.932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0.937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Adult (ingresos)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0.932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0.927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0.930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876288" y="3813962"/>
            <a:ext cx="4700016" cy="105156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76288" y="3813962"/>
            <a:ext cx="27432" cy="105156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31736" y="3905402"/>
            <a:ext cx="441655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NATURE 2025 · TABPFN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4088282"/>
            <a:ext cx="441655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2.8 s vs 4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4545482"/>
            <a:ext cx="4416552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mejor resultado que un ensamble tuneado 4 horas: 5,140× más rápido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5002682"/>
            <a:ext cx="4700016" cy="96834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76288" y="5002682"/>
            <a:ext cx="27432" cy="96834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31736" y="5094122"/>
            <a:ext cx="4416552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EN 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5332755"/>
            <a:ext cx="4416552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German Credit es una cartera de crédito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6" y="5536971"/>
            <a:ext cx="4416552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+4.4 pts de AUC sobre XGBoost sin ajustar nada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Fuentes: AIMultiple Tabular Models Benchmark (jul-2026), promedio ROC-AUC en 15 bases binarias · Hollmann et al. (2025), Nature 637:319–326.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10 de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Dónde gana y dónde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El benchmark más grande (142 bases) marca con claridad cuándo usarlo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448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Purucker, Varoquaux, Hutter et al. (2026) probaron 11 modelos con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tuning completo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 (~US$ 50K de cómputo). Esto es lo que encontraron: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" y="2388412"/>
          <a:ext cx="10963656" cy="35826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0914"/>
                <a:gridCol w="2192731"/>
                <a:gridCol w="603001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Situación de la data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Quién gana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Traducción a nuestras carteras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46216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Muy chica (&lt; 1,000 filas)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Modelo nuevo, con claridad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Productos nuevos, pilotos comerciales, LGD con pocos casos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6216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Chica (1,000 – 10,000)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Modelo nuevo (ventaja menor)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No Bancarizado, nichos de Banca Negocio, carteras de bajo default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621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Mediana (10,000 – 100,000)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Empate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Segmentos medianos: vale la pena comparar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621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Grande (&gt; 100,000)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Boosting tuneado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Carteras masivas de Banca Persona (TC, PP)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621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Validación en el tiempo (OOT)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Boosting tuneado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Nuestro estándar de validación: punto a probar en el piloto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621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Más de 100 variables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Boosting tuneado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Modelos con buró completo y muchas variables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621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Categorías con &gt; 50 valores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Boosting tuneado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Ubigeo, CIIU, códigos de comercio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Fuente: Purucker, Varoquaux, Hutter et al. (2026). Beyond IID: How General Are Tabular Foundation Models, Really? arXiv 2606.30410. La 3.ª columna es nuestra lectura.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11 de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Lo que cuesta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Tiene costos: es más lento, necesita GPU y su nivel de confianza requiere calibrar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2471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Por eso lo proponemos para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procesos batch y como challenger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, no para decisiones en tiempo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86330"/>
            <a:ext cx="534617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Mismo lote de 48K clientes (base Adult)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" y="2506370"/>
          <a:ext cx="5346176" cy="20482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84052"/>
                <a:gridCol w="1188039"/>
                <a:gridCol w="1188039"/>
                <a:gridCol w="138604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Modelo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Tiempo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Memoria GPU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XGBoost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87.5%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0.01 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 GB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LightGBM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87.5%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0.14 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 GB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TabPFN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86.0%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24.3 s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2.2 GB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TabICL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85.7%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148.2 s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8.2 GB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33144" y="2186330"/>
            <a:ext cx="534617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Qué tan confiable es su nivel de confianza (112 bases)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33144" y="2506370"/>
          <a:ext cx="5346176" cy="20482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73088"/>
                <a:gridCol w="1336544"/>
                <a:gridCol w="133654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Familia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AUC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Cobertura *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Modelos nuevos (TabPFN, TabICL…)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0.874 – 0.890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0.494 – 0.517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XGBoost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0.862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0.540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LightGBM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0.864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0.544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CatBoost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0.864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0.532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2648" y="4828946"/>
            <a:ext cx="5387324" cy="114208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2648" y="4828946"/>
            <a:ext cx="27432" cy="1142085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4920386"/>
            <a:ext cx="510386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EN SIMPLE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159019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Tiempo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363235"/>
            <a:ext cx="5103860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XGBoost responde en centésimas de segundo; el nuevo, en segundos o minutos por lote. En este lote la diferencia de accuracy no fue significativa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1996" y="4828946"/>
            <a:ext cx="5387324" cy="1142085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91996" y="4828946"/>
            <a:ext cx="27432" cy="1142085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47444" y="4920386"/>
            <a:ext cx="510386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EN SIMPLE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444" y="5159019"/>
            <a:ext cx="5103860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Confianza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444" y="5363235"/>
            <a:ext cx="5103860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ordena mejor a los clientes, pero su PD cruda es menos confiable: se calibra, como ya hacemos hoy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* Cobertura condicional (SSCS): mayor = incertidumbre mejor estimada. Fuentes: Gangwani &amp; Bansal, ICML 2025, arXiv 2512.00888 · De Melo Costa et al., ESANN 2026, arXiv 2605.28554.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12 de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Limitaciones y costos para Perú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Hay opciones sin costo de licencia, pero la data no puede salir del banco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2471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Tres de los modelos permiten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uso comercial gratuito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; el costo real está en el cómputo GPU y en correrlo dentro de nuestra nube.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186330"/>
            <a:ext cx="2597650" cy="118872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2648" y="2186330"/>
            <a:ext cx="27432" cy="11887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2277770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LICENCIA PARA EL PILOTO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60650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S/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17850"/>
            <a:ext cx="2314186" cy="294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TabICL (BSD-3), TabPFN v2, Mitra (Apache 2.0)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2322" y="2186330"/>
            <a:ext cx="2597650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402322" y="2186330"/>
            <a:ext cx="27432" cy="11887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57770" y="2277770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LICENCIA VERSIONES NUEVAS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770" y="2460650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[cotizar]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770" y="2917850"/>
            <a:ext cx="2314186" cy="294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TabPFN-2.5+ (Enterprise) y TabFM (Google)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1996" y="2186330"/>
            <a:ext cx="2597650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91996" y="2186330"/>
            <a:ext cx="27432" cy="11887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47444" y="2277770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MEMORIA GPU POR LOTE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444" y="2460650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2–9</a:t>
            </a:r>
            <a:r>
              <a:rPr sz="1192" b="0" i="0">
                <a:solidFill>
                  <a:srgbClr val="97A19B"/>
                </a:solidFill>
                <a:latin typeface="Poppins"/>
              </a:rPr>
              <a:t>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444" y="2917850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medido en lote de 48K filas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1671" y="2186330"/>
            <a:ext cx="2597650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981671" y="2186330"/>
            <a:ext cx="27432" cy="11887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37119" y="2277770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COSTO GPU EN AWS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7119" y="2460650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[cotizar]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7119" y="2917850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instancia SageMaker, con TI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12648" y="3576218"/>
          <a:ext cx="10963656" cy="23948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1367"/>
                <a:gridCol w="4750918"/>
                <a:gridCol w="411137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Limitación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Qué dice la fuente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Qué implica para IBK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4094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Licencia de los pesos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TabPFN-2.5 a 3.5 y TabFM: pesos "no comerciales"; producción exige licencia pagada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Piloto con TabICL o TabPFN v2; lo demás solo en evaluación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094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API en la nube del proveedor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tabpfn-client envía la data a servidores de Prior Labs y pide no subir datos personales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Solo instalación local en nuestra AWS (secreto bancario y datos personales: validar con Legal)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094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Velocidad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24 a 148 s por lote vs 0.01 s de XGBoost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Procesos batch; no apto para originación en línea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094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Tamaño de data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TabPFN v2 ~10K filas; TabFM ≤500 variables y ≤10 clases; TabICL ~500K filas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Muestras de 5K–50K; carteras masivas siguen con boosting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094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Soporte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TabFM: "not an officially supported Google product"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oppins"/>
                        </a:rPr>
                        <a:t>Mantenimiento con equipo interno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Fuentes: repositorios oficiales en GitHub / Hugging Face y README de tabpfn-client (revisados set-2026) · Gangwani &amp; Bansal, ICML 2025.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13 de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Qué ganamos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4577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Cuatro ganancias concretas, sin reemplazar lo que ya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335532"/>
            <a:ext cx="10966673" cy="2471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Las cifras vienen de los estudios; el impacto en soles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se estima con nuestros datos en el piloto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783994"/>
            <a:ext cx="2597650" cy="123444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2648" y="1783994"/>
            <a:ext cx="27432" cy="123444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1875434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DISCRIMINACIÓN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8314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+6.7</a:t>
            </a:r>
            <a:r>
              <a:rPr sz="1192" b="0" i="0">
                <a:solidFill>
                  <a:srgbClr val="97A19B"/>
                </a:solidFill>
                <a:latin typeface="Poppins"/>
              </a:rPr>
              <a:t>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515514"/>
            <a:ext cx="2314186" cy="294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de AUC vs XGBoost (rango +2.7 a +6.7)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2322" y="1783994"/>
            <a:ext cx="259765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402322" y="1783994"/>
            <a:ext cx="27432" cy="123444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57770" y="1875434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TIEMPO DE MODELAMIENTO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770" y="2058314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4 h → 2.8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770" y="2515514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se elimina el tuning (Nature 2025)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1996" y="1783994"/>
            <a:ext cx="259765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91996" y="1783994"/>
            <a:ext cx="27432" cy="123444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47444" y="1875434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MAYOR VENTAJA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444" y="2058314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500–2,000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444" y="2515514"/>
            <a:ext cx="2314186" cy="294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clientes: rango donde más supera al boosting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1671" y="1783994"/>
            <a:ext cx="259765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981671" y="1783994"/>
            <a:ext cx="27432" cy="123444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37119" y="1875434"/>
            <a:ext cx="231418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IMPACTO EN SOLES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7119" y="2058314"/>
            <a:ext cx="231418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005F1E"/>
                </a:solidFill>
                <a:latin typeface="Poppins"/>
              </a:rPr>
              <a:t>[completar]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7119" y="2515514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pérdida evitada por punto de Gini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3247034"/>
            <a:ext cx="2597650" cy="28275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12648" y="3247034"/>
            <a:ext cx="27432" cy="282759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68096" y="3338474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1 · VELOCIDAD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577107"/>
            <a:ext cx="2314186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Prototipos en días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3781323"/>
            <a:ext cx="2314186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primer modelo sin semanas de tuning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" y="4381017"/>
            <a:ext cx="2314186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8096" y="4655337"/>
            <a:ext cx="2314186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Horas-analista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4859553"/>
            <a:ext cx="2314186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[completar: estimado interno]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02322" y="3247034"/>
            <a:ext cx="2597650" cy="2827599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3402322" y="3247034"/>
            <a:ext cx="27432" cy="282759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557770" y="3338474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2 · NUEVOS SEGMENTOS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7770" y="3577107"/>
            <a:ext cx="2314186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Donde hoy no llegamos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57770" y="3781323"/>
            <a:ext cx="2314186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productos nuevos, No Bancarizado, bajo default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57770" y="4381017"/>
            <a:ext cx="2314186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557770" y="4655337"/>
            <a:ext cx="2314186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Más aprobación con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57770" y="4859553"/>
            <a:ext cx="2314186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[completar: impacto esperado]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1996" y="3247034"/>
            <a:ext cx="2597650" cy="28275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191996" y="3247034"/>
            <a:ext cx="27432" cy="282759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347444" y="3338474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3 · MEJOR ORDENAMIENTO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7444" y="3577107"/>
            <a:ext cx="2314186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Carteras chicas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7444" y="3781323"/>
            <a:ext cx="2314186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mejor Gini = mejor separación de buenos y malos pagadores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47444" y="4381017"/>
            <a:ext cx="2314186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347444" y="4655337"/>
            <a:ext cx="2314186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LGD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7444" y="4859553"/>
            <a:ext cx="2314186" cy="325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TabPFN v2 R² 0.446 vs XGBoost 0.433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81671" y="3247034"/>
            <a:ext cx="2597650" cy="28275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981671" y="3247034"/>
            <a:ext cx="27432" cy="282759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137119" y="3338474"/>
            <a:ext cx="2314186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4 · CONTROL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37119" y="3577107"/>
            <a:ext cx="2314186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Modelo challenger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37119" y="3781323"/>
            <a:ext cx="2314186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contraste independiente al oficial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37119" y="4218330"/>
            <a:ext cx="2314186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37119" y="4492650"/>
            <a:ext cx="2314186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Alerta temprana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7119" y="4696866"/>
            <a:ext cx="2314186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si ambos divergen, se revisa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14 de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Cómo lograrlo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4577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Un piloto acotado, medible y sin tocar los modelos en producción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335532"/>
            <a:ext cx="10966673" cy="2471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Cuatro etapas con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criterios de éxito definidos antes de empezar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783994"/>
            <a:ext cx="2570218" cy="73152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009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" y="1857146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5F1E"/>
                </a:solidFill>
                <a:latin typeface="Poppins"/>
              </a:rPr>
              <a:t>1. Elegir caso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21738"/>
            <a:ext cx="246049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segmento chico con historia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866" y="1783994"/>
            <a:ext cx="2286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1466" y="1783994"/>
            <a:ext cx="2570218" cy="73152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66330" y="1857146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5F1E"/>
                </a:solidFill>
                <a:latin typeface="Poppins"/>
              </a:rPr>
              <a:t>2. Comparar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6330" y="2021738"/>
            <a:ext cx="246049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nuevo vs XGBoost / LightGBM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1684" y="1783994"/>
            <a:ext cx="2286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284" y="1783994"/>
            <a:ext cx="2570218" cy="73152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65148" y="1857146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5F1E"/>
                </a:solidFill>
                <a:latin typeface="Poppins"/>
              </a:rPr>
              <a:t>3. Validar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5148" y="2021738"/>
            <a:ext cx="246049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OOT, PSI, calibración, tiempos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0503" y="1783994"/>
            <a:ext cx="2286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9103" y="1783994"/>
            <a:ext cx="2570218" cy="73152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63967" y="1857146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5F1E"/>
                </a:solidFill>
                <a:latin typeface="Poppins"/>
              </a:rPr>
              <a:t>4. Decidir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3967" y="2021738"/>
            <a:ext cx="2460490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6615A"/>
                </a:solidFill>
                <a:latin typeface="Poppins"/>
              </a:rPr>
              <a:t>escalar o descartar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2648" y="2744114"/>
          <a:ext cx="10963657" cy="35469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9400"/>
                <a:gridCol w="4851175"/>
                <a:gridCol w="3201776"/>
                <a:gridCol w="1261306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Etapa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Qué hacemos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Criterio de éxito (propuesto)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Duración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79987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1. Elegir caso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Segmento de 1K–10K clientes (ej. No Bancarizado) con misma data del modelo vigente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Caso aprobado con Riesgo de Modelo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[completar]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79987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2. Comparar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Modelo nuevo vs actual, misma muestra; probar muestreo balanceado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AUC / Gini ≥ modelo vigente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[completar]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79987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3. Validar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Fuera de periodo (OOT), PSI, calibración con nuestro marco, tiempos batch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PSI &lt; 0.10 (umbral usual) y calibración en verde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[completar]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79987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4. Decidir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Presentar a Gerencia y Riesgo de Modelo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Recomendación go / no-go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[completar]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15 de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Qué necesitamos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8605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El piloto usa lo que ya tenemos; lo nuevo es cómputo GPU y licencia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8376"/>
            <a:ext cx="10966673" cy="2471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La data y la plataforma ya existen en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AWS (Athena y SageMaker)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186330"/>
            <a:ext cx="3527541" cy="133776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2648" y="2186330"/>
            <a:ext cx="27432" cy="1337767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2277770"/>
            <a:ext cx="3244077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16403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Un segmento piloto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720619"/>
            <a:ext cx="3244077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ya disponible en Athena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2929026"/>
            <a:ext cx="3244077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2974746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Misma data del modelo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178962"/>
            <a:ext cx="3244077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para comparar justo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2213" y="2186330"/>
            <a:ext cx="3527541" cy="133776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32213" y="2186330"/>
            <a:ext cx="27432" cy="1337767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87661" y="2277770"/>
            <a:ext cx="3244077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TECNOLOGÍA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7661" y="2516403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SageMaker con GPU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7661" y="2720619"/>
            <a:ext cx="3244077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instancia temporal: 2–9 GB de memoria GPU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7661" y="2929026"/>
            <a:ext cx="3244077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87661" y="2974746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Costo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7661" y="3178962"/>
            <a:ext cx="3244077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[completar con TI]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1779" y="2186330"/>
            <a:ext cx="3527541" cy="133776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51779" y="2186330"/>
            <a:ext cx="27432" cy="1337767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07227" y="2277770"/>
            <a:ext cx="3244077" cy="147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9F46"/>
                </a:solidFill>
                <a:latin typeface="Poppins"/>
              </a:rPr>
              <a:t>EQUIPO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7227" y="2516403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1 analista + Model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7227" y="2720619"/>
            <a:ext cx="3244077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dedicación parcial (propuesta)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07227" y="2929026"/>
            <a:ext cx="3244077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07227" y="2974746"/>
            <a:ext cx="3244077" cy="185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5F1E"/>
                </a:solidFill>
                <a:latin typeface="Poppins"/>
              </a:rPr>
              <a:t>Riesgo de Modelo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7227" y="3178962"/>
            <a:ext cx="3244077" cy="162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6615A"/>
                </a:solidFill>
                <a:latin typeface="Poppins"/>
              </a:rPr>
              <a:t>revisión del piloto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12648" y="3798417"/>
          <a:ext cx="10963656" cy="2172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2731"/>
                <a:gridCol w="2375459"/>
                <a:gridCol w="4020007"/>
                <a:gridCol w="2375459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Modelo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Quién lo desarrolla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Licencia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Rol en el piloto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45628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TabICL / TabICL v2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INRIA (Francia)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BSD-3: uso comercial permitido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5F1E"/>
                          </a:solidFill>
                          <a:latin typeface="Poppins"/>
                        </a:rPr>
                        <a:t>Modelo principal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5628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TabPFN v2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Prior Labs (Alemania)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Apache 2.0 + atribución: comercial permitido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Segundo challenger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5628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Mitra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Amazon (AWS)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Apache 2.0: comercial permitido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Opcional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45628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TabPFN-2.5 / 3 · TabFM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Prior Labs · Google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Pesos no comerciales; producción requiere licencia pagada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Solo prueba / evaluación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2648" y="6071616"/>
            <a:ext cx="10963656" cy="131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Licencias de los pesos verificadas en GitHub / Hugging Face oficiales (set-2026). Confirmar con Legal antes del piloto.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16 de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512064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5120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Riesgos y cómo los cubrimos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86384"/>
            <a:ext cx="10966673" cy="4577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Los riesgos son conocidos y el diseño del piloto los controla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335532"/>
            <a:ext cx="10966673" cy="2471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Por eso se propone como </a:t>
            </a:r>
            <a:r>
              <a:rPr sz="1300" b="1" i="0">
                <a:solidFill>
                  <a:srgbClr val="005F1E"/>
                </a:solidFill>
                <a:latin typeface="Poppins"/>
              </a:rPr>
              <a:t>modelo challenger</a:t>
            </a:r>
            <a:r>
              <a:rPr sz="1300" b="0" i="0">
                <a:solidFill>
                  <a:srgbClr val="333333"/>
                </a:solidFill>
                <a:latin typeface="Poppins"/>
              </a:rPr>
              <a:t>, no como reemplazo.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" y="1783994"/>
          <a:ext cx="10963657" cy="4507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5459"/>
                <a:gridCol w="4294099"/>
                <a:gridCol w="4294099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Riesgo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Qué dicen los estudios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Cómo lo mitigamos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6932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Velocidad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24 a 148 s por lote vs 0.01 s de XGBoost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Uso en procesos batch, no en tiempo real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6932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Estabilidad en el tiempo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Rinde menos en validación temporal (OOT)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Validación OOT y PSI como criterio de éxito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6932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Calibración de la PD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Brier 0.162 vs 0.133 de CatBoost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Aplicar nuestro marco de calibración vigente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6932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Confianza de la predicción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Cobertura 0.49–0.52 vs 0.53–0.54 de boosting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Monitoreo y bandas de confianza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6932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Explicabilidad ante la SBS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Sin casos de uso regulatorio publicados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Modelo oficial se mantiene; SHAP como soporte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6932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Licencia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TabPFN-2.5+ y TabFM: pesos no comerciales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Poppins"/>
                        </a:rPr>
                        <a:t>Usar TabICL / TabPFN v2 (uso comercial libre)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17 de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484632"/>
            <a:ext cx="1096667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F46"/>
                </a:solidFill>
                <a:latin typeface="Poppins"/>
              </a:rPr>
              <a:t>Anexo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786384"/>
            <a:ext cx="10966673" cy="4577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5F1E"/>
                </a:solidFill>
                <a:latin typeface="Poppins"/>
              </a:rPr>
              <a:t>Fuentes utilizadas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" y="1427378"/>
          <a:ext cx="10963656" cy="486369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030011"/>
                <a:gridCol w="3471824"/>
                <a:gridCol w="146182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Estudio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Qué aporta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5F1E"/>
                          </a:solidFill>
                          <a:latin typeface="Poppins"/>
                        </a:rPr>
                        <a:t>Tipo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50180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Baesens, Lessmann, Bravo et al. (2026). Foundation Models for Credit Risk Prediction. arXiv 2605.18147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14 carteras PD + 7 LGD, 29 modelos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Preprint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50180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Tanna et al. (2026). Resampling Strategies for Credit Risk with TFMs. arXiv 2605.18635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Home Credit y Lending Club; muestreo del contexto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Preprint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50180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Purucker, Varoquaux, Hutter et al. (2026). Beyond IID. arXiv 2606.30410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142 bases; dónde gana cada familia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Preprint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50180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Hollmann et al. (2025). Accurate predictions on small data… Nature 637:319–326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TabPFN; 5,140× más rápido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Revista (Nature)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50180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De Melo Costa et al. (2026). Uncertainty Benchmarking for TFMs. ESANN 2026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Confianza de la predicción, 112 bases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Conferencia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50180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Gangwani &amp; Bansal (2025). Hidden Hardware Cost of Zero-Shot TFMs. ICML 2025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Tiempos y memoria GPU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Conferencia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50180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Grinsztajn et al. (2025). TabPFN-2.5. arXiv 2511.08667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Capacidad 50K filas; destilación a árboles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Preprint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50180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Qu et al. (2025). TabICL. ICML 2025, arXiv 2502.05564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Hasta ~500K filas; licencia abierta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Conferencia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50180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AIMultiple (2026). Tabular Models Benchmark: 19 datasets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TabFM de Google vs XGBoost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Poppins"/>
                        </a:rPr>
                        <a:t>Practitioner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5F1E"/>
                </a:solidFill>
                <a:latin typeface="Poppins"/>
              </a:rPr>
              <a:t>Modelos tabulares de nueva generación</a:t>
            </a:r>
            <a:r>
              <a:rPr sz="850" b="0" i="0">
                <a:solidFill>
                  <a:srgbClr val="97A19B"/>
                </a:solidFill>
                <a:latin typeface="Poppins"/>
              </a:rPr>
              <a:t> · Gestión de Riesgos · Propuesta a Gerencia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7A19B"/>
                </a:solidFill>
                <a:latin typeface="Poppins"/>
              </a:rPr>
              <a:t>18 de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12648" y="2377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9F46"/>
                </a:solidFill>
                <a:latin typeface="Poppi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063240"/>
            <a:ext cx="877333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Poppins"/>
              </a:rPr>
              <a:t>Lo que pedimos 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931920"/>
            <a:ext cx="712833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FCFB0"/>
                </a:solidFill>
                <a:latin typeface="Poppins"/>
              </a:rPr>
              <a:t>Aprobar un piloto acotado con un modelo tabular pre-entrenado (TabICL) como challenger en un segmento chico, con criterios de éxito definidos y decisión go / no-go al cierre.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