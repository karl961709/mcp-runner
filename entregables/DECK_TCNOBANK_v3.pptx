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N1</c:v>
                </c:pt>
              </c:strCache>
            </c:strRef>
          </c:tx>
          <c:spPr>
            <a:ln w="25400">
              <a:solidFill>
                <a:srgbClr val="00703C"/>
              </a:solidFill>
            </a:ln>
          </c:spPr>
          <c:marker>
            <c:symbol val="diamond"/>
            <c:size val="4"/>
            <c:spPr>
              <a:solidFill>
                <a:srgbClr val="00703C"/>
              </a:solidFill>
              <a:ln>
                <a:solidFill>
                  <a:srgbClr val="00703C"/>
                </a:solidFill>
              </a:ln>
            </c:spPr>
          </c:marker>
          <c:cat>
            <c:strRef>
              <c:f>Sheet1!$A$2:$A$19</c:f>
              <c:strCache>
                <c:ptCount val="18"/>
                <c:pt idx="0">
                  <c:v>01-24</c:v>
                </c:pt>
                <c:pt idx="1">
                  <c:v>02-24</c:v>
                </c:pt>
                <c:pt idx="2">
                  <c:v>03-24</c:v>
                </c:pt>
                <c:pt idx="3">
                  <c:v>04-24</c:v>
                </c:pt>
                <c:pt idx="4">
                  <c:v>05-24</c:v>
                </c:pt>
                <c:pt idx="5">
                  <c:v>06-24</c:v>
                </c:pt>
                <c:pt idx="6">
                  <c:v>07-24</c:v>
                </c:pt>
                <c:pt idx="7">
                  <c:v>08-24</c:v>
                </c:pt>
                <c:pt idx="8">
                  <c:v>09-24</c:v>
                </c:pt>
                <c:pt idx="9">
                  <c:v>10-24</c:v>
                </c:pt>
                <c:pt idx="10">
                  <c:v>11-24</c:v>
                </c:pt>
                <c:pt idx="11">
                  <c:v>12-24</c:v>
                </c:pt>
                <c:pt idx="12">
                  <c:v>01-25</c:v>
                </c:pt>
                <c:pt idx="13">
                  <c:v>02-25</c:v>
                </c:pt>
                <c:pt idx="14">
                  <c:v>03-25</c:v>
                </c:pt>
                <c:pt idx="15">
                  <c:v>04-25</c:v>
                </c:pt>
                <c:pt idx="16">
                  <c:v>05-25</c:v>
                </c:pt>
                <c:pt idx="17">
                  <c:v>06-25</c:v>
                </c:pt>
              </c:strCache>
            </c:strRef>
          </c:cat>
          <c:val>
            <c:numRef>
              <c:f>Sheet1!$B$2:$B$19</c:f>
              <c:numCache>
                <c:formatCode>0.0"%"</c:formatCode>
                <c:ptCount val="18"/>
                <c:pt idx="0">
                  <c:v>6.67</c:v>
                </c:pt>
                <c:pt idx="1">
                  <c:v>10.93</c:v>
                </c:pt>
                <c:pt idx="2">
                  <c:v>6.04</c:v>
                </c:pt>
                <c:pt idx="3">
                  <c:v>7.17</c:v>
                </c:pt>
                <c:pt idx="4">
                  <c:v>5.33</c:v>
                </c:pt>
                <c:pt idx="5">
                  <c:v>5.95</c:v>
                </c:pt>
                <c:pt idx="6">
                  <c:v>5.6</c:v>
                </c:pt>
                <c:pt idx="7">
                  <c:v>6.05</c:v>
                </c:pt>
                <c:pt idx="8">
                  <c:v>4.29</c:v>
                </c:pt>
                <c:pt idx="9">
                  <c:v>6.28</c:v>
                </c:pt>
                <c:pt idx="10">
                  <c:v>3.34</c:v>
                </c:pt>
                <c:pt idx="11">
                  <c:v>2.4300000000000002</c:v>
                </c:pt>
                <c:pt idx="12">
                  <c:v>2.0499999999999998</c:v>
                </c:pt>
                <c:pt idx="13">
                  <c:v>4.04</c:v>
                </c:pt>
                <c:pt idx="14">
                  <c:v>2.38</c:v>
                </c:pt>
                <c:pt idx="15">
                  <c:v>1.74</c:v>
                </c:pt>
                <c:pt idx="16">
                  <c:v>2.93</c:v>
                </c:pt>
                <c:pt idx="17">
                  <c:v>2.0499999999999998</c:v>
                </c:pt>
              </c:numCache>
            </c:numRef>
          </c:val>
          <c:smooth val="0"/>
          <c:extLst>
            <c:ext xmlns:c16="http://schemas.microsoft.com/office/drawing/2014/chart" uri="{C3380CC4-5D6E-409C-BE32-E72D297353CC}">
              <c16:uniqueId val="{00000000-4B3E-42F1-A7A6-2709B2610413}"/>
            </c:ext>
          </c:extLst>
        </c:ser>
        <c:ser>
          <c:idx val="1"/>
          <c:order val="1"/>
          <c:tx>
            <c:strRef>
              <c:f>Sheet1!$C$1</c:f>
              <c:strCache>
                <c:ptCount val="1"/>
                <c:pt idx="0">
                  <c:v>N2</c:v>
                </c:pt>
              </c:strCache>
            </c:strRef>
          </c:tx>
          <c:spPr>
            <a:ln w="25400">
              <a:solidFill>
                <a:srgbClr val="8A6410"/>
              </a:solidFill>
            </a:ln>
          </c:spPr>
          <c:marker>
            <c:symbol val="square"/>
            <c:size val="4"/>
            <c:spPr>
              <a:solidFill>
                <a:srgbClr val="8A6410"/>
              </a:solidFill>
              <a:ln>
                <a:solidFill>
                  <a:srgbClr val="8A6410"/>
                </a:solidFill>
              </a:ln>
            </c:spPr>
          </c:marker>
          <c:cat>
            <c:strRef>
              <c:f>Sheet1!$A$2:$A$19</c:f>
              <c:strCache>
                <c:ptCount val="18"/>
                <c:pt idx="0">
                  <c:v>01-24</c:v>
                </c:pt>
                <c:pt idx="1">
                  <c:v>02-24</c:v>
                </c:pt>
                <c:pt idx="2">
                  <c:v>03-24</c:v>
                </c:pt>
                <c:pt idx="3">
                  <c:v>04-24</c:v>
                </c:pt>
                <c:pt idx="4">
                  <c:v>05-24</c:v>
                </c:pt>
                <c:pt idx="5">
                  <c:v>06-24</c:v>
                </c:pt>
                <c:pt idx="6">
                  <c:v>07-24</c:v>
                </c:pt>
                <c:pt idx="7">
                  <c:v>08-24</c:v>
                </c:pt>
                <c:pt idx="8">
                  <c:v>09-24</c:v>
                </c:pt>
                <c:pt idx="9">
                  <c:v>10-24</c:v>
                </c:pt>
                <c:pt idx="10">
                  <c:v>11-24</c:v>
                </c:pt>
                <c:pt idx="11">
                  <c:v>12-24</c:v>
                </c:pt>
                <c:pt idx="12">
                  <c:v>01-25</c:v>
                </c:pt>
                <c:pt idx="13">
                  <c:v>02-25</c:v>
                </c:pt>
                <c:pt idx="14">
                  <c:v>03-25</c:v>
                </c:pt>
                <c:pt idx="15">
                  <c:v>04-25</c:v>
                </c:pt>
                <c:pt idx="16">
                  <c:v>05-25</c:v>
                </c:pt>
                <c:pt idx="17">
                  <c:v>06-25</c:v>
                </c:pt>
              </c:strCache>
            </c:strRef>
          </c:cat>
          <c:val>
            <c:numRef>
              <c:f>Sheet1!$C$2:$C$19</c:f>
              <c:numCache>
                <c:formatCode>0.0"%"</c:formatCode>
                <c:ptCount val="18"/>
                <c:pt idx="0">
                  <c:v>8.92</c:v>
                </c:pt>
                <c:pt idx="1">
                  <c:v>8.16</c:v>
                </c:pt>
                <c:pt idx="2">
                  <c:v>9.35</c:v>
                </c:pt>
                <c:pt idx="3">
                  <c:v>8.2200000000000006</c:v>
                </c:pt>
                <c:pt idx="4">
                  <c:v>7.97</c:v>
                </c:pt>
                <c:pt idx="5">
                  <c:v>6.92</c:v>
                </c:pt>
                <c:pt idx="6">
                  <c:v>8.73</c:v>
                </c:pt>
                <c:pt idx="7">
                  <c:v>6.31</c:v>
                </c:pt>
                <c:pt idx="8">
                  <c:v>6.27</c:v>
                </c:pt>
                <c:pt idx="9">
                  <c:v>6.94</c:v>
                </c:pt>
                <c:pt idx="10">
                  <c:v>6.44</c:v>
                </c:pt>
                <c:pt idx="11">
                  <c:v>4.82</c:v>
                </c:pt>
                <c:pt idx="12">
                  <c:v>4.4800000000000004</c:v>
                </c:pt>
                <c:pt idx="13">
                  <c:v>5.4</c:v>
                </c:pt>
                <c:pt idx="14">
                  <c:v>4.46</c:v>
                </c:pt>
                <c:pt idx="15">
                  <c:v>3.72</c:v>
                </c:pt>
                <c:pt idx="16">
                  <c:v>5.65</c:v>
                </c:pt>
                <c:pt idx="17">
                  <c:v>5.43</c:v>
                </c:pt>
              </c:numCache>
            </c:numRef>
          </c:val>
          <c:smooth val="0"/>
          <c:extLst>
            <c:ext xmlns:c16="http://schemas.microsoft.com/office/drawing/2014/chart" uri="{C3380CC4-5D6E-409C-BE32-E72D297353CC}">
              <c16:uniqueId val="{00000001-4B3E-42F1-A7A6-2709B2610413}"/>
            </c:ext>
          </c:extLst>
        </c:ser>
        <c:ser>
          <c:idx val="2"/>
          <c:order val="2"/>
          <c:tx>
            <c:strRef>
              <c:f>Sheet1!$D$1</c:f>
              <c:strCache>
                <c:ptCount val="1"/>
                <c:pt idx="0">
                  <c:v>N3</c:v>
                </c:pt>
              </c:strCache>
            </c:strRef>
          </c:tx>
          <c:spPr>
            <a:ln w="25400">
              <a:solidFill>
                <a:srgbClr val="C55A11"/>
              </a:solidFill>
            </a:ln>
          </c:spPr>
          <c:marker>
            <c:symbol val="triangle"/>
            <c:size val="4"/>
            <c:spPr>
              <a:solidFill>
                <a:srgbClr val="C55A11"/>
              </a:solidFill>
              <a:ln>
                <a:solidFill>
                  <a:srgbClr val="C55A11"/>
                </a:solidFill>
              </a:ln>
            </c:spPr>
          </c:marker>
          <c:cat>
            <c:strRef>
              <c:f>Sheet1!$A$2:$A$19</c:f>
              <c:strCache>
                <c:ptCount val="18"/>
                <c:pt idx="0">
                  <c:v>01-24</c:v>
                </c:pt>
                <c:pt idx="1">
                  <c:v>02-24</c:v>
                </c:pt>
                <c:pt idx="2">
                  <c:v>03-24</c:v>
                </c:pt>
                <c:pt idx="3">
                  <c:v>04-24</c:v>
                </c:pt>
                <c:pt idx="4">
                  <c:v>05-24</c:v>
                </c:pt>
                <c:pt idx="5">
                  <c:v>06-24</c:v>
                </c:pt>
                <c:pt idx="6">
                  <c:v>07-24</c:v>
                </c:pt>
                <c:pt idx="7">
                  <c:v>08-24</c:v>
                </c:pt>
                <c:pt idx="8">
                  <c:v>09-24</c:v>
                </c:pt>
                <c:pt idx="9">
                  <c:v>10-24</c:v>
                </c:pt>
                <c:pt idx="10">
                  <c:v>11-24</c:v>
                </c:pt>
                <c:pt idx="11">
                  <c:v>12-24</c:v>
                </c:pt>
                <c:pt idx="12">
                  <c:v>01-25</c:v>
                </c:pt>
                <c:pt idx="13">
                  <c:v>02-25</c:v>
                </c:pt>
                <c:pt idx="14">
                  <c:v>03-25</c:v>
                </c:pt>
                <c:pt idx="15">
                  <c:v>04-25</c:v>
                </c:pt>
                <c:pt idx="16">
                  <c:v>05-25</c:v>
                </c:pt>
                <c:pt idx="17">
                  <c:v>06-25</c:v>
                </c:pt>
              </c:strCache>
            </c:strRef>
          </c:cat>
          <c:val>
            <c:numRef>
              <c:f>Sheet1!$D$2:$D$19</c:f>
              <c:numCache>
                <c:formatCode>0.0"%"</c:formatCode>
                <c:ptCount val="18"/>
                <c:pt idx="0">
                  <c:v>14.87</c:v>
                </c:pt>
                <c:pt idx="1">
                  <c:v>16.18</c:v>
                </c:pt>
                <c:pt idx="2">
                  <c:v>14.8</c:v>
                </c:pt>
                <c:pt idx="3">
                  <c:v>14.13</c:v>
                </c:pt>
                <c:pt idx="4">
                  <c:v>13.29</c:v>
                </c:pt>
                <c:pt idx="5">
                  <c:v>12.74</c:v>
                </c:pt>
                <c:pt idx="6">
                  <c:v>14.27</c:v>
                </c:pt>
                <c:pt idx="7">
                  <c:v>11.23</c:v>
                </c:pt>
                <c:pt idx="8">
                  <c:v>10.17</c:v>
                </c:pt>
                <c:pt idx="9">
                  <c:v>11.59</c:v>
                </c:pt>
                <c:pt idx="10">
                  <c:v>8.35</c:v>
                </c:pt>
                <c:pt idx="11">
                  <c:v>7.69</c:v>
                </c:pt>
                <c:pt idx="12">
                  <c:v>6.45</c:v>
                </c:pt>
                <c:pt idx="13">
                  <c:v>7.24</c:v>
                </c:pt>
                <c:pt idx="14">
                  <c:v>7.61</c:v>
                </c:pt>
                <c:pt idx="15">
                  <c:v>6.89</c:v>
                </c:pt>
                <c:pt idx="16">
                  <c:v>6.85</c:v>
                </c:pt>
                <c:pt idx="17">
                  <c:v>6.91</c:v>
                </c:pt>
              </c:numCache>
            </c:numRef>
          </c:val>
          <c:smooth val="0"/>
          <c:extLst>
            <c:ext xmlns:c16="http://schemas.microsoft.com/office/drawing/2014/chart" uri="{C3380CC4-5D6E-409C-BE32-E72D297353CC}">
              <c16:uniqueId val="{00000002-4B3E-42F1-A7A6-2709B2610413}"/>
            </c:ext>
          </c:extLst>
        </c:ser>
        <c:ser>
          <c:idx val="3"/>
          <c:order val="3"/>
          <c:tx>
            <c:strRef>
              <c:f>Sheet1!$E$1</c:f>
              <c:strCache>
                <c:ptCount val="1"/>
                <c:pt idx="0">
                  <c:v>Clean</c:v>
                </c:pt>
              </c:strCache>
            </c:strRef>
          </c:tx>
          <c:spPr>
            <a:ln w="15875">
              <a:solidFill>
                <a:srgbClr val="7D8A83"/>
              </a:solidFill>
            </a:ln>
          </c:spPr>
          <c:marker>
            <c:symbol val="x"/>
            <c:size val="4"/>
            <c:spPr>
              <a:solidFill>
                <a:srgbClr val="7D8A83"/>
              </a:solidFill>
              <a:ln>
                <a:solidFill>
                  <a:srgbClr val="7D8A83"/>
                </a:solidFill>
              </a:ln>
            </c:spPr>
          </c:marker>
          <c:cat>
            <c:strRef>
              <c:f>Sheet1!$A$2:$A$19</c:f>
              <c:strCache>
                <c:ptCount val="18"/>
                <c:pt idx="0">
                  <c:v>01-24</c:v>
                </c:pt>
                <c:pt idx="1">
                  <c:v>02-24</c:v>
                </c:pt>
                <c:pt idx="2">
                  <c:v>03-24</c:v>
                </c:pt>
                <c:pt idx="3">
                  <c:v>04-24</c:v>
                </c:pt>
                <c:pt idx="4">
                  <c:v>05-24</c:v>
                </c:pt>
                <c:pt idx="5">
                  <c:v>06-24</c:v>
                </c:pt>
                <c:pt idx="6">
                  <c:v>07-24</c:v>
                </c:pt>
                <c:pt idx="7">
                  <c:v>08-24</c:v>
                </c:pt>
                <c:pt idx="8">
                  <c:v>09-24</c:v>
                </c:pt>
                <c:pt idx="9">
                  <c:v>10-24</c:v>
                </c:pt>
                <c:pt idx="10">
                  <c:v>11-24</c:v>
                </c:pt>
                <c:pt idx="11">
                  <c:v>12-24</c:v>
                </c:pt>
                <c:pt idx="12">
                  <c:v>01-25</c:v>
                </c:pt>
                <c:pt idx="13">
                  <c:v>02-25</c:v>
                </c:pt>
                <c:pt idx="14">
                  <c:v>03-25</c:v>
                </c:pt>
                <c:pt idx="15">
                  <c:v>04-25</c:v>
                </c:pt>
                <c:pt idx="16">
                  <c:v>05-25</c:v>
                </c:pt>
                <c:pt idx="17">
                  <c:v>06-25</c:v>
                </c:pt>
              </c:strCache>
            </c:strRef>
          </c:cat>
          <c:val>
            <c:numRef>
              <c:f>Sheet1!$E$2:$E$19</c:f>
              <c:numCache>
                <c:formatCode>0.0"%"</c:formatCode>
                <c:ptCount val="18"/>
                <c:pt idx="0">
                  <c:v>11.66</c:v>
                </c:pt>
                <c:pt idx="1">
                  <c:v>13.08</c:v>
                </c:pt>
                <c:pt idx="2">
                  <c:v>11.64</c:v>
                </c:pt>
                <c:pt idx="3">
                  <c:v>11.15</c:v>
                </c:pt>
                <c:pt idx="4">
                  <c:v>10.1</c:v>
                </c:pt>
                <c:pt idx="5">
                  <c:v>9.84</c:v>
                </c:pt>
                <c:pt idx="6">
                  <c:v>11.28</c:v>
                </c:pt>
                <c:pt idx="7">
                  <c:v>8.93</c:v>
                </c:pt>
                <c:pt idx="8">
                  <c:v>7.91</c:v>
                </c:pt>
                <c:pt idx="9">
                  <c:v>9.4600000000000009</c:v>
                </c:pt>
                <c:pt idx="10">
                  <c:v>6.79</c:v>
                </c:pt>
                <c:pt idx="11">
                  <c:v>5.63</c:v>
                </c:pt>
                <c:pt idx="12">
                  <c:v>4.8899999999999997</c:v>
                </c:pt>
                <c:pt idx="13">
                  <c:v>6.03</c:v>
                </c:pt>
                <c:pt idx="14">
                  <c:v>5.71</c:v>
                </c:pt>
                <c:pt idx="15">
                  <c:v>5.09</c:v>
                </c:pt>
                <c:pt idx="16">
                  <c:v>5.72</c:v>
                </c:pt>
                <c:pt idx="17">
                  <c:v>5.46</c:v>
                </c:pt>
              </c:numCache>
            </c:numRef>
          </c:val>
          <c:smooth val="0"/>
          <c:extLst>
            <c:ext xmlns:c16="http://schemas.microsoft.com/office/drawing/2014/chart" uri="{C3380CC4-5D6E-409C-BE32-E72D297353CC}">
              <c16:uniqueId val="{00000003-4B3E-42F1-A7A6-2709B2610413}"/>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nextTo"/>
        <c:spPr>
          <a:ln>
            <a:solidFill>
              <a:srgbClr val="DDE3DF"/>
            </a:solidFill>
          </a:ln>
        </c:spPr>
        <c:crossAx val="2140495176"/>
        <c:crosses val="autoZero"/>
        <c:auto val="1"/>
        <c:lblAlgn val="ctr"/>
        <c:lblOffset val="100"/>
        <c:noMultiLvlLbl val="0"/>
      </c:catAx>
      <c:valAx>
        <c:axId val="2140495176"/>
        <c:scaling>
          <c:orientation val="minMax"/>
          <c:max val="18"/>
          <c:min val="0"/>
        </c:scaling>
        <c:delete val="0"/>
        <c:axPos val="l"/>
        <c:majorGridlines>
          <c:spPr>
            <a:ln w="6350">
              <a:solidFill>
                <a:srgbClr val="EDF1EE"/>
              </a:solidFill>
            </a:ln>
          </c:spPr>
        </c:majorGridlines>
        <c:numFmt formatCode="0&quot;%&quot;" sourceLinked="0"/>
        <c:majorTickMark val="out"/>
        <c:minorTickMark val="none"/>
        <c:tickLblPos val="nextTo"/>
        <c:spPr>
          <a:ln>
            <a:solidFill>
              <a:srgbClr val="DDE3DF"/>
            </a:solidFill>
          </a:ln>
        </c:spPr>
        <c:crossAx val="2118791784"/>
        <c:crosses val="autoZero"/>
        <c:crossBetween val="between"/>
        <c:majorUnit val="3"/>
      </c:valAx>
    </c:plotArea>
    <c:legend>
      <c:legendPos val="b"/>
      <c:overlay val="0"/>
    </c:legend>
    <c:plotVisOnly val="1"/>
    <c:dispBlanksAs val="gap"/>
    <c:showDLblsOverMax val="0"/>
  </c:chart>
  <c:txPr>
    <a:bodyPr/>
    <a:lstStyle/>
    <a:p>
      <a:pPr>
        <a:defRPr sz="750">
          <a:solidFill>
            <a:srgbClr val="7D8A83"/>
          </a:solidFill>
          <a:latin typeface="Poppi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1"/>
        <c:ser>
          <c:idx val="0"/>
          <c:order val="0"/>
          <c:tx>
            <c:strRef>
              <c:f>Sheet1!$B$1</c:f>
              <c:strCache>
                <c:ptCount val="1"/>
                <c:pt idx="0">
                  <c:v>se pasa</c:v>
                </c:pt>
              </c:strCache>
            </c:strRef>
          </c:tx>
          <c:invertIfNegative val="1"/>
          <c:dPt>
            <c:idx val="0"/>
            <c:invertIfNegative val="1"/>
            <c:bubble3D val="0"/>
            <c:spPr>
              <a:solidFill>
                <a:srgbClr val="C55A11"/>
              </a:solidFill>
              <a:ln>
                <a:noFill/>
              </a:ln>
            </c:spPr>
            <c:extLst>
              <c:ext xmlns:c16="http://schemas.microsoft.com/office/drawing/2014/chart" uri="{C3380CC4-5D6E-409C-BE32-E72D297353CC}">
                <c16:uniqueId val="{00000001-50BA-4146-B656-5DCCD47398A5}"/>
              </c:ext>
            </c:extLst>
          </c:dPt>
          <c:dPt>
            <c:idx val="1"/>
            <c:invertIfNegative val="1"/>
            <c:bubble3D val="0"/>
            <c:spPr>
              <a:solidFill>
                <a:srgbClr val="C55A11"/>
              </a:solidFill>
              <a:ln>
                <a:noFill/>
              </a:ln>
            </c:spPr>
            <c:extLst>
              <c:ext xmlns:c16="http://schemas.microsoft.com/office/drawing/2014/chart" uri="{C3380CC4-5D6E-409C-BE32-E72D297353CC}">
                <c16:uniqueId val="{00000003-50BA-4146-B656-5DCCD47398A5}"/>
              </c:ext>
            </c:extLst>
          </c:dPt>
          <c:dPt>
            <c:idx val="2"/>
            <c:invertIfNegative val="1"/>
            <c:bubble3D val="0"/>
            <c:spPr>
              <a:solidFill>
                <a:srgbClr val="C55A11"/>
              </a:solidFill>
              <a:ln>
                <a:noFill/>
              </a:ln>
            </c:spPr>
            <c:extLst>
              <c:ext xmlns:c16="http://schemas.microsoft.com/office/drawing/2014/chart" uri="{C3380CC4-5D6E-409C-BE32-E72D297353CC}">
                <c16:uniqueId val="{00000005-50BA-4146-B656-5DCCD47398A5}"/>
              </c:ext>
            </c:extLst>
          </c:dPt>
          <c:dLbls>
            <c:numFmt formatCode="\+0&quot;%&quot;" sourceLinked="0"/>
            <c:spPr>
              <a:noFill/>
              <a:ln>
                <a:noFill/>
              </a:ln>
              <a:effectLst/>
            </c:spPr>
            <c:txPr>
              <a:bodyPr/>
              <a:lstStyle/>
              <a:p>
                <a:pPr>
                  <a:defRPr sz="750" b="1">
                    <a:solidFill>
                      <a:srgbClr val="1C2B22"/>
                    </a:solidFil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N3</c:v>
                </c:pt>
                <c:pt idx="1">
                  <c:v>N2</c:v>
                </c:pt>
                <c:pt idx="2">
                  <c:v>N1</c:v>
                </c:pt>
              </c:strCache>
            </c:strRef>
          </c:cat>
          <c:val>
            <c:numRef>
              <c:f>Sheet1!$B$2:$B$4</c:f>
              <c:numCache>
                <c:formatCode>\+0"%"</c:formatCode>
                <c:ptCount val="3"/>
                <c:pt idx="0">
                  <c:v>39</c:v>
                </c:pt>
                <c:pt idx="1">
                  <c:v>73</c:v>
                </c:pt>
                <c:pt idx="2">
                  <c:v>159</c:v>
                </c:pt>
              </c:numCache>
            </c:numRef>
          </c:val>
          <c:extLst>
            <c:ext xmlns:c16="http://schemas.microsoft.com/office/drawing/2014/chart" uri="{C3380CC4-5D6E-409C-BE32-E72D297353CC}">
              <c16:uniqueId val="{00000006-50BA-4146-B656-5DCCD47398A5}"/>
            </c:ext>
          </c:extLst>
        </c:ser>
        <c:dLbls>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none"/>
        <c:minorTickMark val="none"/>
        <c:tickLblPos val="nextTo"/>
        <c:spPr>
          <a:ln>
            <a:solidFill>
              <a:srgbClr val="DDE3DF"/>
            </a:solidFill>
          </a:ln>
        </c:spPr>
        <c:crossAx val="-2113994440"/>
        <c:crosses val="autoZero"/>
        <c:auto val="1"/>
        <c:lblAlgn val="ctr"/>
        <c:lblOffset val="100"/>
        <c:noMultiLvlLbl val="0"/>
      </c:catAx>
      <c:valAx>
        <c:axId val="-2113994440"/>
        <c:scaling>
          <c:orientation val="minMax"/>
          <c:max val="180"/>
          <c:min val="0"/>
        </c:scaling>
        <c:delete val="0"/>
        <c:axPos val="b"/>
        <c:majorGridlines>
          <c:spPr>
            <a:ln w="6350">
              <a:solidFill>
                <a:srgbClr val="EDF1EE"/>
              </a:solidFill>
            </a:ln>
          </c:spPr>
        </c:majorGridlines>
        <c:numFmt formatCode="\+0&quot;%&quot;" sourceLinked="0"/>
        <c:majorTickMark val="out"/>
        <c:minorTickMark val="none"/>
        <c:tickLblPos val="nextTo"/>
        <c:spPr>
          <a:ln>
            <a:solidFill>
              <a:srgbClr val="DDE3DF"/>
            </a:solidFill>
          </a:ln>
        </c:spPr>
        <c:crossAx val="-2068027336"/>
        <c:crosses val="autoZero"/>
        <c:crossBetween val="between"/>
        <c:majorUnit val="60"/>
      </c:valAx>
    </c:plotArea>
    <c:plotVisOnly val="1"/>
    <c:dispBlanksAs val="gap"/>
    <c:showDLblsOverMax val="1"/>
  </c:chart>
  <c:txPr>
    <a:bodyPr/>
    <a:lstStyle/>
    <a:p>
      <a:pPr>
        <a:defRPr sz="750">
          <a:solidFill>
            <a:srgbClr val="7D8A83"/>
          </a:solidFill>
          <a:latin typeface="Poppi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1"/>
        <c:ser>
          <c:idx val="0"/>
          <c:order val="0"/>
          <c:tx>
            <c:strRef>
              <c:f>Sheet1!$B$1</c:f>
              <c:strCache>
                <c:ptCount val="1"/>
                <c:pt idx="0">
                  <c:v>se pasa</c:v>
                </c:pt>
              </c:strCache>
            </c:strRef>
          </c:tx>
          <c:invertIfNegative val="1"/>
          <c:dPt>
            <c:idx val="0"/>
            <c:invertIfNegative val="1"/>
            <c:bubble3D val="0"/>
            <c:spPr>
              <a:solidFill>
                <a:srgbClr val="7D8A83"/>
              </a:solidFill>
              <a:ln>
                <a:noFill/>
              </a:ln>
            </c:spPr>
            <c:extLst>
              <c:ext xmlns:c16="http://schemas.microsoft.com/office/drawing/2014/chart" uri="{C3380CC4-5D6E-409C-BE32-E72D297353CC}">
                <c16:uniqueId val="{00000001-324C-4614-91F0-4607483CB551}"/>
              </c:ext>
            </c:extLst>
          </c:dPt>
          <c:dPt>
            <c:idx val="1"/>
            <c:invertIfNegative val="1"/>
            <c:bubble3D val="0"/>
            <c:spPr>
              <a:solidFill>
                <a:srgbClr val="7D8A83"/>
              </a:solidFill>
              <a:ln>
                <a:noFill/>
              </a:ln>
            </c:spPr>
            <c:extLst>
              <c:ext xmlns:c16="http://schemas.microsoft.com/office/drawing/2014/chart" uri="{C3380CC4-5D6E-409C-BE32-E72D297353CC}">
                <c16:uniqueId val="{00000003-324C-4614-91F0-4607483CB551}"/>
              </c:ext>
            </c:extLst>
          </c:dPt>
          <c:dPt>
            <c:idx val="2"/>
            <c:invertIfNegative val="1"/>
            <c:bubble3D val="0"/>
            <c:spPr>
              <a:solidFill>
                <a:srgbClr val="7D8A83"/>
              </a:solidFill>
              <a:ln>
                <a:noFill/>
              </a:ln>
            </c:spPr>
            <c:extLst>
              <c:ext xmlns:c16="http://schemas.microsoft.com/office/drawing/2014/chart" uri="{C3380CC4-5D6E-409C-BE32-E72D297353CC}">
                <c16:uniqueId val="{00000005-324C-4614-91F0-4607483CB551}"/>
              </c:ext>
            </c:extLst>
          </c:dPt>
          <c:dPt>
            <c:idx val="3"/>
            <c:invertIfNegative val="1"/>
            <c:bubble3D val="0"/>
            <c:spPr>
              <a:solidFill>
                <a:srgbClr val="7D8A83"/>
              </a:solidFill>
              <a:ln>
                <a:noFill/>
              </a:ln>
            </c:spPr>
            <c:extLst>
              <c:ext xmlns:c16="http://schemas.microsoft.com/office/drawing/2014/chart" uri="{C3380CC4-5D6E-409C-BE32-E72D297353CC}">
                <c16:uniqueId val="{00000007-324C-4614-91F0-4607483CB551}"/>
              </c:ext>
            </c:extLst>
          </c:dPt>
          <c:dPt>
            <c:idx val="4"/>
            <c:invertIfNegative val="1"/>
            <c:bubble3D val="0"/>
            <c:spPr>
              <a:solidFill>
                <a:srgbClr val="7D8A83"/>
              </a:solidFill>
              <a:ln>
                <a:noFill/>
              </a:ln>
            </c:spPr>
            <c:extLst>
              <c:ext xmlns:c16="http://schemas.microsoft.com/office/drawing/2014/chart" uri="{C3380CC4-5D6E-409C-BE32-E72D297353CC}">
                <c16:uniqueId val="{00000009-324C-4614-91F0-4607483CB551}"/>
              </c:ext>
            </c:extLst>
          </c:dPt>
          <c:dPt>
            <c:idx val="5"/>
            <c:invertIfNegative val="1"/>
            <c:bubble3D val="0"/>
            <c:spPr>
              <a:solidFill>
                <a:srgbClr val="7D8A83"/>
              </a:solidFill>
              <a:ln>
                <a:noFill/>
              </a:ln>
            </c:spPr>
            <c:extLst>
              <c:ext xmlns:c16="http://schemas.microsoft.com/office/drawing/2014/chart" uri="{C3380CC4-5D6E-409C-BE32-E72D297353CC}">
                <c16:uniqueId val="{0000000B-324C-4614-91F0-4607483CB551}"/>
              </c:ext>
            </c:extLst>
          </c:dPt>
          <c:dLbls>
            <c:numFmt formatCode="\+0&quot;%&quot;" sourceLinked="0"/>
            <c:spPr>
              <a:noFill/>
              <a:ln>
                <a:noFill/>
              </a:ln>
              <a:effectLst/>
            </c:spPr>
            <c:txPr>
              <a:bodyPr/>
              <a:lstStyle/>
              <a:p>
                <a:pPr>
                  <a:defRPr sz="750" b="1">
                    <a:solidFill>
                      <a:srgbClr val="1C2B22"/>
                    </a:solidFil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c:v>
                </c:pt>
                <c:pt idx="1">
                  <c:v>E</c:v>
                </c:pt>
                <c:pt idx="2">
                  <c:v>A</c:v>
                </c:pt>
                <c:pt idx="3">
                  <c:v>D</c:v>
                </c:pt>
                <c:pt idx="4">
                  <c:v>B</c:v>
                </c:pt>
                <c:pt idx="5">
                  <c:v>C</c:v>
                </c:pt>
              </c:strCache>
            </c:strRef>
          </c:cat>
          <c:val>
            <c:numRef>
              <c:f>Sheet1!$B$2:$B$7</c:f>
              <c:numCache>
                <c:formatCode>\+0"%"</c:formatCode>
                <c:ptCount val="6"/>
                <c:pt idx="0">
                  <c:v>37</c:v>
                </c:pt>
                <c:pt idx="1">
                  <c:v>51</c:v>
                </c:pt>
                <c:pt idx="2">
                  <c:v>66</c:v>
                </c:pt>
                <c:pt idx="3">
                  <c:v>67</c:v>
                </c:pt>
                <c:pt idx="4">
                  <c:v>83</c:v>
                </c:pt>
                <c:pt idx="5">
                  <c:v>86</c:v>
                </c:pt>
              </c:numCache>
            </c:numRef>
          </c:val>
          <c:extLst>
            <c:ext xmlns:c16="http://schemas.microsoft.com/office/drawing/2014/chart" uri="{C3380CC4-5D6E-409C-BE32-E72D297353CC}">
              <c16:uniqueId val="{0000000C-324C-4614-91F0-4607483CB551}"/>
            </c:ext>
          </c:extLst>
        </c:ser>
        <c:dLbls>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none"/>
        <c:minorTickMark val="none"/>
        <c:tickLblPos val="nextTo"/>
        <c:spPr>
          <a:ln>
            <a:solidFill>
              <a:srgbClr val="DDE3DF"/>
            </a:solidFill>
          </a:ln>
        </c:spPr>
        <c:crossAx val="-2113994440"/>
        <c:crosses val="autoZero"/>
        <c:auto val="1"/>
        <c:lblAlgn val="ctr"/>
        <c:lblOffset val="100"/>
        <c:noMultiLvlLbl val="0"/>
      </c:catAx>
      <c:valAx>
        <c:axId val="-2113994440"/>
        <c:scaling>
          <c:orientation val="minMax"/>
          <c:max val="180"/>
          <c:min val="0"/>
        </c:scaling>
        <c:delete val="0"/>
        <c:axPos val="b"/>
        <c:majorGridlines>
          <c:spPr>
            <a:ln w="6350">
              <a:solidFill>
                <a:srgbClr val="EDF1EE"/>
              </a:solidFill>
            </a:ln>
          </c:spPr>
        </c:majorGridlines>
        <c:numFmt formatCode="\+0&quot;%&quot;" sourceLinked="0"/>
        <c:majorTickMark val="out"/>
        <c:minorTickMark val="none"/>
        <c:tickLblPos val="nextTo"/>
        <c:spPr>
          <a:ln>
            <a:solidFill>
              <a:srgbClr val="DDE3DF"/>
            </a:solidFill>
          </a:ln>
        </c:spPr>
        <c:crossAx val="-2068027336"/>
        <c:crosses val="autoZero"/>
        <c:crossBetween val="between"/>
        <c:majorUnit val="60"/>
      </c:valAx>
    </c:plotArea>
    <c:plotVisOnly val="1"/>
    <c:dispBlanksAs val="gap"/>
    <c:showDLblsOverMax val="1"/>
  </c:chart>
  <c:txPr>
    <a:bodyPr/>
    <a:lstStyle/>
    <a:p>
      <a:pPr>
        <a:defRPr sz="750">
          <a:solidFill>
            <a:srgbClr val="7D8A83"/>
          </a:solidFill>
          <a:latin typeface="Poppin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41248"/>
          </a:xfrm>
          <a:prstGeom prst="rect">
            <a:avLst/>
          </a:prstGeom>
          <a:solidFill>
            <a:srgbClr val="00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41248"/>
            <a:ext cx="12188952" cy="41148"/>
          </a:xfrm>
          <a:prstGeom prst="rect">
            <a:avLst/>
          </a:prstGeom>
          <a:solidFill>
            <a:srgbClr val="004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64592"/>
            <a:ext cx="6400800" cy="274320"/>
          </a:xfrm>
          <a:prstGeom prst="rect">
            <a:avLst/>
          </a:prstGeom>
          <a:noFill/>
        </p:spPr>
        <p:txBody>
          <a:bodyPr wrap="square" lIns="0" tIns="0" rIns="0" bIns="0" anchor="ctr">
            <a:spAutoFit/>
          </a:bodyPr>
          <a:lstStyle/>
          <a:p>
            <a:pPr algn="l"/>
            <a:r>
              <a:rPr sz="900" b="0">
                <a:solidFill>
                  <a:srgbClr val="C5DCCC"/>
                </a:solidFill>
                <a:latin typeface="Poppins"/>
              </a:rPr>
              <a:t>TC No Bancarizado   ·   Admision</a:t>
            </a:r>
          </a:p>
        </p:txBody>
      </p:sp>
      <p:sp>
        <p:nvSpPr>
          <p:cNvPr id="5" name="TextBox 4"/>
          <p:cNvSpPr txBox="1"/>
          <p:nvPr/>
        </p:nvSpPr>
        <p:spPr>
          <a:xfrm>
            <a:off x="566928" y="402336"/>
            <a:ext cx="7680960" cy="347472"/>
          </a:xfrm>
          <a:prstGeom prst="rect">
            <a:avLst/>
          </a:prstGeom>
          <a:noFill/>
        </p:spPr>
        <p:txBody>
          <a:bodyPr wrap="square" lIns="0" tIns="0" rIns="0" bIns="0" anchor="ctr">
            <a:spAutoFit/>
          </a:bodyPr>
          <a:lstStyle/>
          <a:p>
            <a:pPr algn="l"/>
            <a:r>
              <a:rPr sz="1900" b="1">
                <a:solidFill>
                  <a:srgbClr val="FFFFFF"/>
                </a:solidFill>
                <a:latin typeface="Poppins"/>
              </a:rPr>
              <a:t>La poblacion y sus 19 filtros</a:t>
            </a:r>
          </a:p>
        </p:txBody>
      </p:sp>
      <p:sp>
        <p:nvSpPr>
          <p:cNvPr id="6" name="TextBox 5"/>
          <p:cNvSpPr txBox="1"/>
          <p:nvPr/>
        </p:nvSpPr>
        <p:spPr>
          <a:xfrm>
            <a:off x="8778240" y="274320"/>
            <a:ext cx="2843784" cy="274320"/>
          </a:xfrm>
          <a:prstGeom prst="rect">
            <a:avLst/>
          </a:prstGeom>
          <a:noFill/>
        </p:spPr>
        <p:txBody>
          <a:bodyPr wrap="square" lIns="0" tIns="0" rIns="0" bIns="0" anchor="ctr">
            <a:spAutoFit/>
          </a:bodyPr>
          <a:lstStyle/>
          <a:p>
            <a:pPr algn="r"/>
            <a:r>
              <a:rPr sz="850" b="0">
                <a:solidFill>
                  <a:srgbClr val="C5DCCC"/>
                </a:solidFill>
                <a:latin typeface="Poppins"/>
              </a:rPr>
              <a:t>ETAPA 01 / 12</a:t>
            </a:r>
          </a:p>
        </p:txBody>
      </p:sp>
      <p:sp>
        <p:nvSpPr>
          <p:cNvPr id="7" name="TextBox 6"/>
          <p:cNvSpPr txBox="1"/>
          <p:nvPr/>
        </p:nvSpPr>
        <p:spPr>
          <a:xfrm>
            <a:off x="566928" y="1005840"/>
            <a:ext cx="11055096" cy="310896"/>
          </a:xfrm>
          <a:prstGeom prst="rect">
            <a:avLst/>
          </a:prstGeom>
          <a:noFill/>
        </p:spPr>
        <p:txBody>
          <a:bodyPr wrap="square" lIns="0" tIns="0" rIns="0" bIns="0" anchor="ctr">
            <a:spAutoFit/>
          </a:bodyPr>
          <a:lstStyle/>
          <a:p>
            <a:pPr algn="l"/>
            <a:r>
              <a:rPr sz="1300" b="1">
                <a:solidFill>
                  <a:srgbClr val="1C2B22"/>
                </a:solidFill>
                <a:latin typeface="Poppins"/>
              </a:rPr>
              <a:t>El producto origina 2,678 altas al mes: 2,481 quedan clean y 196 van a dirty</a:t>
            </a:r>
          </a:p>
        </p:txBody>
      </p:sp>
      <p:sp>
        <p:nvSpPr>
          <p:cNvPr id="8" name="TextBox 7"/>
          <p:cNvSpPr txBox="1"/>
          <p:nvPr/>
        </p:nvSpPr>
        <p:spPr>
          <a:xfrm>
            <a:off x="566928" y="1316736"/>
            <a:ext cx="11055096" cy="219456"/>
          </a:xfrm>
          <a:prstGeom prst="rect">
            <a:avLst/>
          </a:prstGeom>
          <a:noFill/>
        </p:spPr>
        <p:txBody>
          <a:bodyPr wrap="square" lIns="0" tIns="0" rIns="0" bIns="0" anchor="ctr">
            <a:spAutoFit/>
          </a:bodyPr>
          <a:lstStyle/>
          <a:p>
            <a:pPr algn="l"/>
            <a:r>
              <a:rPr sz="850" b="0">
                <a:solidFill>
                  <a:srgbClr val="7D8A83"/>
                </a:solidFill>
                <a:latin typeface="Poppins"/>
              </a:rPr>
              <a:t>Debajo de cada destino, los filtros que lo producen: cuanto pesa cada uno sobre esas 2,678 altas y con que mora.</a:t>
            </a:r>
          </a:p>
        </p:txBody>
      </p:sp>
      <p:sp>
        <p:nvSpPr>
          <p:cNvPr id="9" name="Rectangle 8"/>
          <p:cNvSpPr/>
          <p:nvPr/>
        </p:nvSpPr>
        <p:spPr>
          <a:xfrm>
            <a:off x="566928" y="1700784"/>
            <a:ext cx="5394960" cy="4151376"/>
          </a:xfrm>
          <a:prstGeom prst="rect">
            <a:avLst/>
          </a:prstGeom>
          <a:solidFill>
            <a:srgbClr val="F7FAF8"/>
          </a:solidFill>
          <a:ln w="9525">
            <a:solidFill>
              <a:srgbClr val="DD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1700784"/>
            <a:ext cx="5394960" cy="1170432"/>
          </a:xfrm>
          <a:prstGeom prst="rect">
            <a:avLst/>
          </a:prstGeom>
          <a:solidFill>
            <a:srgbClr val="00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700784"/>
            <a:ext cx="91440" cy="1170432"/>
          </a:xfrm>
          <a:prstGeom prst="rect">
            <a:avLst/>
          </a:prstGeom>
          <a:solidFill>
            <a:srgbClr val="004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1847088"/>
            <a:ext cx="640080" cy="365760"/>
          </a:xfrm>
          <a:prstGeom prst="rect">
            <a:avLst/>
          </a:prstGeom>
          <a:noFill/>
        </p:spPr>
        <p:txBody>
          <a:bodyPr wrap="square" lIns="0" tIns="0" rIns="0" bIns="0" anchor="ctr">
            <a:spAutoFit/>
          </a:bodyPr>
          <a:lstStyle/>
          <a:p>
            <a:pPr algn="l"/>
            <a:r>
              <a:rPr sz="2400" b="1">
                <a:solidFill>
                  <a:srgbClr val="FFFFFF"/>
                </a:solidFill>
                <a:latin typeface="Poppins"/>
              </a:rPr>
              <a:t>01</a:t>
            </a:r>
          </a:p>
        </p:txBody>
      </p:sp>
      <p:sp>
        <p:nvSpPr>
          <p:cNvPr id="13" name="TextBox 12"/>
          <p:cNvSpPr txBox="1"/>
          <p:nvPr/>
        </p:nvSpPr>
        <p:spPr>
          <a:xfrm>
            <a:off x="1572768" y="1865376"/>
            <a:ext cx="4206240" cy="237744"/>
          </a:xfrm>
          <a:prstGeom prst="rect">
            <a:avLst/>
          </a:prstGeom>
          <a:noFill/>
        </p:spPr>
        <p:txBody>
          <a:bodyPr wrap="square" lIns="0" tIns="0" rIns="0" bIns="0" anchor="ctr">
            <a:spAutoFit/>
          </a:bodyPr>
          <a:lstStyle/>
          <a:p>
            <a:pPr algn="l"/>
            <a:r>
              <a:rPr sz="1400" b="1">
                <a:solidFill>
                  <a:srgbClr val="FFFFFF"/>
                </a:solidFill>
                <a:latin typeface="Poppins"/>
              </a:rPr>
              <a:t>CLEAN</a:t>
            </a:r>
          </a:p>
        </p:txBody>
      </p:sp>
      <p:sp>
        <p:nvSpPr>
          <p:cNvPr id="14" name="TextBox 13"/>
          <p:cNvSpPr txBox="1"/>
          <p:nvPr/>
        </p:nvSpPr>
        <p:spPr>
          <a:xfrm>
            <a:off x="1572768" y="2103120"/>
            <a:ext cx="4206240" cy="182880"/>
          </a:xfrm>
          <a:prstGeom prst="rect">
            <a:avLst/>
          </a:prstGeom>
          <a:noFill/>
        </p:spPr>
        <p:txBody>
          <a:bodyPr wrap="square" lIns="0" tIns="0" rIns="0" bIns="0" anchor="ctr">
            <a:spAutoFit/>
          </a:bodyPr>
          <a:lstStyle/>
          <a:p>
            <a:pPr algn="l"/>
            <a:r>
              <a:rPr sz="800" b="0">
                <a:solidFill>
                  <a:srgbClr val="E8EFE9"/>
                </a:solidFill>
                <a:latin typeface="Poppins"/>
              </a:rPr>
              <a:t>Es la poblacion que se calibra</a:t>
            </a:r>
          </a:p>
        </p:txBody>
      </p:sp>
      <p:sp>
        <p:nvSpPr>
          <p:cNvPr id="15" name="Rectangle 14"/>
          <p:cNvSpPr/>
          <p:nvPr/>
        </p:nvSpPr>
        <p:spPr>
          <a:xfrm>
            <a:off x="804672" y="2340864"/>
            <a:ext cx="4919472" cy="10972"/>
          </a:xfrm>
          <a:prstGeom prst="rect">
            <a:avLst/>
          </a:prstGeom>
          <a:solidFill>
            <a:srgbClr val="004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2414016"/>
            <a:ext cx="1639824" cy="274320"/>
          </a:xfrm>
          <a:prstGeom prst="rect">
            <a:avLst/>
          </a:prstGeom>
          <a:noFill/>
        </p:spPr>
        <p:txBody>
          <a:bodyPr wrap="square" lIns="0" tIns="0" rIns="0" bIns="0" anchor="ctr">
            <a:spAutoFit/>
          </a:bodyPr>
          <a:lstStyle/>
          <a:p>
            <a:pPr algn="l"/>
            <a:r>
              <a:rPr sz="1600" b="1">
                <a:solidFill>
                  <a:srgbClr val="FFFFFF"/>
                </a:solidFill>
                <a:latin typeface="Poppins"/>
              </a:rPr>
              <a:t>2,481</a:t>
            </a:r>
          </a:p>
        </p:txBody>
      </p:sp>
      <p:sp>
        <p:nvSpPr>
          <p:cNvPr id="17" name="TextBox 16"/>
          <p:cNvSpPr txBox="1"/>
          <p:nvPr/>
        </p:nvSpPr>
        <p:spPr>
          <a:xfrm>
            <a:off x="804672" y="2670048"/>
            <a:ext cx="1639824" cy="164592"/>
          </a:xfrm>
          <a:prstGeom prst="rect">
            <a:avLst/>
          </a:prstGeom>
          <a:noFill/>
        </p:spPr>
        <p:txBody>
          <a:bodyPr wrap="square" lIns="0" tIns="0" rIns="0" bIns="0" anchor="ctr">
            <a:spAutoFit/>
          </a:bodyPr>
          <a:lstStyle/>
          <a:p>
            <a:pPr algn="l"/>
            <a:r>
              <a:rPr sz="750" b="0">
                <a:solidFill>
                  <a:srgbClr val="E8EFE9"/>
                </a:solidFill>
                <a:latin typeface="Poppins"/>
              </a:rPr>
              <a:t>altas/mes</a:t>
            </a:r>
          </a:p>
        </p:txBody>
      </p:sp>
      <p:sp>
        <p:nvSpPr>
          <p:cNvPr id="18" name="TextBox 17"/>
          <p:cNvSpPr txBox="1"/>
          <p:nvPr/>
        </p:nvSpPr>
        <p:spPr>
          <a:xfrm>
            <a:off x="2444496" y="2414016"/>
            <a:ext cx="1639824" cy="274320"/>
          </a:xfrm>
          <a:prstGeom prst="rect">
            <a:avLst/>
          </a:prstGeom>
          <a:noFill/>
        </p:spPr>
        <p:txBody>
          <a:bodyPr wrap="square" lIns="0" tIns="0" rIns="0" bIns="0" anchor="ctr">
            <a:spAutoFit/>
          </a:bodyPr>
          <a:lstStyle/>
          <a:p>
            <a:pPr algn="l"/>
            <a:r>
              <a:rPr sz="1600" b="1">
                <a:solidFill>
                  <a:srgbClr val="FFFFFF"/>
                </a:solidFill>
                <a:latin typeface="Poppins"/>
              </a:rPr>
              <a:t>92.6%</a:t>
            </a:r>
          </a:p>
        </p:txBody>
      </p:sp>
      <p:sp>
        <p:nvSpPr>
          <p:cNvPr id="19" name="TextBox 18"/>
          <p:cNvSpPr txBox="1"/>
          <p:nvPr/>
        </p:nvSpPr>
        <p:spPr>
          <a:xfrm>
            <a:off x="2444496" y="2670048"/>
            <a:ext cx="1639824" cy="164592"/>
          </a:xfrm>
          <a:prstGeom prst="rect">
            <a:avLst/>
          </a:prstGeom>
          <a:noFill/>
        </p:spPr>
        <p:txBody>
          <a:bodyPr wrap="square" lIns="0" tIns="0" rIns="0" bIns="0" anchor="ctr">
            <a:spAutoFit/>
          </a:bodyPr>
          <a:lstStyle/>
          <a:p>
            <a:pPr algn="l"/>
            <a:r>
              <a:rPr sz="750" b="0">
                <a:solidFill>
                  <a:srgbClr val="E8EFE9"/>
                </a:solidFill>
                <a:latin typeface="Poppins"/>
              </a:rPr>
              <a:t>de la poblacion</a:t>
            </a:r>
          </a:p>
        </p:txBody>
      </p:sp>
      <p:sp>
        <p:nvSpPr>
          <p:cNvPr id="20" name="TextBox 19"/>
          <p:cNvSpPr txBox="1"/>
          <p:nvPr/>
        </p:nvSpPr>
        <p:spPr>
          <a:xfrm>
            <a:off x="4084320" y="2414016"/>
            <a:ext cx="1639824" cy="274320"/>
          </a:xfrm>
          <a:prstGeom prst="rect">
            <a:avLst/>
          </a:prstGeom>
          <a:noFill/>
        </p:spPr>
        <p:txBody>
          <a:bodyPr wrap="square" lIns="0" tIns="0" rIns="0" bIns="0" anchor="ctr">
            <a:spAutoFit/>
          </a:bodyPr>
          <a:lstStyle/>
          <a:p>
            <a:pPr algn="l"/>
            <a:r>
              <a:rPr sz="1600" b="1">
                <a:solidFill>
                  <a:srgbClr val="FFFFFF"/>
                </a:solidFill>
                <a:latin typeface="Poppins"/>
              </a:rPr>
              <a:t>5.43%</a:t>
            </a:r>
          </a:p>
        </p:txBody>
      </p:sp>
      <p:sp>
        <p:nvSpPr>
          <p:cNvPr id="21" name="TextBox 20"/>
          <p:cNvSpPr txBox="1"/>
          <p:nvPr/>
        </p:nvSpPr>
        <p:spPr>
          <a:xfrm>
            <a:off x="4084320" y="2670048"/>
            <a:ext cx="1639824" cy="164592"/>
          </a:xfrm>
          <a:prstGeom prst="rect">
            <a:avLst/>
          </a:prstGeom>
          <a:noFill/>
        </p:spPr>
        <p:txBody>
          <a:bodyPr wrap="square" lIns="0" tIns="0" rIns="0" bIns="0" anchor="ctr">
            <a:spAutoFit/>
          </a:bodyPr>
          <a:lstStyle/>
          <a:p>
            <a:pPr algn="l"/>
            <a:r>
              <a:rPr sz="750" b="0">
                <a:solidFill>
                  <a:srgbClr val="E8EFE9"/>
                </a:solidFill>
                <a:latin typeface="Poppins"/>
              </a:rPr>
              <a:t>mora 12 meses</a:t>
            </a:r>
          </a:p>
        </p:txBody>
      </p:sp>
      <p:sp>
        <p:nvSpPr>
          <p:cNvPr id="22" name="TextBox 21"/>
          <p:cNvSpPr txBox="1"/>
          <p:nvPr/>
        </p:nvSpPr>
        <p:spPr>
          <a:xfrm>
            <a:off x="768096" y="3035808"/>
            <a:ext cx="4032504" cy="164592"/>
          </a:xfrm>
          <a:prstGeom prst="rect">
            <a:avLst/>
          </a:prstGeom>
          <a:noFill/>
        </p:spPr>
        <p:txBody>
          <a:bodyPr wrap="square" lIns="0" tIns="0" rIns="0" bIns="0" anchor="ctr">
            <a:spAutoFit/>
          </a:bodyPr>
          <a:lstStyle/>
          <a:p>
            <a:pPr algn="l"/>
            <a:r>
              <a:rPr sz="650" b="1">
                <a:solidFill>
                  <a:srgbClr val="7D8A83"/>
                </a:solidFill>
                <a:latin typeface="Poppins"/>
              </a:rPr>
              <a:t>NO EXCLUYE</a:t>
            </a:r>
          </a:p>
        </p:txBody>
      </p:sp>
      <p:sp>
        <p:nvSpPr>
          <p:cNvPr id="23" name="TextBox 22"/>
          <p:cNvSpPr txBox="1"/>
          <p:nvPr/>
        </p:nvSpPr>
        <p:spPr>
          <a:xfrm>
            <a:off x="4800600" y="3035808"/>
            <a:ext cx="466344" cy="164592"/>
          </a:xfrm>
          <a:prstGeom prst="rect">
            <a:avLst/>
          </a:prstGeom>
          <a:noFill/>
        </p:spPr>
        <p:txBody>
          <a:bodyPr wrap="square" lIns="0" tIns="0" rIns="0" bIns="0" anchor="ctr">
            <a:spAutoFit/>
          </a:bodyPr>
          <a:lstStyle/>
          <a:p>
            <a:pPr algn="r"/>
            <a:r>
              <a:rPr sz="650" b="1">
                <a:solidFill>
                  <a:srgbClr val="7D8A83"/>
                </a:solidFill>
                <a:latin typeface="Poppins"/>
              </a:rPr>
              <a:t>% POBL</a:t>
            </a:r>
          </a:p>
        </p:txBody>
      </p:sp>
      <p:sp>
        <p:nvSpPr>
          <p:cNvPr id="24" name="TextBox 23"/>
          <p:cNvSpPr txBox="1"/>
          <p:nvPr/>
        </p:nvSpPr>
        <p:spPr>
          <a:xfrm>
            <a:off x="5303520" y="3035808"/>
            <a:ext cx="457200" cy="164592"/>
          </a:xfrm>
          <a:prstGeom prst="rect">
            <a:avLst/>
          </a:prstGeom>
          <a:noFill/>
        </p:spPr>
        <p:txBody>
          <a:bodyPr wrap="square" lIns="0" tIns="0" rIns="0" bIns="0" anchor="ctr">
            <a:spAutoFit/>
          </a:bodyPr>
          <a:lstStyle/>
          <a:p>
            <a:pPr algn="r"/>
            <a:r>
              <a:rPr sz="650" b="1">
                <a:solidFill>
                  <a:srgbClr val="7D8A83"/>
                </a:solidFill>
                <a:latin typeface="Poppins"/>
              </a:rPr>
              <a:t>MORA</a:t>
            </a:r>
          </a:p>
        </p:txBody>
      </p:sp>
      <p:sp>
        <p:nvSpPr>
          <p:cNvPr id="25" name="Rectangle 24"/>
          <p:cNvSpPr/>
          <p:nvPr/>
        </p:nvSpPr>
        <p:spPr>
          <a:xfrm>
            <a:off x="768096" y="3218688"/>
            <a:ext cx="4992624" cy="10972"/>
          </a:xfrm>
          <a:prstGeom prst="rect">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94944" y="3273552"/>
            <a:ext cx="5138928" cy="2560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8096" y="3291840"/>
            <a:ext cx="4078224" cy="237744"/>
          </a:xfrm>
          <a:prstGeom prst="rect">
            <a:avLst/>
          </a:prstGeom>
          <a:noFill/>
        </p:spPr>
        <p:txBody>
          <a:bodyPr wrap="square" lIns="0" tIns="0" rIns="0" bIns="0" anchor="ctr">
            <a:spAutoFit/>
          </a:bodyPr>
          <a:lstStyle/>
          <a:p>
            <a:pPr algn="l"/>
            <a:r>
              <a:rPr sz="800" b="0">
                <a:solidFill>
                  <a:srgbClr val="1C2B22"/>
                </a:solidFill>
                <a:latin typeface="Poppins"/>
              </a:rPr>
              <a:t>Insuficiente</a:t>
            </a:r>
          </a:p>
        </p:txBody>
      </p:sp>
      <p:sp>
        <p:nvSpPr>
          <p:cNvPr id="28" name="TextBox 27"/>
          <p:cNvSpPr txBox="1"/>
          <p:nvPr/>
        </p:nvSpPr>
        <p:spPr>
          <a:xfrm>
            <a:off x="4800600" y="3291840"/>
            <a:ext cx="466344" cy="237744"/>
          </a:xfrm>
          <a:prstGeom prst="rect">
            <a:avLst/>
          </a:prstGeom>
          <a:noFill/>
        </p:spPr>
        <p:txBody>
          <a:bodyPr wrap="square" lIns="0" tIns="0" rIns="0" bIns="0" anchor="ctr">
            <a:spAutoFit/>
          </a:bodyPr>
          <a:lstStyle/>
          <a:p>
            <a:pPr algn="r"/>
            <a:r>
              <a:rPr sz="800" b="1">
                <a:solidFill>
                  <a:srgbClr val="1C2B22"/>
                </a:solidFill>
                <a:latin typeface="Poppins"/>
              </a:rPr>
              <a:t>9.65%</a:t>
            </a:r>
          </a:p>
        </p:txBody>
      </p:sp>
      <p:sp>
        <p:nvSpPr>
          <p:cNvPr id="29" name="TextBox 28"/>
          <p:cNvSpPr txBox="1"/>
          <p:nvPr/>
        </p:nvSpPr>
        <p:spPr>
          <a:xfrm>
            <a:off x="5303520" y="3291840"/>
            <a:ext cx="457200" cy="237744"/>
          </a:xfrm>
          <a:prstGeom prst="rect">
            <a:avLst/>
          </a:prstGeom>
          <a:noFill/>
        </p:spPr>
        <p:txBody>
          <a:bodyPr wrap="square" lIns="0" tIns="0" rIns="0" bIns="0" anchor="ctr">
            <a:spAutoFit/>
          </a:bodyPr>
          <a:lstStyle/>
          <a:p>
            <a:pPr algn="r"/>
            <a:r>
              <a:rPr sz="800" b="0">
                <a:solidFill>
                  <a:srgbClr val="1C2B22"/>
                </a:solidFill>
                <a:latin typeface="Poppins"/>
              </a:rPr>
              <a:t>3.2%</a:t>
            </a:r>
          </a:p>
        </p:txBody>
      </p:sp>
      <p:sp>
        <p:nvSpPr>
          <p:cNvPr id="30" name="TextBox 29"/>
          <p:cNvSpPr txBox="1"/>
          <p:nvPr/>
        </p:nvSpPr>
        <p:spPr>
          <a:xfrm>
            <a:off x="768096" y="3566160"/>
            <a:ext cx="4078224" cy="237744"/>
          </a:xfrm>
          <a:prstGeom prst="rect">
            <a:avLst/>
          </a:prstGeom>
          <a:noFill/>
        </p:spPr>
        <p:txBody>
          <a:bodyPr wrap="square" lIns="0" tIns="0" rIns="0" bIns="0" anchor="ctr">
            <a:spAutoFit/>
          </a:bodyPr>
          <a:lstStyle/>
          <a:p>
            <a:pPr algn="l"/>
            <a:r>
              <a:rPr sz="800" b="0">
                <a:solidFill>
                  <a:srgbClr val="1C2B22"/>
                </a:solidFill>
                <a:latin typeface="Poppins"/>
              </a:rPr>
              <a:t>Uncashed</a:t>
            </a:r>
          </a:p>
        </p:txBody>
      </p:sp>
      <p:sp>
        <p:nvSpPr>
          <p:cNvPr id="31" name="TextBox 30"/>
          <p:cNvSpPr txBox="1"/>
          <p:nvPr/>
        </p:nvSpPr>
        <p:spPr>
          <a:xfrm>
            <a:off x="4800600" y="3566160"/>
            <a:ext cx="466344" cy="237744"/>
          </a:xfrm>
          <a:prstGeom prst="rect">
            <a:avLst/>
          </a:prstGeom>
          <a:noFill/>
        </p:spPr>
        <p:txBody>
          <a:bodyPr wrap="square" lIns="0" tIns="0" rIns="0" bIns="0" anchor="ctr">
            <a:spAutoFit/>
          </a:bodyPr>
          <a:lstStyle/>
          <a:p>
            <a:pPr algn="r"/>
            <a:r>
              <a:rPr sz="800" b="1">
                <a:solidFill>
                  <a:srgbClr val="1C2B22"/>
                </a:solidFill>
                <a:latin typeface="Poppins"/>
              </a:rPr>
              <a:t>2.36%</a:t>
            </a:r>
          </a:p>
        </p:txBody>
      </p:sp>
      <p:sp>
        <p:nvSpPr>
          <p:cNvPr id="32" name="TextBox 31"/>
          <p:cNvSpPr txBox="1"/>
          <p:nvPr/>
        </p:nvSpPr>
        <p:spPr>
          <a:xfrm>
            <a:off x="5303520" y="3566160"/>
            <a:ext cx="457200" cy="237744"/>
          </a:xfrm>
          <a:prstGeom prst="rect">
            <a:avLst/>
          </a:prstGeom>
          <a:noFill/>
        </p:spPr>
        <p:txBody>
          <a:bodyPr wrap="square" lIns="0" tIns="0" rIns="0" bIns="0" anchor="ctr">
            <a:spAutoFit/>
          </a:bodyPr>
          <a:lstStyle/>
          <a:p>
            <a:pPr algn="r"/>
            <a:r>
              <a:rPr sz="800" b="0">
                <a:solidFill>
                  <a:srgbClr val="1C2B22"/>
                </a:solidFill>
                <a:latin typeface="Poppins"/>
              </a:rPr>
              <a:t>0.5%</a:t>
            </a:r>
          </a:p>
        </p:txBody>
      </p:sp>
      <p:sp>
        <p:nvSpPr>
          <p:cNvPr id="33" name="Rectangle 32"/>
          <p:cNvSpPr/>
          <p:nvPr/>
        </p:nvSpPr>
        <p:spPr>
          <a:xfrm>
            <a:off x="694944" y="3822192"/>
            <a:ext cx="5138928" cy="2560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68096" y="3840480"/>
            <a:ext cx="4078224" cy="237744"/>
          </a:xfrm>
          <a:prstGeom prst="rect">
            <a:avLst/>
          </a:prstGeom>
          <a:noFill/>
        </p:spPr>
        <p:txBody>
          <a:bodyPr wrap="square" lIns="0" tIns="0" rIns="0" bIns="0" anchor="ctr">
            <a:spAutoFit/>
          </a:bodyPr>
          <a:lstStyle/>
          <a:p>
            <a:pPr algn="l"/>
            <a:r>
              <a:rPr sz="800" b="0">
                <a:solidFill>
                  <a:srgbClr val="1C2B22"/>
                </a:solidFill>
                <a:latin typeface="Poppins"/>
              </a:rPr>
              <a:t>Indeterminado</a:t>
            </a:r>
          </a:p>
        </p:txBody>
      </p:sp>
      <p:sp>
        <p:nvSpPr>
          <p:cNvPr id="35" name="TextBox 34"/>
          <p:cNvSpPr txBox="1"/>
          <p:nvPr/>
        </p:nvSpPr>
        <p:spPr>
          <a:xfrm>
            <a:off x="4800600" y="3840480"/>
            <a:ext cx="466344" cy="237744"/>
          </a:xfrm>
          <a:prstGeom prst="rect">
            <a:avLst/>
          </a:prstGeom>
          <a:noFill/>
        </p:spPr>
        <p:txBody>
          <a:bodyPr wrap="square" lIns="0" tIns="0" rIns="0" bIns="0" anchor="ctr">
            <a:spAutoFit/>
          </a:bodyPr>
          <a:lstStyle/>
          <a:p>
            <a:pPr algn="r"/>
            <a:r>
              <a:rPr sz="800" b="1">
                <a:solidFill>
                  <a:srgbClr val="1C2B22"/>
                </a:solidFill>
                <a:latin typeface="Poppins"/>
              </a:rPr>
              <a:t>1.87%</a:t>
            </a:r>
          </a:p>
        </p:txBody>
      </p:sp>
      <p:sp>
        <p:nvSpPr>
          <p:cNvPr id="36" name="TextBox 35"/>
          <p:cNvSpPr txBox="1"/>
          <p:nvPr/>
        </p:nvSpPr>
        <p:spPr>
          <a:xfrm>
            <a:off x="5303520" y="3840480"/>
            <a:ext cx="457200" cy="237744"/>
          </a:xfrm>
          <a:prstGeom prst="rect">
            <a:avLst/>
          </a:prstGeom>
          <a:noFill/>
        </p:spPr>
        <p:txBody>
          <a:bodyPr wrap="square" lIns="0" tIns="0" rIns="0" bIns="0" anchor="ctr">
            <a:spAutoFit/>
          </a:bodyPr>
          <a:lstStyle/>
          <a:p>
            <a:pPr algn="r"/>
            <a:r>
              <a:rPr sz="800" b="0">
                <a:solidFill>
                  <a:srgbClr val="1C2B22"/>
                </a:solidFill>
                <a:latin typeface="Poppins"/>
              </a:rPr>
              <a:t>4.7%</a:t>
            </a:r>
          </a:p>
        </p:txBody>
      </p:sp>
      <p:sp>
        <p:nvSpPr>
          <p:cNvPr id="37" name="TextBox 36"/>
          <p:cNvSpPr txBox="1"/>
          <p:nvPr/>
        </p:nvSpPr>
        <p:spPr>
          <a:xfrm>
            <a:off x="768096" y="4114800"/>
            <a:ext cx="4078224" cy="237744"/>
          </a:xfrm>
          <a:prstGeom prst="rect">
            <a:avLst/>
          </a:prstGeom>
          <a:noFill/>
        </p:spPr>
        <p:txBody>
          <a:bodyPr wrap="square" lIns="0" tIns="0" rIns="0" bIns="0" anchor="ctr">
            <a:spAutoFit/>
          </a:bodyPr>
          <a:lstStyle/>
          <a:p>
            <a:pPr algn="l"/>
            <a:r>
              <a:rPr sz="800" b="0">
                <a:solidFill>
                  <a:srgbClr val="1C2B22"/>
                </a:solidFill>
                <a:latin typeface="Poppins"/>
              </a:rPr>
              <a:t>Swap posterior</a:t>
            </a:r>
          </a:p>
        </p:txBody>
      </p:sp>
      <p:sp>
        <p:nvSpPr>
          <p:cNvPr id="38" name="TextBox 37"/>
          <p:cNvSpPr txBox="1"/>
          <p:nvPr/>
        </p:nvSpPr>
        <p:spPr>
          <a:xfrm>
            <a:off x="4800600" y="4114800"/>
            <a:ext cx="466344" cy="237744"/>
          </a:xfrm>
          <a:prstGeom prst="rect">
            <a:avLst/>
          </a:prstGeom>
          <a:noFill/>
        </p:spPr>
        <p:txBody>
          <a:bodyPr wrap="square" lIns="0" tIns="0" rIns="0" bIns="0" anchor="ctr">
            <a:spAutoFit/>
          </a:bodyPr>
          <a:lstStyle/>
          <a:p>
            <a:pPr algn="r"/>
            <a:r>
              <a:rPr sz="800" b="0">
                <a:solidFill>
                  <a:srgbClr val="7D8A83"/>
                </a:solidFill>
                <a:latin typeface="Poppins"/>
              </a:rPr>
              <a:t>0.00%</a:t>
            </a:r>
          </a:p>
        </p:txBody>
      </p:sp>
      <p:sp>
        <p:nvSpPr>
          <p:cNvPr id="39" name="TextBox 38"/>
          <p:cNvSpPr txBox="1"/>
          <p:nvPr/>
        </p:nvSpPr>
        <p:spPr>
          <a:xfrm>
            <a:off x="5303520" y="4114800"/>
            <a:ext cx="457200" cy="237744"/>
          </a:xfrm>
          <a:prstGeom prst="rect">
            <a:avLst/>
          </a:prstGeom>
          <a:noFill/>
        </p:spPr>
        <p:txBody>
          <a:bodyPr wrap="square" lIns="0" tIns="0" rIns="0" bIns="0" anchor="ctr">
            <a:spAutoFit/>
          </a:bodyPr>
          <a:lstStyle/>
          <a:p>
            <a:pPr algn="r"/>
            <a:r>
              <a:rPr sz="800" b="0">
                <a:solidFill>
                  <a:srgbClr val="7D8A83"/>
                </a:solidFill>
                <a:latin typeface="Poppins"/>
              </a:rPr>
              <a:t>-</a:t>
            </a:r>
          </a:p>
        </p:txBody>
      </p:sp>
      <p:sp>
        <p:nvSpPr>
          <p:cNvPr id="40" name="Rectangle 39"/>
          <p:cNvSpPr/>
          <p:nvPr/>
        </p:nvSpPr>
        <p:spPr>
          <a:xfrm>
            <a:off x="694944" y="4370832"/>
            <a:ext cx="5138928" cy="2560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68096" y="4389120"/>
            <a:ext cx="4078224" cy="237744"/>
          </a:xfrm>
          <a:prstGeom prst="rect">
            <a:avLst/>
          </a:prstGeom>
          <a:noFill/>
        </p:spPr>
        <p:txBody>
          <a:bodyPr wrap="square" lIns="0" tIns="0" rIns="0" bIns="0" anchor="ctr">
            <a:spAutoFit/>
          </a:bodyPr>
          <a:lstStyle/>
          <a:p>
            <a:pPr algn="l"/>
            <a:r>
              <a:rPr sz="800" b="0">
                <a:solidFill>
                  <a:srgbClr val="1C2B22"/>
                </a:solidFill>
                <a:latin typeface="Poppins"/>
              </a:rPr>
              <a:t>Repro posterior</a:t>
            </a:r>
          </a:p>
        </p:txBody>
      </p:sp>
      <p:sp>
        <p:nvSpPr>
          <p:cNvPr id="42" name="TextBox 41"/>
          <p:cNvSpPr txBox="1"/>
          <p:nvPr/>
        </p:nvSpPr>
        <p:spPr>
          <a:xfrm>
            <a:off x="4800600" y="4389120"/>
            <a:ext cx="466344" cy="237744"/>
          </a:xfrm>
          <a:prstGeom prst="rect">
            <a:avLst/>
          </a:prstGeom>
          <a:noFill/>
        </p:spPr>
        <p:txBody>
          <a:bodyPr wrap="square" lIns="0" tIns="0" rIns="0" bIns="0" anchor="ctr">
            <a:spAutoFit/>
          </a:bodyPr>
          <a:lstStyle/>
          <a:p>
            <a:pPr algn="r"/>
            <a:r>
              <a:rPr sz="800" b="0">
                <a:solidFill>
                  <a:srgbClr val="7D8A83"/>
                </a:solidFill>
                <a:latin typeface="Poppins"/>
              </a:rPr>
              <a:t>0.00%</a:t>
            </a:r>
          </a:p>
        </p:txBody>
      </p:sp>
      <p:sp>
        <p:nvSpPr>
          <p:cNvPr id="43" name="TextBox 42"/>
          <p:cNvSpPr txBox="1"/>
          <p:nvPr/>
        </p:nvSpPr>
        <p:spPr>
          <a:xfrm>
            <a:off x="5303520" y="4389120"/>
            <a:ext cx="457200" cy="237744"/>
          </a:xfrm>
          <a:prstGeom prst="rect">
            <a:avLst/>
          </a:prstGeom>
          <a:noFill/>
        </p:spPr>
        <p:txBody>
          <a:bodyPr wrap="square" lIns="0" tIns="0" rIns="0" bIns="0" anchor="ctr">
            <a:spAutoFit/>
          </a:bodyPr>
          <a:lstStyle/>
          <a:p>
            <a:pPr algn="r"/>
            <a:r>
              <a:rPr sz="800" b="0">
                <a:solidFill>
                  <a:srgbClr val="7D8A83"/>
                </a:solidFill>
                <a:latin typeface="Poppins"/>
              </a:rPr>
              <a:t>-</a:t>
            </a:r>
          </a:p>
        </p:txBody>
      </p:sp>
      <p:sp>
        <p:nvSpPr>
          <p:cNvPr id="44" name="Rectangle 43"/>
          <p:cNvSpPr/>
          <p:nvPr/>
        </p:nvSpPr>
        <p:spPr>
          <a:xfrm>
            <a:off x="694944" y="5303520"/>
            <a:ext cx="5138928" cy="438912"/>
          </a:xfrm>
          <a:prstGeom prst="rect">
            <a:avLst/>
          </a:prstGeom>
          <a:solidFill>
            <a:srgbClr val="ED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04672" y="5340096"/>
            <a:ext cx="4919472" cy="365760"/>
          </a:xfrm>
          <a:prstGeom prst="rect">
            <a:avLst/>
          </a:prstGeom>
          <a:noFill/>
        </p:spPr>
        <p:txBody>
          <a:bodyPr wrap="square" lIns="0" tIns="0" rIns="0" bIns="0">
            <a:spAutoFit/>
          </a:bodyPr>
          <a:lstStyle/>
          <a:p>
            <a:pPr algn="l">
              <a:lnSpc>
                <a:spcPct val="120000"/>
              </a:lnSpc>
            </a:pPr>
            <a:r>
              <a:rPr sz="800" b="0">
                <a:solidFill>
                  <a:srgbClr val="00703C"/>
                </a:solidFill>
                <a:latin typeface="Poppins"/>
              </a:rPr>
              <a:t>Estos cinco aparecen en la poblacion y no la ensucian: los tres que tienen casos corren a 3.2, 0.5 y 4.7 de mora, muy por debajo del 5.74% del total.</a:t>
            </a:r>
          </a:p>
        </p:txBody>
      </p:sp>
      <p:sp>
        <p:nvSpPr>
          <p:cNvPr id="46" name="Rectangle 45"/>
          <p:cNvSpPr/>
          <p:nvPr/>
        </p:nvSpPr>
        <p:spPr>
          <a:xfrm>
            <a:off x="6227064" y="1700784"/>
            <a:ext cx="5394960" cy="4151376"/>
          </a:xfrm>
          <a:prstGeom prst="rect">
            <a:avLst/>
          </a:prstGeom>
          <a:solidFill>
            <a:srgbClr val="F7FAF8"/>
          </a:solidFill>
          <a:ln w="9525">
            <a:solidFill>
              <a:srgbClr val="DD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227064" y="1700784"/>
            <a:ext cx="5394960" cy="117043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227064" y="1700784"/>
            <a:ext cx="91440" cy="1170432"/>
          </a:xfrm>
          <a:prstGeom prst="rect">
            <a:avLst/>
          </a:prstGeom>
          <a:solidFill>
            <a:srgbClr val="8A3D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64808" y="1847088"/>
            <a:ext cx="640080" cy="365760"/>
          </a:xfrm>
          <a:prstGeom prst="rect">
            <a:avLst/>
          </a:prstGeom>
          <a:noFill/>
        </p:spPr>
        <p:txBody>
          <a:bodyPr wrap="square" lIns="0" tIns="0" rIns="0" bIns="0" anchor="ctr">
            <a:spAutoFit/>
          </a:bodyPr>
          <a:lstStyle/>
          <a:p>
            <a:pPr algn="l"/>
            <a:r>
              <a:rPr sz="2400" b="1">
                <a:solidFill>
                  <a:srgbClr val="FFFFFF"/>
                </a:solidFill>
                <a:latin typeface="Poppins"/>
              </a:rPr>
              <a:t>02</a:t>
            </a:r>
          </a:p>
        </p:txBody>
      </p:sp>
      <p:sp>
        <p:nvSpPr>
          <p:cNvPr id="50" name="TextBox 49"/>
          <p:cNvSpPr txBox="1"/>
          <p:nvPr/>
        </p:nvSpPr>
        <p:spPr>
          <a:xfrm>
            <a:off x="7232904" y="1865376"/>
            <a:ext cx="4206240" cy="237744"/>
          </a:xfrm>
          <a:prstGeom prst="rect">
            <a:avLst/>
          </a:prstGeom>
          <a:noFill/>
        </p:spPr>
        <p:txBody>
          <a:bodyPr wrap="square" lIns="0" tIns="0" rIns="0" bIns="0" anchor="ctr">
            <a:spAutoFit/>
          </a:bodyPr>
          <a:lstStyle/>
          <a:p>
            <a:pPr algn="l"/>
            <a:r>
              <a:rPr sz="1400" b="1">
                <a:solidFill>
                  <a:srgbClr val="FFFFFF"/>
                </a:solidFill>
                <a:latin typeface="Poppins"/>
              </a:rPr>
              <a:t>DIRTY</a:t>
            </a:r>
          </a:p>
        </p:txBody>
      </p:sp>
      <p:sp>
        <p:nvSpPr>
          <p:cNvPr id="51" name="TextBox 50"/>
          <p:cNvSpPr txBox="1"/>
          <p:nvPr/>
        </p:nvSpPr>
        <p:spPr>
          <a:xfrm>
            <a:off x="7232904" y="2103120"/>
            <a:ext cx="4206240" cy="182880"/>
          </a:xfrm>
          <a:prstGeom prst="rect">
            <a:avLst/>
          </a:prstGeom>
          <a:noFill/>
        </p:spPr>
        <p:txBody>
          <a:bodyPr wrap="square" lIns="0" tIns="0" rIns="0" bIns="0" anchor="ctr">
            <a:spAutoFit/>
          </a:bodyPr>
          <a:lstStyle/>
          <a:p>
            <a:pPr algn="l"/>
            <a:r>
              <a:rPr sz="800" b="0">
                <a:solidFill>
                  <a:srgbClr val="E8EFE9"/>
                </a:solidFill>
                <a:latin typeface="Poppins"/>
              </a:rPr>
              <a:t>Se mide y se reporta, no se calibra</a:t>
            </a:r>
          </a:p>
        </p:txBody>
      </p:sp>
      <p:sp>
        <p:nvSpPr>
          <p:cNvPr id="52" name="Rectangle 51"/>
          <p:cNvSpPr/>
          <p:nvPr/>
        </p:nvSpPr>
        <p:spPr>
          <a:xfrm>
            <a:off x="6464808" y="2340864"/>
            <a:ext cx="4919472" cy="10972"/>
          </a:xfrm>
          <a:prstGeom prst="rect">
            <a:avLst/>
          </a:prstGeom>
          <a:solidFill>
            <a:srgbClr val="8A3D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64808" y="2414016"/>
            <a:ext cx="1639824" cy="274320"/>
          </a:xfrm>
          <a:prstGeom prst="rect">
            <a:avLst/>
          </a:prstGeom>
          <a:noFill/>
        </p:spPr>
        <p:txBody>
          <a:bodyPr wrap="square" lIns="0" tIns="0" rIns="0" bIns="0" anchor="ctr">
            <a:spAutoFit/>
          </a:bodyPr>
          <a:lstStyle/>
          <a:p>
            <a:pPr algn="l"/>
            <a:r>
              <a:rPr sz="1600" b="1">
                <a:solidFill>
                  <a:srgbClr val="FFFFFF"/>
                </a:solidFill>
                <a:latin typeface="Poppins"/>
              </a:rPr>
              <a:t>196</a:t>
            </a:r>
          </a:p>
        </p:txBody>
      </p:sp>
      <p:sp>
        <p:nvSpPr>
          <p:cNvPr id="54" name="TextBox 53"/>
          <p:cNvSpPr txBox="1"/>
          <p:nvPr/>
        </p:nvSpPr>
        <p:spPr>
          <a:xfrm>
            <a:off x="6464808" y="2670048"/>
            <a:ext cx="1639824" cy="164592"/>
          </a:xfrm>
          <a:prstGeom prst="rect">
            <a:avLst/>
          </a:prstGeom>
          <a:noFill/>
        </p:spPr>
        <p:txBody>
          <a:bodyPr wrap="square" lIns="0" tIns="0" rIns="0" bIns="0" anchor="ctr">
            <a:spAutoFit/>
          </a:bodyPr>
          <a:lstStyle/>
          <a:p>
            <a:pPr algn="l"/>
            <a:r>
              <a:rPr sz="750" b="0">
                <a:solidFill>
                  <a:srgbClr val="E8EFE9"/>
                </a:solidFill>
                <a:latin typeface="Poppins"/>
              </a:rPr>
              <a:t>altas/mes</a:t>
            </a:r>
          </a:p>
        </p:txBody>
      </p:sp>
      <p:sp>
        <p:nvSpPr>
          <p:cNvPr id="55" name="TextBox 54"/>
          <p:cNvSpPr txBox="1"/>
          <p:nvPr/>
        </p:nvSpPr>
        <p:spPr>
          <a:xfrm>
            <a:off x="8104632" y="2414016"/>
            <a:ext cx="1639824" cy="274320"/>
          </a:xfrm>
          <a:prstGeom prst="rect">
            <a:avLst/>
          </a:prstGeom>
          <a:noFill/>
        </p:spPr>
        <p:txBody>
          <a:bodyPr wrap="square" lIns="0" tIns="0" rIns="0" bIns="0" anchor="ctr">
            <a:spAutoFit/>
          </a:bodyPr>
          <a:lstStyle/>
          <a:p>
            <a:pPr algn="l"/>
            <a:r>
              <a:rPr sz="1600" b="1">
                <a:solidFill>
                  <a:srgbClr val="FFFFFF"/>
                </a:solidFill>
                <a:latin typeface="Poppins"/>
              </a:rPr>
              <a:t>7.3%</a:t>
            </a:r>
          </a:p>
        </p:txBody>
      </p:sp>
      <p:sp>
        <p:nvSpPr>
          <p:cNvPr id="56" name="TextBox 55"/>
          <p:cNvSpPr txBox="1"/>
          <p:nvPr/>
        </p:nvSpPr>
        <p:spPr>
          <a:xfrm>
            <a:off x="8104632" y="2670048"/>
            <a:ext cx="1639824" cy="164592"/>
          </a:xfrm>
          <a:prstGeom prst="rect">
            <a:avLst/>
          </a:prstGeom>
          <a:noFill/>
        </p:spPr>
        <p:txBody>
          <a:bodyPr wrap="square" lIns="0" tIns="0" rIns="0" bIns="0" anchor="ctr">
            <a:spAutoFit/>
          </a:bodyPr>
          <a:lstStyle/>
          <a:p>
            <a:pPr algn="l"/>
            <a:r>
              <a:rPr sz="750" b="0">
                <a:solidFill>
                  <a:srgbClr val="E8EFE9"/>
                </a:solidFill>
                <a:latin typeface="Poppins"/>
              </a:rPr>
              <a:t>de la poblacion</a:t>
            </a:r>
          </a:p>
        </p:txBody>
      </p:sp>
      <p:sp>
        <p:nvSpPr>
          <p:cNvPr id="57" name="TextBox 56"/>
          <p:cNvSpPr txBox="1"/>
          <p:nvPr/>
        </p:nvSpPr>
        <p:spPr>
          <a:xfrm>
            <a:off x="9744456" y="2414016"/>
            <a:ext cx="1639824" cy="274320"/>
          </a:xfrm>
          <a:prstGeom prst="rect">
            <a:avLst/>
          </a:prstGeom>
          <a:noFill/>
        </p:spPr>
        <p:txBody>
          <a:bodyPr wrap="square" lIns="0" tIns="0" rIns="0" bIns="0" anchor="ctr">
            <a:spAutoFit/>
          </a:bodyPr>
          <a:lstStyle/>
          <a:p>
            <a:pPr algn="l"/>
            <a:r>
              <a:rPr sz="1600" b="1">
                <a:solidFill>
                  <a:srgbClr val="FFFFFF"/>
                </a:solidFill>
                <a:latin typeface="Poppins"/>
              </a:rPr>
              <a:t>9.03%</a:t>
            </a:r>
          </a:p>
        </p:txBody>
      </p:sp>
      <p:sp>
        <p:nvSpPr>
          <p:cNvPr id="58" name="TextBox 57"/>
          <p:cNvSpPr txBox="1"/>
          <p:nvPr/>
        </p:nvSpPr>
        <p:spPr>
          <a:xfrm>
            <a:off x="9744456" y="2670048"/>
            <a:ext cx="1639824" cy="164592"/>
          </a:xfrm>
          <a:prstGeom prst="rect">
            <a:avLst/>
          </a:prstGeom>
          <a:noFill/>
        </p:spPr>
        <p:txBody>
          <a:bodyPr wrap="square" lIns="0" tIns="0" rIns="0" bIns="0" anchor="ctr">
            <a:spAutoFit/>
          </a:bodyPr>
          <a:lstStyle/>
          <a:p>
            <a:pPr algn="l"/>
            <a:r>
              <a:rPr sz="750" b="0">
                <a:solidFill>
                  <a:srgbClr val="E8EFE9"/>
                </a:solidFill>
                <a:latin typeface="Poppins"/>
              </a:rPr>
              <a:t>mora 12 meses</a:t>
            </a:r>
          </a:p>
        </p:txBody>
      </p:sp>
      <p:sp>
        <p:nvSpPr>
          <p:cNvPr id="59" name="TextBox 58"/>
          <p:cNvSpPr txBox="1"/>
          <p:nvPr/>
        </p:nvSpPr>
        <p:spPr>
          <a:xfrm>
            <a:off x="6428232" y="3035808"/>
            <a:ext cx="1472184" cy="164592"/>
          </a:xfrm>
          <a:prstGeom prst="rect">
            <a:avLst/>
          </a:prstGeom>
          <a:noFill/>
        </p:spPr>
        <p:txBody>
          <a:bodyPr wrap="square" lIns="0" tIns="0" rIns="0" bIns="0" anchor="ctr">
            <a:spAutoFit/>
          </a:bodyPr>
          <a:lstStyle/>
          <a:p>
            <a:pPr algn="l"/>
            <a:r>
              <a:rPr sz="650" b="1">
                <a:solidFill>
                  <a:srgbClr val="7D8A83"/>
                </a:solidFill>
                <a:latin typeface="Poppins"/>
              </a:rPr>
              <a:t>MARCA DIRTY</a:t>
            </a:r>
          </a:p>
        </p:txBody>
      </p:sp>
      <p:sp>
        <p:nvSpPr>
          <p:cNvPr id="60" name="TextBox 59"/>
          <p:cNvSpPr txBox="1"/>
          <p:nvPr/>
        </p:nvSpPr>
        <p:spPr>
          <a:xfrm>
            <a:off x="7900416" y="3035808"/>
            <a:ext cx="466344" cy="164592"/>
          </a:xfrm>
          <a:prstGeom prst="rect">
            <a:avLst/>
          </a:prstGeom>
          <a:noFill/>
        </p:spPr>
        <p:txBody>
          <a:bodyPr wrap="square" lIns="0" tIns="0" rIns="0" bIns="0" anchor="ctr">
            <a:spAutoFit/>
          </a:bodyPr>
          <a:lstStyle/>
          <a:p>
            <a:pPr algn="r"/>
            <a:r>
              <a:rPr sz="650" b="1">
                <a:solidFill>
                  <a:srgbClr val="7D8A83"/>
                </a:solidFill>
                <a:latin typeface="Poppins"/>
              </a:rPr>
              <a:t>% POBL</a:t>
            </a:r>
          </a:p>
        </p:txBody>
      </p:sp>
      <p:sp>
        <p:nvSpPr>
          <p:cNvPr id="61" name="TextBox 60"/>
          <p:cNvSpPr txBox="1"/>
          <p:nvPr/>
        </p:nvSpPr>
        <p:spPr>
          <a:xfrm>
            <a:off x="8403336" y="3035808"/>
            <a:ext cx="457200" cy="164592"/>
          </a:xfrm>
          <a:prstGeom prst="rect">
            <a:avLst/>
          </a:prstGeom>
          <a:noFill/>
        </p:spPr>
        <p:txBody>
          <a:bodyPr wrap="square" lIns="0" tIns="0" rIns="0" bIns="0" anchor="ctr">
            <a:spAutoFit/>
          </a:bodyPr>
          <a:lstStyle/>
          <a:p>
            <a:pPr algn="r"/>
            <a:r>
              <a:rPr sz="650" b="1">
                <a:solidFill>
                  <a:srgbClr val="7D8A83"/>
                </a:solidFill>
                <a:latin typeface="Poppins"/>
              </a:rPr>
              <a:t>MORA</a:t>
            </a:r>
          </a:p>
        </p:txBody>
      </p:sp>
      <p:sp>
        <p:nvSpPr>
          <p:cNvPr id="62" name="Rectangle 61"/>
          <p:cNvSpPr/>
          <p:nvPr/>
        </p:nvSpPr>
        <p:spPr>
          <a:xfrm>
            <a:off x="6428232" y="3218688"/>
            <a:ext cx="2432304" cy="10972"/>
          </a:xfrm>
          <a:prstGeom prst="rect">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988552" y="3035808"/>
            <a:ext cx="1472184" cy="164592"/>
          </a:xfrm>
          <a:prstGeom prst="rect">
            <a:avLst/>
          </a:prstGeom>
          <a:noFill/>
        </p:spPr>
        <p:txBody>
          <a:bodyPr wrap="square" lIns="0" tIns="0" rIns="0" bIns="0" anchor="ctr">
            <a:spAutoFit/>
          </a:bodyPr>
          <a:lstStyle/>
          <a:p>
            <a:pPr algn="l"/>
            <a:r>
              <a:rPr sz="650" b="1">
                <a:solidFill>
                  <a:srgbClr val="7D8A83"/>
                </a:solidFill>
                <a:latin typeface="Poppins"/>
              </a:rPr>
              <a:t>MARCA DIRTY</a:t>
            </a:r>
          </a:p>
        </p:txBody>
      </p:sp>
      <p:sp>
        <p:nvSpPr>
          <p:cNvPr id="64" name="TextBox 63"/>
          <p:cNvSpPr txBox="1"/>
          <p:nvPr/>
        </p:nvSpPr>
        <p:spPr>
          <a:xfrm>
            <a:off x="10460736" y="3035808"/>
            <a:ext cx="466344" cy="164592"/>
          </a:xfrm>
          <a:prstGeom prst="rect">
            <a:avLst/>
          </a:prstGeom>
          <a:noFill/>
        </p:spPr>
        <p:txBody>
          <a:bodyPr wrap="square" lIns="0" tIns="0" rIns="0" bIns="0" anchor="ctr">
            <a:spAutoFit/>
          </a:bodyPr>
          <a:lstStyle/>
          <a:p>
            <a:pPr algn="r"/>
            <a:r>
              <a:rPr sz="650" b="1">
                <a:solidFill>
                  <a:srgbClr val="7D8A83"/>
                </a:solidFill>
                <a:latin typeface="Poppins"/>
              </a:rPr>
              <a:t>% POBL</a:t>
            </a:r>
          </a:p>
        </p:txBody>
      </p:sp>
      <p:sp>
        <p:nvSpPr>
          <p:cNvPr id="65" name="TextBox 64"/>
          <p:cNvSpPr txBox="1"/>
          <p:nvPr/>
        </p:nvSpPr>
        <p:spPr>
          <a:xfrm>
            <a:off x="10963656" y="3035808"/>
            <a:ext cx="457200" cy="164592"/>
          </a:xfrm>
          <a:prstGeom prst="rect">
            <a:avLst/>
          </a:prstGeom>
          <a:noFill/>
        </p:spPr>
        <p:txBody>
          <a:bodyPr wrap="square" lIns="0" tIns="0" rIns="0" bIns="0" anchor="ctr">
            <a:spAutoFit/>
          </a:bodyPr>
          <a:lstStyle/>
          <a:p>
            <a:pPr algn="r"/>
            <a:r>
              <a:rPr sz="650" b="1">
                <a:solidFill>
                  <a:srgbClr val="7D8A83"/>
                </a:solidFill>
                <a:latin typeface="Poppins"/>
              </a:rPr>
              <a:t>MORA</a:t>
            </a:r>
          </a:p>
        </p:txBody>
      </p:sp>
      <p:sp>
        <p:nvSpPr>
          <p:cNvPr id="66" name="Rectangle 65"/>
          <p:cNvSpPr/>
          <p:nvPr/>
        </p:nvSpPr>
        <p:spPr>
          <a:xfrm>
            <a:off x="8988552" y="3218688"/>
            <a:ext cx="2432304" cy="10972"/>
          </a:xfrm>
          <a:prstGeom prst="rect">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355080" y="3273552"/>
            <a:ext cx="2578608" cy="2560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428232" y="3291840"/>
            <a:ext cx="1517904" cy="237744"/>
          </a:xfrm>
          <a:prstGeom prst="rect">
            <a:avLst/>
          </a:prstGeom>
          <a:noFill/>
        </p:spPr>
        <p:txBody>
          <a:bodyPr wrap="square" lIns="0" tIns="0" rIns="0" bIns="0" anchor="ctr">
            <a:spAutoFit/>
          </a:bodyPr>
          <a:lstStyle/>
          <a:p>
            <a:pPr algn="l"/>
            <a:r>
              <a:rPr sz="800" b="0">
                <a:solidFill>
                  <a:srgbClr val="1C2B22"/>
                </a:solidFill>
                <a:latin typeface="Poppins"/>
              </a:rPr>
              <a:t>Sin RENIEC</a:t>
            </a:r>
          </a:p>
        </p:txBody>
      </p:sp>
      <p:sp>
        <p:nvSpPr>
          <p:cNvPr id="69" name="TextBox 68"/>
          <p:cNvSpPr txBox="1"/>
          <p:nvPr/>
        </p:nvSpPr>
        <p:spPr>
          <a:xfrm>
            <a:off x="7900416" y="3291840"/>
            <a:ext cx="466344" cy="237744"/>
          </a:xfrm>
          <a:prstGeom prst="rect">
            <a:avLst/>
          </a:prstGeom>
          <a:noFill/>
        </p:spPr>
        <p:txBody>
          <a:bodyPr wrap="square" lIns="0" tIns="0" rIns="0" bIns="0" anchor="ctr">
            <a:spAutoFit/>
          </a:bodyPr>
          <a:lstStyle/>
          <a:p>
            <a:pPr algn="r"/>
            <a:r>
              <a:rPr sz="800" b="1">
                <a:solidFill>
                  <a:srgbClr val="1C2B22"/>
                </a:solidFill>
                <a:latin typeface="Poppins"/>
              </a:rPr>
              <a:t>9.01%</a:t>
            </a:r>
          </a:p>
        </p:txBody>
      </p:sp>
      <p:sp>
        <p:nvSpPr>
          <p:cNvPr id="70" name="TextBox 69"/>
          <p:cNvSpPr txBox="1"/>
          <p:nvPr/>
        </p:nvSpPr>
        <p:spPr>
          <a:xfrm>
            <a:off x="8403336" y="3291840"/>
            <a:ext cx="457200" cy="237744"/>
          </a:xfrm>
          <a:prstGeom prst="rect">
            <a:avLst/>
          </a:prstGeom>
          <a:noFill/>
        </p:spPr>
        <p:txBody>
          <a:bodyPr wrap="square" lIns="0" tIns="0" rIns="0" bIns="0" anchor="ctr">
            <a:spAutoFit/>
          </a:bodyPr>
          <a:lstStyle/>
          <a:p>
            <a:pPr algn="r"/>
            <a:r>
              <a:rPr sz="800" b="0">
                <a:solidFill>
                  <a:srgbClr val="1C2B22"/>
                </a:solidFill>
                <a:latin typeface="Poppins"/>
              </a:rPr>
              <a:t>5.8%</a:t>
            </a:r>
          </a:p>
        </p:txBody>
      </p:sp>
      <p:sp>
        <p:nvSpPr>
          <p:cNvPr id="71" name="TextBox 70"/>
          <p:cNvSpPr txBox="1"/>
          <p:nvPr/>
        </p:nvSpPr>
        <p:spPr>
          <a:xfrm>
            <a:off x="6428232" y="3566160"/>
            <a:ext cx="1517904" cy="237744"/>
          </a:xfrm>
          <a:prstGeom prst="rect">
            <a:avLst/>
          </a:prstGeom>
          <a:noFill/>
        </p:spPr>
        <p:txBody>
          <a:bodyPr wrap="square" lIns="0" tIns="0" rIns="0" bIns="0" anchor="ctr">
            <a:spAutoFit/>
          </a:bodyPr>
          <a:lstStyle/>
          <a:p>
            <a:pPr algn="l"/>
            <a:r>
              <a:rPr sz="800" b="0">
                <a:solidFill>
                  <a:srgbClr val="1C2B22"/>
                </a:solidFill>
                <a:latin typeface="Poppins"/>
              </a:rPr>
              <a:t>Edad</a:t>
            </a:r>
          </a:p>
        </p:txBody>
      </p:sp>
      <p:sp>
        <p:nvSpPr>
          <p:cNvPr id="72" name="TextBox 71"/>
          <p:cNvSpPr txBox="1"/>
          <p:nvPr/>
        </p:nvSpPr>
        <p:spPr>
          <a:xfrm>
            <a:off x="7900416" y="3566160"/>
            <a:ext cx="466344" cy="237744"/>
          </a:xfrm>
          <a:prstGeom prst="rect">
            <a:avLst/>
          </a:prstGeom>
          <a:noFill/>
        </p:spPr>
        <p:txBody>
          <a:bodyPr wrap="square" lIns="0" tIns="0" rIns="0" bIns="0" anchor="ctr">
            <a:spAutoFit/>
          </a:bodyPr>
          <a:lstStyle/>
          <a:p>
            <a:pPr algn="r"/>
            <a:r>
              <a:rPr sz="800" b="1">
                <a:solidFill>
                  <a:srgbClr val="1C2B22"/>
                </a:solidFill>
                <a:latin typeface="Poppins"/>
              </a:rPr>
              <a:t>3.80%</a:t>
            </a:r>
          </a:p>
        </p:txBody>
      </p:sp>
      <p:sp>
        <p:nvSpPr>
          <p:cNvPr id="73" name="TextBox 72"/>
          <p:cNvSpPr txBox="1"/>
          <p:nvPr/>
        </p:nvSpPr>
        <p:spPr>
          <a:xfrm>
            <a:off x="8403336" y="3566160"/>
            <a:ext cx="457200" cy="237744"/>
          </a:xfrm>
          <a:prstGeom prst="rect">
            <a:avLst/>
          </a:prstGeom>
          <a:noFill/>
        </p:spPr>
        <p:txBody>
          <a:bodyPr wrap="square" lIns="0" tIns="0" rIns="0" bIns="0" anchor="ctr">
            <a:spAutoFit/>
          </a:bodyPr>
          <a:lstStyle/>
          <a:p>
            <a:pPr algn="r"/>
            <a:r>
              <a:rPr sz="800" b="0">
                <a:solidFill>
                  <a:srgbClr val="1C2B22"/>
                </a:solidFill>
                <a:latin typeface="Poppins"/>
              </a:rPr>
              <a:t>6.2%</a:t>
            </a:r>
          </a:p>
        </p:txBody>
      </p:sp>
      <p:sp>
        <p:nvSpPr>
          <p:cNvPr id="74" name="Rectangle 73"/>
          <p:cNvSpPr/>
          <p:nvPr/>
        </p:nvSpPr>
        <p:spPr>
          <a:xfrm>
            <a:off x="6355080" y="3822192"/>
            <a:ext cx="2578608" cy="2560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428232" y="3840480"/>
            <a:ext cx="1517904" cy="237744"/>
          </a:xfrm>
          <a:prstGeom prst="rect">
            <a:avLst/>
          </a:prstGeom>
          <a:noFill/>
        </p:spPr>
        <p:txBody>
          <a:bodyPr wrap="square" lIns="0" tIns="0" rIns="0" bIns="0" anchor="ctr">
            <a:spAutoFit/>
          </a:bodyPr>
          <a:lstStyle/>
          <a:p>
            <a:pPr algn="l"/>
            <a:r>
              <a:rPr sz="800" b="0">
                <a:solidFill>
                  <a:srgbClr val="1C2B22"/>
                </a:solidFill>
                <a:latin typeface="Poppins"/>
              </a:rPr>
              <a:t>Castigo 24m</a:t>
            </a:r>
          </a:p>
        </p:txBody>
      </p:sp>
      <p:sp>
        <p:nvSpPr>
          <p:cNvPr id="76" name="TextBox 75"/>
          <p:cNvSpPr txBox="1"/>
          <p:nvPr/>
        </p:nvSpPr>
        <p:spPr>
          <a:xfrm>
            <a:off x="7900416" y="3840480"/>
            <a:ext cx="466344" cy="237744"/>
          </a:xfrm>
          <a:prstGeom prst="rect">
            <a:avLst/>
          </a:prstGeom>
          <a:noFill/>
        </p:spPr>
        <p:txBody>
          <a:bodyPr wrap="square" lIns="0" tIns="0" rIns="0" bIns="0" anchor="ctr">
            <a:spAutoFit/>
          </a:bodyPr>
          <a:lstStyle/>
          <a:p>
            <a:pPr algn="r"/>
            <a:r>
              <a:rPr sz="800" b="1">
                <a:solidFill>
                  <a:srgbClr val="1C2B22"/>
                </a:solidFill>
                <a:latin typeface="Poppins"/>
              </a:rPr>
              <a:t>3.34%</a:t>
            </a:r>
          </a:p>
        </p:txBody>
      </p:sp>
      <p:sp>
        <p:nvSpPr>
          <p:cNvPr id="77" name="TextBox 76"/>
          <p:cNvSpPr txBox="1"/>
          <p:nvPr/>
        </p:nvSpPr>
        <p:spPr>
          <a:xfrm>
            <a:off x="8403336" y="3840480"/>
            <a:ext cx="457200" cy="237744"/>
          </a:xfrm>
          <a:prstGeom prst="rect">
            <a:avLst/>
          </a:prstGeom>
          <a:noFill/>
        </p:spPr>
        <p:txBody>
          <a:bodyPr wrap="square" lIns="0" tIns="0" rIns="0" bIns="0" anchor="ctr">
            <a:spAutoFit/>
          </a:bodyPr>
          <a:lstStyle/>
          <a:p>
            <a:pPr algn="r"/>
            <a:r>
              <a:rPr sz="800" b="1">
                <a:solidFill>
                  <a:srgbClr val="8A6410"/>
                </a:solidFill>
                <a:latin typeface="Poppins"/>
              </a:rPr>
              <a:t>12.3%</a:t>
            </a:r>
          </a:p>
        </p:txBody>
      </p:sp>
      <p:sp>
        <p:nvSpPr>
          <p:cNvPr id="78" name="TextBox 77"/>
          <p:cNvSpPr txBox="1"/>
          <p:nvPr/>
        </p:nvSpPr>
        <p:spPr>
          <a:xfrm>
            <a:off x="6428232" y="4114800"/>
            <a:ext cx="1517904" cy="237744"/>
          </a:xfrm>
          <a:prstGeom prst="rect">
            <a:avLst/>
          </a:prstGeom>
          <a:noFill/>
        </p:spPr>
        <p:txBody>
          <a:bodyPr wrap="square" lIns="0" tIns="0" rIns="0" bIns="0" anchor="ctr">
            <a:spAutoFit/>
          </a:bodyPr>
          <a:lstStyle/>
          <a:p>
            <a:pPr algn="l"/>
            <a:r>
              <a:rPr sz="800" b="0">
                <a:solidFill>
                  <a:srgbClr val="1C2B22"/>
                </a:solidFill>
                <a:latin typeface="Poppins"/>
              </a:rPr>
              <a:t>Mayor a CPP</a:t>
            </a:r>
          </a:p>
        </p:txBody>
      </p:sp>
      <p:sp>
        <p:nvSpPr>
          <p:cNvPr id="79" name="TextBox 78"/>
          <p:cNvSpPr txBox="1"/>
          <p:nvPr/>
        </p:nvSpPr>
        <p:spPr>
          <a:xfrm>
            <a:off x="7900416" y="4114800"/>
            <a:ext cx="466344" cy="237744"/>
          </a:xfrm>
          <a:prstGeom prst="rect">
            <a:avLst/>
          </a:prstGeom>
          <a:noFill/>
        </p:spPr>
        <p:txBody>
          <a:bodyPr wrap="square" lIns="0" tIns="0" rIns="0" bIns="0" anchor="ctr">
            <a:spAutoFit/>
          </a:bodyPr>
          <a:lstStyle/>
          <a:p>
            <a:pPr algn="r"/>
            <a:r>
              <a:rPr sz="800" b="1">
                <a:solidFill>
                  <a:srgbClr val="1C2B22"/>
                </a:solidFill>
                <a:latin typeface="Poppins"/>
              </a:rPr>
              <a:t>0.50%</a:t>
            </a:r>
          </a:p>
        </p:txBody>
      </p:sp>
      <p:sp>
        <p:nvSpPr>
          <p:cNvPr id="80" name="TextBox 79"/>
          <p:cNvSpPr txBox="1"/>
          <p:nvPr/>
        </p:nvSpPr>
        <p:spPr>
          <a:xfrm>
            <a:off x="8403336" y="4114800"/>
            <a:ext cx="457200" cy="237744"/>
          </a:xfrm>
          <a:prstGeom prst="rect">
            <a:avLst/>
          </a:prstGeom>
          <a:noFill/>
        </p:spPr>
        <p:txBody>
          <a:bodyPr wrap="square" lIns="0" tIns="0" rIns="0" bIns="0" anchor="ctr">
            <a:spAutoFit/>
          </a:bodyPr>
          <a:lstStyle/>
          <a:p>
            <a:pPr algn="r"/>
            <a:r>
              <a:rPr sz="800" b="1">
                <a:solidFill>
                  <a:srgbClr val="A3282F"/>
                </a:solidFill>
                <a:latin typeface="Poppins"/>
              </a:rPr>
              <a:t>55.0%</a:t>
            </a:r>
          </a:p>
        </p:txBody>
      </p:sp>
      <p:sp>
        <p:nvSpPr>
          <p:cNvPr id="81" name="Rectangle 80"/>
          <p:cNvSpPr/>
          <p:nvPr/>
        </p:nvSpPr>
        <p:spPr>
          <a:xfrm>
            <a:off x="6355080" y="4370832"/>
            <a:ext cx="2578608" cy="2560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428232" y="4389120"/>
            <a:ext cx="1517904" cy="237744"/>
          </a:xfrm>
          <a:prstGeom prst="rect">
            <a:avLst/>
          </a:prstGeom>
          <a:noFill/>
        </p:spPr>
        <p:txBody>
          <a:bodyPr wrap="square" lIns="0" tIns="0" rIns="0" bIns="0" anchor="ctr">
            <a:spAutoFit/>
          </a:bodyPr>
          <a:lstStyle/>
          <a:p>
            <a:pPr algn="l"/>
            <a:r>
              <a:rPr sz="800" b="0">
                <a:solidFill>
                  <a:srgbClr val="1C2B22"/>
                </a:solidFill>
                <a:latin typeface="Poppins"/>
              </a:rPr>
              <a:t>Castigo origen</a:t>
            </a:r>
          </a:p>
        </p:txBody>
      </p:sp>
      <p:sp>
        <p:nvSpPr>
          <p:cNvPr id="83" name="TextBox 82"/>
          <p:cNvSpPr txBox="1"/>
          <p:nvPr/>
        </p:nvSpPr>
        <p:spPr>
          <a:xfrm>
            <a:off x="7900416" y="4389120"/>
            <a:ext cx="466344" cy="237744"/>
          </a:xfrm>
          <a:prstGeom prst="rect">
            <a:avLst/>
          </a:prstGeom>
          <a:noFill/>
        </p:spPr>
        <p:txBody>
          <a:bodyPr wrap="square" lIns="0" tIns="0" rIns="0" bIns="0" anchor="ctr">
            <a:spAutoFit/>
          </a:bodyPr>
          <a:lstStyle/>
          <a:p>
            <a:pPr algn="r"/>
            <a:r>
              <a:rPr sz="800" b="1">
                <a:solidFill>
                  <a:srgbClr val="1C2B22"/>
                </a:solidFill>
                <a:latin typeface="Poppins"/>
              </a:rPr>
              <a:t>0.37%</a:t>
            </a:r>
          </a:p>
        </p:txBody>
      </p:sp>
      <p:sp>
        <p:nvSpPr>
          <p:cNvPr id="84" name="TextBox 83"/>
          <p:cNvSpPr txBox="1"/>
          <p:nvPr/>
        </p:nvSpPr>
        <p:spPr>
          <a:xfrm>
            <a:off x="8403336" y="4389120"/>
            <a:ext cx="457200" cy="237744"/>
          </a:xfrm>
          <a:prstGeom prst="rect">
            <a:avLst/>
          </a:prstGeom>
          <a:noFill/>
        </p:spPr>
        <p:txBody>
          <a:bodyPr wrap="square" lIns="0" tIns="0" rIns="0" bIns="0" anchor="ctr">
            <a:spAutoFit/>
          </a:bodyPr>
          <a:lstStyle/>
          <a:p>
            <a:pPr algn="r"/>
            <a:r>
              <a:rPr sz="800" b="1">
                <a:solidFill>
                  <a:srgbClr val="A3282F"/>
                </a:solidFill>
                <a:latin typeface="Poppins"/>
              </a:rPr>
              <a:t>66.7%</a:t>
            </a:r>
          </a:p>
        </p:txBody>
      </p:sp>
      <p:sp>
        <p:nvSpPr>
          <p:cNvPr id="85" name="TextBox 84"/>
          <p:cNvSpPr txBox="1"/>
          <p:nvPr/>
        </p:nvSpPr>
        <p:spPr>
          <a:xfrm>
            <a:off x="6428232" y="4663440"/>
            <a:ext cx="1517904" cy="237744"/>
          </a:xfrm>
          <a:prstGeom prst="rect">
            <a:avLst/>
          </a:prstGeom>
          <a:noFill/>
        </p:spPr>
        <p:txBody>
          <a:bodyPr wrap="square" lIns="0" tIns="0" rIns="0" bIns="0" anchor="ctr">
            <a:spAutoFit/>
          </a:bodyPr>
          <a:lstStyle/>
          <a:p>
            <a:pPr algn="l"/>
            <a:r>
              <a:rPr sz="800" b="0">
                <a:solidFill>
                  <a:srgbClr val="1C2B22"/>
                </a:solidFill>
                <a:latin typeface="Poppins"/>
              </a:rPr>
              <a:t>Judicial 24m</a:t>
            </a:r>
          </a:p>
        </p:txBody>
      </p:sp>
      <p:sp>
        <p:nvSpPr>
          <p:cNvPr id="86" name="TextBox 85"/>
          <p:cNvSpPr txBox="1"/>
          <p:nvPr/>
        </p:nvSpPr>
        <p:spPr>
          <a:xfrm>
            <a:off x="7900416" y="4663440"/>
            <a:ext cx="466344" cy="237744"/>
          </a:xfrm>
          <a:prstGeom prst="rect">
            <a:avLst/>
          </a:prstGeom>
          <a:noFill/>
        </p:spPr>
        <p:txBody>
          <a:bodyPr wrap="square" lIns="0" tIns="0" rIns="0" bIns="0" anchor="ctr">
            <a:spAutoFit/>
          </a:bodyPr>
          <a:lstStyle/>
          <a:p>
            <a:pPr algn="r"/>
            <a:r>
              <a:rPr sz="800" b="1">
                <a:solidFill>
                  <a:srgbClr val="1C2B22"/>
                </a:solidFill>
                <a:latin typeface="Poppins"/>
              </a:rPr>
              <a:t>0.09%</a:t>
            </a:r>
          </a:p>
        </p:txBody>
      </p:sp>
      <p:sp>
        <p:nvSpPr>
          <p:cNvPr id="87" name="TextBox 86"/>
          <p:cNvSpPr txBox="1"/>
          <p:nvPr/>
        </p:nvSpPr>
        <p:spPr>
          <a:xfrm>
            <a:off x="8403336" y="4663440"/>
            <a:ext cx="457200" cy="237744"/>
          </a:xfrm>
          <a:prstGeom prst="rect">
            <a:avLst/>
          </a:prstGeom>
          <a:noFill/>
        </p:spPr>
        <p:txBody>
          <a:bodyPr wrap="square" lIns="0" tIns="0" rIns="0" bIns="0" anchor="ctr">
            <a:spAutoFit/>
          </a:bodyPr>
          <a:lstStyle/>
          <a:p>
            <a:pPr algn="r"/>
            <a:r>
              <a:rPr sz="800" b="1">
                <a:solidFill>
                  <a:srgbClr val="A3282F"/>
                </a:solidFill>
                <a:latin typeface="Poppins"/>
              </a:rPr>
              <a:t>42.9%</a:t>
            </a:r>
          </a:p>
        </p:txBody>
      </p:sp>
      <p:sp>
        <p:nvSpPr>
          <p:cNvPr id="88" name="Rectangle 87"/>
          <p:cNvSpPr/>
          <p:nvPr/>
        </p:nvSpPr>
        <p:spPr>
          <a:xfrm>
            <a:off x="6355080" y="4919472"/>
            <a:ext cx="2578608" cy="2560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428232" y="4937760"/>
            <a:ext cx="1517904" cy="237744"/>
          </a:xfrm>
          <a:prstGeom prst="rect">
            <a:avLst/>
          </a:prstGeom>
          <a:noFill/>
        </p:spPr>
        <p:txBody>
          <a:bodyPr wrap="square" lIns="0" tIns="0" rIns="0" bIns="0" anchor="ctr">
            <a:spAutoFit/>
          </a:bodyPr>
          <a:lstStyle/>
          <a:p>
            <a:pPr algn="l"/>
            <a:r>
              <a:rPr sz="800" b="0">
                <a:solidFill>
                  <a:srgbClr val="1C2B22"/>
                </a:solidFill>
                <a:latin typeface="Poppins"/>
              </a:rPr>
              <a:t>Malo origen</a:t>
            </a:r>
          </a:p>
        </p:txBody>
      </p:sp>
      <p:sp>
        <p:nvSpPr>
          <p:cNvPr id="90" name="TextBox 89"/>
          <p:cNvSpPr txBox="1"/>
          <p:nvPr/>
        </p:nvSpPr>
        <p:spPr>
          <a:xfrm>
            <a:off x="7900416" y="4937760"/>
            <a:ext cx="466344" cy="237744"/>
          </a:xfrm>
          <a:prstGeom prst="rect">
            <a:avLst/>
          </a:prstGeom>
          <a:noFill/>
        </p:spPr>
        <p:txBody>
          <a:bodyPr wrap="square" lIns="0" tIns="0" rIns="0" bIns="0" anchor="ctr">
            <a:spAutoFit/>
          </a:bodyPr>
          <a:lstStyle/>
          <a:p>
            <a:pPr algn="r"/>
            <a:r>
              <a:rPr sz="800" b="1">
                <a:solidFill>
                  <a:srgbClr val="1C2B22"/>
                </a:solidFill>
                <a:latin typeface="Poppins"/>
              </a:rPr>
              <a:t>0.07%</a:t>
            </a:r>
          </a:p>
        </p:txBody>
      </p:sp>
      <p:sp>
        <p:nvSpPr>
          <p:cNvPr id="91" name="TextBox 90"/>
          <p:cNvSpPr txBox="1"/>
          <p:nvPr/>
        </p:nvSpPr>
        <p:spPr>
          <a:xfrm>
            <a:off x="8403336" y="4937760"/>
            <a:ext cx="457200" cy="237744"/>
          </a:xfrm>
          <a:prstGeom prst="rect">
            <a:avLst/>
          </a:prstGeom>
          <a:noFill/>
        </p:spPr>
        <p:txBody>
          <a:bodyPr wrap="square" lIns="0" tIns="0" rIns="0" bIns="0" anchor="ctr">
            <a:spAutoFit/>
          </a:bodyPr>
          <a:lstStyle/>
          <a:p>
            <a:pPr algn="r"/>
            <a:r>
              <a:rPr sz="800" b="1">
                <a:solidFill>
                  <a:srgbClr val="A3282F"/>
                </a:solidFill>
                <a:latin typeface="Poppins"/>
              </a:rPr>
              <a:t>66.7%</a:t>
            </a:r>
          </a:p>
        </p:txBody>
      </p:sp>
      <p:sp>
        <p:nvSpPr>
          <p:cNvPr id="92" name="Rectangle 91"/>
          <p:cNvSpPr/>
          <p:nvPr/>
        </p:nvSpPr>
        <p:spPr>
          <a:xfrm>
            <a:off x="8915400" y="3273552"/>
            <a:ext cx="2578608" cy="2560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988552" y="3291840"/>
            <a:ext cx="1517904" cy="237744"/>
          </a:xfrm>
          <a:prstGeom prst="rect">
            <a:avLst/>
          </a:prstGeom>
          <a:noFill/>
        </p:spPr>
        <p:txBody>
          <a:bodyPr wrap="square" lIns="0" tIns="0" rIns="0" bIns="0" anchor="ctr">
            <a:spAutoFit/>
          </a:bodyPr>
          <a:lstStyle/>
          <a:p>
            <a:pPr algn="l"/>
            <a:r>
              <a:rPr sz="800" b="0">
                <a:solidFill>
                  <a:srgbClr val="1C2B22"/>
                </a:solidFill>
                <a:latin typeface="Poppins"/>
              </a:rPr>
              <a:t>Refin 6m</a:t>
            </a:r>
          </a:p>
        </p:txBody>
      </p:sp>
      <p:sp>
        <p:nvSpPr>
          <p:cNvPr id="94" name="TextBox 93"/>
          <p:cNvSpPr txBox="1"/>
          <p:nvPr/>
        </p:nvSpPr>
        <p:spPr>
          <a:xfrm>
            <a:off x="10460736" y="3291840"/>
            <a:ext cx="466344" cy="237744"/>
          </a:xfrm>
          <a:prstGeom prst="rect">
            <a:avLst/>
          </a:prstGeom>
          <a:noFill/>
        </p:spPr>
        <p:txBody>
          <a:bodyPr wrap="square" lIns="0" tIns="0" rIns="0" bIns="0" anchor="ctr">
            <a:spAutoFit/>
          </a:bodyPr>
          <a:lstStyle/>
          <a:p>
            <a:pPr algn="r"/>
            <a:r>
              <a:rPr sz="800" b="1">
                <a:solidFill>
                  <a:srgbClr val="1C2B22"/>
                </a:solidFill>
                <a:latin typeface="Poppins"/>
              </a:rPr>
              <a:t>0.05%</a:t>
            </a:r>
          </a:p>
        </p:txBody>
      </p:sp>
      <p:sp>
        <p:nvSpPr>
          <p:cNvPr id="95" name="TextBox 94"/>
          <p:cNvSpPr txBox="1"/>
          <p:nvPr/>
        </p:nvSpPr>
        <p:spPr>
          <a:xfrm>
            <a:off x="10963656" y="3291840"/>
            <a:ext cx="457200" cy="237744"/>
          </a:xfrm>
          <a:prstGeom prst="rect">
            <a:avLst/>
          </a:prstGeom>
          <a:noFill/>
        </p:spPr>
        <p:txBody>
          <a:bodyPr wrap="square" lIns="0" tIns="0" rIns="0" bIns="0" anchor="ctr">
            <a:spAutoFit/>
          </a:bodyPr>
          <a:lstStyle/>
          <a:p>
            <a:pPr algn="r"/>
            <a:r>
              <a:rPr sz="800" b="1">
                <a:solidFill>
                  <a:srgbClr val="A3282F"/>
                </a:solidFill>
                <a:latin typeface="Poppins"/>
              </a:rPr>
              <a:t>25.0%</a:t>
            </a:r>
          </a:p>
        </p:txBody>
      </p:sp>
      <p:sp>
        <p:nvSpPr>
          <p:cNvPr id="96" name="TextBox 95"/>
          <p:cNvSpPr txBox="1"/>
          <p:nvPr/>
        </p:nvSpPr>
        <p:spPr>
          <a:xfrm>
            <a:off x="8988552" y="3566160"/>
            <a:ext cx="1517904" cy="237744"/>
          </a:xfrm>
          <a:prstGeom prst="rect">
            <a:avLst/>
          </a:prstGeom>
          <a:noFill/>
        </p:spPr>
        <p:txBody>
          <a:bodyPr wrap="square" lIns="0" tIns="0" rIns="0" bIns="0" anchor="ctr">
            <a:spAutoFit/>
          </a:bodyPr>
          <a:lstStyle/>
          <a:p>
            <a:pPr algn="l"/>
            <a:r>
              <a:rPr sz="800" b="0">
                <a:solidFill>
                  <a:srgbClr val="1C2B22"/>
                </a:solidFill>
                <a:latin typeface="Poppins"/>
              </a:rPr>
              <a:t>Judicial origen</a:t>
            </a:r>
          </a:p>
        </p:txBody>
      </p:sp>
      <p:sp>
        <p:nvSpPr>
          <p:cNvPr id="97" name="TextBox 96"/>
          <p:cNvSpPr txBox="1"/>
          <p:nvPr/>
        </p:nvSpPr>
        <p:spPr>
          <a:xfrm>
            <a:off x="10460736" y="3566160"/>
            <a:ext cx="466344" cy="237744"/>
          </a:xfrm>
          <a:prstGeom prst="rect">
            <a:avLst/>
          </a:prstGeom>
          <a:noFill/>
        </p:spPr>
        <p:txBody>
          <a:bodyPr wrap="square" lIns="0" tIns="0" rIns="0" bIns="0" anchor="ctr">
            <a:spAutoFit/>
          </a:bodyPr>
          <a:lstStyle/>
          <a:p>
            <a:pPr algn="r"/>
            <a:r>
              <a:rPr sz="800" b="1">
                <a:solidFill>
                  <a:srgbClr val="1C2B22"/>
                </a:solidFill>
                <a:latin typeface="Poppins"/>
              </a:rPr>
              <a:t>0.04%</a:t>
            </a:r>
          </a:p>
        </p:txBody>
      </p:sp>
      <p:sp>
        <p:nvSpPr>
          <p:cNvPr id="98" name="TextBox 97"/>
          <p:cNvSpPr txBox="1"/>
          <p:nvPr/>
        </p:nvSpPr>
        <p:spPr>
          <a:xfrm>
            <a:off x="10963656" y="3566160"/>
            <a:ext cx="457200" cy="237744"/>
          </a:xfrm>
          <a:prstGeom prst="rect">
            <a:avLst/>
          </a:prstGeom>
          <a:noFill/>
        </p:spPr>
        <p:txBody>
          <a:bodyPr wrap="square" lIns="0" tIns="0" rIns="0" bIns="0" anchor="ctr">
            <a:spAutoFit/>
          </a:bodyPr>
          <a:lstStyle/>
          <a:p>
            <a:pPr algn="r"/>
            <a:r>
              <a:rPr sz="800" b="1">
                <a:solidFill>
                  <a:srgbClr val="A3282F"/>
                </a:solidFill>
                <a:latin typeface="Poppins"/>
              </a:rPr>
              <a:t>100.0%</a:t>
            </a:r>
          </a:p>
        </p:txBody>
      </p:sp>
      <p:sp>
        <p:nvSpPr>
          <p:cNvPr id="99" name="Rectangle 98"/>
          <p:cNvSpPr/>
          <p:nvPr/>
        </p:nvSpPr>
        <p:spPr>
          <a:xfrm>
            <a:off x="8915400" y="3822192"/>
            <a:ext cx="2578608" cy="2560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8988552" y="3840480"/>
            <a:ext cx="1517904" cy="237744"/>
          </a:xfrm>
          <a:prstGeom prst="rect">
            <a:avLst/>
          </a:prstGeom>
          <a:noFill/>
        </p:spPr>
        <p:txBody>
          <a:bodyPr wrap="square" lIns="0" tIns="0" rIns="0" bIns="0" anchor="ctr">
            <a:spAutoFit/>
          </a:bodyPr>
          <a:lstStyle/>
          <a:p>
            <a:pPr algn="l"/>
            <a:r>
              <a:rPr sz="800" b="0">
                <a:solidFill>
                  <a:srgbClr val="1C2B22"/>
                </a:solidFill>
                <a:latin typeface="Poppins"/>
              </a:rPr>
              <a:t>Refin origen</a:t>
            </a:r>
          </a:p>
        </p:txBody>
      </p:sp>
      <p:sp>
        <p:nvSpPr>
          <p:cNvPr id="101" name="TextBox 100"/>
          <p:cNvSpPr txBox="1"/>
          <p:nvPr/>
        </p:nvSpPr>
        <p:spPr>
          <a:xfrm>
            <a:off x="10460736" y="3840480"/>
            <a:ext cx="466344" cy="237744"/>
          </a:xfrm>
          <a:prstGeom prst="rect">
            <a:avLst/>
          </a:prstGeom>
          <a:noFill/>
        </p:spPr>
        <p:txBody>
          <a:bodyPr wrap="square" lIns="0" tIns="0" rIns="0" bIns="0" anchor="ctr">
            <a:spAutoFit/>
          </a:bodyPr>
          <a:lstStyle/>
          <a:p>
            <a:pPr algn="r"/>
            <a:r>
              <a:rPr sz="800" b="1">
                <a:solidFill>
                  <a:srgbClr val="1C2B22"/>
                </a:solidFill>
                <a:latin typeface="Poppins"/>
              </a:rPr>
              <a:t>0.01%</a:t>
            </a:r>
          </a:p>
        </p:txBody>
      </p:sp>
      <p:sp>
        <p:nvSpPr>
          <p:cNvPr id="102" name="TextBox 101"/>
          <p:cNvSpPr txBox="1"/>
          <p:nvPr/>
        </p:nvSpPr>
        <p:spPr>
          <a:xfrm>
            <a:off x="10963656" y="3840480"/>
            <a:ext cx="457200" cy="237744"/>
          </a:xfrm>
          <a:prstGeom prst="rect">
            <a:avLst/>
          </a:prstGeom>
          <a:noFill/>
        </p:spPr>
        <p:txBody>
          <a:bodyPr wrap="square" lIns="0" tIns="0" rIns="0" bIns="0" anchor="ctr">
            <a:spAutoFit/>
          </a:bodyPr>
          <a:lstStyle/>
          <a:p>
            <a:pPr algn="r"/>
            <a:r>
              <a:rPr sz="800" b="1">
                <a:solidFill>
                  <a:srgbClr val="A3282F"/>
                </a:solidFill>
                <a:latin typeface="Poppins"/>
              </a:rPr>
              <a:t>100.0%</a:t>
            </a:r>
          </a:p>
        </p:txBody>
      </p:sp>
      <p:sp>
        <p:nvSpPr>
          <p:cNvPr id="103" name="TextBox 102"/>
          <p:cNvSpPr txBox="1"/>
          <p:nvPr/>
        </p:nvSpPr>
        <p:spPr>
          <a:xfrm>
            <a:off x="8988552" y="4114800"/>
            <a:ext cx="1517904" cy="237744"/>
          </a:xfrm>
          <a:prstGeom prst="rect">
            <a:avLst/>
          </a:prstGeom>
          <a:noFill/>
        </p:spPr>
        <p:txBody>
          <a:bodyPr wrap="square" lIns="0" tIns="0" rIns="0" bIns="0" anchor="ctr">
            <a:spAutoFit/>
          </a:bodyPr>
          <a:lstStyle/>
          <a:p>
            <a:pPr algn="l"/>
            <a:r>
              <a:rPr sz="800" b="0">
                <a:solidFill>
                  <a:srgbClr val="1C2B22"/>
                </a:solidFill>
                <a:latin typeface="Poppins"/>
              </a:rPr>
              <a:t>Garantia convenio</a:t>
            </a:r>
          </a:p>
        </p:txBody>
      </p:sp>
      <p:sp>
        <p:nvSpPr>
          <p:cNvPr id="104" name="TextBox 103"/>
          <p:cNvSpPr txBox="1"/>
          <p:nvPr/>
        </p:nvSpPr>
        <p:spPr>
          <a:xfrm>
            <a:off x="10460736" y="4114800"/>
            <a:ext cx="466344" cy="237744"/>
          </a:xfrm>
          <a:prstGeom prst="rect">
            <a:avLst/>
          </a:prstGeom>
          <a:noFill/>
        </p:spPr>
        <p:txBody>
          <a:bodyPr wrap="square" lIns="0" tIns="0" rIns="0" bIns="0" anchor="ctr">
            <a:spAutoFit/>
          </a:bodyPr>
          <a:lstStyle/>
          <a:p>
            <a:pPr algn="r"/>
            <a:r>
              <a:rPr sz="800" b="0">
                <a:solidFill>
                  <a:srgbClr val="7D8A83"/>
                </a:solidFill>
                <a:latin typeface="Poppins"/>
              </a:rPr>
              <a:t>0.00%</a:t>
            </a:r>
          </a:p>
        </p:txBody>
      </p:sp>
      <p:sp>
        <p:nvSpPr>
          <p:cNvPr id="105" name="TextBox 104"/>
          <p:cNvSpPr txBox="1"/>
          <p:nvPr/>
        </p:nvSpPr>
        <p:spPr>
          <a:xfrm>
            <a:off x="10963656" y="4114800"/>
            <a:ext cx="457200" cy="237744"/>
          </a:xfrm>
          <a:prstGeom prst="rect">
            <a:avLst/>
          </a:prstGeom>
          <a:noFill/>
        </p:spPr>
        <p:txBody>
          <a:bodyPr wrap="square" lIns="0" tIns="0" rIns="0" bIns="0" anchor="ctr">
            <a:spAutoFit/>
          </a:bodyPr>
          <a:lstStyle/>
          <a:p>
            <a:pPr algn="r"/>
            <a:r>
              <a:rPr sz="800" b="0">
                <a:solidFill>
                  <a:srgbClr val="7D8A83"/>
                </a:solidFill>
                <a:latin typeface="Poppins"/>
              </a:rPr>
              <a:t>-</a:t>
            </a:r>
          </a:p>
        </p:txBody>
      </p:sp>
      <p:sp>
        <p:nvSpPr>
          <p:cNvPr id="106" name="Rectangle 105"/>
          <p:cNvSpPr/>
          <p:nvPr/>
        </p:nvSpPr>
        <p:spPr>
          <a:xfrm>
            <a:off x="8915400" y="4370832"/>
            <a:ext cx="2578608" cy="2560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988552" y="4389120"/>
            <a:ext cx="1517904" cy="237744"/>
          </a:xfrm>
          <a:prstGeom prst="rect">
            <a:avLst/>
          </a:prstGeom>
          <a:noFill/>
        </p:spPr>
        <p:txBody>
          <a:bodyPr wrap="square" lIns="0" tIns="0" rIns="0" bIns="0" anchor="ctr">
            <a:spAutoFit/>
          </a:bodyPr>
          <a:lstStyle/>
          <a:p>
            <a:pPr algn="l"/>
            <a:r>
              <a:rPr sz="800" b="0">
                <a:solidFill>
                  <a:srgbClr val="1C2B22"/>
                </a:solidFill>
                <a:latin typeface="Poppins"/>
              </a:rPr>
              <a:t>Fraude</a:t>
            </a:r>
          </a:p>
        </p:txBody>
      </p:sp>
      <p:sp>
        <p:nvSpPr>
          <p:cNvPr id="108" name="TextBox 107"/>
          <p:cNvSpPr txBox="1"/>
          <p:nvPr/>
        </p:nvSpPr>
        <p:spPr>
          <a:xfrm>
            <a:off x="10460736" y="4389120"/>
            <a:ext cx="466344" cy="237744"/>
          </a:xfrm>
          <a:prstGeom prst="rect">
            <a:avLst/>
          </a:prstGeom>
          <a:noFill/>
        </p:spPr>
        <p:txBody>
          <a:bodyPr wrap="square" lIns="0" tIns="0" rIns="0" bIns="0" anchor="ctr">
            <a:spAutoFit/>
          </a:bodyPr>
          <a:lstStyle/>
          <a:p>
            <a:pPr algn="r"/>
            <a:r>
              <a:rPr sz="800" b="0">
                <a:solidFill>
                  <a:srgbClr val="7D8A83"/>
                </a:solidFill>
                <a:latin typeface="Poppins"/>
              </a:rPr>
              <a:t>0.00%</a:t>
            </a:r>
          </a:p>
        </p:txBody>
      </p:sp>
      <p:sp>
        <p:nvSpPr>
          <p:cNvPr id="109" name="TextBox 108"/>
          <p:cNvSpPr txBox="1"/>
          <p:nvPr/>
        </p:nvSpPr>
        <p:spPr>
          <a:xfrm>
            <a:off x="10963656" y="4389120"/>
            <a:ext cx="457200" cy="237744"/>
          </a:xfrm>
          <a:prstGeom prst="rect">
            <a:avLst/>
          </a:prstGeom>
          <a:noFill/>
        </p:spPr>
        <p:txBody>
          <a:bodyPr wrap="square" lIns="0" tIns="0" rIns="0" bIns="0" anchor="ctr">
            <a:spAutoFit/>
          </a:bodyPr>
          <a:lstStyle/>
          <a:p>
            <a:pPr algn="r"/>
            <a:r>
              <a:rPr sz="800" b="0">
                <a:solidFill>
                  <a:srgbClr val="7D8A83"/>
                </a:solidFill>
                <a:latin typeface="Poppins"/>
              </a:rPr>
              <a:t>-</a:t>
            </a:r>
          </a:p>
        </p:txBody>
      </p:sp>
      <p:sp>
        <p:nvSpPr>
          <p:cNvPr id="110" name="TextBox 109"/>
          <p:cNvSpPr txBox="1"/>
          <p:nvPr/>
        </p:nvSpPr>
        <p:spPr>
          <a:xfrm>
            <a:off x="8988552" y="4663440"/>
            <a:ext cx="1517904" cy="237744"/>
          </a:xfrm>
          <a:prstGeom prst="rect">
            <a:avLst/>
          </a:prstGeom>
          <a:noFill/>
        </p:spPr>
        <p:txBody>
          <a:bodyPr wrap="square" lIns="0" tIns="0" rIns="0" bIns="0" anchor="ctr">
            <a:spAutoFit/>
          </a:bodyPr>
          <a:lstStyle/>
          <a:p>
            <a:pPr algn="l"/>
            <a:r>
              <a:rPr sz="800" b="0">
                <a:solidFill>
                  <a:srgbClr val="1C2B22"/>
                </a:solidFill>
                <a:latin typeface="Poppins"/>
              </a:rPr>
              <a:t>Swap 12m</a:t>
            </a:r>
          </a:p>
        </p:txBody>
      </p:sp>
      <p:sp>
        <p:nvSpPr>
          <p:cNvPr id="111" name="TextBox 110"/>
          <p:cNvSpPr txBox="1"/>
          <p:nvPr/>
        </p:nvSpPr>
        <p:spPr>
          <a:xfrm>
            <a:off x="10460736" y="4663440"/>
            <a:ext cx="466344" cy="237744"/>
          </a:xfrm>
          <a:prstGeom prst="rect">
            <a:avLst/>
          </a:prstGeom>
          <a:noFill/>
        </p:spPr>
        <p:txBody>
          <a:bodyPr wrap="square" lIns="0" tIns="0" rIns="0" bIns="0" anchor="ctr">
            <a:spAutoFit/>
          </a:bodyPr>
          <a:lstStyle/>
          <a:p>
            <a:pPr algn="r"/>
            <a:r>
              <a:rPr sz="800" b="0">
                <a:solidFill>
                  <a:srgbClr val="7D8A83"/>
                </a:solidFill>
                <a:latin typeface="Poppins"/>
              </a:rPr>
              <a:t>0.00%</a:t>
            </a:r>
          </a:p>
        </p:txBody>
      </p:sp>
      <p:sp>
        <p:nvSpPr>
          <p:cNvPr id="112" name="TextBox 111"/>
          <p:cNvSpPr txBox="1"/>
          <p:nvPr/>
        </p:nvSpPr>
        <p:spPr>
          <a:xfrm>
            <a:off x="10963656" y="4663440"/>
            <a:ext cx="457200" cy="237744"/>
          </a:xfrm>
          <a:prstGeom prst="rect">
            <a:avLst/>
          </a:prstGeom>
          <a:noFill/>
        </p:spPr>
        <p:txBody>
          <a:bodyPr wrap="square" lIns="0" tIns="0" rIns="0" bIns="0" anchor="ctr">
            <a:spAutoFit/>
          </a:bodyPr>
          <a:lstStyle/>
          <a:p>
            <a:pPr algn="r"/>
            <a:r>
              <a:rPr sz="800" b="0">
                <a:solidFill>
                  <a:srgbClr val="7D8A83"/>
                </a:solidFill>
                <a:latin typeface="Poppins"/>
              </a:rPr>
              <a:t>-</a:t>
            </a:r>
          </a:p>
        </p:txBody>
      </p:sp>
      <p:sp>
        <p:nvSpPr>
          <p:cNvPr id="113" name="Rectangle 112"/>
          <p:cNvSpPr/>
          <p:nvPr/>
        </p:nvSpPr>
        <p:spPr>
          <a:xfrm>
            <a:off x="8915400" y="4919472"/>
            <a:ext cx="2578608" cy="25603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8988552" y="4937760"/>
            <a:ext cx="1517904" cy="237744"/>
          </a:xfrm>
          <a:prstGeom prst="rect">
            <a:avLst/>
          </a:prstGeom>
          <a:noFill/>
        </p:spPr>
        <p:txBody>
          <a:bodyPr wrap="square" lIns="0" tIns="0" rIns="0" bIns="0" anchor="ctr">
            <a:spAutoFit/>
          </a:bodyPr>
          <a:lstStyle/>
          <a:p>
            <a:pPr algn="l"/>
            <a:r>
              <a:rPr sz="800" b="0">
                <a:solidFill>
                  <a:srgbClr val="1C2B22"/>
                </a:solidFill>
                <a:latin typeface="Poppins"/>
              </a:rPr>
              <a:t>Repro origen</a:t>
            </a:r>
          </a:p>
        </p:txBody>
      </p:sp>
      <p:sp>
        <p:nvSpPr>
          <p:cNvPr id="115" name="TextBox 114"/>
          <p:cNvSpPr txBox="1"/>
          <p:nvPr/>
        </p:nvSpPr>
        <p:spPr>
          <a:xfrm>
            <a:off x="10460736" y="4937760"/>
            <a:ext cx="466344" cy="237744"/>
          </a:xfrm>
          <a:prstGeom prst="rect">
            <a:avLst/>
          </a:prstGeom>
          <a:noFill/>
        </p:spPr>
        <p:txBody>
          <a:bodyPr wrap="square" lIns="0" tIns="0" rIns="0" bIns="0" anchor="ctr">
            <a:spAutoFit/>
          </a:bodyPr>
          <a:lstStyle/>
          <a:p>
            <a:pPr algn="r"/>
            <a:r>
              <a:rPr sz="800" b="0">
                <a:solidFill>
                  <a:srgbClr val="7D8A83"/>
                </a:solidFill>
                <a:latin typeface="Poppins"/>
              </a:rPr>
              <a:t>0.00%</a:t>
            </a:r>
          </a:p>
        </p:txBody>
      </p:sp>
      <p:sp>
        <p:nvSpPr>
          <p:cNvPr id="116" name="TextBox 115"/>
          <p:cNvSpPr txBox="1"/>
          <p:nvPr/>
        </p:nvSpPr>
        <p:spPr>
          <a:xfrm>
            <a:off x="10963656" y="4937760"/>
            <a:ext cx="457200" cy="237744"/>
          </a:xfrm>
          <a:prstGeom prst="rect">
            <a:avLst/>
          </a:prstGeom>
          <a:noFill/>
        </p:spPr>
        <p:txBody>
          <a:bodyPr wrap="square" lIns="0" tIns="0" rIns="0" bIns="0" anchor="ctr">
            <a:spAutoFit/>
          </a:bodyPr>
          <a:lstStyle/>
          <a:p>
            <a:pPr algn="r"/>
            <a:r>
              <a:rPr sz="800" b="0">
                <a:solidFill>
                  <a:srgbClr val="7D8A83"/>
                </a:solidFill>
                <a:latin typeface="Poppins"/>
              </a:rPr>
              <a:t>-</a:t>
            </a:r>
          </a:p>
        </p:txBody>
      </p:sp>
      <p:sp>
        <p:nvSpPr>
          <p:cNvPr id="117" name="Rectangle 116"/>
          <p:cNvSpPr/>
          <p:nvPr/>
        </p:nvSpPr>
        <p:spPr>
          <a:xfrm>
            <a:off x="6355080" y="5303520"/>
            <a:ext cx="5138928" cy="438912"/>
          </a:xfrm>
          <a:prstGeom prst="rect">
            <a:avLst/>
          </a:prstGeom>
          <a:solidFill>
            <a:srgbClr val="ED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6464808" y="5340096"/>
            <a:ext cx="4919472" cy="365760"/>
          </a:xfrm>
          <a:prstGeom prst="rect">
            <a:avLst/>
          </a:prstGeom>
          <a:noFill/>
        </p:spPr>
        <p:txBody>
          <a:bodyPr wrap="square" lIns="0" tIns="0" rIns="0" bIns="0">
            <a:spAutoFit/>
          </a:bodyPr>
          <a:lstStyle/>
          <a:p>
            <a:pPr algn="l">
              <a:lnSpc>
                <a:spcPct val="120000"/>
              </a:lnSpc>
            </a:pPr>
            <a:r>
              <a:rPr sz="800" b="0">
                <a:solidFill>
                  <a:srgbClr val="C55A11"/>
                </a:solidFill>
                <a:latin typeface="Poppins"/>
              </a:rPr>
              <a:t>Dispara uno solo y el alta sale. Todas por encima del 5.74% de la poblacion salvo Sin RENIEC (5.8) y Edad (6.2).</a:t>
            </a:r>
          </a:p>
        </p:txBody>
      </p:sp>
      <p:sp>
        <p:nvSpPr>
          <p:cNvPr id="119" name="Rectangle 118"/>
          <p:cNvSpPr/>
          <p:nvPr/>
        </p:nvSpPr>
        <p:spPr>
          <a:xfrm>
            <a:off x="566928" y="5961888"/>
            <a:ext cx="11055096" cy="18288"/>
          </a:xfrm>
          <a:prstGeom prst="rect">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566928" y="6035040"/>
            <a:ext cx="11055096" cy="384048"/>
          </a:xfrm>
          <a:prstGeom prst="rect">
            <a:avLst/>
          </a:prstGeom>
          <a:noFill/>
        </p:spPr>
        <p:txBody>
          <a:bodyPr wrap="square" lIns="0" tIns="0" rIns="0" bIns="0">
            <a:spAutoFit/>
          </a:bodyPr>
          <a:lstStyle/>
          <a:p>
            <a:pPr algn="l">
              <a:lnSpc>
                <a:spcPct val="125000"/>
              </a:lnSpc>
            </a:pPr>
            <a:r>
              <a:rPr sz="850" b="0">
                <a:solidFill>
                  <a:srgbClr val="1C2B22"/>
                </a:solidFill>
                <a:latin typeface="Poppins"/>
              </a:rPr>
              <a:t>La condicion de admision del producto es no estar bancarizado: sin saldo en tarjeta, prestamo personal ni linea de consumo en los 12 meses previos. Clean 92.6% mas dirty 7.3% mas 0.05% sin linea de credito cierra el 100%. La columna de peso no suma a esos totales porque un alta puede disparar mas de un filtro.</a:t>
            </a:r>
          </a:p>
        </p:txBody>
      </p:sp>
      <p:sp>
        <p:nvSpPr>
          <p:cNvPr id="121" name="TextBox 120"/>
          <p:cNvSpPr txBox="1"/>
          <p:nvPr/>
        </p:nvSpPr>
        <p:spPr>
          <a:xfrm>
            <a:off x="566928" y="6510528"/>
            <a:ext cx="11055096" cy="201168"/>
          </a:xfrm>
          <a:prstGeom prst="rect">
            <a:avLst/>
          </a:prstGeom>
          <a:noFill/>
        </p:spPr>
        <p:txBody>
          <a:bodyPr wrap="square" lIns="0" tIns="0" rIns="0" bIns="0" anchor="ctr">
            <a:spAutoFit/>
          </a:bodyPr>
          <a:lstStyle/>
          <a:p>
            <a:pPr algn="l"/>
            <a:r>
              <a:rPr sz="700" b="0">
                <a:solidFill>
                  <a:srgbClr val="7D8A83"/>
                </a:solidFill>
                <a:latin typeface="Poppins"/>
              </a:rPr>
              <a:t>Base: IBK, promedio mensual de 202504 - 202506. Los tres meses cierran los 12 de mora: cero cohortes inmaduras.   La poblacion se reconstruye del RCC (alta de tarjeta en el mes, ausente en los 12 previos y sin saldo bancario en esa ventana), no de un codigo de producto.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41248"/>
          </a:xfrm>
          <a:prstGeom prst="rect">
            <a:avLst/>
          </a:prstGeom>
          <a:solidFill>
            <a:srgbClr val="00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41248"/>
            <a:ext cx="12188952" cy="41148"/>
          </a:xfrm>
          <a:prstGeom prst="rect">
            <a:avLst/>
          </a:prstGeom>
          <a:solidFill>
            <a:srgbClr val="004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64592"/>
            <a:ext cx="6400800" cy="274320"/>
          </a:xfrm>
          <a:prstGeom prst="rect">
            <a:avLst/>
          </a:prstGeom>
          <a:noFill/>
        </p:spPr>
        <p:txBody>
          <a:bodyPr wrap="square" lIns="0" tIns="0" rIns="0" bIns="0" anchor="ctr">
            <a:spAutoFit/>
          </a:bodyPr>
          <a:lstStyle/>
          <a:p>
            <a:pPr algn="l"/>
            <a:r>
              <a:rPr sz="900" b="0">
                <a:solidFill>
                  <a:srgbClr val="C5DCCC"/>
                </a:solidFill>
                <a:latin typeface="Poppins"/>
              </a:rPr>
              <a:t>TC No Bancarizado   ·   Admision</a:t>
            </a:r>
          </a:p>
        </p:txBody>
      </p:sp>
      <p:sp>
        <p:nvSpPr>
          <p:cNvPr id="5" name="TextBox 4"/>
          <p:cNvSpPr txBox="1"/>
          <p:nvPr/>
        </p:nvSpPr>
        <p:spPr>
          <a:xfrm>
            <a:off x="566928" y="402336"/>
            <a:ext cx="7680960" cy="347472"/>
          </a:xfrm>
          <a:prstGeom prst="rect">
            <a:avLst/>
          </a:prstGeom>
          <a:noFill/>
        </p:spPr>
        <p:txBody>
          <a:bodyPr wrap="square" lIns="0" tIns="0" rIns="0" bIns="0" anchor="ctr">
            <a:spAutoFit/>
          </a:bodyPr>
          <a:lstStyle/>
          <a:p>
            <a:pPr algn="l"/>
            <a:r>
              <a:rPr sz="1900" b="1">
                <a:solidFill>
                  <a:srgbClr val="FFFFFF"/>
                </a:solidFill>
                <a:latin typeface="Poppins"/>
              </a:rPr>
              <a:t>Poblacion a calibrar</a:t>
            </a:r>
          </a:p>
        </p:txBody>
      </p:sp>
      <p:sp>
        <p:nvSpPr>
          <p:cNvPr id="6" name="TextBox 5"/>
          <p:cNvSpPr txBox="1"/>
          <p:nvPr/>
        </p:nvSpPr>
        <p:spPr>
          <a:xfrm>
            <a:off x="8778240" y="274320"/>
            <a:ext cx="2843784" cy="274320"/>
          </a:xfrm>
          <a:prstGeom prst="rect">
            <a:avLst/>
          </a:prstGeom>
          <a:noFill/>
        </p:spPr>
        <p:txBody>
          <a:bodyPr wrap="square" lIns="0" tIns="0" rIns="0" bIns="0" anchor="ctr">
            <a:spAutoFit/>
          </a:bodyPr>
          <a:lstStyle/>
          <a:p>
            <a:pPr algn="r"/>
            <a:r>
              <a:rPr sz="850" b="0">
                <a:solidFill>
                  <a:srgbClr val="C5DCCC"/>
                </a:solidFill>
                <a:latin typeface="Poppins"/>
              </a:rPr>
              <a:t>ETAPA 02 / 12</a:t>
            </a:r>
          </a:p>
        </p:txBody>
      </p:sp>
      <p:sp>
        <p:nvSpPr>
          <p:cNvPr id="7" name="TextBox 6"/>
          <p:cNvSpPr txBox="1"/>
          <p:nvPr/>
        </p:nvSpPr>
        <p:spPr>
          <a:xfrm>
            <a:off x="566928" y="1005840"/>
            <a:ext cx="11055096" cy="310896"/>
          </a:xfrm>
          <a:prstGeom prst="rect">
            <a:avLst/>
          </a:prstGeom>
          <a:noFill/>
        </p:spPr>
        <p:txBody>
          <a:bodyPr wrap="square" lIns="0" tIns="0" rIns="0" bIns="0" anchor="ctr">
            <a:spAutoFit/>
          </a:bodyPr>
          <a:lstStyle/>
          <a:p>
            <a:pPr algn="l"/>
            <a:r>
              <a:rPr sz="1300" b="1">
                <a:solidFill>
                  <a:srgbClr val="1C2B22"/>
                </a:solidFill>
                <a:latin typeface="Poppins"/>
              </a:rPr>
              <a:t>Se calibra sobre 2,481 altas al mes, abiertas en tres nodos de politica</a:t>
            </a:r>
          </a:p>
        </p:txBody>
      </p:sp>
      <p:sp>
        <p:nvSpPr>
          <p:cNvPr id="8" name="TextBox 7"/>
          <p:cNvSpPr txBox="1"/>
          <p:nvPr/>
        </p:nvSpPr>
        <p:spPr>
          <a:xfrm>
            <a:off x="566928" y="1316736"/>
            <a:ext cx="11055096" cy="219456"/>
          </a:xfrm>
          <a:prstGeom prst="rect">
            <a:avLst/>
          </a:prstGeom>
          <a:noFill/>
        </p:spPr>
        <p:txBody>
          <a:bodyPr wrap="square" lIns="0" tIns="0" rIns="0" bIns="0" anchor="ctr">
            <a:spAutoFit/>
          </a:bodyPr>
          <a:lstStyle/>
          <a:p>
            <a:pPr algn="l"/>
            <a:r>
              <a:rPr sz="850" b="0">
                <a:solidFill>
                  <a:srgbClr val="7D8A83"/>
                </a:solidFill>
                <a:latin typeface="Poppins"/>
              </a:rPr>
              <a:t>El dirty se mide y se reporta, pero no entra al ajuste: son 196 altas al mes con mora 9.03%.</a:t>
            </a:r>
          </a:p>
        </p:txBody>
      </p:sp>
      <p:sp>
        <p:nvSpPr>
          <p:cNvPr id="9" name="Rectangle 8"/>
          <p:cNvSpPr/>
          <p:nvPr/>
        </p:nvSpPr>
        <p:spPr>
          <a:xfrm>
            <a:off x="566928" y="1700784"/>
            <a:ext cx="3319272" cy="1188720"/>
          </a:xfrm>
          <a:prstGeom prst="rect">
            <a:avLst/>
          </a:prstGeom>
          <a:solidFill>
            <a:srgbClr val="F7FAF8"/>
          </a:solidFill>
          <a:ln w="9525">
            <a:solidFill>
              <a:srgbClr val="DD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1700784"/>
            <a:ext cx="3319272" cy="7772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1865376"/>
            <a:ext cx="2916936" cy="384048"/>
          </a:xfrm>
          <a:prstGeom prst="rect">
            <a:avLst/>
          </a:prstGeom>
          <a:noFill/>
        </p:spPr>
        <p:txBody>
          <a:bodyPr wrap="square" lIns="0" tIns="0" rIns="0" bIns="0" anchor="ctr">
            <a:spAutoFit/>
          </a:bodyPr>
          <a:lstStyle/>
          <a:p>
            <a:pPr algn="l"/>
            <a:r>
              <a:rPr sz="2600" b="1">
                <a:solidFill>
                  <a:srgbClr val="1F3864"/>
                </a:solidFill>
                <a:latin typeface="Poppins"/>
              </a:rPr>
              <a:t>2,678</a:t>
            </a:r>
          </a:p>
        </p:txBody>
      </p:sp>
      <p:sp>
        <p:nvSpPr>
          <p:cNvPr id="12" name="TextBox 11"/>
          <p:cNvSpPr txBox="1"/>
          <p:nvPr/>
        </p:nvSpPr>
        <p:spPr>
          <a:xfrm>
            <a:off x="768096" y="2286000"/>
            <a:ext cx="2916936" cy="201168"/>
          </a:xfrm>
          <a:prstGeom prst="rect">
            <a:avLst/>
          </a:prstGeom>
          <a:noFill/>
        </p:spPr>
        <p:txBody>
          <a:bodyPr wrap="square" lIns="0" tIns="0" rIns="0" bIns="0" anchor="ctr">
            <a:spAutoFit/>
          </a:bodyPr>
          <a:lstStyle/>
          <a:p>
            <a:pPr algn="l"/>
            <a:r>
              <a:rPr sz="1000" b="1">
                <a:solidFill>
                  <a:srgbClr val="1C2B22"/>
                </a:solidFill>
                <a:latin typeface="Poppins"/>
              </a:rPr>
              <a:t>ALTAS DEL PRODUCTO</a:t>
            </a:r>
          </a:p>
        </p:txBody>
      </p:sp>
      <p:sp>
        <p:nvSpPr>
          <p:cNvPr id="13" name="TextBox 12"/>
          <p:cNvSpPr txBox="1"/>
          <p:nvPr/>
        </p:nvSpPr>
        <p:spPr>
          <a:xfrm>
            <a:off x="768096" y="2505456"/>
            <a:ext cx="2916936" cy="164592"/>
          </a:xfrm>
          <a:prstGeom prst="rect">
            <a:avLst/>
          </a:prstGeom>
          <a:noFill/>
        </p:spPr>
        <p:txBody>
          <a:bodyPr wrap="square" lIns="0" tIns="0" rIns="0" bIns="0" anchor="ctr">
            <a:spAutoFit/>
          </a:bodyPr>
          <a:lstStyle/>
          <a:p>
            <a:pPr algn="l"/>
            <a:r>
              <a:rPr sz="800" b="0">
                <a:solidFill>
                  <a:srgbClr val="7D8A83"/>
                </a:solidFill>
                <a:latin typeface="Poppins"/>
              </a:rPr>
              <a:t>100% — la poblacion</a:t>
            </a:r>
          </a:p>
        </p:txBody>
      </p:sp>
      <p:sp>
        <p:nvSpPr>
          <p:cNvPr id="14" name="TextBox 13"/>
          <p:cNvSpPr txBox="1"/>
          <p:nvPr/>
        </p:nvSpPr>
        <p:spPr>
          <a:xfrm>
            <a:off x="768096" y="2670048"/>
            <a:ext cx="2916936" cy="164592"/>
          </a:xfrm>
          <a:prstGeom prst="rect">
            <a:avLst/>
          </a:prstGeom>
          <a:noFill/>
        </p:spPr>
        <p:txBody>
          <a:bodyPr wrap="square" lIns="0" tIns="0" rIns="0" bIns="0" anchor="ctr">
            <a:spAutoFit/>
          </a:bodyPr>
          <a:lstStyle/>
          <a:p>
            <a:pPr algn="l"/>
            <a:r>
              <a:rPr sz="800" b="1">
                <a:solidFill>
                  <a:srgbClr val="1F3864"/>
                </a:solidFill>
                <a:latin typeface="Poppins"/>
              </a:rPr>
              <a:t>mora 12m   5.74%</a:t>
            </a:r>
          </a:p>
        </p:txBody>
      </p:sp>
      <p:sp>
        <p:nvSpPr>
          <p:cNvPr id="15" name="Right Arrow 14"/>
          <p:cNvSpPr/>
          <p:nvPr/>
        </p:nvSpPr>
        <p:spPr>
          <a:xfrm>
            <a:off x="4014215" y="2194560"/>
            <a:ext cx="292608" cy="219456"/>
          </a:xfrm>
          <a:prstGeom prst="rightArrow">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434840" y="1700784"/>
            <a:ext cx="3319272" cy="1188720"/>
          </a:xfrm>
          <a:prstGeom prst="rect">
            <a:avLst/>
          </a:prstGeom>
          <a:solidFill>
            <a:srgbClr val="F7FAF8"/>
          </a:solidFill>
          <a:ln w="9525">
            <a:solidFill>
              <a:srgbClr val="DD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434840" y="1700784"/>
            <a:ext cx="3319272" cy="77724"/>
          </a:xfrm>
          <a:prstGeom prst="rect">
            <a:avLst/>
          </a:prstGeom>
          <a:solidFill>
            <a:srgbClr val="00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36007" y="1865376"/>
            <a:ext cx="2916936" cy="384048"/>
          </a:xfrm>
          <a:prstGeom prst="rect">
            <a:avLst/>
          </a:prstGeom>
          <a:noFill/>
        </p:spPr>
        <p:txBody>
          <a:bodyPr wrap="square" lIns="0" tIns="0" rIns="0" bIns="0" anchor="ctr">
            <a:spAutoFit/>
          </a:bodyPr>
          <a:lstStyle/>
          <a:p>
            <a:pPr algn="l"/>
            <a:r>
              <a:rPr sz="2600" b="1">
                <a:solidFill>
                  <a:srgbClr val="00703C"/>
                </a:solidFill>
                <a:latin typeface="Poppins"/>
              </a:rPr>
              <a:t>2,481</a:t>
            </a:r>
          </a:p>
        </p:txBody>
      </p:sp>
      <p:sp>
        <p:nvSpPr>
          <p:cNvPr id="19" name="TextBox 18"/>
          <p:cNvSpPr txBox="1"/>
          <p:nvPr/>
        </p:nvSpPr>
        <p:spPr>
          <a:xfrm>
            <a:off x="4636007" y="2286000"/>
            <a:ext cx="2916936" cy="201168"/>
          </a:xfrm>
          <a:prstGeom prst="rect">
            <a:avLst/>
          </a:prstGeom>
          <a:noFill/>
        </p:spPr>
        <p:txBody>
          <a:bodyPr wrap="square" lIns="0" tIns="0" rIns="0" bIns="0" anchor="ctr">
            <a:spAutoFit/>
          </a:bodyPr>
          <a:lstStyle/>
          <a:p>
            <a:pPr algn="l"/>
            <a:r>
              <a:rPr sz="1000" b="1">
                <a:solidFill>
                  <a:srgbClr val="1C2B22"/>
                </a:solidFill>
                <a:latin typeface="Poppins"/>
              </a:rPr>
              <a:t>CLEAN</a:t>
            </a:r>
          </a:p>
        </p:txBody>
      </p:sp>
      <p:sp>
        <p:nvSpPr>
          <p:cNvPr id="20" name="TextBox 19"/>
          <p:cNvSpPr txBox="1"/>
          <p:nvPr/>
        </p:nvSpPr>
        <p:spPr>
          <a:xfrm>
            <a:off x="4636007" y="2505456"/>
            <a:ext cx="2916936" cy="164592"/>
          </a:xfrm>
          <a:prstGeom prst="rect">
            <a:avLst/>
          </a:prstGeom>
          <a:noFill/>
        </p:spPr>
        <p:txBody>
          <a:bodyPr wrap="square" lIns="0" tIns="0" rIns="0" bIns="0" anchor="ctr">
            <a:spAutoFit/>
          </a:bodyPr>
          <a:lstStyle/>
          <a:p>
            <a:pPr algn="l"/>
            <a:r>
              <a:rPr sz="800" b="0">
                <a:solidFill>
                  <a:srgbClr val="7D8A83"/>
                </a:solidFill>
                <a:latin typeface="Poppins"/>
              </a:rPr>
              <a:t>92.6% de la poblacion</a:t>
            </a:r>
          </a:p>
        </p:txBody>
      </p:sp>
      <p:sp>
        <p:nvSpPr>
          <p:cNvPr id="21" name="TextBox 20"/>
          <p:cNvSpPr txBox="1"/>
          <p:nvPr/>
        </p:nvSpPr>
        <p:spPr>
          <a:xfrm>
            <a:off x="4636007" y="2670048"/>
            <a:ext cx="2916936" cy="164592"/>
          </a:xfrm>
          <a:prstGeom prst="rect">
            <a:avLst/>
          </a:prstGeom>
          <a:noFill/>
        </p:spPr>
        <p:txBody>
          <a:bodyPr wrap="square" lIns="0" tIns="0" rIns="0" bIns="0" anchor="ctr">
            <a:spAutoFit/>
          </a:bodyPr>
          <a:lstStyle/>
          <a:p>
            <a:pPr algn="l"/>
            <a:r>
              <a:rPr sz="800" b="1">
                <a:solidFill>
                  <a:srgbClr val="00703C"/>
                </a:solidFill>
                <a:latin typeface="Poppins"/>
              </a:rPr>
              <a:t>mora 12m   5.43%</a:t>
            </a:r>
          </a:p>
        </p:txBody>
      </p:sp>
      <p:sp>
        <p:nvSpPr>
          <p:cNvPr id="22" name="Right Arrow 21"/>
          <p:cNvSpPr/>
          <p:nvPr/>
        </p:nvSpPr>
        <p:spPr>
          <a:xfrm>
            <a:off x="7882128" y="2194560"/>
            <a:ext cx="292608" cy="219456"/>
          </a:xfrm>
          <a:prstGeom prst="rightArrow">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302751" y="1700784"/>
            <a:ext cx="3319272" cy="1188720"/>
          </a:xfrm>
          <a:prstGeom prst="rect">
            <a:avLst/>
          </a:prstGeom>
          <a:solidFill>
            <a:srgbClr val="F7FAF8"/>
          </a:solidFill>
          <a:ln w="9525">
            <a:solidFill>
              <a:srgbClr val="DD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302751" y="1700784"/>
            <a:ext cx="3319272" cy="7772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03919" y="1865376"/>
            <a:ext cx="2916936" cy="384048"/>
          </a:xfrm>
          <a:prstGeom prst="rect">
            <a:avLst/>
          </a:prstGeom>
          <a:noFill/>
        </p:spPr>
        <p:txBody>
          <a:bodyPr wrap="square" lIns="0" tIns="0" rIns="0" bIns="0" anchor="ctr">
            <a:spAutoFit/>
          </a:bodyPr>
          <a:lstStyle/>
          <a:p>
            <a:pPr algn="l"/>
            <a:r>
              <a:rPr sz="2600" b="1">
                <a:solidFill>
                  <a:srgbClr val="C55A11"/>
                </a:solidFill>
                <a:latin typeface="Poppins"/>
              </a:rPr>
              <a:t>196</a:t>
            </a:r>
          </a:p>
        </p:txBody>
      </p:sp>
      <p:sp>
        <p:nvSpPr>
          <p:cNvPr id="26" name="TextBox 25"/>
          <p:cNvSpPr txBox="1"/>
          <p:nvPr/>
        </p:nvSpPr>
        <p:spPr>
          <a:xfrm>
            <a:off x="8503919" y="2286000"/>
            <a:ext cx="2916936" cy="201168"/>
          </a:xfrm>
          <a:prstGeom prst="rect">
            <a:avLst/>
          </a:prstGeom>
          <a:noFill/>
        </p:spPr>
        <p:txBody>
          <a:bodyPr wrap="square" lIns="0" tIns="0" rIns="0" bIns="0" anchor="ctr">
            <a:spAutoFit/>
          </a:bodyPr>
          <a:lstStyle/>
          <a:p>
            <a:pPr algn="l"/>
            <a:r>
              <a:rPr sz="1000" b="1">
                <a:solidFill>
                  <a:srgbClr val="1C2B22"/>
                </a:solidFill>
                <a:latin typeface="Poppins"/>
              </a:rPr>
              <a:t>DIRTY</a:t>
            </a:r>
          </a:p>
        </p:txBody>
      </p:sp>
      <p:sp>
        <p:nvSpPr>
          <p:cNvPr id="27" name="TextBox 26"/>
          <p:cNvSpPr txBox="1"/>
          <p:nvPr/>
        </p:nvSpPr>
        <p:spPr>
          <a:xfrm>
            <a:off x="8503919" y="2505456"/>
            <a:ext cx="2916936" cy="164592"/>
          </a:xfrm>
          <a:prstGeom prst="rect">
            <a:avLst/>
          </a:prstGeom>
          <a:noFill/>
        </p:spPr>
        <p:txBody>
          <a:bodyPr wrap="square" lIns="0" tIns="0" rIns="0" bIns="0" anchor="ctr">
            <a:spAutoFit/>
          </a:bodyPr>
          <a:lstStyle/>
          <a:p>
            <a:pPr algn="l"/>
            <a:r>
              <a:rPr sz="800" b="0">
                <a:solidFill>
                  <a:srgbClr val="7D8A83"/>
                </a:solidFill>
                <a:latin typeface="Poppins"/>
              </a:rPr>
              <a:t>7.3% de la poblacion</a:t>
            </a:r>
          </a:p>
        </p:txBody>
      </p:sp>
      <p:sp>
        <p:nvSpPr>
          <p:cNvPr id="28" name="TextBox 27"/>
          <p:cNvSpPr txBox="1"/>
          <p:nvPr/>
        </p:nvSpPr>
        <p:spPr>
          <a:xfrm>
            <a:off x="8503919" y="2670048"/>
            <a:ext cx="2916936" cy="164592"/>
          </a:xfrm>
          <a:prstGeom prst="rect">
            <a:avLst/>
          </a:prstGeom>
          <a:noFill/>
        </p:spPr>
        <p:txBody>
          <a:bodyPr wrap="square" lIns="0" tIns="0" rIns="0" bIns="0" anchor="ctr">
            <a:spAutoFit/>
          </a:bodyPr>
          <a:lstStyle/>
          <a:p>
            <a:pPr algn="l"/>
            <a:r>
              <a:rPr sz="800" b="1">
                <a:solidFill>
                  <a:srgbClr val="C55A11"/>
                </a:solidFill>
                <a:latin typeface="Poppins"/>
              </a:rPr>
              <a:t>mora 12m   9.03%</a:t>
            </a:r>
          </a:p>
        </p:txBody>
      </p:sp>
      <p:sp>
        <p:nvSpPr>
          <p:cNvPr id="29" name="TextBox 28"/>
          <p:cNvSpPr txBox="1"/>
          <p:nvPr/>
        </p:nvSpPr>
        <p:spPr>
          <a:xfrm>
            <a:off x="566928" y="2779776"/>
            <a:ext cx="3931920" cy="219456"/>
          </a:xfrm>
          <a:prstGeom prst="rect">
            <a:avLst/>
          </a:prstGeom>
          <a:noFill/>
        </p:spPr>
        <p:txBody>
          <a:bodyPr wrap="square" lIns="0" tIns="0" rIns="0" bIns="0" anchor="ctr">
            <a:spAutoFit/>
          </a:bodyPr>
          <a:lstStyle/>
          <a:p>
            <a:pPr algn="l"/>
            <a:r>
              <a:rPr sz="950" b="1">
                <a:solidFill>
                  <a:srgbClr val="00703C"/>
                </a:solidFill>
                <a:latin typeface="Poppins"/>
              </a:rPr>
              <a:t>EL CLEAN, POR NODO DE POLITICA</a:t>
            </a:r>
          </a:p>
        </p:txBody>
      </p:sp>
      <p:sp>
        <p:nvSpPr>
          <p:cNvPr id="30" name="Rectangle 29"/>
          <p:cNvSpPr/>
          <p:nvPr/>
        </p:nvSpPr>
        <p:spPr>
          <a:xfrm>
            <a:off x="566928" y="2999232"/>
            <a:ext cx="11055096" cy="10972"/>
          </a:xfrm>
          <a:prstGeom prst="rect">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66928" y="3145536"/>
            <a:ext cx="3931920" cy="859536"/>
          </a:xfrm>
          <a:prstGeom prst="rect">
            <a:avLst/>
          </a:prstGeom>
          <a:solidFill>
            <a:srgbClr val="F7FAF8"/>
          </a:solidFill>
          <a:ln w="9525">
            <a:solidFill>
              <a:srgbClr val="DD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66928" y="3145536"/>
            <a:ext cx="82296" cy="859536"/>
          </a:xfrm>
          <a:prstGeom prst="rect">
            <a:avLst/>
          </a:prstGeom>
          <a:solidFill>
            <a:srgbClr val="00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6384" y="3255264"/>
            <a:ext cx="548640" cy="274320"/>
          </a:xfrm>
          <a:prstGeom prst="rect">
            <a:avLst/>
          </a:prstGeom>
          <a:noFill/>
        </p:spPr>
        <p:txBody>
          <a:bodyPr wrap="square" lIns="0" tIns="0" rIns="0" bIns="0" anchor="ctr">
            <a:spAutoFit/>
          </a:bodyPr>
          <a:lstStyle/>
          <a:p>
            <a:pPr algn="l"/>
            <a:r>
              <a:rPr sz="1400" b="1">
                <a:solidFill>
                  <a:srgbClr val="00703C"/>
                </a:solidFill>
                <a:latin typeface="Poppins"/>
              </a:rPr>
              <a:t>N1</a:t>
            </a:r>
          </a:p>
        </p:txBody>
      </p:sp>
      <p:sp>
        <p:nvSpPr>
          <p:cNvPr id="34" name="TextBox 33"/>
          <p:cNvSpPr txBox="1"/>
          <p:nvPr/>
        </p:nvSpPr>
        <p:spPr>
          <a:xfrm>
            <a:off x="1353312" y="3255264"/>
            <a:ext cx="822960" cy="274320"/>
          </a:xfrm>
          <a:prstGeom prst="rect">
            <a:avLst/>
          </a:prstGeom>
          <a:noFill/>
        </p:spPr>
        <p:txBody>
          <a:bodyPr wrap="square" lIns="0" tIns="0" rIns="0" bIns="0" anchor="ctr">
            <a:spAutoFit/>
          </a:bodyPr>
          <a:lstStyle/>
          <a:p>
            <a:pPr algn="r"/>
            <a:r>
              <a:rPr sz="1400" b="1">
                <a:solidFill>
                  <a:srgbClr val="1C2B22"/>
                </a:solidFill>
                <a:latin typeface="Poppins"/>
              </a:rPr>
              <a:t>503</a:t>
            </a:r>
          </a:p>
        </p:txBody>
      </p:sp>
      <p:sp>
        <p:nvSpPr>
          <p:cNvPr id="35" name="TextBox 34"/>
          <p:cNvSpPr txBox="1"/>
          <p:nvPr/>
        </p:nvSpPr>
        <p:spPr>
          <a:xfrm>
            <a:off x="2231136" y="3310128"/>
            <a:ext cx="731520" cy="164592"/>
          </a:xfrm>
          <a:prstGeom prst="rect">
            <a:avLst/>
          </a:prstGeom>
          <a:noFill/>
        </p:spPr>
        <p:txBody>
          <a:bodyPr wrap="square" lIns="0" tIns="0" rIns="0" bIns="0" anchor="ctr">
            <a:spAutoFit/>
          </a:bodyPr>
          <a:lstStyle/>
          <a:p>
            <a:pPr algn="l"/>
            <a:r>
              <a:rPr sz="700" b="0">
                <a:solidFill>
                  <a:srgbClr val="7D8A83"/>
                </a:solidFill>
                <a:latin typeface="Poppins"/>
              </a:rPr>
              <a:t>altas/mes</a:t>
            </a:r>
          </a:p>
        </p:txBody>
      </p:sp>
      <p:sp>
        <p:nvSpPr>
          <p:cNvPr id="36" name="TextBox 35"/>
          <p:cNvSpPr txBox="1"/>
          <p:nvPr/>
        </p:nvSpPr>
        <p:spPr>
          <a:xfrm>
            <a:off x="2898648" y="3255264"/>
            <a:ext cx="658368" cy="274320"/>
          </a:xfrm>
          <a:prstGeom prst="rect">
            <a:avLst/>
          </a:prstGeom>
          <a:noFill/>
        </p:spPr>
        <p:txBody>
          <a:bodyPr wrap="square" lIns="0" tIns="0" rIns="0" bIns="0" anchor="ctr">
            <a:spAutoFit/>
          </a:bodyPr>
          <a:lstStyle/>
          <a:p>
            <a:pPr algn="r"/>
            <a:r>
              <a:rPr sz="1100" b="1">
                <a:solidFill>
                  <a:srgbClr val="1C2B22"/>
                </a:solidFill>
                <a:latin typeface="Poppins"/>
              </a:rPr>
              <a:t>20.3%</a:t>
            </a:r>
          </a:p>
        </p:txBody>
      </p:sp>
      <p:sp>
        <p:nvSpPr>
          <p:cNvPr id="37" name="TextBox 36"/>
          <p:cNvSpPr txBox="1"/>
          <p:nvPr/>
        </p:nvSpPr>
        <p:spPr>
          <a:xfrm>
            <a:off x="3602736" y="3310128"/>
            <a:ext cx="731520" cy="164592"/>
          </a:xfrm>
          <a:prstGeom prst="rect">
            <a:avLst/>
          </a:prstGeom>
          <a:noFill/>
        </p:spPr>
        <p:txBody>
          <a:bodyPr wrap="square" lIns="0" tIns="0" rIns="0" bIns="0" anchor="ctr">
            <a:spAutoFit/>
          </a:bodyPr>
          <a:lstStyle/>
          <a:p>
            <a:pPr algn="l"/>
            <a:r>
              <a:rPr sz="700" b="0">
                <a:solidFill>
                  <a:srgbClr val="7D8A83"/>
                </a:solidFill>
                <a:latin typeface="Poppins"/>
              </a:rPr>
              <a:t>del clean</a:t>
            </a:r>
          </a:p>
        </p:txBody>
      </p:sp>
      <p:sp>
        <p:nvSpPr>
          <p:cNvPr id="38" name="TextBox 37"/>
          <p:cNvSpPr txBox="1"/>
          <p:nvPr/>
        </p:nvSpPr>
        <p:spPr>
          <a:xfrm>
            <a:off x="786384" y="3584448"/>
            <a:ext cx="1188720" cy="146304"/>
          </a:xfrm>
          <a:prstGeom prst="rect">
            <a:avLst/>
          </a:prstGeom>
          <a:noFill/>
        </p:spPr>
        <p:txBody>
          <a:bodyPr wrap="square" lIns="0" tIns="0" rIns="0" bIns="0" anchor="ctr">
            <a:spAutoFit/>
          </a:bodyPr>
          <a:lstStyle/>
          <a:p>
            <a:pPr algn="l"/>
            <a:r>
              <a:rPr sz="650" b="1">
                <a:solidFill>
                  <a:srgbClr val="7D8A83"/>
                </a:solidFill>
                <a:latin typeface="Poppins"/>
              </a:rPr>
              <a:t>MORA 12 MESES</a:t>
            </a:r>
          </a:p>
        </p:txBody>
      </p:sp>
      <p:sp>
        <p:nvSpPr>
          <p:cNvPr id="39" name="TextBox 38"/>
          <p:cNvSpPr txBox="1"/>
          <p:nvPr/>
        </p:nvSpPr>
        <p:spPr>
          <a:xfrm>
            <a:off x="3364992" y="3584448"/>
            <a:ext cx="914400" cy="146304"/>
          </a:xfrm>
          <a:prstGeom prst="rect">
            <a:avLst/>
          </a:prstGeom>
          <a:noFill/>
        </p:spPr>
        <p:txBody>
          <a:bodyPr wrap="square" lIns="0" tIns="0" rIns="0" bIns="0" anchor="ctr">
            <a:spAutoFit/>
          </a:bodyPr>
          <a:lstStyle/>
          <a:p>
            <a:pPr algn="r"/>
            <a:r>
              <a:rPr sz="900" b="1">
                <a:solidFill>
                  <a:srgbClr val="1C2B22"/>
                </a:solidFill>
                <a:latin typeface="Poppins"/>
              </a:rPr>
              <a:t>2.25%</a:t>
            </a:r>
          </a:p>
        </p:txBody>
      </p:sp>
      <p:sp>
        <p:nvSpPr>
          <p:cNvPr id="40" name="Rectangle 39"/>
          <p:cNvSpPr/>
          <p:nvPr/>
        </p:nvSpPr>
        <p:spPr>
          <a:xfrm>
            <a:off x="786384" y="3785615"/>
            <a:ext cx="3493008" cy="100584"/>
          </a:xfrm>
          <a:prstGeom prst="rect">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86384" y="3785615"/>
            <a:ext cx="1047902" cy="100584"/>
          </a:xfrm>
          <a:prstGeom prst="rect">
            <a:avLst/>
          </a:prstGeom>
          <a:solidFill>
            <a:srgbClr val="00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66928" y="4096512"/>
            <a:ext cx="3931920" cy="859536"/>
          </a:xfrm>
          <a:prstGeom prst="rect">
            <a:avLst/>
          </a:prstGeom>
          <a:solidFill>
            <a:srgbClr val="F7FAF8"/>
          </a:solidFill>
          <a:ln w="9525">
            <a:solidFill>
              <a:srgbClr val="DD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66928" y="4096512"/>
            <a:ext cx="82296" cy="859536"/>
          </a:xfrm>
          <a:prstGeom prst="rect">
            <a:avLst/>
          </a:prstGeom>
          <a:solidFill>
            <a:srgbClr val="00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86384" y="4206240"/>
            <a:ext cx="548640" cy="274320"/>
          </a:xfrm>
          <a:prstGeom prst="rect">
            <a:avLst/>
          </a:prstGeom>
          <a:noFill/>
        </p:spPr>
        <p:txBody>
          <a:bodyPr wrap="square" lIns="0" tIns="0" rIns="0" bIns="0" anchor="ctr">
            <a:spAutoFit/>
          </a:bodyPr>
          <a:lstStyle/>
          <a:p>
            <a:pPr algn="l"/>
            <a:r>
              <a:rPr sz="1400" b="1">
                <a:solidFill>
                  <a:srgbClr val="00703C"/>
                </a:solidFill>
                <a:latin typeface="Poppins"/>
              </a:rPr>
              <a:t>N2</a:t>
            </a:r>
          </a:p>
        </p:txBody>
      </p:sp>
      <p:sp>
        <p:nvSpPr>
          <p:cNvPr id="45" name="TextBox 44"/>
          <p:cNvSpPr txBox="1"/>
          <p:nvPr/>
        </p:nvSpPr>
        <p:spPr>
          <a:xfrm>
            <a:off x="1353312" y="4206240"/>
            <a:ext cx="822960" cy="274320"/>
          </a:xfrm>
          <a:prstGeom prst="rect">
            <a:avLst/>
          </a:prstGeom>
          <a:noFill/>
        </p:spPr>
        <p:txBody>
          <a:bodyPr wrap="square" lIns="0" tIns="0" rIns="0" bIns="0" anchor="ctr">
            <a:spAutoFit/>
          </a:bodyPr>
          <a:lstStyle/>
          <a:p>
            <a:pPr algn="r"/>
            <a:r>
              <a:rPr sz="1400" b="1">
                <a:solidFill>
                  <a:srgbClr val="1C2B22"/>
                </a:solidFill>
                <a:latin typeface="Poppins"/>
              </a:rPr>
              <a:t>661</a:t>
            </a:r>
          </a:p>
        </p:txBody>
      </p:sp>
      <p:sp>
        <p:nvSpPr>
          <p:cNvPr id="46" name="TextBox 45"/>
          <p:cNvSpPr txBox="1"/>
          <p:nvPr/>
        </p:nvSpPr>
        <p:spPr>
          <a:xfrm>
            <a:off x="2231136" y="4261104"/>
            <a:ext cx="731520" cy="164592"/>
          </a:xfrm>
          <a:prstGeom prst="rect">
            <a:avLst/>
          </a:prstGeom>
          <a:noFill/>
        </p:spPr>
        <p:txBody>
          <a:bodyPr wrap="square" lIns="0" tIns="0" rIns="0" bIns="0" anchor="ctr">
            <a:spAutoFit/>
          </a:bodyPr>
          <a:lstStyle/>
          <a:p>
            <a:pPr algn="l"/>
            <a:r>
              <a:rPr sz="700" b="0">
                <a:solidFill>
                  <a:srgbClr val="7D8A83"/>
                </a:solidFill>
                <a:latin typeface="Poppins"/>
              </a:rPr>
              <a:t>altas/mes</a:t>
            </a:r>
          </a:p>
        </p:txBody>
      </p:sp>
      <p:sp>
        <p:nvSpPr>
          <p:cNvPr id="47" name="TextBox 46"/>
          <p:cNvSpPr txBox="1"/>
          <p:nvPr/>
        </p:nvSpPr>
        <p:spPr>
          <a:xfrm>
            <a:off x="2898648" y="4206240"/>
            <a:ext cx="658368" cy="274320"/>
          </a:xfrm>
          <a:prstGeom prst="rect">
            <a:avLst/>
          </a:prstGeom>
          <a:noFill/>
        </p:spPr>
        <p:txBody>
          <a:bodyPr wrap="square" lIns="0" tIns="0" rIns="0" bIns="0" anchor="ctr">
            <a:spAutoFit/>
          </a:bodyPr>
          <a:lstStyle/>
          <a:p>
            <a:pPr algn="r"/>
            <a:r>
              <a:rPr sz="1100" b="1">
                <a:solidFill>
                  <a:srgbClr val="1C2B22"/>
                </a:solidFill>
                <a:latin typeface="Poppins"/>
              </a:rPr>
              <a:t>26.6%</a:t>
            </a:r>
          </a:p>
        </p:txBody>
      </p:sp>
      <p:sp>
        <p:nvSpPr>
          <p:cNvPr id="48" name="TextBox 47"/>
          <p:cNvSpPr txBox="1"/>
          <p:nvPr/>
        </p:nvSpPr>
        <p:spPr>
          <a:xfrm>
            <a:off x="3602736" y="4261104"/>
            <a:ext cx="731520" cy="164592"/>
          </a:xfrm>
          <a:prstGeom prst="rect">
            <a:avLst/>
          </a:prstGeom>
          <a:noFill/>
        </p:spPr>
        <p:txBody>
          <a:bodyPr wrap="square" lIns="0" tIns="0" rIns="0" bIns="0" anchor="ctr">
            <a:spAutoFit/>
          </a:bodyPr>
          <a:lstStyle/>
          <a:p>
            <a:pPr algn="l"/>
            <a:r>
              <a:rPr sz="700" b="0">
                <a:solidFill>
                  <a:srgbClr val="7D8A83"/>
                </a:solidFill>
                <a:latin typeface="Poppins"/>
              </a:rPr>
              <a:t>del clean</a:t>
            </a:r>
          </a:p>
        </p:txBody>
      </p:sp>
      <p:sp>
        <p:nvSpPr>
          <p:cNvPr id="49" name="TextBox 48"/>
          <p:cNvSpPr txBox="1"/>
          <p:nvPr/>
        </p:nvSpPr>
        <p:spPr>
          <a:xfrm>
            <a:off x="786384" y="4535424"/>
            <a:ext cx="1188720" cy="146304"/>
          </a:xfrm>
          <a:prstGeom prst="rect">
            <a:avLst/>
          </a:prstGeom>
          <a:noFill/>
        </p:spPr>
        <p:txBody>
          <a:bodyPr wrap="square" lIns="0" tIns="0" rIns="0" bIns="0" anchor="ctr">
            <a:spAutoFit/>
          </a:bodyPr>
          <a:lstStyle/>
          <a:p>
            <a:pPr algn="l"/>
            <a:r>
              <a:rPr sz="650" b="1">
                <a:solidFill>
                  <a:srgbClr val="7D8A83"/>
                </a:solidFill>
                <a:latin typeface="Poppins"/>
              </a:rPr>
              <a:t>MORA 12 MESES</a:t>
            </a:r>
          </a:p>
        </p:txBody>
      </p:sp>
      <p:sp>
        <p:nvSpPr>
          <p:cNvPr id="50" name="TextBox 49"/>
          <p:cNvSpPr txBox="1"/>
          <p:nvPr/>
        </p:nvSpPr>
        <p:spPr>
          <a:xfrm>
            <a:off x="3364992" y="4535424"/>
            <a:ext cx="914400" cy="146304"/>
          </a:xfrm>
          <a:prstGeom prst="rect">
            <a:avLst/>
          </a:prstGeom>
          <a:noFill/>
        </p:spPr>
        <p:txBody>
          <a:bodyPr wrap="square" lIns="0" tIns="0" rIns="0" bIns="0" anchor="ctr">
            <a:spAutoFit/>
          </a:bodyPr>
          <a:lstStyle/>
          <a:p>
            <a:pPr algn="r"/>
            <a:r>
              <a:rPr sz="900" b="1">
                <a:solidFill>
                  <a:srgbClr val="1C2B22"/>
                </a:solidFill>
                <a:latin typeface="Poppins"/>
              </a:rPr>
              <a:t>4.94%</a:t>
            </a:r>
          </a:p>
        </p:txBody>
      </p:sp>
      <p:sp>
        <p:nvSpPr>
          <p:cNvPr id="51" name="Rectangle 50"/>
          <p:cNvSpPr/>
          <p:nvPr/>
        </p:nvSpPr>
        <p:spPr>
          <a:xfrm>
            <a:off x="786384" y="4736592"/>
            <a:ext cx="3493008" cy="100584"/>
          </a:xfrm>
          <a:prstGeom prst="rect">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86384" y="4736592"/>
            <a:ext cx="2300727" cy="100584"/>
          </a:xfrm>
          <a:prstGeom prst="rect">
            <a:avLst/>
          </a:prstGeom>
          <a:solidFill>
            <a:srgbClr val="00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66928" y="5047488"/>
            <a:ext cx="3931920" cy="859536"/>
          </a:xfrm>
          <a:prstGeom prst="rect">
            <a:avLst/>
          </a:prstGeom>
          <a:solidFill>
            <a:srgbClr val="F7FAF8"/>
          </a:solidFill>
          <a:ln w="9525">
            <a:solidFill>
              <a:srgbClr val="DD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566928" y="5047488"/>
            <a:ext cx="82296" cy="859536"/>
          </a:xfrm>
          <a:prstGeom prst="rect">
            <a:avLst/>
          </a:prstGeom>
          <a:solidFill>
            <a:srgbClr val="00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86384" y="5157216"/>
            <a:ext cx="548640" cy="274320"/>
          </a:xfrm>
          <a:prstGeom prst="rect">
            <a:avLst/>
          </a:prstGeom>
          <a:noFill/>
        </p:spPr>
        <p:txBody>
          <a:bodyPr wrap="square" lIns="0" tIns="0" rIns="0" bIns="0" anchor="ctr">
            <a:spAutoFit/>
          </a:bodyPr>
          <a:lstStyle/>
          <a:p>
            <a:pPr algn="l"/>
            <a:r>
              <a:rPr sz="1400" b="1">
                <a:solidFill>
                  <a:srgbClr val="00703C"/>
                </a:solidFill>
                <a:latin typeface="Poppins"/>
              </a:rPr>
              <a:t>N3</a:t>
            </a:r>
          </a:p>
        </p:txBody>
      </p:sp>
      <p:sp>
        <p:nvSpPr>
          <p:cNvPr id="56" name="TextBox 55"/>
          <p:cNvSpPr txBox="1"/>
          <p:nvPr/>
        </p:nvSpPr>
        <p:spPr>
          <a:xfrm>
            <a:off x="1353312" y="5157216"/>
            <a:ext cx="822960" cy="274320"/>
          </a:xfrm>
          <a:prstGeom prst="rect">
            <a:avLst/>
          </a:prstGeom>
          <a:noFill/>
        </p:spPr>
        <p:txBody>
          <a:bodyPr wrap="square" lIns="0" tIns="0" rIns="0" bIns="0" anchor="ctr">
            <a:spAutoFit/>
          </a:bodyPr>
          <a:lstStyle/>
          <a:p>
            <a:pPr algn="r"/>
            <a:r>
              <a:rPr sz="1400" b="1">
                <a:solidFill>
                  <a:srgbClr val="1C2B22"/>
                </a:solidFill>
                <a:latin typeface="Poppins"/>
              </a:rPr>
              <a:t>1,317</a:t>
            </a:r>
          </a:p>
        </p:txBody>
      </p:sp>
      <p:sp>
        <p:nvSpPr>
          <p:cNvPr id="57" name="TextBox 56"/>
          <p:cNvSpPr txBox="1"/>
          <p:nvPr/>
        </p:nvSpPr>
        <p:spPr>
          <a:xfrm>
            <a:off x="2231136" y="5212079"/>
            <a:ext cx="731520" cy="164592"/>
          </a:xfrm>
          <a:prstGeom prst="rect">
            <a:avLst/>
          </a:prstGeom>
          <a:noFill/>
        </p:spPr>
        <p:txBody>
          <a:bodyPr wrap="square" lIns="0" tIns="0" rIns="0" bIns="0" anchor="ctr">
            <a:spAutoFit/>
          </a:bodyPr>
          <a:lstStyle/>
          <a:p>
            <a:pPr algn="l"/>
            <a:r>
              <a:rPr sz="700" b="0">
                <a:solidFill>
                  <a:srgbClr val="7D8A83"/>
                </a:solidFill>
                <a:latin typeface="Poppins"/>
              </a:rPr>
              <a:t>altas/mes</a:t>
            </a:r>
          </a:p>
        </p:txBody>
      </p:sp>
      <p:sp>
        <p:nvSpPr>
          <p:cNvPr id="58" name="TextBox 57"/>
          <p:cNvSpPr txBox="1"/>
          <p:nvPr/>
        </p:nvSpPr>
        <p:spPr>
          <a:xfrm>
            <a:off x="2898648" y="5157216"/>
            <a:ext cx="658368" cy="274320"/>
          </a:xfrm>
          <a:prstGeom prst="rect">
            <a:avLst/>
          </a:prstGeom>
          <a:noFill/>
        </p:spPr>
        <p:txBody>
          <a:bodyPr wrap="square" lIns="0" tIns="0" rIns="0" bIns="0" anchor="ctr">
            <a:spAutoFit/>
          </a:bodyPr>
          <a:lstStyle/>
          <a:p>
            <a:pPr algn="r"/>
            <a:r>
              <a:rPr sz="1100" b="1">
                <a:solidFill>
                  <a:srgbClr val="1C2B22"/>
                </a:solidFill>
                <a:latin typeface="Poppins"/>
              </a:rPr>
              <a:t>53.1%</a:t>
            </a:r>
          </a:p>
        </p:txBody>
      </p:sp>
      <p:sp>
        <p:nvSpPr>
          <p:cNvPr id="59" name="TextBox 58"/>
          <p:cNvSpPr txBox="1"/>
          <p:nvPr/>
        </p:nvSpPr>
        <p:spPr>
          <a:xfrm>
            <a:off x="3602736" y="5212079"/>
            <a:ext cx="731520" cy="164592"/>
          </a:xfrm>
          <a:prstGeom prst="rect">
            <a:avLst/>
          </a:prstGeom>
          <a:noFill/>
        </p:spPr>
        <p:txBody>
          <a:bodyPr wrap="square" lIns="0" tIns="0" rIns="0" bIns="0" anchor="ctr">
            <a:spAutoFit/>
          </a:bodyPr>
          <a:lstStyle/>
          <a:p>
            <a:pPr algn="l"/>
            <a:r>
              <a:rPr sz="700" b="0">
                <a:solidFill>
                  <a:srgbClr val="7D8A83"/>
                </a:solidFill>
                <a:latin typeface="Poppins"/>
              </a:rPr>
              <a:t>del clean</a:t>
            </a:r>
          </a:p>
        </p:txBody>
      </p:sp>
      <p:sp>
        <p:nvSpPr>
          <p:cNvPr id="60" name="TextBox 59"/>
          <p:cNvSpPr txBox="1"/>
          <p:nvPr/>
        </p:nvSpPr>
        <p:spPr>
          <a:xfrm>
            <a:off x="786384" y="5486400"/>
            <a:ext cx="1188720" cy="146304"/>
          </a:xfrm>
          <a:prstGeom prst="rect">
            <a:avLst/>
          </a:prstGeom>
          <a:noFill/>
        </p:spPr>
        <p:txBody>
          <a:bodyPr wrap="square" lIns="0" tIns="0" rIns="0" bIns="0" anchor="ctr">
            <a:spAutoFit/>
          </a:bodyPr>
          <a:lstStyle/>
          <a:p>
            <a:pPr algn="l"/>
            <a:r>
              <a:rPr sz="650" b="1">
                <a:solidFill>
                  <a:srgbClr val="7D8A83"/>
                </a:solidFill>
                <a:latin typeface="Poppins"/>
              </a:rPr>
              <a:t>MORA 12 MESES</a:t>
            </a:r>
          </a:p>
        </p:txBody>
      </p:sp>
      <p:sp>
        <p:nvSpPr>
          <p:cNvPr id="61" name="TextBox 60"/>
          <p:cNvSpPr txBox="1"/>
          <p:nvPr/>
        </p:nvSpPr>
        <p:spPr>
          <a:xfrm>
            <a:off x="3364992" y="5486400"/>
            <a:ext cx="914400" cy="146304"/>
          </a:xfrm>
          <a:prstGeom prst="rect">
            <a:avLst/>
          </a:prstGeom>
          <a:noFill/>
        </p:spPr>
        <p:txBody>
          <a:bodyPr wrap="square" lIns="0" tIns="0" rIns="0" bIns="0" anchor="ctr">
            <a:spAutoFit/>
          </a:bodyPr>
          <a:lstStyle/>
          <a:p>
            <a:pPr algn="r"/>
            <a:r>
              <a:rPr sz="900" b="1">
                <a:solidFill>
                  <a:srgbClr val="C55A11"/>
                </a:solidFill>
                <a:latin typeface="Poppins"/>
              </a:rPr>
              <a:t>6.88%</a:t>
            </a:r>
          </a:p>
        </p:txBody>
      </p:sp>
      <p:sp>
        <p:nvSpPr>
          <p:cNvPr id="62" name="Rectangle 61"/>
          <p:cNvSpPr/>
          <p:nvPr/>
        </p:nvSpPr>
        <p:spPr>
          <a:xfrm>
            <a:off x="786384" y="5687568"/>
            <a:ext cx="3493008" cy="100584"/>
          </a:xfrm>
          <a:prstGeom prst="rect">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786384" y="5687568"/>
            <a:ext cx="3204252" cy="1005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700016" y="2779776"/>
            <a:ext cx="5486400" cy="219456"/>
          </a:xfrm>
          <a:prstGeom prst="rect">
            <a:avLst/>
          </a:prstGeom>
          <a:noFill/>
        </p:spPr>
        <p:txBody>
          <a:bodyPr wrap="square" lIns="0" tIns="0" rIns="0" bIns="0" anchor="ctr">
            <a:spAutoFit/>
          </a:bodyPr>
          <a:lstStyle/>
          <a:p>
            <a:pPr algn="l"/>
            <a:r>
              <a:rPr sz="950" b="1">
                <a:solidFill>
                  <a:srgbClr val="00703C"/>
                </a:solidFill>
                <a:latin typeface="Poppins"/>
              </a:rPr>
              <a:t>MORA 12 MESES POR NODO, MES A MES</a:t>
            </a:r>
          </a:p>
        </p:txBody>
      </p:sp>
      <p:graphicFrame>
        <p:nvGraphicFramePr>
          <p:cNvPr id="65" name="Chart 64"/>
          <p:cNvGraphicFramePr>
            <a:graphicFrameLocks noGrp="1"/>
          </p:cNvGraphicFramePr>
          <p:nvPr/>
        </p:nvGraphicFramePr>
        <p:xfrm>
          <a:off x="4663440" y="3035808"/>
          <a:ext cx="6958584" cy="2798064"/>
        </p:xfrm>
        <a:graphic>
          <a:graphicData uri="http://schemas.openxmlformats.org/drawingml/2006/chart">
            <c:chart xmlns:c="http://schemas.openxmlformats.org/drawingml/2006/chart" xmlns:r="http://schemas.openxmlformats.org/officeDocument/2006/relationships" r:id="rId2"/>
          </a:graphicData>
        </a:graphic>
      </p:graphicFrame>
      <p:sp>
        <p:nvSpPr>
          <p:cNvPr id="66" name="Rectangle 65"/>
          <p:cNvSpPr/>
          <p:nvPr/>
        </p:nvSpPr>
        <p:spPr>
          <a:xfrm>
            <a:off x="566928" y="5961888"/>
            <a:ext cx="11055096" cy="18288"/>
          </a:xfrm>
          <a:prstGeom prst="rect">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66928" y="6035040"/>
            <a:ext cx="11055096" cy="384048"/>
          </a:xfrm>
          <a:prstGeom prst="rect">
            <a:avLst/>
          </a:prstGeom>
          <a:noFill/>
        </p:spPr>
        <p:txBody>
          <a:bodyPr wrap="square" lIns="0" tIns="0" rIns="0" bIns="0">
            <a:spAutoFit/>
          </a:bodyPr>
          <a:lstStyle/>
          <a:p>
            <a:pPr algn="l">
              <a:lnSpc>
                <a:spcPct val="125000"/>
              </a:lnSpc>
            </a:pPr>
            <a:r>
              <a:rPr sz="850" b="0">
                <a:solidFill>
                  <a:srgbClr val="1C2B22"/>
                </a:solidFill>
                <a:latin typeface="Poppins"/>
              </a:rPr>
              <a:t>El orden N1 &lt; N2 &lt; N3 se cumple en 17 de los 18 meses: el nodo separa riesgo de forma estable. El nivel cae desde 202411 en los tres a la vez, por eso la calibracion se ancla en los meses recientes y no en el promedio largo.</a:t>
            </a:r>
          </a:p>
        </p:txBody>
      </p:sp>
      <p:sp>
        <p:nvSpPr>
          <p:cNvPr id="68" name="TextBox 67"/>
          <p:cNvSpPr txBox="1"/>
          <p:nvPr/>
        </p:nvSpPr>
        <p:spPr>
          <a:xfrm>
            <a:off x="566928" y="6510528"/>
            <a:ext cx="11055096" cy="201168"/>
          </a:xfrm>
          <a:prstGeom prst="rect">
            <a:avLst/>
          </a:prstGeom>
          <a:noFill/>
        </p:spPr>
        <p:txBody>
          <a:bodyPr wrap="square" lIns="0" tIns="0" rIns="0" bIns="0" anchor="ctr">
            <a:spAutoFit/>
          </a:bodyPr>
          <a:lstStyle/>
          <a:p>
            <a:pPr algn="l"/>
            <a:r>
              <a:rPr sz="700" b="0">
                <a:solidFill>
                  <a:srgbClr val="7D8A83"/>
                </a:solidFill>
                <a:latin typeface="Poppins"/>
              </a:rPr>
              <a:t>Base: IBK, promedio mensual de 202504 - 202506. Los tres meses cierran los 12 de mora: cero cohortes inmaduras.   La poblacion se reconstruye del RCC (alta de tarjeta en el mes, ausente en los 12 previos y sin saldo bancario en esa ventana), no de un codigo de producto.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41248"/>
          </a:xfrm>
          <a:prstGeom prst="rect">
            <a:avLst/>
          </a:prstGeom>
          <a:solidFill>
            <a:srgbClr val="00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41248"/>
            <a:ext cx="12188952" cy="41148"/>
          </a:xfrm>
          <a:prstGeom prst="rect">
            <a:avLst/>
          </a:prstGeom>
          <a:solidFill>
            <a:srgbClr val="004D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64592"/>
            <a:ext cx="6400800" cy="274320"/>
          </a:xfrm>
          <a:prstGeom prst="rect">
            <a:avLst/>
          </a:prstGeom>
          <a:noFill/>
        </p:spPr>
        <p:txBody>
          <a:bodyPr wrap="square" lIns="0" tIns="0" rIns="0" bIns="0" anchor="ctr">
            <a:spAutoFit/>
          </a:bodyPr>
          <a:lstStyle/>
          <a:p>
            <a:pPr algn="l"/>
            <a:r>
              <a:rPr sz="900" b="0">
                <a:solidFill>
                  <a:srgbClr val="C5DCCC"/>
                </a:solidFill>
                <a:latin typeface="Poppins"/>
              </a:rPr>
              <a:t>TC No Bancarizado   ·   Admision</a:t>
            </a:r>
          </a:p>
        </p:txBody>
      </p:sp>
      <p:sp>
        <p:nvSpPr>
          <p:cNvPr id="5" name="TextBox 4"/>
          <p:cNvSpPr txBox="1"/>
          <p:nvPr/>
        </p:nvSpPr>
        <p:spPr>
          <a:xfrm>
            <a:off x="566928" y="402336"/>
            <a:ext cx="7680960" cy="347472"/>
          </a:xfrm>
          <a:prstGeom prst="rect">
            <a:avLst/>
          </a:prstGeom>
          <a:noFill/>
        </p:spPr>
        <p:txBody>
          <a:bodyPr wrap="square" lIns="0" tIns="0" rIns="0" bIns="0" anchor="ctr">
            <a:spAutoFit/>
          </a:bodyPr>
          <a:lstStyle/>
          <a:p>
            <a:pPr algn="l"/>
            <a:r>
              <a:rPr sz="1900" b="1">
                <a:solidFill>
                  <a:srgbClr val="FFFFFF"/>
                </a:solidFill>
                <a:latin typeface="Poppins"/>
              </a:rPr>
              <a:t>Por que por nodo y no por arquetipo</a:t>
            </a:r>
          </a:p>
        </p:txBody>
      </p:sp>
      <p:sp>
        <p:nvSpPr>
          <p:cNvPr id="6" name="TextBox 5"/>
          <p:cNvSpPr txBox="1"/>
          <p:nvPr/>
        </p:nvSpPr>
        <p:spPr>
          <a:xfrm>
            <a:off x="8778240" y="274320"/>
            <a:ext cx="2843784" cy="274320"/>
          </a:xfrm>
          <a:prstGeom prst="rect">
            <a:avLst/>
          </a:prstGeom>
          <a:noFill/>
        </p:spPr>
        <p:txBody>
          <a:bodyPr wrap="square" lIns="0" tIns="0" rIns="0" bIns="0" anchor="ctr">
            <a:spAutoFit/>
          </a:bodyPr>
          <a:lstStyle/>
          <a:p>
            <a:pPr algn="r"/>
            <a:r>
              <a:rPr sz="850" b="0">
                <a:solidFill>
                  <a:srgbClr val="C5DCCC"/>
                </a:solidFill>
                <a:latin typeface="Poppins"/>
              </a:rPr>
              <a:t>ETAPA 03 / 12</a:t>
            </a:r>
          </a:p>
        </p:txBody>
      </p:sp>
      <p:sp>
        <p:nvSpPr>
          <p:cNvPr id="7" name="TextBox 6"/>
          <p:cNvSpPr txBox="1"/>
          <p:nvPr/>
        </p:nvSpPr>
        <p:spPr>
          <a:xfrm>
            <a:off x="566928" y="1005840"/>
            <a:ext cx="11055096" cy="310896"/>
          </a:xfrm>
          <a:prstGeom prst="rect">
            <a:avLst/>
          </a:prstGeom>
          <a:noFill/>
        </p:spPr>
        <p:txBody>
          <a:bodyPr wrap="square" lIns="0" tIns="0" rIns="0" bIns="0" anchor="ctr">
            <a:spAutoFit/>
          </a:bodyPr>
          <a:lstStyle/>
          <a:p>
            <a:pPr algn="l"/>
            <a:r>
              <a:rPr sz="1300" b="1">
                <a:solidFill>
                  <a:srgbClr val="1C2B22"/>
                </a:solidFill>
                <a:latin typeface="Poppins"/>
              </a:rPr>
              <a:t>El modelo asigna 8.76% de probabilidad promedio y la mora fue 5.47%. Se pasa en todos, muy distinto por nodo</a:t>
            </a:r>
          </a:p>
        </p:txBody>
      </p:sp>
      <p:sp>
        <p:nvSpPr>
          <p:cNvPr id="8" name="TextBox 7"/>
          <p:cNvSpPr txBox="1"/>
          <p:nvPr/>
        </p:nvSpPr>
        <p:spPr>
          <a:xfrm>
            <a:off x="566928" y="1316736"/>
            <a:ext cx="11055096" cy="219456"/>
          </a:xfrm>
          <a:prstGeom prst="rect">
            <a:avLst/>
          </a:prstGeom>
          <a:noFill/>
        </p:spPr>
        <p:txBody>
          <a:bodyPr wrap="square" lIns="0" tIns="0" rIns="0" bIns="0" anchor="ctr">
            <a:spAutoFit/>
          </a:bodyPr>
          <a:lstStyle/>
          <a:p>
            <a:pPr algn="l"/>
            <a:r>
              <a:rPr sz="850" b="0">
                <a:solidFill>
                  <a:srgbClr val="7D8A83"/>
                </a:solidFill>
                <a:latin typeface="Poppins"/>
              </a:rPr>
              <a:t>Se compara el nivel de la probabilidad contra la mora observada sobre las MISMAS altas. No se supone ninguna cartera ni ningun punto de corte.</a:t>
            </a:r>
          </a:p>
        </p:txBody>
      </p:sp>
      <p:sp>
        <p:nvSpPr>
          <p:cNvPr id="9" name="Rectangle 8"/>
          <p:cNvSpPr/>
          <p:nvPr/>
        </p:nvSpPr>
        <p:spPr>
          <a:xfrm>
            <a:off x="566928" y="1645920"/>
            <a:ext cx="5504688" cy="3310128"/>
          </a:xfrm>
          <a:prstGeom prst="rect">
            <a:avLst/>
          </a:prstGeom>
          <a:solidFill>
            <a:srgbClr val="F7FAF8"/>
          </a:solidFill>
          <a:ln w="9525">
            <a:solidFill>
              <a:srgbClr val="DD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700784"/>
            <a:ext cx="5138927" cy="182880"/>
          </a:xfrm>
          <a:prstGeom prst="rect">
            <a:avLst/>
          </a:prstGeom>
          <a:noFill/>
        </p:spPr>
        <p:txBody>
          <a:bodyPr wrap="square" lIns="0" tIns="0" rIns="0" bIns="0" anchor="ctr">
            <a:spAutoFit/>
          </a:bodyPr>
          <a:lstStyle/>
          <a:p>
            <a:pPr algn="l"/>
            <a:r>
              <a:rPr sz="800" b="1">
                <a:solidFill>
                  <a:srgbClr val="00703C"/>
                </a:solidFill>
                <a:latin typeface="Poppins"/>
              </a:rPr>
              <a:t>CUANTO SE PASA LA PROBABILIDAD DEL MODELO</a:t>
            </a:r>
          </a:p>
        </p:txBody>
      </p:sp>
      <p:sp>
        <p:nvSpPr>
          <p:cNvPr id="11" name="TextBox 10"/>
          <p:cNvSpPr txBox="1"/>
          <p:nvPr/>
        </p:nvSpPr>
        <p:spPr>
          <a:xfrm>
            <a:off x="749808" y="1883664"/>
            <a:ext cx="5138927" cy="146304"/>
          </a:xfrm>
          <a:prstGeom prst="rect">
            <a:avLst/>
          </a:prstGeom>
          <a:noFill/>
        </p:spPr>
        <p:txBody>
          <a:bodyPr wrap="square" lIns="0" tIns="0" rIns="0" bIns="0" anchor="ctr">
            <a:spAutoFit/>
          </a:bodyPr>
          <a:lstStyle/>
          <a:p>
            <a:pPr algn="l"/>
            <a:r>
              <a:rPr sz="700" b="0">
                <a:solidFill>
                  <a:srgbClr val="7D8A83"/>
                </a:solidFill>
                <a:latin typeface="Poppins"/>
              </a:rPr>
              <a:t>0% seria clavar la mora observada. +100% seria asignar el doble de la que ocurrio.</a:t>
            </a:r>
          </a:p>
        </p:txBody>
      </p:sp>
      <p:sp>
        <p:nvSpPr>
          <p:cNvPr id="12" name="TextBox 11"/>
          <p:cNvSpPr txBox="1"/>
          <p:nvPr/>
        </p:nvSpPr>
        <p:spPr>
          <a:xfrm>
            <a:off x="749808" y="2084831"/>
            <a:ext cx="5138927" cy="164592"/>
          </a:xfrm>
          <a:prstGeom prst="rect">
            <a:avLst/>
          </a:prstGeom>
          <a:noFill/>
        </p:spPr>
        <p:txBody>
          <a:bodyPr wrap="square" lIns="0" tIns="0" rIns="0" bIns="0" anchor="ctr">
            <a:spAutoFit/>
          </a:bodyPr>
          <a:lstStyle/>
          <a:p>
            <a:pPr algn="l"/>
            <a:r>
              <a:rPr sz="750" b="1">
                <a:solidFill>
                  <a:srgbClr val="1C2B22"/>
                </a:solidFill>
                <a:latin typeface="Poppins"/>
              </a:rPr>
              <a:t>Por nodo   ·   3 grupos</a:t>
            </a:r>
          </a:p>
        </p:txBody>
      </p:sp>
      <p:graphicFrame>
        <p:nvGraphicFramePr>
          <p:cNvPr id="13" name="Chart 12"/>
          <p:cNvGraphicFramePr>
            <a:graphicFrameLocks noGrp="1"/>
          </p:cNvGraphicFramePr>
          <p:nvPr/>
        </p:nvGraphicFramePr>
        <p:xfrm>
          <a:off x="658368" y="2231136"/>
          <a:ext cx="5230368" cy="914400"/>
        </p:xfrm>
        <a:graphic>
          <a:graphicData uri="http://schemas.openxmlformats.org/drawingml/2006/chart">
            <c:chart xmlns:c="http://schemas.openxmlformats.org/drawingml/2006/chart" xmlns:r="http://schemas.openxmlformats.org/officeDocument/2006/relationships" r:id="rId2"/>
          </a:graphicData>
        </a:graphic>
      </p:graphicFrame>
      <p:sp>
        <p:nvSpPr>
          <p:cNvPr id="14" name="Rectangle 13"/>
          <p:cNvSpPr/>
          <p:nvPr/>
        </p:nvSpPr>
        <p:spPr>
          <a:xfrm>
            <a:off x="749808" y="3182112"/>
            <a:ext cx="5138927" cy="10972"/>
          </a:xfrm>
          <a:prstGeom prst="rect">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3255264"/>
            <a:ext cx="5138927" cy="164592"/>
          </a:xfrm>
          <a:prstGeom prst="rect">
            <a:avLst/>
          </a:prstGeom>
          <a:noFill/>
        </p:spPr>
        <p:txBody>
          <a:bodyPr wrap="square" lIns="0" tIns="0" rIns="0" bIns="0" anchor="ctr">
            <a:spAutoFit/>
          </a:bodyPr>
          <a:lstStyle/>
          <a:p>
            <a:pPr algn="l"/>
            <a:r>
              <a:rPr sz="750" b="1">
                <a:solidFill>
                  <a:srgbClr val="1C2B22"/>
                </a:solidFill>
                <a:latin typeface="Poppins"/>
              </a:rPr>
              <a:t>Por arquetipo de salud   ·   6 grupos</a:t>
            </a:r>
          </a:p>
        </p:txBody>
      </p:sp>
      <p:graphicFrame>
        <p:nvGraphicFramePr>
          <p:cNvPr id="16" name="Chart 15"/>
          <p:cNvGraphicFramePr>
            <a:graphicFrameLocks noGrp="1"/>
          </p:cNvGraphicFramePr>
          <p:nvPr/>
        </p:nvGraphicFramePr>
        <p:xfrm>
          <a:off x="658368" y="3401568"/>
          <a:ext cx="5230368" cy="1463040"/>
        </p:xfrm>
        <a:graphic>
          <a:graphicData uri="http://schemas.openxmlformats.org/drawingml/2006/chart">
            <c:chart xmlns:c="http://schemas.openxmlformats.org/drawingml/2006/chart" xmlns:r="http://schemas.openxmlformats.org/officeDocument/2006/relationships" r:id="rId3"/>
          </a:graphicData>
        </a:graphic>
      </p:graphicFrame>
      <p:sp>
        <p:nvSpPr>
          <p:cNvPr id="17" name="Rectangle 16"/>
          <p:cNvSpPr/>
          <p:nvPr/>
        </p:nvSpPr>
        <p:spPr>
          <a:xfrm>
            <a:off x="6309360" y="1645920"/>
            <a:ext cx="5312664" cy="3310128"/>
          </a:xfrm>
          <a:prstGeom prst="rect">
            <a:avLst/>
          </a:prstGeom>
          <a:solidFill>
            <a:srgbClr val="F7FAF8"/>
          </a:solidFill>
          <a:ln w="9525">
            <a:solidFill>
              <a:srgbClr val="DD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1719072"/>
            <a:ext cx="4946903" cy="182880"/>
          </a:xfrm>
          <a:prstGeom prst="rect">
            <a:avLst/>
          </a:prstGeom>
          <a:noFill/>
        </p:spPr>
        <p:txBody>
          <a:bodyPr wrap="square" lIns="0" tIns="0" rIns="0" bIns="0" anchor="ctr">
            <a:spAutoFit/>
          </a:bodyPr>
          <a:lstStyle/>
          <a:p>
            <a:pPr algn="l"/>
            <a:r>
              <a:rPr sz="800" b="1">
                <a:solidFill>
                  <a:srgbClr val="00703C"/>
                </a:solidFill>
                <a:latin typeface="Poppins"/>
              </a:rPr>
              <a:t>QUE VE EL MODELO  ·  SUS 26 VARIABLES</a:t>
            </a:r>
          </a:p>
        </p:txBody>
      </p:sp>
      <p:sp>
        <p:nvSpPr>
          <p:cNvPr id="19" name="Rectangle 18"/>
          <p:cNvSpPr/>
          <p:nvPr/>
        </p:nvSpPr>
        <p:spPr>
          <a:xfrm>
            <a:off x="6473952" y="1956816"/>
            <a:ext cx="4983479" cy="1243584"/>
          </a:xfrm>
          <a:prstGeom prst="rect">
            <a:avLst/>
          </a:prstGeom>
          <a:solidFill>
            <a:srgbClr val="ED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20256" y="2011680"/>
            <a:ext cx="4690872" cy="182880"/>
          </a:xfrm>
          <a:prstGeom prst="rect">
            <a:avLst/>
          </a:prstGeom>
          <a:noFill/>
        </p:spPr>
        <p:txBody>
          <a:bodyPr wrap="square" lIns="0" tIns="0" rIns="0" bIns="0" anchor="ctr">
            <a:spAutoFit/>
          </a:bodyPr>
          <a:lstStyle/>
          <a:p>
            <a:pPr algn="l"/>
            <a:r>
              <a:rPr sz="800" b="1">
                <a:solidFill>
                  <a:srgbClr val="00703C"/>
                </a:solidFill>
                <a:latin typeface="Poppins"/>
              </a:rPr>
              <a:t>El arquetipo ya esta adentro: 4 de las 26 son consumo en salud</a:t>
            </a:r>
          </a:p>
        </p:txBody>
      </p:sp>
      <p:sp>
        <p:nvSpPr>
          <p:cNvPr id="21" name="TextBox 20"/>
          <p:cNvSpPr txBox="1"/>
          <p:nvPr/>
        </p:nvSpPr>
        <p:spPr>
          <a:xfrm>
            <a:off x="6729984" y="2231136"/>
            <a:ext cx="4489703" cy="164592"/>
          </a:xfrm>
          <a:prstGeom prst="rect">
            <a:avLst/>
          </a:prstGeom>
          <a:noFill/>
        </p:spPr>
        <p:txBody>
          <a:bodyPr wrap="square" lIns="0" tIns="0" rIns="0" bIns="0" anchor="ctr">
            <a:spAutoFit/>
          </a:bodyPr>
          <a:lstStyle/>
          <a:p>
            <a:pPr algn="l"/>
            <a:r>
              <a:rPr sz="750" b="0">
                <a:solidFill>
                  <a:srgbClr val="1C2B22"/>
                </a:solidFill>
                <a:latin typeface="Poppins"/>
              </a:rPr>
              <a:t>•   far_rubro_top1_monto_12m</a:t>
            </a:r>
          </a:p>
        </p:txBody>
      </p:sp>
      <p:sp>
        <p:nvSpPr>
          <p:cNvPr id="22" name="TextBox 21"/>
          <p:cNvSpPr txBox="1"/>
          <p:nvPr/>
        </p:nvSpPr>
        <p:spPr>
          <a:xfrm>
            <a:off x="6729984" y="2432304"/>
            <a:ext cx="4489703" cy="164592"/>
          </a:xfrm>
          <a:prstGeom prst="rect">
            <a:avLst/>
          </a:prstGeom>
          <a:noFill/>
        </p:spPr>
        <p:txBody>
          <a:bodyPr wrap="square" lIns="0" tIns="0" rIns="0" bIns="0" anchor="ctr">
            <a:spAutoFit/>
          </a:bodyPr>
          <a:lstStyle/>
          <a:p>
            <a:pPr algn="l"/>
            <a:r>
              <a:rPr sz="750" b="0">
                <a:solidFill>
                  <a:srgbClr val="1C2B22"/>
                </a:solidFill>
                <a:latin typeface="Poppins"/>
              </a:rPr>
              <a:t>•   mto_trx_suplementos_vitaminas_24m</a:t>
            </a:r>
          </a:p>
        </p:txBody>
      </p:sp>
      <p:sp>
        <p:nvSpPr>
          <p:cNvPr id="23" name="TextBox 22"/>
          <p:cNvSpPr txBox="1"/>
          <p:nvPr/>
        </p:nvSpPr>
        <p:spPr>
          <a:xfrm>
            <a:off x="6729984" y="2633472"/>
            <a:ext cx="4489703" cy="164592"/>
          </a:xfrm>
          <a:prstGeom prst="rect">
            <a:avLst/>
          </a:prstGeom>
          <a:noFill/>
        </p:spPr>
        <p:txBody>
          <a:bodyPr wrap="square" lIns="0" tIns="0" rIns="0" bIns="0" anchor="ctr">
            <a:spAutoFit/>
          </a:bodyPr>
          <a:lstStyle/>
          <a:p>
            <a:pPr algn="l"/>
            <a:r>
              <a:rPr sz="750" b="0">
                <a:solidFill>
                  <a:srgbClr val="1C2B22"/>
                </a:solidFill>
                <a:latin typeface="Poppins"/>
              </a:rPr>
              <a:t>•   mto_trx_productos_belleza_24m</a:t>
            </a:r>
          </a:p>
        </p:txBody>
      </p:sp>
      <p:sp>
        <p:nvSpPr>
          <p:cNvPr id="24" name="TextBox 23"/>
          <p:cNvSpPr txBox="1"/>
          <p:nvPr/>
        </p:nvSpPr>
        <p:spPr>
          <a:xfrm>
            <a:off x="6729984" y="2834640"/>
            <a:ext cx="4489703" cy="164592"/>
          </a:xfrm>
          <a:prstGeom prst="rect">
            <a:avLst/>
          </a:prstGeom>
          <a:noFill/>
        </p:spPr>
        <p:txBody>
          <a:bodyPr wrap="square" lIns="0" tIns="0" rIns="0" bIns="0" anchor="ctr">
            <a:spAutoFit/>
          </a:bodyPr>
          <a:lstStyle/>
          <a:p>
            <a:pPr algn="l"/>
            <a:r>
              <a:rPr sz="750" b="0">
                <a:solidFill>
                  <a:srgbClr val="1C2B22"/>
                </a:solidFill>
                <a:latin typeface="Poppins"/>
              </a:rPr>
              <a:t>•   cant_trx_productos_ecologicos_24m</a:t>
            </a:r>
          </a:p>
        </p:txBody>
      </p:sp>
      <p:sp>
        <p:nvSpPr>
          <p:cNvPr id="25" name="TextBox 24"/>
          <p:cNvSpPr txBox="1"/>
          <p:nvPr/>
        </p:nvSpPr>
        <p:spPr>
          <a:xfrm>
            <a:off x="6620256" y="3017520"/>
            <a:ext cx="4690872" cy="146304"/>
          </a:xfrm>
          <a:prstGeom prst="rect">
            <a:avLst/>
          </a:prstGeom>
          <a:noFill/>
        </p:spPr>
        <p:txBody>
          <a:bodyPr wrap="square" lIns="0" tIns="0" rIns="0" bIns="0" anchor="ctr">
            <a:spAutoFit/>
          </a:bodyPr>
          <a:lstStyle/>
          <a:p>
            <a:pPr algn="l"/>
            <a:r>
              <a:rPr sz="700" b="0">
                <a:solidFill>
                  <a:srgbClr val="7D8A83"/>
                </a:solidFill>
                <a:latin typeface="Poppins"/>
              </a:rPr>
              <a:t>y la afiliacion a ESSALUD / SIS se construyo y la seleccion la descarto</a:t>
            </a:r>
          </a:p>
        </p:txBody>
      </p:sp>
      <p:sp>
        <p:nvSpPr>
          <p:cNvPr id="26" name="TextBox 25"/>
          <p:cNvSpPr txBox="1"/>
          <p:nvPr/>
        </p:nvSpPr>
        <p:spPr>
          <a:xfrm>
            <a:off x="6492240" y="3310128"/>
            <a:ext cx="4946903" cy="182880"/>
          </a:xfrm>
          <a:prstGeom prst="rect">
            <a:avLst/>
          </a:prstGeom>
          <a:noFill/>
        </p:spPr>
        <p:txBody>
          <a:bodyPr wrap="square" lIns="0" tIns="0" rIns="0" bIns="0" anchor="ctr">
            <a:spAutoFit/>
          </a:bodyPr>
          <a:lstStyle/>
          <a:p>
            <a:pPr algn="l"/>
            <a:r>
              <a:rPr sz="800" b="1">
                <a:solidFill>
                  <a:srgbClr val="1C2B22"/>
                </a:solidFill>
                <a:latin typeface="Poppins"/>
              </a:rPr>
              <a:t>Los insumos del nodo, uno por uno</a:t>
            </a:r>
          </a:p>
        </p:txBody>
      </p:sp>
      <p:sp>
        <p:nvSpPr>
          <p:cNvPr id="27" name="Rectangle 26"/>
          <p:cNvSpPr/>
          <p:nvPr/>
        </p:nvSpPr>
        <p:spPr>
          <a:xfrm>
            <a:off x="6473952" y="3511296"/>
            <a:ext cx="498347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75120" y="3547872"/>
            <a:ext cx="2377440" cy="201168"/>
          </a:xfrm>
          <a:prstGeom prst="rect">
            <a:avLst/>
          </a:prstGeom>
          <a:noFill/>
        </p:spPr>
        <p:txBody>
          <a:bodyPr wrap="square" lIns="0" tIns="0" rIns="0" bIns="0" anchor="ctr">
            <a:spAutoFit/>
          </a:bodyPr>
          <a:lstStyle/>
          <a:p>
            <a:pPr algn="l"/>
            <a:r>
              <a:rPr sz="850" b="0">
                <a:solidFill>
                  <a:srgbClr val="1C2B22"/>
                </a:solidFill>
                <a:latin typeface="Poppins"/>
              </a:rPr>
              <a:t>Pasivo 6 meses</a:t>
            </a:r>
          </a:p>
        </p:txBody>
      </p:sp>
      <p:sp>
        <p:nvSpPr>
          <p:cNvPr id="29" name="TextBox 28"/>
          <p:cNvSpPr txBox="1"/>
          <p:nvPr/>
        </p:nvSpPr>
        <p:spPr>
          <a:xfrm>
            <a:off x="9144000" y="3547872"/>
            <a:ext cx="822960" cy="201168"/>
          </a:xfrm>
          <a:prstGeom prst="rect">
            <a:avLst/>
          </a:prstGeom>
          <a:noFill/>
        </p:spPr>
        <p:txBody>
          <a:bodyPr wrap="square" lIns="0" tIns="0" rIns="0" bIns="0" anchor="ctr">
            <a:spAutoFit/>
          </a:bodyPr>
          <a:lstStyle/>
          <a:p>
            <a:pPr algn="l"/>
            <a:r>
              <a:rPr sz="900" b="1">
                <a:solidFill>
                  <a:srgbClr val="7D8A83"/>
                </a:solidFill>
                <a:latin typeface="Poppins"/>
              </a:rPr>
              <a:t>SI</a:t>
            </a:r>
          </a:p>
        </p:txBody>
      </p:sp>
      <p:sp>
        <p:nvSpPr>
          <p:cNvPr id="30" name="TextBox 29"/>
          <p:cNvSpPr txBox="1"/>
          <p:nvPr/>
        </p:nvSpPr>
        <p:spPr>
          <a:xfrm>
            <a:off x="9966960" y="3547872"/>
            <a:ext cx="1463040" cy="201168"/>
          </a:xfrm>
          <a:prstGeom prst="rect">
            <a:avLst/>
          </a:prstGeom>
          <a:noFill/>
        </p:spPr>
        <p:txBody>
          <a:bodyPr wrap="square" lIns="0" tIns="0" rIns="0" bIns="0" anchor="ctr">
            <a:spAutoFit/>
          </a:bodyPr>
          <a:lstStyle/>
          <a:p>
            <a:pPr algn="l"/>
            <a:r>
              <a:rPr sz="750" b="0">
                <a:solidFill>
                  <a:srgbClr val="7D8A83"/>
                </a:solidFill>
                <a:latin typeface="Poppins"/>
              </a:rPr>
              <a:t>el modelo ya la usa</a:t>
            </a:r>
          </a:p>
        </p:txBody>
      </p:sp>
      <p:sp>
        <p:nvSpPr>
          <p:cNvPr id="31" name="TextBox 30"/>
          <p:cNvSpPr txBox="1"/>
          <p:nvPr/>
        </p:nvSpPr>
        <p:spPr>
          <a:xfrm>
            <a:off x="6675120" y="3822191"/>
            <a:ext cx="2377440" cy="201168"/>
          </a:xfrm>
          <a:prstGeom prst="rect">
            <a:avLst/>
          </a:prstGeom>
          <a:noFill/>
        </p:spPr>
        <p:txBody>
          <a:bodyPr wrap="square" lIns="0" tIns="0" rIns="0" bIns="0" anchor="ctr">
            <a:spAutoFit/>
          </a:bodyPr>
          <a:lstStyle/>
          <a:p>
            <a:pPr algn="l"/>
            <a:r>
              <a:rPr sz="850" b="0">
                <a:solidFill>
                  <a:srgbClr val="1C2B22"/>
                </a:solidFill>
                <a:latin typeface="Poppins"/>
              </a:rPr>
              <a:t>AFP</a:t>
            </a:r>
          </a:p>
        </p:txBody>
      </p:sp>
      <p:sp>
        <p:nvSpPr>
          <p:cNvPr id="32" name="TextBox 31"/>
          <p:cNvSpPr txBox="1"/>
          <p:nvPr/>
        </p:nvSpPr>
        <p:spPr>
          <a:xfrm>
            <a:off x="9144000" y="3822191"/>
            <a:ext cx="822960" cy="201168"/>
          </a:xfrm>
          <a:prstGeom prst="rect">
            <a:avLst/>
          </a:prstGeom>
          <a:noFill/>
        </p:spPr>
        <p:txBody>
          <a:bodyPr wrap="square" lIns="0" tIns="0" rIns="0" bIns="0" anchor="ctr">
            <a:spAutoFit/>
          </a:bodyPr>
          <a:lstStyle/>
          <a:p>
            <a:pPr algn="l"/>
            <a:r>
              <a:rPr sz="900" b="1">
                <a:solidFill>
                  <a:srgbClr val="7D8A83"/>
                </a:solidFill>
                <a:latin typeface="Poppins"/>
              </a:rPr>
              <a:t>SI</a:t>
            </a:r>
          </a:p>
        </p:txBody>
      </p:sp>
      <p:sp>
        <p:nvSpPr>
          <p:cNvPr id="33" name="TextBox 32"/>
          <p:cNvSpPr txBox="1"/>
          <p:nvPr/>
        </p:nvSpPr>
        <p:spPr>
          <a:xfrm>
            <a:off x="9966960" y="3822191"/>
            <a:ext cx="1463040" cy="201168"/>
          </a:xfrm>
          <a:prstGeom prst="rect">
            <a:avLst/>
          </a:prstGeom>
          <a:noFill/>
        </p:spPr>
        <p:txBody>
          <a:bodyPr wrap="square" lIns="0" tIns="0" rIns="0" bIns="0" anchor="ctr">
            <a:spAutoFit/>
          </a:bodyPr>
          <a:lstStyle/>
          <a:p>
            <a:pPr algn="l"/>
            <a:r>
              <a:rPr sz="750" b="0">
                <a:solidFill>
                  <a:srgbClr val="7D8A83"/>
                </a:solidFill>
                <a:latin typeface="Poppins"/>
              </a:rPr>
              <a:t>el modelo ya la usa</a:t>
            </a:r>
          </a:p>
        </p:txBody>
      </p:sp>
      <p:sp>
        <p:nvSpPr>
          <p:cNvPr id="34" name="Rectangle 33"/>
          <p:cNvSpPr/>
          <p:nvPr/>
        </p:nvSpPr>
        <p:spPr>
          <a:xfrm>
            <a:off x="6473952" y="4059935"/>
            <a:ext cx="4983479"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75120" y="4096511"/>
            <a:ext cx="2377440" cy="201168"/>
          </a:xfrm>
          <a:prstGeom prst="rect">
            <a:avLst/>
          </a:prstGeom>
          <a:noFill/>
        </p:spPr>
        <p:txBody>
          <a:bodyPr wrap="square" lIns="0" tIns="0" rIns="0" bIns="0" anchor="ctr">
            <a:spAutoFit/>
          </a:bodyPr>
          <a:lstStyle/>
          <a:p>
            <a:pPr algn="l"/>
            <a:r>
              <a:rPr sz="850" b="0">
                <a:solidFill>
                  <a:srgbClr val="1C2B22"/>
                </a:solidFill>
                <a:latin typeface="Poppins"/>
              </a:rPr>
              <a:t>Cuenta sueldo</a:t>
            </a:r>
          </a:p>
        </p:txBody>
      </p:sp>
      <p:sp>
        <p:nvSpPr>
          <p:cNvPr id="36" name="TextBox 35"/>
          <p:cNvSpPr txBox="1"/>
          <p:nvPr/>
        </p:nvSpPr>
        <p:spPr>
          <a:xfrm>
            <a:off x="9144000" y="4096511"/>
            <a:ext cx="822960" cy="201168"/>
          </a:xfrm>
          <a:prstGeom prst="rect">
            <a:avLst/>
          </a:prstGeom>
          <a:noFill/>
        </p:spPr>
        <p:txBody>
          <a:bodyPr wrap="square" lIns="0" tIns="0" rIns="0" bIns="0" anchor="ctr">
            <a:spAutoFit/>
          </a:bodyPr>
          <a:lstStyle/>
          <a:p>
            <a:pPr algn="l"/>
            <a:r>
              <a:rPr sz="900" b="1">
                <a:solidFill>
                  <a:srgbClr val="C55A11"/>
                </a:solidFill>
                <a:latin typeface="Poppins"/>
              </a:rPr>
              <a:t>NO</a:t>
            </a:r>
          </a:p>
        </p:txBody>
      </p:sp>
      <p:sp>
        <p:nvSpPr>
          <p:cNvPr id="37" name="TextBox 36"/>
          <p:cNvSpPr txBox="1"/>
          <p:nvPr/>
        </p:nvSpPr>
        <p:spPr>
          <a:xfrm>
            <a:off x="9966960" y="4096511"/>
            <a:ext cx="1463040" cy="201168"/>
          </a:xfrm>
          <a:prstGeom prst="rect">
            <a:avLst/>
          </a:prstGeom>
          <a:noFill/>
        </p:spPr>
        <p:txBody>
          <a:bodyPr wrap="square" lIns="0" tIns="0" rIns="0" bIns="0" anchor="ctr">
            <a:spAutoFit/>
          </a:bodyPr>
          <a:lstStyle/>
          <a:p>
            <a:pPr algn="l"/>
            <a:r>
              <a:rPr sz="750" b="0">
                <a:solidFill>
                  <a:srgbClr val="7D8A83"/>
                </a:solidFill>
                <a:latin typeface="Poppins"/>
              </a:rPr>
              <a:t>el modelo no la tiene</a:t>
            </a:r>
          </a:p>
        </p:txBody>
      </p:sp>
      <p:sp>
        <p:nvSpPr>
          <p:cNvPr id="38" name="TextBox 37"/>
          <p:cNvSpPr txBox="1"/>
          <p:nvPr/>
        </p:nvSpPr>
        <p:spPr>
          <a:xfrm>
            <a:off x="6675120" y="4370831"/>
            <a:ext cx="2377440" cy="201168"/>
          </a:xfrm>
          <a:prstGeom prst="rect">
            <a:avLst/>
          </a:prstGeom>
          <a:noFill/>
        </p:spPr>
        <p:txBody>
          <a:bodyPr wrap="square" lIns="0" tIns="0" rIns="0" bIns="0" anchor="ctr">
            <a:spAutoFit/>
          </a:bodyPr>
          <a:lstStyle/>
          <a:p>
            <a:pPr algn="l"/>
            <a:r>
              <a:rPr sz="850" b="0">
                <a:solidFill>
                  <a:srgbClr val="1C2B22"/>
                </a:solidFill>
                <a:latin typeface="Poppins"/>
              </a:rPr>
              <a:t>PLIN</a:t>
            </a:r>
          </a:p>
        </p:txBody>
      </p:sp>
      <p:sp>
        <p:nvSpPr>
          <p:cNvPr id="39" name="TextBox 38"/>
          <p:cNvSpPr txBox="1"/>
          <p:nvPr/>
        </p:nvSpPr>
        <p:spPr>
          <a:xfrm>
            <a:off x="9144000" y="4370831"/>
            <a:ext cx="822960" cy="201168"/>
          </a:xfrm>
          <a:prstGeom prst="rect">
            <a:avLst/>
          </a:prstGeom>
          <a:noFill/>
        </p:spPr>
        <p:txBody>
          <a:bodyPr wrap="square" lIns="0" tIns="0" rIns="0" bIns="0" anchor="ctr">
            <a:spAutoFit/>
          </a:bodyPr>
          <a:lstStyle/>
          <a:p>
            <a:pPr algn="l"/>
            <a:r>
              <a:rPr sz="900" b="1">
                <a:solidFill>
                  <a:srgbClr val="C55A11"/>
                </a:solidFill>
                <a:latin typeface="Poppins"/>
              </a:rPr>
              <a:t>NO</a:t>
            </a:r>
          </a:p>
        </p:txBody>
      </p:sp>
      <p:sp>
        <p:nvSpPr>
          <p:cNvPr id="40" name="TextBox 39"/>
          <p:cNvSpPr txBox="1"/>
          <p:nvPr/>
        </p:nvSpPr>
        <p:spPr>
          <a:xfrm>
            <a:off x="9966960" y="4370831"/>
            <a:ext cx="1463040" cy="201168"/>
          </a:xfrm>
          <a:prstGeom prst="rect">
            <a:avLst/>
          </a:prstGeom>
          <a:noFill/>
        </p:spPr>
        <p:txBody>
          <a:bodyPr wrap="square" lIns="0" tIns="0" rIns="0" bIns="0" anchor="ctr">
            <a:spAutoFit/>
          </a:bodyPr>
          <a:lstStyle/>
          <a:p>
            <a:pPr algn="l"/>
            <a:r>
              <a:rPr sz="750" b="0">
                <a:solidFill>
                  <a:srgbClr val="7D8A83"/>
                </a:solidFill>
                <a:latin typeface="Poppins"/>
              </a:rPr>
              <a:t>el modelo no la tiene</a:t>
            </a:r>
          </a:p>
        </p:txBody>
      </p:sp>
      <p:sp>
        <p:nvSpPr>
          <p:cNvPr id="41" name="Rectangle 40"/>
          <p:cNvSpPr/>
          <p:nvPr/>
        </p:nvSpPr>
        <p:spPr>
          <a:xfrm>
            <a:off x="566928" y="5047488"/>
            <a:ext cx="11055096" cy="822960"/>
          </a:xfrm>
          <a:prstGeom prst="rect">
            <a:avLst/>
          </a:prstGeom>
          <a:solidFill>
            <a:srgbClr val="F7FAF8"/>
          </a:solidFill>
          <a:ln w="9525">
            <a:solidFill>
              <a:srgbClr val="DDE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66928" y="5047488"/>
            <a:ext cx="82296" cy="822960"/>
          </a:xfrm>
          <a:prstGeom prst="rect">
            <a:avLst/>
          </a:prstGeom>
          <a:solidFill>
            <a:srgbClr val="007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1248" y="5138928"/>
            <a:ext cx="10607040" cy="201168"/>
          </a:xfrm>
          <a:prstGeom prst="rect">
            <a:avLst/>
          </a:prstGeom>
          <a:noFill/>
        </p:spPr>
        <p:txBody>
          <a:bodyPr wrap="square" lIns="0" tIns="0" rIns="0" bIns="0" anchor="ctr">
            <a:spAutoFit/>
          </a:bodyPr>
          <a:lstStyle/>
          <a:p>
            <a:pPr algn="l"/>
            <a:r>
              <a:rPr sz="900" b="1">
                <a:solidFill>
                  <a:srgbClr val="00703C"/>
                </a:solidFill>
                <a:latin typeface="Poppins"/>
              </a:rPr>
              <a:t>LA PROPUESTA</a:t>
            </a:r>
          </a:p>
        </p:txBody>
      </p:sp>
      <p:sp>
        <p:nvSpPr>
          <p:cNvPr id="44" name="TextBox 43"/>
          <p:cNvSpPr txBox="1"/>
          <p:nvPr/>
        </p:nvSpPr>
        <p:spPr>
          <a:xfrm>
            <a:off x="841248" y="5358384"/>
            <a:ext cx="10607040" cy="201168"/>
          </a:xfrm>
          <a:prstGeom prst="rect">
            <a:avLst/>
          </a:prstGeom>
          <a:noFill/>
        </p:spPr>
        <p:txBody>
          <a:bodyPr wrap="square" lIns="0" tIns="0" rIns="0" bIns="0" anchor="ctr">
            <a:spAutoFit/>
          </a:bodyPr>
          <a:lstStyle/>
          <a:p>
            <a:pPr algn="l"/>
            <a:r>
              <a:rPr sz="900" b="0">
                <a:solidFill>
                  <a:srgbClr val="1C2B22"/>
                </a:solidFill>
                <a:latin typeface="Poppins"/>
              </a:rPr>
              <a:t>Calibrar por nodo: tres ajustes, uno por cada nivel, en lugar de uno solo para toda la poblacion.</a:t>
            </a:r>
          </a:p>
        </p:txBody>
      </p:sp>
      <p:sp>
        <p:nvSpPr>
          <p:cNvPr id="45" name="TextBox 44"/>
          <p:cNvSpPr txBox="1"/>
          <p:nvPr/>
        </p:nvSpPr>
        <p:spPr>
          <a:xfrm>
            <a:off x="841248" y="5596128"/>
            <a:ext cx="10607040" cy="164592"/>
          </a:xfrm>
          <a:prstGeom prst="rect">
            <a:avLst/>
          </a:prstGeom>
          <a:noFill/>
        </p:spPr>
        <p:txBody>
          <a:bodyPr wrap="square" lIns="0" tIns="0" rIns="0" bIns="0" anchor="ctr">
            <a:spAutoFit/>
          </a:bodyPr>
          <a:lstStyle/>
          <a:p>
            <a:pPr algn="l"/>
            <a:r>
              <a:rPr sz="750" b="0" dirty="0">
                <a:solidFill>
                  <a:srgbClr val="7D8A83"/>
                </a:solidFill>
                <a:latin typeface="Poppins"/>
              </a:rPr>
              <a:t>El </a:t>
            </a:r>
            <a:r>
              <a:rPr sz="750" b="0" dirty="0" err="1">
                <a:solidFill>
                  <a:srgbClr val="7D8A83"/>
                </a:solidFill>
                <a:latin typeface="Poppins"/>
              </a:rPr>
              <a:t>resultado</a:t>
            </a:r>
            <a:r>
              <a:rPr sz="750" b="0" dirty="0">
                <a:solidFill>
                  <a:srgbClr val="7D8A83"/>
                </a:solidFill>
                <a:latin typeface="Poppins"/>
              </a:rPr>
              <a:t> se </a:t>
            </a:r>
            <a:r>
              <a:rPr sz="750" b="0" dirty="0" err="1">
                <a:solidFill>
                  <a:srgbClr val="7D8A83"/>
                </a:solidFill>
                <a:latin typeface="Poppins"/>
              </a:rPr>
              <a:t>mide</a:t>
            </a:r>
            <a:r>
              <a:rPr sz="750" b="0" dirty="0">
                <a:solidFill>
                  <a:srgbClr val="7D8A83"/>
                </a:solidFill>
                <a:latin typeface="Poppins"/>
              </a:rPr>
              <a:t> </a:t>
            </a:r>
            <a:r>
              <a:rPr sz="750" b="0" dirty="0" err="1">
                <a:solidFill>
                  <a:srgbClr val="7D8A83"/>
                </a:solidFill>
                <a:latin typeface="Poppins"/>
              </a:rPr>
              <a:t>recien</a:t>
            </a:r>
            <a:r>
              <a:rPr sz="750" b="0" dirty="0">
                <a:solidFill>
                  <a:srgbClr val="7D8A83"/>
                </a:solidFill>
                <a:latin typeface="Poppins"/>
              </a:rPr>
              <a:t> </a:t>
            </a:r>
            <a:r>
              <a:rPr sz="750" b="0" dirty="0" err="1">
                <a:solidFill>
                  <a:srgbClr val="7D8A83"/>
                </a:solidFill>
                <a:latin typeface="Poppins"/>
              </a:rPr>
              <a:t>despues</a:t>
            </a:r>
            <a:r>
              <a:rPr sz="750" b="0" dirty="0">
                <a:solidFill>
                  <a:srgbClr val="7D8A83"/>
                </a:solidFill>
                <a:latin typeface="Poppins"/>
              </a:rPr>
              <a:t> de </a:t>
            </a:r>
            <a:r>
              <a:rPr sz="750" b="0" dirty="0" err="1">
                <a:solidFill>
                  <a:srgbClr val="7D8A83"/>
                </a:solidFill>
                <a:latin typeface="Poppins"/>
              </a:rPr>
              <a:t>calibrar</a:t>
            </a:r>
            <a:r>
              <a:rPr sz="750" b="0" dirty="0">
                <a:solidFill>
                  <a:srgbClr val="7D8A83"/>
                </a:solidFill>
                <a:latin typeface="Poppins"/>
              </a:rPr>
              <a:t> y se </a:t>
            </a:r>
            <a:r>
              <a:rPr sz="750" b="0" dirty="0" err="1">
                <a:solidFill>
                  <a:srgbClr val="7D8A83"/>
                </a:solidFill>
                <a:latin typeface="Poppins"/>
              </a:rPr>
              <a:t>reporta</a:t>
            </a:r>
            <a:r>
              <a:rPr sz="750" b="0" dirty="0">
                <a:solidFill>
                  <a:srgbClr val="7D8A83"/>
                </a:solidFill>
                <a:latin typeface="Poppins"/>
              </a:rPr>
              <a:t> con el </a:t>
            </a:r>
            <a:r>
              <a:rPr sz="750" b="0" dirty="0" err="1">
                <a:solidFill>
                  <a:srgbClr val="7D8A83"/>
                </a:solidFill>
                <a:latin typeface="Poppins"/>
              </a:rPr>
              <a:t>semaforo</a:t>
            </a:r>
            <a:r>
              <a:rPr sz="750" b="0" dirty="0">
                <a:solidFill>
                  <a:srgbClr val="7D8A83"/>
                </a:solidFill>
                <a:latin typeface="Poppins"/>
              </a:rPr>
              <a:t> de error de </a:t>
            </a:r>
            <a:r>
              <a:rPr sz="750" b="0" dirty="0" err="1">
                <a:solidFill>
                  <a:srgbClr val="7D8A83"/>
                </a:solidFill>
                <a:latin typeface="Poppins"/>
              </a:rPr>
              <a:t>calibracion</a:t>
            </a:r>
            <a:r>
              <a:rPr sz="750" b="0" dirty="0">
                <a:solidFill>
                  <a:srgbClr val="7D8A83"/>
                </a:solidFill>
                <a:latin typeface="Poppins"/>
              </a:rPr>
              <a:t>. Esta hoja </a:t>
            </a:r>
            <a:r>
              <a:rPr sz="750" b="0" dirty="0" err="1">
                <a:solidFill>
                  <a:srgbClr val="7D8A83"/>
                </a:solidFill>
                <a:latin typeface="Poppins"/>
              </a:rPr>
              <a:t>justifica</a:t>
            </a:r>
            <a:r>
              <a:rPr sz="750" b="0" dirty="0">
                <a:solidFill>
                  <a:srgbClr val="7D8A83"/>
                </a:solidFill>
                <a:latin typeface="Poppins"/>
              </a:rPr>
              <a:t> la decision, no </a:t>
            </a:r>
            <a:r>
              <a:rPr sz="750" b="0" dirty="0" err="1">
                <a:solidFill>
                  <a:srgbClr val="7D8A83"/>
                </a:solidFill>
                <a:latin typeface="Poppins"/>
              </a:rPr>
              <a:t>anticipa</a:t>
            </a:r>
            <a:r>
              <a:rPr sz="750" b="0" dirty="0">
                <a:solidFill>
                  <a:srgbClr val="7D8A83"/>
                </a:solidFill>
                <a:latin typeface="Poppins"/>
              </a:rPr>
              <a:t> el </a:t>
            </a:r>
            <a:r>
              <a:rPr sz="750" b="0" dirty="0" err="1">
                <a:solidFill>
                  <a:srgbClr val="7D8A83"/>
                </a:solidFill>
                <a:latin typeface="Poppins"/>
              </a:rPr>
              <a:t>resultado</a:t>
            </a:r>
            <a:r>
              <a:rPr sz="750" b="0" dirty="0">
                <a:solidFill>
                  <a:srgbClr val="7D8A83"/>
                </a:solidFill>
                <a:latin typeface="Poppins"/>
              </a:rPr>
              <a:t>.</a:t>
            </a:r>
          </a:p>
        </p:txBody>
      </p:sp>
      <p:sp>
        <p:nvSpPr>
          <p:cNvPr id="46" name="Rectangle 45"/>
          <p:cNvSpPr/>
          <p:nvPr/>
        </p:nvSpPr>
        <p:spPr>
          <a:xfrm>
            <a:off x="566928" y="5961888"/>
            <a:ext cx="11055096" cy="18288"/>
          </a:xfrm>
          <a:prstGeom prst="rect">
            <a:avLst/>
          </a:prstGeom>
          <a:solidFill>
            <a:srgbClr val="DD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66928" y="6035040"/>
            <a:ext cx="11055096" cy="384048"/>
          </a:xfrm>
          <a:prstGeom prst="rect">
            <a:avLst/>
          </a:prstGeom>
          <a:noFill/>
        </p:spPr>
        <p:txBody>
          <a:bodyPr wrap="square" lIns="0" tIns="0" rIns="0" bIns="0">
            <a:spAutoFit/>
          </a:bodyPr>
          <a:lstStyle/>
          <a:p>
            <a:pPr algn="l">
              <a:lnSpc>
                <a:spcPct val="125000"/>
              </a:lnSpc>
            </a:pPr>
            <a:r>
              <a:rPr sz="850" b="0">
                <a:solidFill>
                  <a:srgbClr val="1C2B22"/>
                </a:solidFill>
                <a:latin typeface="Poppins"/>
              </a:rPr>
              <a:t>Se pasa = probabilidad promedio que asigna el modelo dividida por la mora observada, menos 1. No dice cuantos morosos habria: sin punto de corte definido no hay cartera que suponer, solo el nivel de la probabilidad sobre estas mismas altas. Todo lo que muestra esta hoja es observado hoy, antes de calibrar.</a:t>
            </a:r>
          </a:p>
        </p:txBody>
      </p:sp>
      <p:sp>
        <p:nvSpPr>
          <p:cNvPr id="48" name="TextBox 47"/>
          <p:cNvSpPr txBox="1"/>
          <p:nvPr/>
        </p:nvSpPr>
        <p:spPr>
          <a:xfrm>
            <a:off x="566928" y="6510528"/>
            <a:ext cx="11055096" cy="201168"/>
          </a:xfrm>
          <a:prstGeom prst="rect">
            <a:avLst/>
          </a:prstGeom>
          <a:noFill/>
        </p:spPr>
        <p:txBody>
          <a:bodyPr wrap="square" lIns="0" tIns="0" rIns="0" bIns="0" anchor="ctr">
            <a:spAutoFit/>
          </a:bodyPr>
          <a:lstStyle/>
          <a:p>
            <a:pPr algn="l"/>
            <a:r>
              <a:rPr sz="700" b="0">
                <a:solidFill>
                  <a:srgbClr val="7D8A83"/>
                </a:solidFill>
                <a:latin typeface="Poppins"/>
              </a:rPr>
              <a:t>Base: IBK, clean y calibrable, 202412 - 202506 (17,535 altas). Las 26 variables salen del artefacto del modelo y del script de variables recibidos.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1025</Words>
  <Application>Microsoft Office PowerPoint</Application>
  <PresentationFormat>Panorámica</PresentationFormat>
  <Paragraphs>169</Paragraphs>
  <Slides>3</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vt:i4>
      </vt:variant>
    </vt:vector>
  </HeadingPairs>
  <TitlesOfParts>
    <vt:vector size="6" baseType="lpstr">
      <vt:lpstr>Arial</vt:lpstr>
      <vt:lpstr>Poppins</vt:lpstr>
      <vt:lpstr>Office Theme</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Calibracion PD · plantilla</dc:title>
  <dc:subject>PptxGenJS Presentation</dc:subject>
  <dc:creator>PptxGenJS</dc:creator>
  <cp:lastModifiedBy>CARLOS</cp:lastModifiedBy>
  <cp:revision>1</cp:revision>
  <dcterms:created xsi:type="dcterms:W3CDTF">2026-07-20T14:24:03Z</dcterms:created>
  <dcterms:modified xsi:type="dcterms:W3CDTF">2026-08-13T15:45:06Z</dcterms:modified>
</cp:coreProperties>
</file>