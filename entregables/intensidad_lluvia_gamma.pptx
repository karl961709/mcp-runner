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7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PD estresada · zona expuesta</c:v>
                </c:pt>
              </c:strCache>
            </c:strRef>
          </c:tx>
          <c:spPr>
            <a:solidFill>
              <a:srgbClr val="009F46"/>
            </a:solidFill>
            <a:ln>
              <a:noFill/>
            </a:ln>
          </c:spPr>
          <c:dPt>
            <c:idx val="0"/>
            <c:spPr>
              <a:solidFill>
                <a:srgbClr val="9FCFB0"/>
              </a:solidFill>
            </c:spPr>
          </c:dPt>
          <c:dPt>
            <c:idx val="1"/>
            <c:spPr>
              <a:solidFill>
                <a:srgbClr val="009F46"/>
              </a:solidFill>
            </c:spPr>
          </c:dPt>
          <c:dPt>
            <c:idx val="2"/>
            <c:spPr>
              <a:solidFill>
                <a:srgbClr val="E0A800"/>
              </a:solidFill>
            </c:spPr>
          </c:dPt>
          <c:dPt>
            <c:idx val="3"/>
            <c:spPr>
              <a:solidFill>
                <a:srgbClr val="D35400"/>
              </a:solidFill>
            </c:spPr>
          </c:dPt>
          <c:cat>
            <c:strRef>
              <c:f>Sheet1!$A$2:$A$5</c:f>
              <c:strCache>
                <c:ptCount val="4"/>
                <c:pt idx="0">
                  <c:v>Base</c:v>
                </c:pt>
                <c:pt idx="1">
                  <c:v>Moderado</c:v>
                </c:pt>
                <c:pt idx="2">
                  <c:v>Fuerte (hoy)</c:v>
                </c:pt>
                <c:pt idx="3">
                  <c:v>Extraord. (máx)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0.0757</c:v>
                </c:pt>
                <c:pt idx="1">
                  <c:v>0.0992</c:v>
                </c:pt>
                <c:pt idx="2">
                  <c:v>0.1131</c:v>
                </c:pt>
                <c:pt idx="3">
                  <c:v>0.1316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800">
                  <a:solidFill>
                    <a:srgbClr val="333333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800">
                <a:solidFill>
                  <a:srgbClr val="97A19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0.0%" sourceLinked="0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800">
                <a:solidFill>
                  <a:srgbClr val="97A19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97A19B"/>
          </a:solidFill>
          <a:latin typeface="Poppi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2648" y="448056"/>
            <a:ext cx="10966673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9F46"/>
                </a:solidFill>
                <a:latin typeface="Poppins"/>
              </a:rPr>
              <a:t>Simulador de estrés FEN · componente intensidad de lluvia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749808"/>
            <a:ext cx="10966673" cy="4422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 i="0">
                <a:solidFill>
                  <a:srgbClr val="005F1E"/>
                </a:solidFill>
                <a:latin typeface="Poppins"/>
              </a:rPr>
              <a:t>¿Cómo la intensidad del Niño mueve la PD?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283462"/>
            <a:ext cx="10966673" cy="417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La intensidad </a:t>
            </a:r>
            <a:r>
              <a:rPr sz="1200" b="1" i="0">
                <a:solidFill>
                  <a:srgbClr val="005F1E"/>
                </a:solidFill>
                <a:latin typeface="Poppins"/>
              </a:rPr>
              <a:t>correlaciona con la mora</a:t>
            </a:r>
            <a:r>
              <a:rPr sz="1200" b="0" i="0">
                <a:solidFill>
                  <a:srgbClr val="333333"/>
                </a:solidFill>
                <a:latin typeface="Poppins"/>
              </a:rPr>
              <a:t> (r≈0,54). El simulador escala ese efecto con la perilla γ, como un </a:t>
            </a:r>
            <a:r>
              <a:rPr sz="1200" b="1" i="0">
                <a:solidFill>
                  <a:srgbClr val="D35400"/>
                </a:solidFill>
                <a:latin typeface="Poppins"/>
              </a:rPr>
              <a:t>escenario anclado a la evidencia</a:t>
            </a:r>
            <a:r>
              <a:rPr sz="1200" b="0" i="0">
                <a:solidFill>
                  <a:srgbClr val="333333"/>
                </a:solidFill>
                <a:latin typeface="Poppins"/>
              </a:rPr>
              <a:t> — no una estimación.</a:t>
            </a:r>
          </a:p>
        </p:txBody>
      </p:sp>
      <p:sp>
        <p:nvSpPr>
          <p:cNvPr id="8" name="Cloud 7"/>
          <p:cNvSpPr/>
          <p:nvPr/>
        </p:nvSpPr>
        <p:spPr>
          <a:xfrm>
            <a:off x="612648" y="1920240"/>
            <a:ext cx="292608" cy="292608"/>
          </a:xfrm>
          <a:prstGeom prst="cloud">
            <a:avLst/>
          </a:prstGeom>
          <a:solidFill>
            <a:srgbClr val="FFFFFF"/>
          </a:solidFill>
          <a:ln w="63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6696" y="1883664"/>
            <a:ext cx="484782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5F1E"/>
                </a:solidFill>
                <a:latin typeface="Poppins"/>
              </a:rPr>
              <a:t>LA EVIDENCIA · mora vs. ICEN (cada punto = un mes)   r≈0,54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5568" y="2414016"/>
            <a:ext cx="1530598" cy="182880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15568" y="2432304"/>
            <a:ext cx="153059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1F3864"/>
                </a:solidFill>
                <a:latin typeface="Poppins"/>
              </a:rPr>
              <a:t>calma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1194" y="2414016"/>
            <a:ext cx="1166170" cy="1828800"/>
          </a:xfrm>
          <a:prstGeom prst="rect">
            <a:avLst/>
          </a:prstGeom>
          <a:solidFill>
            <a:srgbClr val="FBF3E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41194" y="2441448"/>
            <a:ext cx="116617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D35400"/>
                </a:solidFill>
                <a:latin typeface="Poppins"/>
              </a:rPr>
              <a:t>ICEN 4,2 → 16,8% · extrapolado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5568" y="4242816"/>
            <a:ext cx="4591796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97167" y="4270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6024" y="4270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4880" y="4270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3737" y="4270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2594" y="4270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1450" y="4270248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5568" y="4120896"/>
            <a:ext cx="4591796" cy="9144"/>
          </a:xfrm>
          <a:prstGeom prst="rect">
            <a:avLst/>
          </a:prstGeom>
          <a:solidFill>
            <a:srgbClr val="DD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4047744"/>
            <a:ext cx="42062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5568" y="3511296"/>
            <a:ext cx="4591796" cy="9144"/>
          </a:xfrm>
          <a:prstGeom prst="rect">
            <a:avLst/>
          </a:prstGeom>
          <a:solidFill>
            <a:srgbClr val="DD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3438144"/>
            <a:ext cx="42062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10%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5568" y="2901696"/>
            <a:ext cx="4591796" cy="9144"/>
          </a:xfrm>
          <a:prstGeom prst="rect">
            <a:avLst/>
          </a:prstGeom>
          <a:solidFill>
            <a:srgbClr val="DD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2828544"/>
            <a:ext cx="420624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416552"/>
            <a:ext cx="4591796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97A19B"/>
                </a:solidFill>
                <a:latin typeface="Poppins"/>
              </a:rPr>
              <a:t>Intensidad El Niño (ICEN)</a:t>
            </a:r>
          </a:p>
        </p:txBody>
      </p:sp>
      <p:sp>
        <p:nvSpPr>
          <p:cNvPr id="28" name="Oval 27"/>
          <p:cNvSpPr/>
          <p:nvPr/>
        </p:nvSpPr>
        <p:spPr>
          <a:xfrm>
            <a:off x="1889878" y="3532114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Oval 28"/>
          <p:cNvSpPr/>
          <p:nvPr/>
        </p:nvSpPr>
        <p:spPr>
          <a:xfrm>
            <a:off x="1802415" y="3530636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Oval 29"/>
          <p:cNvSpPr/>
          <p:nvPr/>
        </p:nvSpPr>
        <p:spPr>
          <a:xfrm>
            <a:off x="1787838" y="3610744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Oval 30"/>
          <p:cNvSpPr/>
          <p:nvPr/>
        </p:nvSpPr>
        <p:spPr>
          <a:xfrm>
            <a:off x="1940898" y="3645329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Oval 31"/>
          <p:cNvSpPr/>
          <p:nvPr/>
        </p:nvSpPr>
        <p:spPr>
          <a:xfrm>
            <a:off x="2108535" y="3673979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Oval 32"/>
          <p:cNvSpPr/>
          <p:nvPr/>
        </p:nvSpPr>
        <p:spPr>
          <a:xfrm>
            <a:off x="2195998" y="3465214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Oval 33"/>
          <p:cNvSpPr/>
          <p:nvPr/>
        </p:nvSpPr>
        <p:spPr>
          <a:xfrm>
            <a:off x="2225152" y="3614637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Oval 34"/>
          <p:cNvSpPr/>
          <p:nvPr/>
        </p:nvSpPr>
        <p:spPr>
          <a:xfrm>
            <a:off x="2225152" y="3581530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Oval 35"/>
          <p:cNvSpPr/>
          <p:nvPr/>
        </p:nvSpPr>
        <p:spPr>
          <a:xfrm>
            <a:off x="2378212" y="3427640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Oval 36"/>
          <p:cNvSpPr/>
          <p:nvPr/>
        </p:nvSpPr>
        <p:spPr>
          <a:xfrm>
            <a:off x="2341769" y="3230526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Oval 37"/>
          <p:cNvSpPr/>
          <p:nvPr/>
        </p:nvSpPr>
        <p:spPr>
          <a:xfrm>
            <a:off x="2181420" y="2990813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Oval 38"/>
          <p:cNvSpPr/>
          <p:nvPr/>
        </p:nvSpPr>
        <p:spPr>
          <a:xfrm>
            <a:off x="1802415" y="3055673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Oval 39"/>
          <p:cNvSpPr/>
          <p:nvPr/>
        </p:nvSpPr>
        <p:spPr>
          <a:xfrm>
            <a:off x="1583758" y="3012017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Oval 40"/>
          <p:cNvSpPr/>
          <p:nvPr/>
        </p:nvSpPr>
        <p:spPr>
          <a:xfrm>
            <a:off x="1459852" y="3048933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Oval 41"/>
          <p:cNvSpPr/>
          <p:nvPr/>
        </p:nvSpPr>
        <p:spPr>
          <a:xfrm>
            <a:off x="1583758" y="3115545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3" name="Oval 42"/>
          <p:cNvSpPr/>
          <p:nvPr/>
        </p:nvSpPr>
        <p:spPr>
          <a:xfrm>
            <a:off x="1663932" y="3010527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Oval 43"/>
          <p:cNvSpPr/>
          <p:nvPr/>
        </p:nvSpPr>
        <p:spPr>
          <a:xfrm>
            <a:off x="1773261" y="3666984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Oval 44"/>
          <p:cNvSpPr/>
          <p:nvPr/>
        </p:nvSpPr>
        <p:spPr>
          <a:xfrm>
            <a:off x="1751395" y="3851160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Oval 45"/>
          <p:cNvSpPr/>
          <p:nvPr/>
        </p:nvSpPr>
        <p:spPr>
          <a:xfrm>
            <a:off x="1714952" y="3949677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Oval 46"/>
          <p:cNvSpPr/>
          <p:nvPr/>
        </p:nvSpPr>
        <p:spPr>
          <a:xfrm>
            <a:off x="1722241" y="3931862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8" name="Oval 47"/>
          <p:cNvSpPr/>
          <p:nvPr/>
        </p:nvSpPr>
        <p:spPr>
          <a:xfrm>
            <a:off x="1700375" y="4153397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9" name="Oval 48"/>
          <p:cNvSpPr/>
          <p:nvPr/>
        </p:nvSpPr>
        <p:spPr>
          <a:xfrm>
            <a:off x="1722241" y="4090426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0" name="Oval 49"/>
          <p:cNvSpPr/>
          <p:nvPr/>
        </p:nvSpPr>
        <p:spPr>
          <a:xfrm>
            <a:off x="1816992" y="4018535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Oval 50"/>
          <p:cNvSpPr/>
          <p:nvPr/>
        </p:nvSpPr>
        <p:spPr>
          <a:xfrm>
            <a:off x="1991918" y="3916952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Oval 51"/>
          <p:cNvSpPr/>
          <p:nvPr/>
        </p:nvSpPr>
        <p:spPr>
          <a:xfrm>
            <a:off x="2108535" y="3904109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3" name="Oval 52"/>
          <p:cNvSpPr/>
          <p:nvPr/>
        </p:nvSpPr>
        <p:spPr>
          <a:xfrm>
            <a:off x="2028361" y="3998005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4" name="Oval 53"/>
          <p:cNvSpPr/>
          <p:nvPr/>
        </p:nvSpPr>
        <p:spPr>
          <a:xfrm>
            <a:off x="1875301" y="3730950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5" name="Oval 54"/>
          <p:cNvSpPr/>
          <p:nvPr/>
        </p:nvSpPr>
        <p:spPr>
          <a:xfrm>
            <a:off x="1671221" y="3723333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6" name="Oval 55"/>
          <p:cNvSpPr/>
          <p:nvPr/>
        </p:nvSpPr>
        <p:spPr>
          <a:xfrm>
            <a:off x="1430698" y="3639867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Oval 56"/>
          <p:cNvSpPr/>
          <p:nvPr/>
        </p:nvSpPr>
        <p:spPr>
          <a:xfrm>
            <a:off x="1372390" y="3584259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Oval 57"/>
          <p:cNvSpPr/>
          <p:nvPr/>
        </p:nvSpPr>
        <p:spPr>
          <a:xfrm>
            <a:off x="1263061" y="3574250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9" name="Oval 58"/>
          <p:cNvSpPr/>
          <p:nvPr/>
        </p:nvSpPr>
        <p:spPr>
          <a:xfrm>
            <a:off x="1496295" y="3387423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0" name="Oval 59"/>
          <p:cNvSpPr/>
          <p:nvPr/>
        </p:nvSpPr>
        <p:spPr>
          <a:xfrm>
            <a:off x="1423410" y="3298144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1" name="Oval 60"/>
          <p:cNvSpPr/>
          <p:nvPr/>
        </p:nvSpPr>
        <p:spPr>
          <a:xfrm>
            <a:off x="1408832" y="3368109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2" name="Oval 61"/>
          <p:cNvSpPr/>
          <p:nvPr/>
        </p:nvSpPr>
        <p:spPr>
          <a:xfrm>
            <a:off x="1226618" y="3264681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Oval 62"/>
          <p:cNvSpPr/>
          <p:nvPr/>
        </p:nvSpPr>
        <p:spPr>
          <a:xfrm>
            <a:off x="1277638" y="3301684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4" name="Oval 63"/>
          <p:cNvSpPr/>
          <p:nvPr/>
        </p:nvSpPr>
        <p:spPr>
          <a:xfrm>
            <a:off x="1532738" y="3419167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5" name="Oval 64"/>
          <p:cNvSpPr/>
          <p:nvPr/>
        </p:nvSpPr>
        <p:spPr>
          <a:xfrm>
            <a:off x="1649355" y="3352229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6" name="Oval 65"/>
          <p:cNvSpPr/>
          <p:nvPr/>
        </p:nvSpPr>
        <p:spPr>
          <a:xfrm>
            <a:off x="1510872" y="3455821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7" name="Oval 66"/>
          <p:cNvSpPr/>
          <p:nvPr/>
        </p:nvSpPr>
        <p:spPr>
          <a:xfrm>
            <a:off x="1379678" y="3367155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8" name="Oval 67"/>
          <p:cNvSpPr/>
          <p:nvPr/>
        </p:nvSpPr>
        <p:spPr>
          <a:xfrm>
            <a:off x="1525449" y="3363896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9" name="Oval 68"/>
          <p:cNvSpPr/>
          <p:nvPr/>
        </p:nvSpPr>
        <p:spPr>
          <a:xfrm>
            <a:off x="1816992" y="3229018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0" name="Oval 69"/>
          <p:cNvSpPr/>
          <p:nvPr/>
        </p:nvSpPr>
        <p:spPr>
          <a:xfrm>
            <a:off x="2203286" y="3031060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1" name="Oval 70"/>
          <p:cNvSpPr/>
          <p:nvPr/>
        </p:nvSpPr>
        <p:spPr>
          <a:xfrm>
            <a:off x="2669754" y="3035096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2" name="Oval 71"/>
          <p:cNvSpPr/>
          <p:nvPr/>
        </p:nvSpPr>
        <p:spPr>
          <a:xfrm>
            <a:off x="3442342" y="2998105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3" name="Oval 72"/>
          <p:cNvSpPr/>
          <p:nvPr/>
        </p:nvSpPr>
        <p:spPr>
          <a:xfrm>
            <a:off x="3865079" y="2866049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4" name="Oval 73"/>
          <p:cNvSpPr/>
          <p:nvPr/>
        </p:nvSpPr>
        <p:spPr>
          <a:xfrm>
            <a:off x="4112891" y="2790759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5" name="Oval 74"/>
          <p:cNvSpPr/>
          <p:nvPr/>
        </p:nvSpPr>
        <p:spPr>
          <a:xfrm>
            <a:off x="4200353" y="2764478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6" name="Oval 75"/>
          <p:cNvSpPr/>
          <p:nvPr/>
        </p:nvSpPr>
        <p:spPr>
          <a:xfrm>
            <a:off x="4455453" y="2697608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7" name="Oval 76"/>
          <p:cNvSpPr/>
          <p:nvPr/>
        </p:nvSpPr>
        <p:spPr>
          <a:xfrm>
            <a:off x="4440876" y="2679726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8" name="Oval 77"/>
          <p:cNvSpPr/>
          <p:nvPr/>
        </p:nvSpPr>
        <p:spPr>
          <a:xfrm>
            <a:off x="4280528" y="2651108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9" name="Oval 78"/>
          <p:cNvSpPr/>
          <p:nvPr/>
        </p:nvSpPr>
        <p:spPr>
          <a:xfrm>
            <a:off x="3988985" y="2878368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0" name="Oval 79"/>
          <p:cNvSpPr/>
          <p:nvPr/>
        </p:nvSpPr>
        <p:spPr>
          <a:xfrm>
            <a:off x="3792194" y="2820373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1" name="Oval 80"/>
          <p:cNvSpPr/>
          <p:nvPr/>
        </p:nvSpPr>
        <p:spPr>
          <a:xfrm>
            <a:off x="3544382" y="2986144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2" name="Oval 81"/>
          <p:cNvSpPr/>
          <p:nvPr/>
        </p:nvSpPr>
        <p:spPr>
          <a:xfrm>
            <a:off x="3303860" y="3049841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3" name="Oval 82"/>
          <p:cNvSpPr/>
          <p:nvPr/>
        </p:nvSpPr>
        <p:spPr>
          <a:xfrm>
            <a:off x="2968586" y="3196805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4" name="Oval 83"/>
          <p:cNvSpPr/>
          <p:nvPr/>
        </p:nvSpPr>
        <p:spPr>
          <a:xfrm>
            <a:off x="2604157" y="3513476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5" name="Oval 84"/>
          <p:cNvSpPr/>
          <p:nvPr/>
        </p:nvSpPr>
        <p:spPr>
          <a:xfrm>
            <a:off x="2050226" y="3499591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6" name="Oval 85"/>
          <p:cNvSpPr/>
          <p:nvPr/>
        </p:nvSpPr>
        <p:spPr>
          <a:xfrm>
            <a:off x="1758684" y="3653216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7" name="Oval 86"/>
          <p:cNvSpPr/>
          <p:nvPr/>
        </p:nvSpPr>
        <p:spPr>
          <a:xfrm>
            <a:off x="1620201" y="3595727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8" name="Oval 87"/>
          <p:cNvSpPr/>
          <p:nvPr/>
        </p:nvSpPr>
        <p:spPr>
          <a:xfrm>
            <a:off x="1802415" y="3718893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9" name="Oval 88"/>
          <p:cNvSpPr/>
          <p:nvPr/>
        </p:nvSpPr>
        <p:spPr>
          <a:xfrm>
            <a:off x="1853435" y="3784222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0" name="Oval 89"/>
          <p:cNvSpPr/>
          <p:nvPr/>
        </p:nvSpPr>
        <p:spPr>
          <a:xfrm>
            <a:off x="1962763" y="3667945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1" name="Oval 90"/>
          <p:cNvSpPr/>
          <p:nvPr/>
        </p:nvSpPr>
        <p:spPr>
          <a:xfrm>
            <a:off x="2079381" y="3618523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2" name="Oval 91"/>
          <p:cNvSpPr/>
          <p:nvPr/>
        </p:nvSpPr>
        <p:spPr>
          <a:xfrm>
            <a:off x="2254306" y="3743742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3" name="Oval 92"/>
          <p:cNvSpPr/>
          <p:nvPr/>
        </p:nvSpPr>
        <p:spPr>
          <a:xfrm>
            <a:off x="2247018" y="3793645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4" name="Oval 93"/>
          <p:cNvSpPr/>
          <p:nvPr/>
        </p:nvSpPr>
        <p:spPr>
          <a:xfrm>
            <a:off x="2327192" y="3855088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5" name="Oval 94"/>
          <p:cNvSpPr/>
          <p:nvPr/>
        </p:nvSpPr>
        <p:spPr>
          <a:xfrm>
            <a:off x="2655177" y="3813765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6" name="Oval 95"/>
          <p:cNvSpPr/>
          <p:nvPr/>
        </p:nvSpPr>
        <p:spPr>
          <a:xfrm>
            <a:off x="2851969" y="3654753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7" name="Oval 96"/>
          <p:cNvSpPr/>
          <p:nvPr/>
        </p:nvSpPr>
        <p:spPr>
          <a:xfrm>
            <a:off x="2662466" y="3704924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8" name="Oval 97"/>
          <p:cNvSpPr/>
          <p:nvPr/>
        </p:nvSpPr>
        <p:spPr>
          <a:xfrm>
            <a:off x="2458386" y="3877217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9" name="Oval 98"/>
          <p:cNvSpPr/>
          <p:nvPr/>
        </p:nvSpPr>
        <p:spPr>
          <a:xfrm>
            <a:off x="2407366" y="3781859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0" name="Oval 99"/>
          <p:cNvSpPr/>
          <p:nvPr/>
        </p:nvSpPr>
        <p:spPr>
          <a:xfrm>
            <a:off x="2451097" y="3910705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1" name="Oval 100"/>
          <p:cNvSpPr/>
          <p:nvPr/>
        </p:nvSpPr>
        <p:spPr>
          <a:xfrm>
            <a:off x="2319903" y="3946319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2" name="Oval 101"/>
          <p:cNvSpPr/>
          <p:nvPr/>
        </p:nvSpPr>
        <p:spPr>
          <a:xfrm>
            <a:off x="2166843" y="3877357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3" name="Oval 102"/>
          <p:cNvSpPr/>
          <p:nvPr/>
        </p:nvSpPr>
        <p:spPr>
          <a:xfrm>
            <a:off x="2021072" y="3929690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4" name="Oval 103"/>
          <p:cNvSpPr/>
          <p:nvPr/>
        </p:nvSpPr>
        <p:spPr>
          <a:xfrm>
            <a:off x="1962763" y="3883554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5" name="Oval 104"/>
          <p:cNvSpPr/>
          <p:nvPr/>
        </p:nvSpPr>
        <p:spPr>
          <a:xfrm>
            <a:off x="1955475" y="4044860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6" name="Oval 105"/>
          <p:cNvSpPr/>
          <p:nvPr/>
        </p:nvSpPr>
        <p:spPr>
          <a:xfrm>
            <a:off x="2283460" y="4058661"/>
            <a:ext cx="54864" cy="54864"/>
          </a:xfrm>
          <a:prstGeom prst="ellipse">
            <a:avLst/>
          </a:prstGeom>
          <a:solidFill>
            <a:srgbClr val="009F4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07" name="Connector 106"/>
          <p:cNvCxnSpPr/>
          <p:nvPr/>
        </p:nvCxnSpPr>
        <p:spPr>
          <a:xfrm flipV="1">
            <a:off x="1115568" y="2908785"/>
            <a:ext cx="3425626" cy="904294"/>
          </a:xfrm>
          <a:prstGeom prst="line">
            <a:avLst/>
          </a:prstGeom>
          <a:ln w="254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4541194" y="2639420"/>
            <a:ext cx="1020399" cy="269365"/>
          </a:xfrm>
          <a:prstGeom prst="line">
            <a:avLst/>
          </a:prstGeom>
          <a:ln w="20320">
            <a:solidFill>
              <a:srgbClr val="97A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Diamond 108"/>
          <p:cNvSpPr/>
          <p:nvPr/>
        </p:nvSpPr>
        <p:spPr>
          <a:xfrm>
            <a:off x="5324382" y="2586461"/>
            <a:ext cx="182880" cy="182880"/>
          </a:xfrm>
          <a:prstGeom prst="diamond">
            <a:avLst/>
          </a:prstGeom>
          <a:solidFill>
            <a:srgbClr val="D3540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0" name="Rounded Rectangle 109"/>
          <p:cNvSpPr/>
          <p:nvPr/>
        </p:nvSpPr>
        <p:spPr>
          <a:xfrm>
            <a:off x="612648" y="4626864"/>
            <a:ext cx="5231876" cy="8549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612648" y="4626864"/>
            <a:ext cx="27432" cy="854964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768096" y="4718304"/>
            <a:ext cx="4948412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OBSERVADO (EVIDENCIA)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8096" y="4933696"/>
            <a:ext cx="4948412" cy="3834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La mora del libro sube ~+6,6 pp de calma a extraordinario (pendiente 1,58 pp por punto de ICEN; calma = periodos de ICEN neutral 2021–22 y 2024–25). Es un TECHO: ese salto mezcla FEN y ciclo macro.</a:t>
            </a:r>
          </a:p>
        </p:txBody>
      </p:sp>
      <p:sp>
        <p:nvSpPr>
          <p:cNvPr id="114" name="Up Arrow 113"/>
          <p:cNvSpPr/>
          <p:nvPr/>
        </p:nvSpPr>
        <p:spPr>
          <a:xfrm>
            <a:off x="6347444" y="1920240"/>
            <a:ext cx="292608" cy="292608"/>
          </a:xfrm>
          <a:prstGeom prst="upArrow">
            <a:avLst/>
          </a:prstGeom>
          <a:solidFill>
            <a:srgbClr val="FFFFFF"/>
          </a:solidFill>
          <a:ln w="6350">
            <a:solidFill>
              <a:srgbClr val="009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6731492" y="1883664"/>
            <a:ext cx="4847828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5F1E"/>
                </a:solidFill>
                <a:latin typeface="Poppins"/>
              </a:rPr>
              <a:t>EL SIMULADOR · la PD sube con la intensidad (perilla γ)</a:t>
            </a:r>
          </a:p>
        </p:txBody>
      </p:sp>
      <p:graphicFrame>
        <p:nvGraphicFramePr>
          <p:cNvPr id="116" name="Chart 115"/>
          <p:cNvGraphicFramePr>
            <a:graphicFrameLocks noGrp="1"/>
          </p:cNvGraphicFramePr>
          <p:nvPr/>
        </p:nvGraphicFramePr>
        <p:xfrm>
          <a:off x="6347444" y="2414016"/>
          <a:ext cx="5231876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7" name="Rounded Rectangle 116"/>
          <p:cNvSpPr/>
          <p:nvPr/>
        </p:nvSpPr>
        <p:spPr>
          <a:xfrm>
            <a:off x="6347444" y="4626864"/>
            <a:ext cx="5231876" cy="726948"/>
          </a:xfrm>
          <a:prstGeom prst="roundRect">
            <a:avLst>
              <a:gd name="adj" fmla="val 45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6347444" y="4626864"/>
            <a:ext cx="27432" cy="726948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6502892" y="4718304"/>
            <a:ext cx="4948412" cy="1239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9F46"/>
                </a:solidFill>
                <a:latin typeface="Poppins"/>
              </a:rPr>
              <a:t>EL SIMULADOR (ESCENARIO)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502892" y="4933696"/>
            <a:ext cx="4948412" cy="255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25" b="0" i="0">
                <a:solidFill>
                  <a:srgbClr val="97A19B"/>
                </a:solidFill>
                <a:latin typeface="Poppins"/>
              </a:rPr>
              <a:t>En el extraordinario (γ=4,2) la PD estresada llega a 13,2% (+5,6 pp). Es un escenario de gobierno ANCLADO a esa evidencia — del mismo orden, no derivado de ella.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5F1E"/>
                </a:solidFill>
                <a:latin typeface="Poppins"/>
              </a:rPr>
              <a:t>Overlay de estrés FEN sobre la PD del PP</a:t>
            </a:r>
            <a:r>
              <a:rPr sz="800" b="0" i="0">
                <a:solidFill>
                  <a:srgbClr val="97A19B"/>
                </a:solidFill>
                <a:latin typeface="Poppins"/>
              </a:rPr>
              <a:t> · Riesgo de Crédito — MRM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