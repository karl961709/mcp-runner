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B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A0E27"/>
                </a:solidFill>
                <a:latin typeface="Inter"/>
              </a:rPr>
              <a:t>La </a:t>
            </a:r>
            <a:r>
              <a:rPr sz="2200" b="1">
                <a:solidFill>
                  <a:srgbClr val="00B450"/>
                </a:solidFill>
                <a:latin typeface="Inter"/>
              </a:rPr>
              <a:t>inflación</a:t>
            </a:r>
            <a:r>
              <a:rPr sz="2200" b="1">
                <a:solidFill>
                  <a:srgbClr val="0A0E27"/>
                </a:solidFill>
                <a:latin typeface="Inter"/>
              </a:rPr>
              <a:t> explica el movimiento de la </a:t>
            </a:r>
            <a:r>
              <a:rPr sz="2200" b="1">
                <a:solidFill>
                  <a:srgbClr val="00B450"/>
                </a:solidFill>
                <a:latin typeface="Inter"/>
              </a:rPr>
              <a:t>mora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B7280"/>
                </a:solidFill>
                <a:latin typeface="Inter"/>
              </a:rPr>
              <a:t>Un modelo de una sola variable reproduce la mora observada de Interbank y del sistema en todo el ciclo 2021–2025.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70432"/>
            <a:ext cx="3127248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FE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2761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0B450"/>
                </a:solidFill>
                <a:latin typeface="Inter"/>
              </a:rPr>
              <a:t>VARIABLE SELECCIONADA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A0E27"/>
                </a:solidFill>
                <a:latin typeface="Inter"/>
              </a:rPr>
              <a:t>Inflación — IPC (var 12m)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27614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19" b="0">
                <a:solidFill>
                  <a:srgbClr val="2A2F4A"/>
                </a:solidFill>
                <a:latin typeface="Inter"/>
              </a:rPr>
              <a:t>Variación interanual (12m) del IPC, suavizada a 3 meses, del mes en curso (sin rezago). Modelo de una sola variable: a más inflación, mayor mora.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50592"/>
            <a:ext cx="1371600" cy="256032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50088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30" b="1">
                <a:solidFill>
                  <a:srgbClr val="0A6B36"/>
                </a:solidFill>
                <a:latin typeface="Inter"/>
              </a:rPr>
              <a:t>5,241 evaluadas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9112" y="2450592"/>
            <a:ext cx="1316736" cy="256032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12264" y="2500884"/>
            <a:ext cx="12435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30" b="1">
                <a:solidFill>
                  <a:srgbClr val="0A6B36"/>
                </a:solidFill>
                <a:latin typeface="Inter"/>
              </a:rPr>
              <a:t>1 elegida (parsimonia)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017520"/>
            <a:ext cx="3127248" cy="859536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45536"/>
            <a:ext cx="1051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0A6B36"/>
                </a:solidFill>
                <a:latin typeface="Inter"/>
              </a:rPr>
              <a:t>87%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18103"/>
            <a:ext cx="17556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 b="0">
                <a:solidFill>
                  <a:srgbClr val="2A2F4A"/>
                </a:solidFill>
                <a:latin typeface="Inter"/>
              </a:rPr>
              <a:t>La inflación explica 87 de cada 100 puntos del movimiento de la mora.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657600"/>
            <a:ext cx="17556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60" b="1">
                <a:solidFill>
                  <a:srgbClr val="9CA3AF"/>
                </a:solidFill>
                <a:latin typeface="Inter"/>
              </a:rPr>
              <a:t>R² del ajuste · sistema · 2021–2025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950208"/>
            <a:ext cx="3127248" cy="859536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78224"/>
            <a:ext cx="1051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0A6B36"/>
                </a:solidFill>
                <a:latin typeface="Inter"/>
              </a:rPr>
              <a:t>13.2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050792"/>
            <a:ext cx="17556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 b="0">
                <a:solidFill>
                  <a:srgbClr val="2A2F4A"/>
                </a:solidFill>
                <a:latin typeface="Inter"/>
              </a:rPr>
              <a:t>La relación es real, no casualidad: basta 2 para ser confiable; aquí es 13.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590288"/>
            <a:ext cx="17556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60" b="1">
                <a:solidFill>
                  <a:srgbClr val="9CA3AF"/>
                </a:solidFill>
                <a:latin typeface="Inter"/>
              </a:rPr>
              <a:t>significancia · t-Student · p&lt;0.001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882896"/>
            <a:ext cx="3127248" cy="859536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010912"/>
            <a:ext cx="1051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0A6B36"/>
                </a:solidFill>
                <a:latin typeface="Inter"/>
              </a:rPr>
              <a:t>±0.7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983480"/>
            <a:ext cx="17556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 b="0">
                <a:solidFill>
                  <a:srgbClr val="2A2F4A"/>
                </a:solidFill>
                <a:latin typeface="Inter"/>
              </a:rPr>
              <a:t>Error promedio al estimar la mora. Muy bajo, con una mora que va de 6% a 16%.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522976"/>
            <a:ext cx="17556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60" b="1">
                <a:solidFill>
                  <a:srgbClr val="9CA3AF"/>
                </a:solidFill>
                <a:latin typeface="Inter"/>
              </a:rPr>
              <a:t>error medio · MAE = 69 bps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833871"/>
            <a:ext cx="3127248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934455"/>
            <a:ext cx="276148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>
                <a:solidFill>
                  <a:srgbClr val="00B450"/>
                </a:solidFill>
                <a:latin typeface="Inter"/>
              </a:rPr>
              <a:t>ESTABLE EN TODO EL CICLO — </a:t>
            </a:r>
            <a:r>
              <a:rPr sz="860" b="0">
                <a:solidFill>
                  <a:srgbClr val="6B7280"/>
                </a:solidFill>
                <a:latin typeface="Inter"/>
              </a:rPr>
              <a:t>error ~0.7 pp en toda fase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149340"/>
            <a:ext cx="1005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2A2F4A"/>
                </a:solidFill>
                <a:latin typeface="Inter"/>
              </a:rPr>
              <a:t>Subida infl. 21-22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18488" y="6163055"/>
            <a:ext cx="1188720" cy="123444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18488" y="6163055"/>
            <a:ext cx="998524" cy="123444"/>
          </a:xfrm>
          <a:prstGeom prst="rect">
            <a:avLst/>
          </a:prstGeom>
          <a:solidFill>
            <a:srgbClr val="00B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6135623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0A6B36"/>
                </a:solidFill>
                <a:latin typeface="Inter"/>
              </a:rPr>
              <a:t>0.84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336792"/>
            <a:ext cx="1005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2A2F4A"/>
                </a:solidFill>
                <a:latin typeface="Inter"/>
              </a:rPr>
              <a:t>Baja infl. 22-24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18488" y="6350507"/>
            <a:ext cx="1188720" cy="123444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18488" y="6350507"/>
            <a:ext cx="725119" cy="123444"/>
          </a:xfrm>
          <a:prstGeom prst="rect">
            <a:avLst/>
          </a:prstGeom>
          <a:solidFill>
            <a:srgbClr val="00B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52928" y="6323075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0A6B36"/>
                </a:solidFill>
                <a:latin typeface="Inter"/>
              </a:rPr>
              <a:t>0.61 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24244"/>
            <a:ext cx="10058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2A2F4A"/>
                </a:solidFill>
                <a:latin typeface="Inter"/>
              </a:rPr>
              <a:t>Reciente 24-25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18488" y="6537959"/>
            <a:ext cx="1188720" cy="123444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618488" y="6537959"/>
            <a:ext cx="843991" cy="123444"/>
          </a:xfrm>
          <a:prstGeom prst="rect">
            <a:avLst/>
          </a:prstGeom>
          <a:solidFill>
            <a:srgbClr val="00B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52928" y="6510527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80" b="1">
                <a:solidFill>
                  <a:srgbClr val="0A6B36"/>
                </a:solidFill>
                <a:latin typeface="Inter"/>
              </a:rPr>
              <a:t>0.71 pp</a:t>
            </a:r>
          </a:p>
        </p:txBody>
      </p:sp>
      <p:pic>
        <p:nvPicPr>
          <p:cNvPr id="39" name="Picture 38" descr="bosq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133856"/>
            <a:ext cx="8275320" cy="52410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