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7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Mora real</c:v>
                </c:pt>
              </c:strCache>
            </c:strRef>
          </c:tx>
          <c:spPr>
            <a:ln w="25400">
              <a:solidFill>
                <a:srgbClr val="009F46"/>
              </a:solidFill>
            </a:ln>
          </c:spPr>
          <c:marker>
            <c:spPr>
              <a:solidFill>
                <a:srgbClr val="009F46"/>
              </a:solidFill>
              <a:ln>
                <a:solidFill>
                  <a:srgbClr val="009F46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202410</c:v>
                </c:pt>
                <c:pt idx="1">
                  <c:v>202411</c:v>
                </c:pt>
                <c:pt idx="2">
                  <c:v>202412</c:v>
                </c:pt>
                <c:pt idx="3">
                  <c:v>202501</c:v>
                </c:pt>
                <c:pt idx="4">
                  <c:v>202502</c:v>
                </c:pt>
                <c:pt idx="5">
                  <c:v>202503</c:v>
                </c:pt>
                <c:pt idx="6">
                  <c:v>202504</c:v>
                </c:pt>
                <c:pt idx="7">
                  <c:v>202505</c:v>
                </c:pt>
                <c:pt idx="8">
                  <c:v>202506</c:v>
                </c:pt>
                <c:pt idx="9">
                  <c:v>202507</c:v>
                </c:pt>
                <c:pt idx="10">
                  <c:v>202508</c:v>
                </c:pt>
                <c:pt idx="11">
                  <c:v>202509</c:v>
                </c:pt>
              </c:strCache>
            </c:strRef>
          </c:cat>
          <c:val>
            <c:numRef>
              <c:f>Sheet1!$B$2:$B$13</c:f>
              <c:numCache>
                <c:formatCode>0.0"%"</c:formatCode>
                <c:ptCount val="12"/>
                <c:pt idx="0">
                  <c:v>3.5688</c:v>
                </c:pt>
                <c:pt idx="1">
                  <c:v>2.9215</c:v>
                </c:pt>
                <c:pt idx="2">
                  <c:v>4.4961</c:v>
                </c:pt>
                <c:pt idx="3">
                  <c:v>4.1737</c:v>
                </c:pt>
                <c:pt idx="4">
                  <c:v>2.6475</c:v>
                </c:pt>
                <c:pt idx="5">
                  <c:v>2.5352</c:v>
                </c:pt>
                <c:pt idx="6">
                  <c:v>2.3211</c:v>
                </c:pt>
                <c:pt idx="7">
                  <c:v>2.8787</c:v>
                </c:pt>
                <c:pt idx="8">
                  <c:v>3.0071</c:v>
                </c:pt>
                <c:pt idx="9">
                  <c:v>2.4272</c:v>
                </c:pt>
                <c:pt idx="10">
                  <c:v>2.802</c:v>
                </c:pt>
                <c:pt idx="11">
                  <c:v>2.6474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PD que usamos hoy</c:v>
                </c:pt>
              </c:strCache>
            </c:strRef>
          </c:tx>
          <c:spPr>
            <a:ln w="25400">
              <a:solidFill>
                <a:srgbClr val="5A6B61"/>
              </a:solidFill>
            </a:ln>
          </c:spPr>
          <c:marker>
            <c:spPr>
              <a:solidFill>
                <a:srgbClr val="5A6B61"/>
              </a:solidFill>
              <a:ln>
                <a:solidFill>
                  <a:srgbClr val="5A6B61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202410</c:v>
                </c:pt>
                <c:pt idx="1">
                  <c:v>202411</c:v>
                </c:pt>
                <c:pt idx="2">
                  <c:v>202412</c:v>
                </c:pt>
                <c:pt idx="3">
                  <c:v>202501</c:v>
                </c:pt>
                <c:pt idx="4">
                  <c:v>202502</c:v>
                </c:pt>
                <c:pt idx="5">
                  <c:v>202503</c:v>
                </c:pt>
                <c:pt idx="6">
                  <c:v>202504</c:v>
                </c:pt>
                <c:pt idx="7">
                  <c:v>202505</c:v>
                </c:pt>
                <c:pt idx="8">
                  <c:v>202506</c:v>
                </c:pt>
                <c:pt idx="9">
                  <c:v>202507</c:v>
                </c:pt>
                <c:pt idx="10">
                  <c:v>202508</c:v>
                </c:pt>
                <c:pt idx="11">
                  <c:v>202509</c:v>
                </c:pt>
              </c:strCache>
            </c:strRef>
          </c:cat>
          <c:val>
            <c:numRef>
              <c:f>Sheet1!$C$2:$C$13</c:f>
              <c:numCache>
                <c:formatCode>0.0"%"</c:formatCode>
                <c:ptCount val="12"/>
                <c:pt idx="0">
                  <c:v>3.0635</c:v>
                </c:pt>
                <c:pt idx="1">
                  <c:v>2.2655</c:v>
                </c:pt>
                <c:pt idx="2">
                  <c:v>3.527</c:v>
                </c:pt>
                <c:pt idx="3">
                  <c:v>3.0602</c:v>
                </c:pt>
                <c:pt idx="4">
                  <c:v>3.0798</c:v>
                </c:pt>
                <c:pt idx="5">
                  <c:v>2.6826</c:v>
                </c:pt>
                <c:pt idx="6">
                  <c:v>2.8206</c:v>
                </c:pt>
                <c:pt idx="7">
                  <c:v>2.5199</c:v>
                </c:pt>
                <c:pt idx="8">
                  <c:v>2.897</c:v>
                </c:pt>
                <c:pt idx="9">
                  <c:v>2.8049</c:v>
                </c:pt>
                <c:pt idx="10">
                  <c:v>2.7937</c:v>
                </c:pt>
                <c:pt idx="11">
                  <c:v>2.7258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800">
                <a:solidFill>
                  <a:srgbClr val="97A19B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4.8"/>
          <c:min val="2.0"/>
        </c:scaling>
        <c:delete val="0"/>
        <c:axPos val="l"/>
        <c:majorGridlines>
          <c:spPr>
            <a:ln w="6350">
              <a:solidFill>
                <a:srgbClr val="E2E5E3"/>
              </a:solidFill>
            </a:ln>
          </c:spPr>
        </c:majorGridlines>
        <c:numFmt formatCode="0.0&quot;%&quot;" sourceLinked="0"/>
        <c:majorTickMark val="none"/>
        <c:minorTickMark val="none"/>
        <c:tickLblPos val="nextTo"/>
        <c:spPr>
          <a:ln>
            <a:solidFill>
              <a:srgbClr val="E2E5E3"/>
            </a:solidFill>
          </a:ln>
        </c:spPr>
        <c:txPr>
          <a:bodyPr/>
          <a:lstStyle/>
          <a:p>
            <a:pPr>
              <a:defRPr sz="800">
                <a:solidFill>
                  <a:srgbClr val="97A19B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97A19B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97A19B"/>
          </a:solidFill>
          <a:latin typeface="Poppi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36576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399032" cy="36576"/>
          </a:xfrm>
          <a:prstGeom prst="rect">
            <a:avLst/>
          </a:prstGeom>
          <a:solidFill>
            <a:srgbClr val="009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12648" y="484632"/>
            <a:ext cx="10966673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009F46"/>
                </a:solidFill>
                <a:latin typeface="Poppins"/>
              </a:rPr>
              <a:t>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786384"/>
            <a:ext cx="10966673" cy="44221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500" b="0" i="0">
                <a:solidFill>
                  <a:srgbClr val="005F1E"/>
                </a:solidFill>
                <a:latin typeface="Poppins"/>
              </a:rPr>
              <a:t>Update Calibracion PP Reenganche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320038"/>
            <a:ext cx="10966673" cy="231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Poppins"/>
              </a:rPr>
              <a:t>Es un modelo de </a:t>
            </a:r>
            <a:r>
              <a:rPr sz="1200" b="1" i="0">
                <a:solidFill>
                  <a:srgbClr val="005F1E"/>
                </a:solidFill>
                <a:latin typeface="Poppins"/>
              </a:rPr>
              <a:t>STOCK</a:t>
            </a:r>
            <a:r>
              <a:rPr sz="1200" b="0" i="0">
                <a:solidFill>
                  <a:srgbClr val="333333"/>
                </a:solidFill>
                <a:latin typeface="Poppins"/>
              </a:rPr>
              <a:t>: puntua a toda la cartera cada mes, y en ese mismo reporte viene la </a:t>
            </a:r>
            <a:r>
              <a:rPr sz="1200" b="1" i="0">
                <a:solidFill>
                  <a:srgbClr val="005F1E"/>
                </a:solidFill>
                <a:latin typeface="Poppins"/>
              </a:rPr>
              <a:t>marca de reenganche</a:t>
            </a:r>
            <a:r>
              <a:rPr sz="1200" b="0" i="0">
                <a:solidFill>
                  <a:srgbClr val="333333"/>
                </a:solidFill>
                <a:latin typeface="Poppin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826056"/>
            <a:ext cx="5989320" cy="932688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9" name="Oval 8"/>
          <p:cNvSpPr/>
          <p:nvPr/>
        </p:nvSpPr>
        <p:spPr>
          <a:xfrm>
            <a:off x="901942" y="2146462"/>
            <a:ext cx="79779" cy="79779"/>
          </a:xfrm>
          <a:prstGeom prst="ellipse">
            <a:avLst/>
          </a:prstGeom>
          <a:solidFill>
            <a:srgbClr val="9FC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0" name="Round Same Side Corner Rectangle 9"/>
          <p:cNvSpPr/>
          <p:nvPr/>
        </p:nvSpPr>
        <p:spPr>
          <a:xfrm>
            <a:off x="866251" y="2240602"/>
            <a:ext cx="151161" cy="10497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FC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1" name="Oval 10"/>
          <p:cNvSpPr/>
          <p:nvPr/>
        </p:nvSpPr>
        <p:spPr>
          <a:xfrm>
            <a:off x="1112641" y="2100376"/>
            <a:ext cx="97292" cy="97292"/>
          </a:xfrm>
          <a:prstGeom prst="ellipse">
            <a:avLst/>
          </a:prstGeom>
          <a:solidFill>
            <a:srgbClr val="005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2" name="Round Same Side Corner Rectangle 11"/>
          <p:cNvSpPr/>
          <p:nvPr/>
        </p:nvSpPr>
        <p:spPr>
          <a:xfrm>
            <a:off x="1069116" y="2215181"/>
            <a:ext cx="184343" cy="12801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5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3" name="Oval 12"/>
          <p:cNvSpPr/>
          <p:nvPr/>
        </p:nvSpPr>
        <p:spPr>
          <a:xfrm>
            <a:off x="1332097" y="2100376"/>
            <a:ext cx="97292" cy="97292"/>
          </a:xfrm>
          <a:prstGeom prst="ellipse">
            <a:avLst/>
          </a:prstGeom>
          <a:solidFill>
            <a:srgbClr val="005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4" name="Round Same Side Corner Rectangle 13"/>
          <p:cNvSpPr/>
          <p:nvPr/>
        </p:nvSpPr>
        <p:spPr>
          <a:xfrm>
            <a:off x="1288572" y="2215181"/>
            <a:ext cx="184343" cy="12801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5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5" name="Oval 14"/>
          <p:cNvSpPr/>
          <p:nvPr/>
        </p:nvSpPr>
        <p:spPr>
          <a:xfrm>
            <a:off x="1560310" y="2146462"/>
            <a:ext cx="79779" cy="79779"/>
          </a:xfrm>
          <a:prstGeom prst="ellipse">
            <a:avLst/>
          </a:prstGeom>
          <a:solidFill>
            <a:srgbClr val="9FC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6" name="Round Same Side Corner Rectangle 15"/>
          <p:cNvSpPr/>
          <p:nvPr/>
        </p:nvSpPr>
        <p:spPr>
          <a:xfrm>
            <a:off x="1524619" y="2240602"/>
            <a:ext cx="151161" cy="10497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FC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874519" y="1990648"/>
            <a:ext cx="45079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Poppins"/>
              </a:rPr>
              <a:t>Es un modelo de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264968"/>
            <a:ext cx="450799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0" i="0">
                <a:solidFill>
                  <a:srgbClr val="97A19B"/>
                </a:solidFill>
                <a:latin typeface="Poppins"/>
              </a:rPr>
              <a:t>No puntua desembolsos: puntua a toda la cartera cada mes. La marca de quien se reengancho viene en ese mismo reporte.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" y="2850184"/>
            <a:ext cx="5989320" cy="932688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0" name="Oval 19"/>
          <p:cNvSpPr/>
          <p:nvPr/>
        </p:nvSpPr>
        <p:spPr>
          <a:xfrm>
            <a:off x="1218895" y="3124504"/>
            <a:ext cx="104241" cy="104241"/>
          </a:xfrm>
          <a:prstGeom prst="ellipse">
            <a:avLst/>
          </a:prstGeom>
          <a:solidFill>
            <a:srgbClr val="97A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1" name="Round Same Side Corner Rectangle 20"/>
          <p:cNvSpPr/>
          <p:nvPr/>
        </p:nvSpPr>
        <p:spPr>
          <a:xfrm>
            <a:off x="1172260" y="3247509"/>
            <a:ext cx="197510" cy="137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7A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874519" y="3014776"/>
            <a:ext cx="45079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Poppins"/>
              </a:rPr>
              <a:t>El reporte llega con un mes de desfase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3289096"/>
            <a:ext cx="450799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0" i="0">
                <a:solidFill>
                  <a:srgbClr val="97A19B"/>
                </a:solidFill>
                <a:latin typeface="Poppins"/>
              </a:rPr>
              <a:t>El de octubre trae la informacion al cierre de setiembre. Por eso usamos el reporte del mes siguiente al desembolso.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3874312"/>
            <a:ext cx="5989320" cy="932688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5" name="Oval 24"/>
          <p:cNvSpPr/>
          <p:nvPr/>
        </p:nvSpPr>
        <p:spPr>
          <a:xfrm>
            <a:off x="1218895" y="4148632"/>
            <a:ext cx="104241" cy="104241"/>
          </a:xfrm>
          <a:prstGeom prst="ellipse">
            <a:avLst/>
          </a:prstGeom>
          <a:solidFill>
            <a:srgbClr val="005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6" name="Round Same Side Corner Rectangle 25"/>
          <p:cNvSpPr/>
          <p:nvPr/>
        </p:nvSpPr>
        <p:spPr>
          <a:xfrm>
            <a:off x="1172260" y="4271637"/>
            <a:ext cx="197510" cy="137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5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874519" y="4038904"/>
            <a:ext cx="450799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005F1E"/>
                </a:solidFill>
                <a:latin typeface="Poppins"/>
              </a:rPr>
              <a:t>Y ahi el reenganche YA esta marcado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313224"/>
            <a:ext cx="4507992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80" b="0" i="0">
                <a:solidFill>
                  <a:srgbClr val="333333"/>
                </a:solidFill>
                <a:latin typeface="Poppins"/>
              </a:rPr>
              <a:t>15,226 de 15,226 casos. Es la senal de que ese reporte es posterior al desembolso, y campana decide ANTES.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" y="4953304"/>
            <a:ext cx="5989320" cy="9354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2" y="5063032"/>
            <a:ext cx="551383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 i="0">
                <a:solidFill>
                  <a:srgbClr val="97A19B"/>
                </a:solidFill>
                <a:latin typeface="Poppins"/>
              </a:rPr>
              <a:t>DOS MOMENTOS DEL MISMO CLIENTE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" y="5264200"/>
            <a:ext cx="2212848" cy="530352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 w="6350">
            <a:solidFill>
              <a:srgbClr val="9FC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50392" y="5328208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5F1E"/>
                </a:solidFill>
                <a:latin typeface="Poppins"/>
              </a:rPr>
              <a:t>ANTES de desembolsar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5547664"/>
            <a:ext cx="221284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009F46"/>
                </a:solidFill>
                <a:latin typeface="Poppins"/>
              </a:rPr>
              <a:t>la PD que necesita campana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51376" y="5264200"/>
            <a:ext cx="2212848" cy="530352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151376" y="5328208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333333"/>
                </a:solidFill>
                <a:latin typeface="Poppins"/>
              </a:rPr>
              <a:t>DESPUES de desembolsar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51376" y="5547664"/>
            <a:ext cx="221284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80" b="0" i="0">
                <a:solidFill>
                  <a:srgbClr val="97A19B"/>
                </a:solidFill>
                <a:latin typeface="Poppins"/>
              </a:rPr>
              <a:t>la PD que usamos hoy</a:t>
            </a:r>
          </a:p>
        </p:txBody>
      </p:sp>
      <p:sp>
        <p:nvSpPr>
          <p:cNvPr id="37" name="Oval 36"/>
          <p:cNvSpPr/>
          <p:nvPr/>
        </p:nvSpPr>
        <p:spPr>
          <a:xfrm>
            <a:off x="3555187" y="5291632"/>
            <a:ext cx="104241" cy="104241"/>
          </a:xfrm>
          <a:prstGeom prst="ellipse">
            <a:avLst/>
          </a:prstGeom>
          <a:solidFill>
            <a:srgbClr val="005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8" name="Round Same Side Corner Rectangle 37"/>
          <p:cNvSpPr/>
          <p:nvPr/>
        </p:nvSpPr>
        <p:spPr>
          <a:xfrm>
            <a:off x="3508552" y="5414637"/>
            <a:ext cx="197510" cy="1371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5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967228" y="562996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005F1E"/>
                </a:solidFill>
                <a:latin typeface="Poppins"/>
              </a:rPr>
              <a:t>desembolso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31152" y="1826056"/>
            <a:ext cx="4648169" cy="406267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68896" y="1972360"/>
            <a:ext cx="417268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40" b="1" i="0">
                <a:solidFill>
                  <a:srgbClr val="97A19B"/>
                </a:solidFill>
                <a:latin typeface="Poppins"/>
              </a:rPr>
              <a:t>MORA REAL CONTRA LA PD DEL MODELO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68896" y="2173528"/>
            <a:ext cx="4172681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97A19B"/>
                </a:solidFill>
                <a:latin typeface="Poppins"/>
              </a:rPr>
              <a:t>ultimos 12 meses con mora ya observada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7059168" y="2411272"/>
          <a:ext cx="4392137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4" name="Rectangle 43"/>
          <p:cNvSpPr/>
          <p:nvPr/>
        </p:nvSpPr>
        <p:spPr>
          <a:xfrm>
            <a:off x="612648" y="6016751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2648" y="6089903"/>
            <a:ext cx="10966673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7A19B"/>
                </a:solidFill>
                <a:latin typeface="Poppins"/>
              </a:rPr>
              <a:t>A continuacion:  </a:t>
            </a:r>
            <a:r>
              <a:rPr sz="1100" b="1" i="0">
                <a:solidFill>
                  <a:srgbClr val="005F1E"/>
                </a:solidFill>
                <a:latin typeface="Poppins"/>
              </a:rPr>
              <a:t>el impacto medido</a:t>
            </a:r>
            <a:r>
              <a:rPr sz="1100" b="0" i="0">
                <a:solidFill>
                  <a:srgbClr val="97A19B"/>
                </a:solidFill>
                <a:latin typeface="Poppins"/>
              </a:rPr>
              <a:t>   y   </a:t>
            </a:r>
            <a:r>
              <a:rPr sz="1100" b="1" i="0">
                <a:solidFill>
                  <a:srgbClr val="005F1E"/>
                </a:solidFill>
                <a:latin typeface="Poppins"/>
              </a:rPr>
              <a:t>las alternativas V1 y V2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6382512"/>
            <a:ext cx="10966673" cy="9144"/>
          </a:xfrm>
          <a:prstGeom prst="rect">
            <a:avLst/>
          </a:prstGeom>
          <a:solidFill>
            <a:srgbClr val="E2E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12648" y="6473952"/>
            <a:ext cx="7676671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005F1E"/>
                </a:solidFill>
                <a:latin typeface="Poppins"/>
              </a:rPr>
              <a:t>Comportamental PP Reenganche  ·  Calibracion de PD</a:t>
            </a:r>
            <a:r>
              <a:rPr sz="800" b="0" i="0">
                <a:solidFill>
                  <a:srgbClr val="97A19B"/>
                </a:solidFill>
                <a:latin typeface="Poppins"/>
              </a:rPr>
              <a:t> · Gerencia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