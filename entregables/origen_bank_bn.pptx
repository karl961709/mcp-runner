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60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65B88-2109-44B0-9649-40823DB920C6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C9BC0-C705-4939-87B1-60C02C5EA5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71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4C9BC0-C705-4939-87B1-60C02C5EA51E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1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82BFB-0F64-B0EB-DAFE-8B668677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E7BDB7-E45D-9EA3-1096-D8899556D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F18D08-8B0F-66C9-F0A8-031BA847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65420C-57CE-0452-3155-948C85CB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D2F334-5F36-9CC2-0DF6-4C78FD88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2390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9AEA2-995A-5321-9E7D-4DCD7448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0301F5-6233-DD08-3E55-94D44ABFD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B54F04-C191-685D-BE69-C5CDB412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B35907-1791-A3A8-C8D7-6D316157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D457E4-E746-CF9F-CF9A-3F6C104D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3466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02644-722C-C6AA-F2DC-781B4BFC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55A800-3F92-30BB-9CFE-439EAC0E3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7512-78B8-017B-8DBC-E12BB600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9F4C09-442D-5951-A8A8-87270ECB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70E2C2-522A-A2F0-3945-22CD0288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470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949F6-5B71-8155-CC07-0B64B561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DF439-9AA9-FF2E-00A4-C4E34D17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7282CF-1C9A-7B97-D282-0368C957E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8AAD57-132D-E347-3E44-78371DED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801E90-2CAC-6340-AEC6-7F04CE2D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6BE3F-37A6-2A27-FF5C-5F36C4AE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452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F5563-2EA0-F1B9-522D-0B98BB7F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D4CAF9-9F61-867E-78FD-C6531FF54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B2DBA4-4540-F991-6225-DE274E314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0C2CBD-AC66-0E60-41DC-89BFF2694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230F8F-E0C2-3784-CC82-CB2CF9589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6820BB-AB98-B3E7-1FA0-686F71FB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2795A9-0120-C3A6-EA2A-B3BDC221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518D8FB-F72B-0001-798B-BEA24DFF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5763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F9CD3-FF31-4835-F4D4-4121D684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8D58E5D-8C7A-FC32-52FF-D3813E88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08FC24-CAA3-34EF-28F5-B9353D3D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81A268-4472-75A4-9D99-C58A9B70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776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423560-5F18-4448-F1E6-E258BE48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9800BE-5099-ABC8-D1A2-992A97E9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0FBD3E-4A1A-DE26-EC26-1898D963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604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CE943-0AF2-BEE9-B3D2-A58EFB000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B1161-2548-FE66-0F61-609E95592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9DC094-1191-FA9B-F27F-1CB9242F1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A2508F-488A-26D8-0D87-B1B3633B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D8A8E5-B323-DFA9-D488-B538B572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0924F4-5D27-290E-D86E-4CBB8D91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778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9C4B1-133C-E1C5-D2C7-FE1ECD42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64C8098-0C07-46E5-8A53-46B40018D6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BD08EA-EB6D-FF25-18A7-F4953912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2FC10F-5E39-3F0C-CA13-BE44EAF3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21309A-6FD8-BCB3-4872-DBE8D6A0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38D92B-FC9E-2E48-20E0-971031F2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402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7CECF-7EEA-88C6-B108-42E4FCE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2EEAD9-C1DD-1068-D31C-F2B800521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EE6602-9862-ADEC-658A-304E8DC1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030BFC-4BF7-C9A0-3218-26DD7AFA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2EA53F-180D-22CC-2A20-4499F8B9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045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3FF5A9-E492-9C37-F76E-BD5BB24D8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EEF1E7-87D0-DF54-1452-E205DDA25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792275-DA5D-46CC-3328-AE37037B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7F381F-8BBD-13E6-8A16-63C504AE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B5142A-1AFF-1C9E-5502-4D980629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4028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94B647-7F77-B8FA-FF3A-2108CC72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BB8FED-43AA-6C7A-E30D-6970EB702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F4A3BF-2561-380F-4110-4A173343E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EA7C6-23E6-4728-994D-EA99E01573AA}" type="datetimeFigureOut">
              <a:rPr lang="es-PE" smtClean="0"/>
              <a:t>21/08/2026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4D8668-B901-AD5B-2CBF-8FF2F7DDC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8A38F6-491D-4666-D4FE-F74FD3580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31E88-16CC-4422-838A-5A7223CD5B5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752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8395D-2E4F-5BF3-3A6A-D1551617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E2CB26-2542-A353-BF87-26CE53FA3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654FB63-0A73-86B0-FBE5-8B3605819383}"/>
              </a:ext>
            </a:extLst>
          </p:cNvPr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470062-A81D-DCE3-0A2D-26D88E893259}"/>
              </a:ext>
            </a:extLst>
          </p:cNvPr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82A2A46-B8A2-6F45-E85C-33E224F46A25}"/>
              </a:ext>
            </a:extLst>
          </p:cNvPr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DFD9A99-FBF8-0694-41F3-7669FB8897B4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F1E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84376C-6BDD-E031-0F5E-5C894F2A9A76}"/>
              </a:ext>
            </a:extLst>
          </p:cNvPr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9F46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A5D766A5-2352-869D-AE76-7C3A874ACDA4}"/>
              </a:ext>
            </a:extLst>
          </p:cNvPr>
          <p:cNvSpPr txBox="1"/>
          <p:nvPr/>
        </p:nvSpPr>
        <p:spPr>
          <a:xfrm>
            <a:off x="612648" y="219456"/>
            <a:ext cx="109636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Por que ajustamos la PD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C06B492C-8469-947D-4DC4-628112316BEB}"/>
              </a:ext>
            </a:extLst>
          </p:cNvPr>
          <p:cNvSpPr txBox="1"/>
          <p:nvPr/>
        </p:nvSpPr>
        <p:spPr>
          <a:xfrm>
            <a:off x="612648" y="731520"/>
            <a:ext cx="1096365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FCFB0"/>
                </a:solidFill>
                <a:latin typeface="Poppins"/>
              </a:rPr>
              <a:t>Escenario optimista (anti-conservadurismo) - Origen BPE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21046CC4-9DEF-26A1-7F2D-10F47478A523}"/>
              </a:ext>
            </a:extLst>
          </p:cNvPr>
          <p:cNvSpPr/>
          <p:nvPr/>
        </p:nvSpPr>
        <p:spPr>
          <a:xfrm>
            <a:off x="612648" y="141732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E7F4EC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E45B91C5-64F5-45F4-2AA5-D085E733E570}"/>
              </a:ext>
            </a:extLst>
          </p:cNvPr>
          <p:cNvSpPr txBox="1"/>
          <p:nvPr/>
        </p:nvSpPr>
        <p:spPr>
          <a:xfrm>
            <a:off x="612648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97A19B"/>
                </a:solidFill>
                <a:latin typeface="Poppins"/>
              </a:rPr>
              <a:t>📉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600A5BEF-D2FD-5CDE-7255-BF962CDB38D0}"/>
              </a:ext>
            </a:extLst>
          </p:cNvPr>
          <p:cNvSpPr txBox="1"/>
          <p:nvPr/>
        </p:nvSpPr>
        <p:spPr>
          <a:xfrm>
            <a:off x="1271016" y="1444752"/>
            <a:ext cx="51480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1 - EL PROBLEMA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A4DCA302-EF6C-6A29-60FA-603C6DFE3A1A}"/>
              </a:ext>
            </a:extLst>
          </p:cNvPr>
          <p:cNvSpPr txBox="1"/>
          <p:nvPr/>
        </p:nvSpPr>
        <p:spPr>
          <a:xfrm>
            <a:off x="1271016" y="1691640"/>
            <a:ext cx="51480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oppins"/>
              </a:rPr>
              <a:t>La PD calibrada en alta mora (2022-23) sobre-predice el libro 2025, mas benigno.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D79C1FD9-1205-C97A-6F79-FC8EA25AE29C}"/>
              </a:ext>
            </a:extLst>
          </p:cNvPr>
          <p:cNvSpPr/>
          <p:nvPr/>
        </p:nvSpPr>
        <p:spPr>
          <a:xfrm>
            <a:off x="612648" y="2350008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E7F4EC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30C1FFB8-5758-8DDE-2371-8993B9FFF812}"/>
              </a:ext>
            </a:extLst>
          </p:cNvPr>
          <p:cNvSpPr txBox="1"/>
          <p:nvPr/>
        </p:nvSpPr>
        <p:spPr>
          <a:xfrm>
            <a:off x="612648" y="2350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97A19B"/>
                </a:solidFill>
                <a:latin typeface="Poppins"/>
              </a:rPr>
              <a:t>🎯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A89BCE1E-155B-F05B-6C2D-3D05E0E67E14}"/>
              </a:ext>
            </a:extLst>
          </p:cNvPr>
          <p:cNvSpPr txBox="1"/>
          <p:nvPr/>
        </p:nvSpPr>
        <p:spPr>
          <a:xfrm>
            <a:off x="1271016" y="2377440"/>
            <a:ext cx="51480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2 - EL AJUSTE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2270E7E3-5543-2B44-9D78-A85D9C8D04B2}"/>
              </a:ext>
            </a:extLst>
          </p:cNvPr>
          <p:cNvSpPr txBox="1"/>
          <p:nvPr/>
        </p:nvSpPr>
        <p:spPr>
          <a:xfrm>
            <a:off x="1271016" y="2624328"/>
            <a:ext cx="51480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oppins"/>
              </a:rPr>
              <a:t>Re-anclamos a la mora: factor = mora / PD, multiplicativo, por personeria.</a:t>
            </a:r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CAD2BB23-A869-1B5D-285A-AFA2988FACB2}"/>
              </a:ext>
            </a:extLst>
          </p:cNvPr>
          <p:cNvSpPr/>
          <p:nvPr/>
        </p:nvSpPr>
        <p:spPr>
          <a:xfrm>
            <a:off x="612648" y="3282696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E7F4EC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508A4CD1-D6E2-690D-8016-3B5306D88F08}"/>
              </a:ext>
            </a:extLst>
          </p:cNvPr>
          <p:cNvSpPr txBox="1"/>
          <p:nvPr/>
        </p:nvSpPr>
        <p:spPr>
          <a:xfrm>
            <a:off x="612648" y="328269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97A19B"/>
                </a:solidFill>
                <a:latin typeface="Poppins"/>
              </a:rPr>
              <a:t>⚖️</a:t>
            </a: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E37C365A-88EF-C007-BE0A-2F0237F3E2DA}"/>
              </a:ext>
            </a:extLst>
          </p:cNvPr>
          <p:cNvSpPr txBox="1"/>
          <p:nvPr/>
        </p:nvSpPr>
        <p:spPr>
          <a:xfrm>
            <a:off x="1271016" y="3310127"/>
            <a:ext cx="51480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3 - RESULTADO</a:t>
            </a:r>
          </a:p>
        </p:txBody>
      </p:sp>
      <p:sp>
        <p:nvSpPr>
          <p:cNvPr id="41" name="TextBox 19">
            <a:extLst>
              <a:ext uri="{FF2B5EF4-FFF2-40B4-BE49-F238E27FC236}">
                <a16:creationId xmlns:a16="http://schemas.microsoft.com/office/drawing/2014/main" id="{970A74BC-CAF9-0BDF-3202-3241BBA266E7}"/>
              </a:ext>
            </a:extLst>
          </p:cNvPr>
          <p:cNvSpPr txBox="1"/>
          <p:nvPr/>
        </p:nvSpPr>
        <p:spPr>
          <a:xfrm>
            <a:off x="1271016" y="3557015"/>
            <a:ext cx="51480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333333"/>
                </a:solidFill>
                <a:latin typeface="Poppins"/>
              </a:rPr>
              <a:t>Juridica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 x0,68 baja ~32%  -  Natural x0,97 sin </a:t>
            </a:r>
            <a:r>
              <a:rPr sz="1250" b="0" i="0" dirty="0" err="1">
                <a:solidFill>
                  <a:srgbClr val="333333"/>
                </a:solidFill>
                <a:latin typeface="Poppins"/>
              </a:rPr>
              <a:t>cambio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43" name="Rounded Rectangle 20">
            <a:extLst>
              <a:ext uri="{FF2B5EF4-FFF2-40B4-BE49-F238E27FC236}">
                <a16:creationId xmlns:a16="http://schemas.microsoft.com/office/drawing/2014/main" id="{C0026D6F-E53D-E5AC-A8C4-1D4937E25762}"/>
              </a:ext>
            </a:extLst>
          </p:cNvPr>
          <p:cNvSpPr/>
          <p:nvPr/>
        </p:nvSpPr>
        <p:spPr>
          <a:xfrm>
            <a:off x="612648" y="4215384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E7F4EC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5D029FC8-6397-2A0C-662E-68CBDCD75CFE}"/>
              </a:ext>
            </a:extLst>
          </p:cNvPr>
          <p:cNvSpPr txBox="1"/>
          <p:nvPr/>
        </p:nvSpPr>
        <p:spPr>
          <a:xfrm>
            <a:off x="612648" y="421538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97A19B"/>
                </a:solidFill>
                <a:latin typeface="Poppins"/>
              </a:rPr>
              <a:t>🗃️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8F4D8295-A09E-809C-A300-1EFD8982588E}"/>
              </a:ext>
            </a:extLst>
          </p:cNvPr>
          <p:cNvSpPr txBox="1"/>
          <p:nvPr/>
        </p:nvSpPr>
        <p:spPr>
          <a:xfrm>
            <a:off x="1271016" y="4242816"/>
            <a:ext cx="51480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4 - APLICACION</a:t>
            </a: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4C7F5BE4-E341-3424-38BE-127F9A265DFC}"/>
              </a:ext>
            </a:extLst>
          </p:cNvPr>
          <p:cNvSpPr txBox="1"/>
          <p:nvPr/>
        </p:nvSpPr>
        <p:spPr>
          <a:xfrm>
            <a:off x="1271016" y="4489704"/>
            <a:ext cx="51480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 dirty="0">
                <a:solidFill>
                  <a:srgbClr val="333333"/>
                </a:solidFill>
                <a:latin typeface="Poppins"/>
              </a:rPr>
              <a:t>Columna </a:t>
            </a:r>
            <a:r>
              <a:rPr sz="1250" b="0" i="0" dirty="0" err="1">
                <a:solidFill>
                  <a:srgbClr val="333333"/>
                </a:solidFill>
                <a:latin typeface="Poppins"/>
              </a:rPr>
              <a:t>nueva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250" b="0" i="0" dirty="0" err="1">
                <a:solidFill>
                  <a:srgbClr val="333333"/>
                </a:solidFill>
                <a:latin typeface="Poppins"/>
              </a:rPr>
              <a:t>prob_modelo_esc_opt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, </a:t>
            </a:r>
            <a:r>
              <a:rPr sz="1250" b="0" i="0" dirty="0" err="1">
                <a:solidFill>
                  <a:srgbClr val="333333"/>
                </a:solidFill>
                <a:latin typeface="Poppins"/>
              </a:rPr>
              <a:t>por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250" b="0" i="0" dirty="0" err="1">
                <a:solidFill>
                  <a:srgbClr val="333333"/>
                </a:solidFill>
                <a:latin typeface="Poppins"/>
              </a:rPr>
              <a:t>segmento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; la PD </a:t>
            </a:r>
            <a:r>
              <a:rPr sz="1250" b="0" i="0" dirty="0" err="1">
                <a:solidFill>
                  <a:srgbClr val="333333"/>
                </a:solidFill>
                <a:latin typeface="Poppins"/>
              </a:rPr>
              <a:t>vigente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 no se </a:t>
            </a:r>
            <a:r>
              <a:rPr sz="1250" b="0" i="0" dirty="0" err="1">
                <a:solidFill>
                  <a:srgbClr val="333333"/>
                </a:solidFill>
                <a:latin typeface="Poppins"/>
              </a:rPr>
              <a:t>reemplaza</a:t>
            </a:r>
            <a:r>
              <a:rPr sz="1250" b="0" i="0" dirty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51" name="Rounded Rectangle 24">
            <a:extLst>
              <a:ext uri="{FF2B5EF4-FFF2-40B4-BE49-F238E27FC236}">
                <a16:creationId xmlns:a16="http://schemas.microsoft.com/office/drawing/2014/main" id="{64A8B4C3-FFCE-B659-730B-E1AC4E922154}"/>
              </a:ext>
            </a:extLst>
          </p:cNvPr>
          <p:cNvSpPr/>
          <p:nvPr/>
        </p:nvSpPr>
        <p:spPr>
          <a:xfrm>
            <a:off x="6720840" y="1417320"/>
            <a:ext cx="4855464" cy="36576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458523D3-8EC4-005B-C8CD-38C1ADB5C7E3}"/>
              </a:ext>
            </a:extLst>
          </p:cNvPr>
          <p:cNvSpPr txBox="1"/>
          <p:nvPr/>
        </p:nvSpPr>
        <p:spPr>
          <a:xfrm>
            <a:off x="6958583" y="1572768"/>
            <a:ext cx="43799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9F46"/>
                </a:solidFill>
                <a:latin typeface="Poppins"/>
              </a:rPr>
              <a:t>🧮  EJEMPLO: COMO SALE EL FACTOR</a:t>
            </a:r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55ED8E9C-31C1-1E94-D6C1-EF9663340DDF}"/>
              </a:ext>
            </a:extLst>
          </p:cNvPr>
          <p:cNvSpPr txBox="1"/>
          <p:nvPr/>
        </p:nvSpPr>
        <p:spPr>
          <a:xfrm>
            <a:off x="6958583" y="1847088"/>
            <a:ext cx="437997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7A19B"/>
                </a:solidFill>
                <a:latin typeface="Poppins"/>
              </a:rPr>
              <a:t>factor = mora / PD   -   PD ajustada = PD x factor</a:t>
            </a: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47E65138-6EAB-76F7-0254-06CC72125FBD}"/>
              </a:ext>
            </a:extLst>
          </p:cNvPr>
          <p:cNvSpPr/>
          <p:nvPr/>
        </p:nvSpPr>
        <p:spPr>
          <a:xfrm>
            <a:off x="6958583" y="2212848"/>
            <a:ext cx="4379975" cy="1060704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59" name="TextBox 28">
            <a:extLst>
              <a:ext uri="{FF2B5EF4-FFF2-40B4-BE49-F238E27FC236}">
                <a16:creationId xmlns:a16="http://schemas.microsoft.com/office/drawing/2014/main" id="{FFAE2BEE-3506-9816-A7F7-6A5EA5BD743D}"/>
              </a:ext>
            </a:extLst>
          </p:cNvPr>
          <p:cNvSpPr txBox="1"/>
          <p:nvPr/>
        </p:nvSpPr>
        <p:spPr>
          <a:xfrm>
            <a:off x="7104888" y="2313432"/>
            <a:ext cx="410565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9F46"/>
                </a:solidFill>
                <a:latin typeface="Poppins"/>
              </a:rPr>
              <a:t>JURIDICA (PJJ)</a:t>
            </a:r>
          </a:p>
        </p:txBody>
      </p:sp>
      <p:sp>
        <p:nvSpPr>
          <p:cNvPr id="61" name="TextBox 29">
            <a:extLst>
              <a:ext uri="{FF2B5EF4-FFF2-40B4-BE49-F238E27FC236}">
                <a16:creationId xmlns:a16="http://schemas.microsoft.com/office/drawing/2014/main" id="{F61BDD3D-E97A-4FEC-52B2-4DAC2B0DB3D2}"/>
              </a:ext>
            </a:extLst>
          </p:cNvPr>
          <p:cNvSpPr txBox="1"/>
          <p:nvPr/>
        </p:nvSpPr>
        <p:spPr>
          <a:xfrm>
            <a:off x="7104888" y="2560320"/>
            <a:ext cx="4105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5F1E"/>
                </a:solidFill>
                <a:latin typeface="Poppins"/>
              </a:rPr>
              <a:t>PD 5,0% -&gt; mora 3,4%   =   3,4 / 5,0 = x0,68</a:t>
            </a:r>
          </a:p>
        </p:txBody>
      </p:sp>
      <p:sp>
        <p:nvSpPr>
          <p:cNvPr id="63" name="TextBox 30">
            <a:extLst>
              <a:ext uri="{FF2B5EF4-FFF2-40B4-BE49-F238E27FC236}">
                <a16:creationId xmlns:a16="http://schemas.microsoft.com/office/drawing/2014/main" id="{4365041E-3812-630B-8443-F1E8E3F3D826}"/>
              </a:ext>
            </a:extLst>
          </p:cNvPr>
          <p:cNvSpPr txBox="1"/>
          <p:nvPr/>
        </p:nvSpPr>
        <p:spPr>
          <a:xfrm>
            <a:off x="7104888" y="2871215"/>
            <a:ext cx="4105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PD ajustada = 5,0% x 0,68 = 3,4%</a:t>
            </a:r>
          </a:p>
        </p:txBody>
      </p:sp>
      <p:sp>
        <p:nvSpPr>
          <p:cNvPr id="65" name="Rounded Rectangle 31">
            <a:extLst>
              <a:ext uri="{FF2B5EF4-FFF2-40B4-BE49-F238E27FC236}">
                <a16:creationId xmlns:a16="http://schemas.microsoft.com/office/drawing/2014/main" id="{49C35A02-7FA2-4918-F322-B8C81F8D88FD}"/>
              </a:ext>
            </a:extLst>
          </p:cNvPr>
          <p:cNvSpPr/>
          <p:nvPr/>
        </p:nvSpPr>
        <p:spPr>
          <a:xfrm>
            <a:off x="6958583" y="3419856"/>
            <a:ext cx="4379975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7" name="TextBox 32">
            <a:extLst>
              <a:ext uri="{FF2B5EF4-FFF2-40B4-BE49-F238E27FC236}">
                <a16:creationId xmlns:a16="http://schemas.microsoft.com/office/drawing/2014/main" id="{1731B5E2-843C-165E-3177-E4838FBD1D5C}"/>
              </a:ext>
            </a:extLst>
          </p:cNvPr>
          <p:cNvSpPr txBox="1"/>
          <p:nvPr/>
        </p:nvSpPr>
        <p:spPr>
          <a:xfrm>
            <a:off x="7104888" y="3520440"/>
            <a:ext cx="410565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9F46"/>
                </a:solidFill>
                <a:latin typeface="Poppins"/>
              </a:rPr>
              <a:t>NATURAL (PNN)</a:t>
            </a:r>
          </a:p>
        </p:txBody>
      </p:sp>
      <p:sp>
        <p:nvSpPr>
          <p:cNvPr id="69" name="TextBox 33">
            <a:extLst>
              <a:ext uri="{FF2B5EF4-FFF2-40B4-BE49-F238E27FC236}">
                <a16:creationId xmlns:a16="http://schemas.microsoft.com/office/drawing/2014/main" id="{50F5CB43-8CEA-8426-E11F-13839779D410}"/>
              </a:ext>
            </a:extLst>
          </p:cNvPr>
          <p:cNvSpPr txBox="1"/>
          <p:nvPr/>
        </p:nvSpPr>
        <p:spPr>
          <a:xfrm>
            <a:off x="7104888" y="3767328"/>
            <a:ext cx="4105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333333"/>
                </a:solidFill>
                <a:latin typeface="Poppins"/>
              </a:rPr>
              <a:t>PD 6,0% -&gt; mora 5,8%   =   5,8 / 6,0 = x0,97</a:t>
            </a:r>
          </a:p>
        </p:txBody>
      </p:sp>
      <p:sp>
        <p:nvSpPr>
          <p:cNvPr id="71" name="TextBox 34">
            <a:extLst>
              <a:ext uri="{FF2B5EF4-FFF2-40B4-BE49-F238E27FC236}">
                <a16:creationId xmlns:a16="http://schemas.microsoft.com/office/drawing/2014/main" id="{3DB4837C-2235-961E-C68A-14F874BB7456}"/>
              </a:ext>
            </a:extLst>
          </p:cNvPr>
          <p:cNvSpPr txBox="1"/>
          <p:nvPr/>
        </p:nvSpPr>
        <p:spPr>
          <a:xfrm>
            <a:off x="7104888" y="4078224"/>
            <a:ext cx="4105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PD ajustada = 6,0% x 0,97 = 5,8%</a:t>
            </a:r>
          </a:p>
        </p:txBody>
      </p:sp>
      <p:sp>
        <p:nvSpPr>
          <p:cNvPr id="73" name="Rounded Rectangle 35">
            <a:extLst>
              <a:ext uri="{FF2B5EF4-FFF2-40B4-BE49-F238E27FC236}">
                <a16:creationId xmlns:a16="http://schemas.microsoft.com/office/drawing/2014/main" id="{EEE124B1-75E4-E937-D5B6-6133D09AA3C3}"/>
              </a:ext>
            </a:extLst>
          </p:cNvPr>
          <p:cNvSpPr/>
          <p:nvPr/>
        </p:nvSpPr>
        <p:spPr>
          <a:xfrm>
            <a:off x="612648" y="5303520"/>
            <a:ext cx="10963656" cy="5486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75" name="Rectangle 36">
            <a:extLst>
              <a:ext uri="{FF2B5EF4-FFF2-40B4-BE49-F238E27FC236}">
                <a16:creationId xmlns:a16="http://schemas.microsoft.com/office/drawing/2014/main" id="{AC2926EB-6C3B-775D-40C6-ADD2FA7E6C1C}"/>
              </a:ext>
            </a:extLst>
          </p:cNvPr>
          <p:cNvSpPr/>
          <p:nvPr/>
        </p:nvSpPr>
        <p:spPr>
          <a:xfrm>
            <a:off x="612648" y="5303520"/>
            <a:ext cx="64008" cy="548640"/>
          </a:xfrm>
          <a:prstGeom prst="rect">
            <a:avLst/>
          </a:prstGeom>
          <a:solidFill>
            <a:srgbClr val="009F46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77" name="TextBox 37">
            <a:extLst>
              <a:ext uri="{FF2B5EF4-FFF2-40B4-BE49-F238E27FC236}">
                <a16:creationId xmlns:a16="http://schemas.microsoft.com/office/drawing/2014/main" id="{BCD28CE3-EBD7-2ED2-9FD3-B00600FCABC4}"/>
              </a:ext>
            </a:extLst>
          </p:cNvPr>
          <p:cNvSpPr txBox="1"/>
          <p:nvPr/>
        </p:nvSpPr>
        <p:spPr>
          <a:xfrm>
            <a:off x="868680" y="5303520"/>
            <a:ext cx="1050645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Poppins"/>
              </a:rPr>
              <a:t>✅  Es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calibracion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insesgada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, no un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descuento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: baja la PD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donde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sobra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conservadurismo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y la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mantiene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donde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el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modelo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ya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Poppins"/>
              </a:rPr>
              <a:t>acierta</a:t>
            </a:r>
            <a:r>
              <a:rPr sz="1300" b="0" i="0" dirty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79" name="TextBox 38">
            <a:extLst>
              <a:ext uri="{FF2B5EF4-FFF2-40B4-BE49-F238E27FC236}">
                <a16:creationId xmlns:a16="http://schemas.microsoft.com/office/drawing/2014/main" id="{3673C742-5530-6796-2678-79EE584AF2E5}"/>
              </a:ext>
            </a:extLst>
          </p:cNvPr>
          <p:cNvSpPr txBox="1"/>
          <p:nvPr/>
        </p:nvSpPr>
        <p:spPr>
          <a:xfrm>
            <a:off x="612648" y="5961888"/>
            <a:ext cx="10963656" cy="116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Cifras del ejemplo ilustrativas del agregado 2025. Factores aplicados: PJJ x0,68 - PNN x0,97.</a:t>
            </a:r>
          </a:p>
        </p:txBody>
      </p:sp>
      <p:sp>
        <p:nvSpPr>
          <p:cNvPr id="81" name="Rectangle 39">
            <a:extLst>
              <a:ext uri="{FF2B5EF4-FFF2-40B4-BE49-F238E27FC236}">
                <a16:creationId xmlns:a16="http://schemas.microsoft.com/office/drawing/2014/main" id="{DE459ED2-E222-CE5F-6DDE-5E572C2D2B3A}"/>
              </a:ext>
            </a:extLst>
          </p:cNvPr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83" name="TextBox 40">
            <a:extLst>
              <a:ext uri="{FF2B5EF4-FFF2-40B4-BE49-F238E27FC236}">
                <a16:creationId xmlns:a16="http://schemas.microsoft.com/office/drawing/2014/main" id="{50F01B54-A237-96C8-0BEC-455737B7BEE6}"/>
              </a:ext>
            </a:extLst>
          </p:cNvPr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dirty="0" err="1">
                <a:solidFill>
                  <a:srgbClr val="005F1E"/>
                </a:solidFill>
                <a:latin typeface="Poppins"/>
              </a:rPr>
              <a:t>Ajuste</a:t>
            </a:r>
            <a:r>
              <a:rPr sz="800" b="1" i="0" dirty="0">
                <a:solidFill>
                  <a:srgbClr val="005F1E"/>
                </a:solidFill>
                <a:latin typeface="Poppins"/>
              </a:rPr>
              <a:t> de PD - </a:t>
            </a:r>
            <a:r>
              <a:rPr sz="800" b="1" i="0" dirty="0" err="1">
                <a:solidFill>
                  <a:srgbClr val="005F1E"/>
                </a:solidFill>
                <a:latin typeface="Poppins"/>
              </a:rPr>
              <a:t>escenario</a:t>
            </a:r>
            <a:r>
              <a:rPr sz="800" b="1" i="0" dirty="0">
                <a:solidFill>
                  <a:srgbClr val="005F1E"/>
                </a:solidFill>
                <a:latin typeface="Poppins"/>
              </a:rPr>
              <a:t> </a:t>
            </a:r>
            <a:r>
              <a:rPr sz="800" b="1" i="0" dirty="0" err="1">
                <a:solidFill>
                  <a:srgbClr val="005F1E"/>
                </a:solidFill>
                <a:latin typeface="Poppins"/>
              </a:rPr>
              <a:t>optimista</a:t>
            </a:r>
            <a:r>
              <a:rPr sz="800" b="0" i="0" dirty="0">
                <a:solidFill>
                  <a:srgbClr val="97A19B"/>
                </a:solidFill>
                <a:latin typeface="Poppins"/>
              </a:rPr>
              <a:t> · Origen BPE - Comite de </a:t>
            </a:r>
            <a:r>
              <a:rPr sz="800" b="0" i="0" dirty="0" err="1">
                <a:solidFill>
                  <a:srgbClr val="97A19B"/>
                </a:solidFill>
                <a:latin typeface="Poppins"/>
              </a:rPr>
              <a:t>Riesgos</a:t>
            </a:r>
            <a:endParaRPr sz="800" b="0" i="0" dirty="0">
              <a:solidFill>
                <a:srgbClr val="97A19B"/>
              </a:solidFill>
              <a:latin typeface="Poppins"/>
            </a:endParaRPr>
          </a:p>
        </p:txBody>
      </p:sp>
      <p:sp>
        <p:nvSpPr>
          <p:cNvPr id="85" name="TextBox 41">
            <a:extLst>
              <a:ext uri="{FF2B5EF4-FFF2-40B4-BE49-F238E27FC236}">
                <a16:creationId xmlns:a16="http://schemas.microsoft.com/office/drawing/2014/main" id="{AA0A7B46-4CF3-ED75-DCDC-A5C36923467B}"/>
              </a:ext>
            </a:extLst>
          </p:cNvPr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7A19B"/>
                </a:solidFill>
                <a:latin typeface="Poppins"/>
              </a:rPr>
              <a:t>1 de 1</a:t>
            </a:r>
          </a:p>
        </p:txBody>
      </p:sp>
    </p:spTree>
    <p:extLst>
      <p:ext uri="{BB962C8B-B14F-4D97-AF65-F5344CB8AC3E}">
        <p14:creationId xmlns:p14="http://schemas.microsoft.com/office/powerpoint/2010/main" val="31176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2D3D-1956-A814-5C2A-4877E512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1E03FC0-F20F-CD77-AA0D-897F91028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537" y="4330183"/>
            <a:ext cx="5078408" cy="235326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E5BD3F9-E936-28C3-215B-87282F664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537" y="1351187"/>
            <a:ext cx="5078408" cy="225571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CBC4C73-507C-1867-4855-7FC94E856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09"/>
          <a:stretch>
            <a:fillRect/>
          </a:stretch>
        </p:blipFill>
        <p:spPr>
          <a:xfrm>
            <a:off x="368909" y="1609375"/>
            <a:ext cx="5736833" cy="33774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6CAD714-93C6-DDAA-3EB7-D9B4325BC3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042"/>
          <a:stretch>
            <a:fillRect/>
          </a:stretch>
        </p:blipFill>
        <p:spPr>
          <a:xfrm>
            <a:off x="571351" y="5074863"/>
            <a:ext cx="5620999" cy="547743"/>
          </a:xfrm>
          <a:prstGeom prst="rect">
            <a:avLst/>
          </a:prstGeom>
        </p:spPr>
      </p:pic>
      <p:sp>
        <p:nvSpPr>
          <p:cNvPr id="7" name="Shape 17">
            <a:extLst>
              <a:ext uri="{FF2B5EF4-FFF2-40B4-BE49-F238E27FC236}">
                <a16:creationId xmlns:a16="http://schemas.microsoft.com/office/drawing/2014/main" id="{DD4D3386-08F7-CB0E-20EB-FDCE91BB79D2}"/>
              </a:ext>
            </a:extLst>
          </p:cNvPr>
          <p:cNvSpPr/>
          <p:nvPr/>
        </p:nvSpPr>
        <p:spPr>
          <a:xfrm>
            <a:off x="378652" y="658786"/>
            <a:ext cx="5717348" cy="566928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ECC5F018-A823-4BD5-EA56-01EBE6AFC3CF}"/>
              </a:ext>
            </a:extLst>
          </p:cNvPr>
          <p:cNvSpPr/>
          <p:nvPr/>
        </p:nvSpPr>
        <p:spPr>
          <a:xfrm>
            <a:off x="575637" y="82337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IBK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E60A9381-EDB6-B860-F4A2-0B99D5D6AC5E}"/>
              </a:ext>
            </a:extLst>
          </p:cNvPr>
          <p:cNvSpPr/>
          <p:nvPr/>
        </p:nvSpPr>
        <p:spPr>
          <a:xfrm>
            <a:off x="6307552" y="658786"/>
            <a:ext cx="5505797" cy="566928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E60F66E0-8C3F-5FA4-ACFE-0489FA1913D9}"/>
              </a:ext>
            </a:extLst>
          </p:cNvPr>
          <p:cNvSpPr/>
          <p:nvPr/>
        </p:nvSpPr>
        <p:spPr>
          <a:xfrm>
            <a:off x="6504537" y="82337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PJJ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417108E-618E-9644-606F-3430ADFE9C7B}"/>
              </a:ext>
            </a:extLst>
          </p:cNvPr>
          <p:cNvSpPr/>
          <p:nvPr/>
        </p:nvSpPr>
        <p:spPr>
          <a:xfrm>
            <a:off x="6439839" y="3606040"/>
            <a:ext cx="5505797" cy="566928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CDC8052C-0E28-5EAF-D9CA-B8B6A36D8984}"/>
              </a:ext>
            </a:extLst>
          </p:cNvPr>
          <p:cNvSpPr/>
          <p:nvPr/>
        </p:nvSpPr>
        <p:spPr>
          <a:xfrm>
            <a:off x="6636824" y="3770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PNN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32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A019-1CA5-0B85-3729-3C30CBA2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7">
            <a:extLst>
              <a:ext uri="{FF2B5EF4-FFF2-40B4-BE49-F238E27FC236}">
                <a16:creationId xmlns:a16="http://schemas.microsoft.com/office/drawing/2014/main" id="{4EAC785A-EA49-9E47-967B-69A563622149}"/>
              </a:ext>
            </a:extLst>
          </p:cNvPr>
          <p:cNvSpPr/>
          <p:nvPr/>
        </p:nvSpPr>
        <p:spPr>
          <a:xfrm>
            <a:off x="378652" y="658786"/>
            <a:ext cx="5717348" cy="566928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21C8F357-DEFE-CB00-5CD9-B387D629B5EC}"/>
              </a:ext>
            </a:extLst>
          </p:cNvPr>
          <p:cNvSpPr/>
          <p:nvPr/>
        </p:nvSpPr>
        <p:spPr>
          <a:xfrm>
            <a:off x="575637" y="823378"/>
            <a:ext cx="49484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Resto Top4 (Saldo &gt;50k)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711571EE-805A-9C5B-ECFD-608C96D8725D}"/>
              </a:ext>
            </a:extLst>
          </p:cNvPr>
          <p:cNvSpPr/>
          <p:nvPr/>
        </p:nvSpPr>
        <p:spPr>
          <a:xfrm>
            <a:off x="6307552" y="658786"/>
            <a:ext cx="5505797" cy="566928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51B54351-8911-7154-C4E0-56128A41A33E}"/>
              </a:ext>
            </a:extLst>
          </p:cNvPr>
          <p:cNvSpPr/>
          <p:nvPr/>
        </p:nvSpPr>
        <p:spPr>
          <a:xfrm>
            <a:off x="6504537" y="82337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PJJ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446F174-770F-8748-7DCD-FE73276474F1}"/>
              </a:ext>
            </a:extLst>
          </p:cNvPr>
          <p:cNvSpPr/>
          <p:nvPr/>
        </p:nvSpPr>
        <p:spPr>
          <a:xfrm>
            <a:off x="6439839" y="3606040"/>
            <a:ext cx="5505797" cy="566928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5C14FDEA-F970-5CB6-226F-A40B2047711D}"/>
              </a:ext>
            </a:extLst>
          </p:cNvPr>
          <p:cNvSpPr/>
          <p:nvPr/>
        </p:nvSpPr>
        <p:spPr>
          <a:xfrm>
            <a:off x="6636824" y="3770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PNN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AF6AD9-EB22-D664-C17C-F92E7EB31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70" y="1854722"/>
            <a:ext cx="5620999" cy="34323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145BD7B-48AE-ACE3-B578-546A6FFCD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39" y="1254037"/>
            <a:ext cx="5185353" cy="232367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460F6F7-4EEE-F3B8-7A20-8BA1E2F4F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839" y="4201293"/>
            <a:ext cx="5505797" cy="23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871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239</Words>
  <Application>Microsoft Office PowerPoint</Application>
  <PresentationFormat>Panorámica</PresentationFormat>
  <Paragraphs>33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</dc:creator>
  <cp:lastModifiedBy>CARLOS</cp:lastModifiedBy>
  <cp:revision>2</cp:revision>
  <dcterms:created xsi:type="dcterms:W3CDTF">2026-08-21T20:05:38Z</dcterms:created>
  <dcterms:modified xsi:type="dcterms:W3CDTF">2026-08-21T20:23:15Z</dcterms:modified>
</cp:coreProperties>
</file>