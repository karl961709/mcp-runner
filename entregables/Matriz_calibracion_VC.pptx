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686800" cy="8229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428"/>
                </a:solidFill>
                <a:latin typeface="Segoe UI"/>
              </a:rPr>
              <a:t>Matriz de calibración · 4 modelos Visión Cliente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27880"/>
                </a:solidFill>
                <a:latin typeface="Segoe UI"/>
              </a:rPr>
              <a:t>PD de admisión — misma metodología, coeficientes tuneados al dato de cada producto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9525">
            <a:solidFill>
              <a:srgbClr val="CDE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50" b="1">
                <a:solidFill>
                  <a:srgbClr val="007A3D"/>
                </a:solidFill>
                <a:latin typeface="Segoe UI"/>
              </a:rPr>
              <a:t>Metodología · TC No Bank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12848" y="1316736"/>
            <a:ext cx="2286000" cy="585216"/>
          </a:xfrm>
          <a:prstGeom prst="roundRect">
            <a:avLst>
              <a:gd name="adj" fmla="val 20000"/>
            </a:avLst>
          </a:prstGeom>
          <a:solidFill>
            <a:srgbClr val="00A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PP Fácil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Préstamo Personal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26864" y="1316736"/>
            <a:ext cx="2286000" cy="585216"/>
          </a:xfrm>
          <a:prstGeom prst="roundRect">
            <a:avLst>
              <a:gd name="adj" fmla="val 20000"/>
            </a:avLst>
          </a:prstGeom>
          <a:solidFill>
            <a:srgbClr val="00A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PP CD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Préstamo Personal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316736"/>
            <a:ext cx="2286000" cy="585216"/>
          </a:xfrm>
          <a:prstGeom prst="roundRect">
            <a:avLst>
              <a:gd name="adj" fmla="val 20000"/>
            </a:avLst>
          </a:prstGeom>
          <a:solidFill>
            <a:srgbClr val="00A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EC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Efectivo · IBK-only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54896" y="1316736"/>
            <a:ext cx="2286000" cy="585216"/>
          </a:xfrm>
          <a:prstGeom prst="roundRect">
            <a:avLst>
              <a:gd name="adj" fmla="val 20000"/>
            </a:avLst>
          </a:prstGeom>
          <a:solidFill>
            <a:srgbClr val="00A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TC Bank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single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66543"/>
            <a:ext cx="1627632" cy="1097280"/>
          </a:xfrm>
          <a:prstGeom prst="roundRect">
            <a:avLst>
              <a:gd name="adj" fmla="val 12000"/>
            </a:avLst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3A3F47"/>
                </a:solidFill>
                <a:latin typeface="Segoe UI"/>
              </a:rPr>
              <a:t>Nodos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9AA0A7"/>
                </a:solidFill>
                <a:latin typeface="Segoe UI"/>
              </a:rPr>
              <a:t>segmento · comportamiento (no el score) × tipo_ingreso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2848" y="2066543"/>
            <a:ext cx="228600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25400" bIns="254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9AA0A7"/>
                </a:solidFill>
                <a:latin typeface="Segoe UI"/>
              </a:rPr>
              <a:t>INMUEBLES · YAPE · EDUCACIÓN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07A3D"/>
                </a:solidFill>
                <a:latin typeface="Segoe UI"/>
              </a:rPr>
              <a:t>N1 </a:t>
            </a:r>
            <a:r>
              <a:rPr sz="950" b="0">
                <a:solidFill>
                  <a:srgbClr val="1F2428"/>
                </a:solidFill>
                <a:latin typeface="Segoe UI"/>
              </a:rPr>
              <a:t>inmueble · Yape alta  </a:t>
            </a:r>
            <a:r>
              <a:rPr sz="800" b="1">
                <a:solidFill>
                  <a:srgbClr val="9AA0A7"/>
                </a:solidFill>
                <a:latin typeface="Segoe UI"/>
              </a:rPr>
              <a:t>RD 5%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07A3D"/>
                </a:solidFill>
                <a:latin typeface="Segoe UI"/>
              </a:rPr>
              <a:t>N2 </a:t>
            </a:r>
            <a:r>
              <a:rPr sz="950" b="0">
                <a:solidFill>
                  <a:srgbClr val="1F2428"/>
                </a:solidFill>
                <a:latin typeface="Segoe UI"/>
              </a:rPr>
              <a:t>inmueble · Yape media  </a:t>
            </a:r>
            <a:r>
              <a:rPr sz="800" b="1">
                <a:solidFill>
                  <a:srgbClr val="9AA0A7"/>
                </a:solidFill>
                <a:latin typeface="Segoe UI"/>
              </a:rPr>
              <a:t>RD 8%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07A3D"/>
                </a:solidFill>
                <a:latin typeface="Segoe UI"/>
              </a:rPr>
              <a:t>N3 </a:t>
            </a:r>
            <a:r>
              <a:rPr sz="950" b="0">
                <a:solidFill>
                  <a:srgbClr val="1F2428"/>
                </a:solidFill>
                <a:latin typeface="Segoe UI"/>
              </a:rPr>
              <a:t>sin inmueble · Yape baja  </a:t>
            </a:r>
            <a:r>
              <a:rPr sz="800" b="1">
                <a:solidFill>
                  <a:srgbClr val="9AA0A7"/>
                </a:solidFill>
                <a:latin typeface="Segoe UI"/>
              </a:rPr>
              <a:t>RD 10%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6864" y="2066543"/>
            <a:ext cx="228600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25400" bIns="254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9AA0A7"/>
                </a:solidFill>
                <a:latin typeface="Segoe UI"/>
              </a:rPr>
              <a:t>INMUEBLES · USO TC · TOP 25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07A3D"/>
                </a:solidFill>
                <a:latin typeface="Segoe UI"/>
              </a:rPr>
              <a:t>N1 </a:t>
            </a:r>
            <a:r>
              <a:rPr sz="950" b="0">
                <a:solidFill>
                  <a:srgbClr val="1F2428"/>
                </a:solidFill>
                <a:latin typeface="Segoe UI"/>
              </a:rPr>
              <a:t>perfil top 25  </a:t>
            </a:r>
            <a:r>
              <a:rPr sz="800" b="1">
                <a:solidFill>
                  <a:srgbClr val="9AA0A7"/>
                </a:solidFill>
                <a:latin typeface="Segoe UI"/>
              </a:rPr>
              <a:t>RD 1%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07A3D"/>
                </a:solidFill>
                <a:latin typeface="Segoe UI"/>
              </a:rPr>
              <a:t>N2 </a:t>
            </a:r>
            <a:r>
              <a:rPr sz="950" b="0">
                <a:solidFill>
                  <a:srgbClr val="1F2428"/>
                </a:solidFill>
                <a:latin typeface="Segoe UI"/>
              </a:rPr>
              <a:t>resto  </a:t>
            </a:r>
            <a:r>
              <a:rPr sz="800" b="1">
                <a:solidFill>
                  <a:srgbClr val="9AA0A7"/>
                </a:solidFill>
                <a:latin typeface="Segoe UI"/>
              </a:rPr>
              <a:t>RD 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066543"/>
            <a:ext cx="228600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25400" bIns="254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9AA0A7"/>
                </a:solidFill>
                <a:latin typeface="Segoe UI"/>
              </a:rPr>
              <a:t>INMUEBLE · YAPE/PLIN · CTA SUELDO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07A3D"/>
                </a:solidFill>
                <a:latin typeface="Segoe UI"/>
              </a:rPr>
              <a:t>N1 </a:t>
            </a:r>
            <a:r>
              <a:rPr sz="950" b="0">
                <a:solidFill>
                  <a:srgbClr val="1F2428"/>
                </a:solidFill>
                <a:latin typeface="Segoe UI"/>
              </a:rPr>
              <a:t>tiene inmueble  </a:t>
            </a:r>
            <a:r>
              <a:rPr sz="800" b="1">
                <a:solidFill>
                  <a:srgbClr val="9AA0A7"/>
                </a:solidFill>
                <a:latin typeface="Segoe UI"/>
              </a:rPr>
              <a:t>RD 5%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07A3D"/>
                </a:solidFill>
                <a:latin typeface="Segoe UI"/>
              </a:rPr>
              <a:t>N2 </a:t>
            </a:r>
            <a:r>
              <a:rPr sz="950" b="0">
                <a:solidFill>
                  <a:srgbClr val="1F2428"/>
                </a:solidFill>
                <a:latin typeface="Segoe UI"/>
              </a:rPr>
              <a:t>sin inm. · con cta sueldo  </a:t>
            </a:r>
            <a:r>
              <a:rPr sz="800" b="1">
                <a:solidFill>
                  <a:srgbClr val="9AA0A7"/>
                </a:solidFill>
                <a:latin typeface="Segoe UI"/>
              </a:rPr>
              <a:t>RD 7%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07A3D"/>
                </a:solidFill>
                <a:latin typeface="Segoe UI"/>
              </a:rPr>
              <a:t>N3 </a:t>
            </a:r>
            <a:r>
              <a:rPr sz="950" b="0">
                <a:solidFill>
                  <a:srgbClr val="1F2428"/>
                </a:solidFill>
                <a:latin typeface="Segoe UI"/>
              </a:rPr>
              <a:t>sin inm. · sin cta sueldo  </a:t>
            </a:r>
            <a:r>
              <a:rPr sz="800" b="1">
                <a:solidFill>
                  <a:srgbClr val="9AA0A7"/>
                </a:solidFill>
                <a:latin typeface="Segoe UI"/>
              </a:rPr>
              <a:t>RD 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54896" y="2066543"/>
            <a:ext cx="228600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25400" bIns="254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9AA0A7"/>
                </a:solidFill>
                <a:latin typeface="Segoe UI"/>
              </a:rPr>
              <a:t>USO TC (&gt;5% LÍNEA) · YAPE · EDUCACIÓN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07A3D"/>
                </a:solidFill>
                <a:latin typeface="Segoe UI"/>
              </a:rPr>
              <a:t>N1 </a:t>
            </a:r>
            <a:r>
              <a:rPr sz="950" b="0">
                <a:solidFill>
                  <a:srgbClr val="1F2428"/>
                </a:solidFill>
                <a:latin typeface="Segoe UI"/>
              </a:rPr>
              <a:t>usa ≥2 de 6m  </a:t>
            </a:r>
            <a:r>
              <a:rPr sz="800" b="1">
                <a:solidFill>
                  <a:srgbClr val="9AA0A7"/>
                </a:solidFill>
                <a:latin typeface="Segoe UI"/>
              </a:rPr>
              <a:t>RD 4%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07A3D"/>
                </a:solidFill>
                <a:latin typeface="Segoe UI"/>
              </a:rPr>
              <a:t>N2 </a:t>
            </a:r>
            <a:r>
              <a:rPr sz="950" b="0">
                <a:solidFill>
                  <a:srgbClr val="1F2428"/>
                </a:solidFill>
                <a:latin typeface="Segoe UI"/>
              </a:rPr>
              <a:t>uso esporádico  </a:t>
            </a:r>
            <a:r>
              <a:rPr sz="800" b="1">
                <a:solidFill>
                  <a:srgbClr val="9AA0A7"/>
                </a:solidFill>
                <a:latin typeface="Segoe UI"/>
              </a:rPr>
              <a:t>RD 8%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07A3D"/>
                </a:solidFill>
                <a:latin typeface="Segoe UI"/>
              </a:rPr>
              <a:t>N3 </a:t>
            </a:r>
            <a:r>
              <a:rPr sz="950" b="0">
                <a:solidFill>
                  <a:srgbClr val="1F2428"/>
                </a:solidFill>
                <a:latin typeface="Segoe UI"/>
              </a:rPr>
              <a:t>sin TC / inactiva  </a:t>
            </a:r>
            <a:r>
              <a:rPr sz="800" b="1">
                <a:solidFill>
                  <a:srgbClr val="9AA0A7"/>
                </a:solidFill>
                <a:latin typeface="Segoe UI"/>
              </a:rPr>
              <a:t>RD 13%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310128"/>
            <a:ext cx="1627632" cy="676656"/>
          </a:xfrm>
          <a:prstGeom prst="roundRect">
            <a:avLst>
              <a:gd name="adj" fmla="val 12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07A3D"/>
                </a:solidFill>
                <a:latin typeface="Segoe UI"/>
              </a:rPr>
              <a:t>Var Macro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007A3D"/>
                </a:solidFill>
                <a:latin typeface="Segoe UI"/>
              </a:rPr>
              <a:t>ciclo · igual en los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12848" y="3310128"/>
            <a:ext cx="2286000" cy="676656"/>
          </a:xfrm>
          <a:prstGeom prst="roundRect">
            <a:avLst>
              <a:gd name="adj" fmla="val 10000"/>
            </a:avLst>
          </a:prstGeom>
          <a:solidFill>
            <a:srgbClr val="F3FBF6"/>
          </a:solidFill>
          <a:ln w="9525">
            <a:solidFill>
              <a:srgbClr val="CDE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F2428"/>
                </a:solidFill>
                <a:latin typeface="Segoe UI"/>
              </a:rPr>
              <a:t>Inflación ma3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727880"/>
                </a:solidFill>
                <a:latin typeface="Segoe UI"/>
              </a:rPr>
              <a:t>lag 0 · nacional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3310128"/>
            <a:ext cx="2286000" cy="676656"/>
          </a:xfrm>
          <a:prstGeom prst="roundRect">
            <a:avLst>
              <a:gd name="adj" fmla="val 10000"/>
            </a:avLst>
          </a:prstGeom>
          <a:solidFill>
            <a:srgbClr val="F3FBF6"/>
          </a:solidFill>
          <a:ln w="9525">
            <a:solidFill>
              <a:srgbClr val="CDE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F2428"/>
                </a:solidFill>
                <a:latin typeface="Segoe UI"/>
              </a:rPr>
              <a:t>Inflación ma3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727880"/>
                </a:solidFill>
                <a:latin typeface="Segoe UI"/>
              </a:rPr>
              <a:t>lag 0 · nacional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3310128"/>
            <a:ext cx="2286000" cy="676656"/>
          </a:xfrm>
          <a:prstGeom prst="roundRect">
            <a:avLst>
              <a:gd name="adj" fmla="val 10000"/>
            </a:avLst>
          </a:prstGeom>
          <a:solidFill>
            <a:srgbClr val="F3FBF6"/>
          </a:solidFill>
          <a:ln w="9525">
            <a:solidFill>
              <a:srgbClr val="CDE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F2428"/>
                </a:solidFill>
                <a:latin typeface="Segoe UI"/>
              </a:rPr>
              <a:t>Inflación ma3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727880"/>
                </a:solidFill>
                <a:latin typeface="Segoe UI"/>
              </a:rPr>
              <a:t>ft reusado de TC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54896" y="3310128"/>
            <a:ext cx="2286000" cy="676656"/>
          </a:xfrm>
          <a:prstGeom prst="roundRect">
            <a:avLst>
              <a:gd name="adj" fmla="val 10000"/>
            </a:avLst>
          </a:prstGeom>
          <a:solidFill>
            <a:srgbClr val="F3FBF6"/>
          </a:solidFill>
          <a:ln w="9525">
            <a:solidFill>
              <a:srgbClr val="CDE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F2428"/>
                </a:solidFill>
                <a:latin typeface="Segoe UI"/>
              </a:rPr>
              <a:t>Inflación ma3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727880"/>
                </a:solidFill>
                <a:latin typeface="Segoe UI"/>
              </a:rPr>
              <a:t>panel propio 6 SS.FF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133087"/>
            <a:ext cx="1627632" cy="585216"/>
          </a:xfrm>
          <a:prstGeom prst="roundRect">
            <a:avLst>
              <a:gd name="adj" fmla="val 12000"/>
            </a:avLst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3A3F47"/>
                </a:solidFill>
                <a:latin typeface="Segoe UI"/>
              </a:rPr>
              <a:t>Calibrador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9AA0A7"/>
                </a:solidFill>
                <a:latin typeface="Segoe UI"/>
              </a:rPr>
              <a:t>score → PD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12848" y="4133087"/>
            <a:ext cx="228600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50" b="1">
                <a:solidFill>
                  <a:srgbClr val="1F2428"/>
                </a:solidFill>
                <a:latin typeface="Segoe UI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26864" y="4133087"/>
            <a:ext cx="228600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50" b="1">
                <a:solidFill>
                  <a:srgbClr val="1F2428"/>
                </a:solidFill>
                <a:latin typeface="Segoe UI"/>
              </a:rPr>
              <a:t>Isotónica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4133087"/>
            <a:ext cx="228600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50" b="1">
                <a:solidFill>
                  <a:srgbClr val="1F2428"/>
                </a:solidFill>
                <a:latin typeface="Segoe UI"/>
              </a:rPr>
              <a:t>Platt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54896" y="4133087"/>
            <a:ext cx="228600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50" b="1">
                <a:solidFill>
                  <a:srgbClr val="1F2428"/>
                </a:solidFill>
                <a:latin typeface="Segoe UI"/>
              </a:rPr>
              <a:t>Isotónica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864608"/>
            <a:ext cx="1627632" cy="676656"/>
          </a:xfrm>
          <a:prstGeom prst="roundRect">
            <a:avLst>
              <a:gd name="adj" fmla="val 12000"/>
            </a:avLst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3A3F47"/>
                </a:solidFill>
                <a:latin typeface="Segoe UI"/>
              </a:rPr>
              <a:t>Calce (EC)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9AA0A7"/>
                </a:solidFill>
                <a:latin typeface="Segoe UI"/>
              </a:rPr>
              <a:t>error rel. |1−PD/RD| agregado · ventana fit 202311–202507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12848" y="4864608"/>
            <a:ext cx="2286000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500" b="1">
                <a:solidFill>
                  <a:srgbClr val="9AA0A7"/>
                </a:solidFill>
                <a:latin typeface="Segoe UI"/>
              </a:rPr>
              <a:t>41% </a:t>
            </a:r>
            <a:r>
              <a:rPr sz="1500" b="0">
                <a:solidFill>
                  <a:srgbClr val="727880"/>
                </a:solidFill>
                <a:latin typeface="Segoe UI"/>
              </a:rPr>
              <a:t>→ </a:t>
            </a:r>
            <a:r>
              <a:rPr sz="1500" b="1">
                <a:solidFill>
                  <a:srgbClr val="007A3D"/>
                </a:solidFill>
                <a:latin typeface="Segoe UI"/>
              </a:rPr>
              <a:t>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4864608"/>
            <a:ext cx="2286000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500" b="1">
                <a:solidFill>
                  <a:srgbClr val="9AA0A7"/>
                </a:solidFill>
                <a:latin typeface="Segoe UI"/>
              </a:rPr>
              <a:t>148% </a:t>
            </a:r>
            <a:r>
              <a:rPr sz="1500" b="0">
                <a:solidFill>
                  <a:srgbClr val="727880"/>
                </a:solidFill>
                <a:latin typeface="Segoe UI"/>
              </a:rPr>
              <a:t>→ </a:t>
            </a:r>
            <a:r>
              <a:rPr sz="1500" b="1">
                <a:solidFill>
                  <a:srgbClr val="007A3D"/>
                </a:solidFill>
                <a:latin typeface="Segoe UI"/>
              </a:rPr>
              <a:t>18%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4864608"/>
            <a:ext cx="2286000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500" b="1">
                <a:solidFill>
                  <a:srgbClr val="9AA0A7"/>
                </a:solidFill>
                <a:latin typeface="Segoe UI"/>
              </a:rPr>
              <a:t>59% </a:t>
            </a:r>
            <a:r>
              <a:rPr sz="1500" b="0">
                <a:solidFill>
                  <a:srgbClr val="727880"/>
                </a:solidFill>
                <a:latin typeface="Segoe UI"/>
              </a:rPr>
              <a:t>→ </a:t>
            </a:r>
            <a:r>
              <a:rPr sz="1500" b="1">
                <a:solidFill>
                  <a:srgbClr val="007A3D"/>
                </a:solidFill>
                <a:latin typeface="Segoe UI"/>
              </a:rPr>
              <a:t>≈0%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54896" y="4864608"/>
            <a:ext cx="2286000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500" b="1">
                <a:solidFill>
                  <a:srgbClr val="9AA0A7"/>
                </a:solidFill>
                <a:latin typeface="Segoe UI"/>
              </a:rPr>
              <a:t>51% </a:t>
            </a:r>
            <a:r>
              <a:rPr sz="1500" b="0">
                <a:solidFill>
                  <a:srgbClr val="727880"/>
                </a:solidFill>
                <a:latin typeface="Segoe UI"/>
              </a:rPr>
              <a:t>→ </a:t>
            </a:r>
            <a:r>
              <a:rPr sz="1500" b="1">
                <a:solidFill>
                  <a:srgbClr val="007A3D"/>
                </a:solidFill>
                <a:latin typeface="Segoe UI"/>
              </a:rPr>
              <a:t>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687568"/>
            <a:ext cx="1627632" cy="749808"/>
          </a:xfrm>
          <a:prstGeom prst="roundRect">
            <a:avLst>
              <a:gd name="adj" fmla="val 12000"/>
            </a:avLst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3A3F47"/>
                </a:solidFill>
                <a:latin typeface="Segoe UI"/>
              </a:rPr>
              <a:t>Gini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9AA0A7"/>
                </a:solidFill>
                <a:latin typeface="Segoe UI"/>
              </a:rPr>
              <a:t>Δ vs raw · últ. 3m cerrados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12848" y="5687568"/>
            <a:ext cx="228600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7A3D"/>
                </a:solidFill>
                <a:latin typeface="Segoe UI"/>
              </a:rPr>
              <a:t>+2.0 pt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AA0A7"/>
                </a:solidFill>
                <a:latin typeface="Segoe UI"/>
              </a:rPr>
              <a:t>0.331 → 0.351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26864" y="5687568"/>
            <a:ext cx="228600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7A3D"/>
                </a:solidFill>
                <a:latin typeface="Segoe UI"/>
              </a:rPr>
              <a:t>+6.7 pt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AA0A7"/>
                </a:solidFill>
                <a:latin typeface="Segoe UI"/>
              </a:rPr>
              <a:t>0.318 → 0.386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5687568"/>
            <a:ext cx="228600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7A3D"/>
                </a:solidFill>
                <a:latin typeface="Segoe UI"/>
              </a:rPr>
              <a:t>+0.5 pt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AA0A7"/>
                </a:solidFill>
                <a:latin typeface="Segoe UI"/>
              </a:rPr>
              <a:t>0.327 → 0.332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54896" y="5687568"/>
            <a:ext cx="228600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7A3D"/>
                </a:solidFill>
                <a:latin typeface="Segoe UI"/>
              </a:rPr>
              <a:t>+0.2 pt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AA0A7"/>
                </a:solidFill>
                <a:latin typeface="Segoe UI"/>
              </a:rPr>
              <a:t>0.442 → 0.445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686800" cy="8229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428"/>
                </a:solidFill>
                <a:latin typeface="Segoe UI"/>
              </a:rPr>
              <a:t>¿Qué es </a:t>
            </a:r>
            <a:r>
              <a:rPr sz="2500" b="1">
                <a:solidFill>
                  <a:srgbClr val="007A3D"/>
                </a:solidFill>
                <a:latin typeface="Segoe UI"/>
              </a:rPr>
              <a:t>dirty</a:t>
            </a:r>
            <a:r>
              <a:rPr sz="2500" b="1">
                <a:solidFill>
                  <a:srgbClr val="1F2428"/>
                </a:solidFill>
                <a:latin typeface="Segoe UI"/>
              </a:rPr>
              <a:t> en cada modelo?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27880"/>
                </a:solidFill>
                <a:latin typeface="Segoe UI"/>
              </a:rPr>
              <a:t>El set clean modela la admisión limpia; lo dirty se aparta para no arrastrar deterioro previo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384048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9525">
            <a:solidFill>
              <a:srgbClr val="CDE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007A3D"/>
                </a:solidFill>
                <a:latin typeface="Segoe UI"/>
              </a:rPr>
              <a:t>flg_clean · calibración PD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98448"/>
            <a:ext cx="11384280" cy="786384"/>
          </a:xfrm>
          <a:prstGeom prst="roundRect">
            <a:avLst>
              <a:gd name="adj" fmla="val 12000"/>
            </a:avLst>
          </a:prstGeom>
          <a:solidFill>
            <a:srgbClr val="E9F7EF"/>
          </a:solidFill>
          <a:ln w="9525">
            <a:solidFill>
              <a:srgbClr val="CDE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960120" cy="420624"/>
          </a:xfrm>
          <a:prstGeom prst="roundRect">
            <a:avLst>
              <a:gd name="adj" fmla="val 20000"/>
            </a:avLst>
          </a:prstGeom>
          <a:solidFill>
            <a:srgbClr val="00A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DIRTY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353312"/>
            <a:ext cx="9966960" cy="68580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7A3D"/>
                </a:solidFill>
                <a:latin typeface="Segoe UI"/>
              </a:rPr>
              <a:t>El cliente ya llega deteriorado o marcado en el RCC al momento de originar</a:t>
            </a:r>
            <a:r>
              <a:rPr sz="1250" b="0">
                <a:solidFill>
                  <a:srgbClr val="25412F"/>
                </a:solidFill>
                <a:latin typeface="Segoe UI"/>
              </a:rPr>
              <a:t> — no es una admisión limpia. Se aparta del set clean para que la PD mida </a:t>
            </a:r>
            <a:r>
              <a:rPr sz="1250" b="1">
                <a:solidFill>
                  <a:srgbClr val="007A3D"/>
                </a:solidFill>
                <a:latin typeface="Segoe UI"/>
              </a:rPr>
              <a:t>riesgo de admisión</a:t>
            </a:r>
            <a:r>
              <a:rPr sz="1250" b="0">
                <a:solidFill>
                  <a:srgbClr val="25412F"/>
                </a:solidFill>
                <a:latin typeface="Segoe UI"/>
              </a:rPr>
              <a:t>, sin arrastre histórico.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331720"/>
            <a:ext cx="372160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2331720"/>
            <a:ext cx="3721608" cy="841248"/>
          </a:xfrm>
          <a:prstGeom prst="roundRect">
            <a:avLst>
              <a:gd name="adj" fmla="val 6000"/>
            </a:avLst>
          </a:prstGeom>
          <a:solidFill>
            <a:srgbClr val="00A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2423160"/>
            <a:ext cx="2232964" cy="65836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PP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Segoe UI"/>
              </a:rPr>
              <a:t>Préstamo Personal · Fácil + 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6716" y="2423160"/>
            <a:ext cx="1528419" cy="65836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3.3%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Segoe UI"/>
              </a:rPr>
              <a:t>DEL UNIVERSO ES DIRTY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264408"/>
            <a:ext cx="3392424" cy="2953511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1">
                <a:solidFill>
                  <a:srgbClr val="9AA0A7"/>
                </a:solidFill>
                <a:latin typeface="Segoe UI"/>
              </a:rPr>
              <a:t>¿QUÉ MARCA DIRTY?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F2428"/>
                </a:solidFill>
                <a:latin typeface="Segoe UI"/>
              </a:rPr>
              <a:t>Impago al originar</a:t>
            </a:r>
            <a:r>
              <a:rPr sz="1050" b="0">
                <a:solidFill>
                  <a:srgbClr val="727880"/>
                </a:solidFill>
                <a:latin typeface="Segoe UI"/>
              </a:rPr>
              <a:t>   atraso · castigo · refin. · reestr. · judicial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F2428"/>
                </a:solidFill>
                <a:latin typeface="Segoe UI"/>
              </a:rPr>
              <a:t>Ya con crédito</a:t>
            </a:r>
            <a:r>
              <a:rPr sz="1050" b="0">
                <a:solidFill>
                  <a:srgbClr val="727880"/>
                </a:solidFill>
                <a:latin typeface="Segoe UI"/>
              </a:rPr>
              <a:t>   bancarizado · clasif. &gt; CPP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F2428"/>
                </a:solidFill>
                <a:latin typeface="Segoe UI"/>
              </a:rPr>
              <a:t>Filtros duros</a:t>
            </a:r>
            <a:r>
              <a:rPr sz="1050" b="0">
                <a:solidFill>
                  <a:srgbClr val="727880"/>
                </a:solidFill>
                <a:latin typeface="Segoe UI"/>
              </a:rPr>
              <a:t>   entidad · edad · duplicado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" b="0">
                <a:solidFill>
                  <a:srgbClr val="727880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1">
                <a:solidFill>
                  <a:srgbClr val="9AA0A7"/>
                </a:solidFill>
                <a:latin typeface="Segoe UI"/>
              </a:rPr>
              <a:t>FUERA DE ALCANCE (BUCKET 99, APARTE)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007A3D"/>
                </a:solidFill>
                <a:latin typeface="Segoe UI"/>
              </a:rPr>
              <a:t>garantía hipotecaria · saldo PP</a:t>
            </a:r>
            <a:r>
              <a:rPr sz="1050" b="0">
                <a:solidFill>
                  <a:srgbClr val="727880"/>
                </a:solidFill>
                <a:latin typeface="Segoe UI"/>
              </a:rPr>
              <a:t> — se separan del dirty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" b="0">
                <a:solidFill>
                  <a:srgbClr val="727880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F2428"/>
                </a:solidFill>
                <a:latin typeface="Segoe UI"/>
              </a:rPr>
              <a:t>Calibra sobre </a:t>
            </a:r>
            <a:r>
              <a:rPr sz="1050" b="1">
                <a:solidFill>
                  <a:srgbClr val="007A3D"/>
                </a:solidFill>
                <a:latin typeface="Segoe UI"/>
              </a:rPr>
              <a:t>clean</a:t>
            </a:r>
            <a:r>
              <a:rPr sz="1050" b="0">
                <a:solidFill>
                  <a:srgbClr val="1F2428"/>
                </a:solidFill>
                <a:latin typeface="Segoe UI"/>
              </a:rPr>
              <a:t>; el dirty se reporta aparte (LRA / overlay propio).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2331720"/>
            <a:ext cx="372160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33672" y="2331720"/>
            <a:ext cx="3721608" cy="841248"/>
          </a:xfrm>
          <a:prstGeom prst="roundRect">
            <a:avLst>
              <a:gd name="adj" fmla="val 6000"/>
            </a:avLst>
          </a:prstGeom>
          <a:solidFill>
            <a:srgbClr val="00A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2423160"/>
            <a:ext cx="2232964" cy="65836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EC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Segoe UI"/>
              </a:rPr>
              <a:t>Efectivo · IBK-only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8908" y="2423160"/>
            <a:ext cx="1528419" cy="65836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0%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Segoe UI"/>
              </a:rPr>
              <a:t>SIN MARCA DIRTY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3493008"/>
            <a:ext cx="3392424" cy="2587751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07A3D"/>
                </a:solidFill>
                <a:latin typeface="Segoe UI"/>
              </a:rPr>
              <a:t>No aparta dirty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727880"/>
                </a:solidFill>
                <a:latin typeface="Segoe UI"/>
              </a:rPr>
              <a:t> 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727880"/>
                </a:solidFill>
                <a:latin typeface="Segoe UI"/>
              </a:rPr>
              <a:t>La lógica de exclusión que usan los otros productos (reproceso, Scotiabank, duplicado) está desactivada en el build de EC: flg_clean = 1 para todos.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727880"/>
                </a:solidFill>
                <a:latin typeface="Segoe UI"/>
              </a:rPr>
              <a:t> 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F2428"/>
                </a:solidFill>
                <a:latin typeface="Segoe UI"/>
              </a:rPr>
              <a:t>Todos los registros entran como </a:t>
            </a:r>
            <a:r>
              <a:rPr sz="1100" b="1">
                <a:solidFill>
                  <a:srgbClr val="007A3D"/>
                </a:solidFill>
                <a:latin typeface="Segoe UI"/>
              </a:rPr>
              <a:t>clean.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727880"/>
                </a:solidFill>
                <a:latin typeface="Segoe UI"/>
              </a:rPr>
              <a:t> 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F2428"/>
                </a:solidFill>
                <a:latin typeface="Segoe UI"/>
              </a:rPr>
              <a:t>Calibra sobre el </a:t>
            </a:r>
            <a:r>
              <a:rPr sz="1050" b="1">
                <a:solidFill>
                  <a:srgbClr val="007A3D"/>
                </a:solidFill>
                <a:latin typeface="Segoe UI"/>
              </a:rPr>
              <a:t>100% como clean</a:t>
            </a:r>
            <a:r>
              <a:rPr sz="1050" b="0">
                <a:solidFill>
                  <a:srgbClr val="1F2428"/>
                </a:solidFill>
                <a:latin typeface="Segoe UI"/>
              </a:rPr>
              <a:t> (sin split clean/dirty).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2331720"/>
            <a:ext cx="372160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55864" y="2331720"/>
            <a:ext cx="3721608" cy="841248"/>
          </a:xfrm>
          <a:prstGeom prst="roundRect">
            <a:avLst>
              <a:gd name="adj" fmla="val 6000"/>
            </a:avLst>
          </a:prstGeom>
          <a:solidFill>
            <a:srgbClr val="00A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423160"/>
            <a:ext cx="2232964" cy="65836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TC Bank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Segoe UI"/>
              </a:rPr>
              <a:t>Tarjeta · single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1100" y="2423160"/>
            <a:ext cx="1528419" cy="65836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7EBC7"/>
                </a:solidFill>
                <a:latin typeface="Segoe UI"/>
              </a:rPr>
              <a:t>35%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7EBC7"/>
                </a:solidFill>
                <a:latin typeface="Segoe UI"/>
              </a:rPr>
              <a:t>DEL UNIVERSO ES DIRTY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3264408"/>
            <a:ext cx="3392424" cy="2953511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1">
                <a:solidFill>
                  <a:srgbClr val="9AA0A7"/>
                </a:solidFill>
                <a:latin typeface="Segoe UI"/>
              </a:rPr>
              <a:t>¿QUÉ MARCA DIRTY?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F2428"/>
                </a:solidFill>
                <a:latin typeface="Segoe UI"/>
              </a:rPr>
              <a:t>Impago al originar</a:t>
            </a:r>
            <a:r>
              <a:rPr sz="1050" b="0">
                <a:solidFill>
                  <a:srgbClr val="727880"/>
                </a:solidFill>
                <a:latin typeface="Segoe UI"/>
              </a:rPr>
              <a:t>   castigo · malos · refin. · reestr. · judicial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F2428"/>
                </a:solidFill>
                <a:latin typeface="Segoe UI"/>
              </a:rPr>
              <a:t>Ya con crédito</a:t>
            </a:r>
            <a:r>
              <a:rPr sz="1050" b="0">
                <a:solidFill>
                  <a:srgbClr val="727880"/>
                </a:solidFill>
                <a:latin typeface="Segoe UI"/>
              </a:rPr>
              <a:t>   bancarizado · clasif. &gt; CPP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F2428"/>
                </a:solidFill>
                <a:latin typeface="Segoe UI"/>
              </a:rPr>
              <a:t>Filtros duros</a:t>
            </a:r>
            <a:r>
              <a:rPr sz="1050" b="0">
                <a:solidFill>
                  <a:srgbClr val="727880"/>
                </a:solidFill>
                <a:latin typeface="Segoe UI"/>
              </a:rPr>
              <a:t>   entidades · edad · fraude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" b="0">
                <a:solidFill>
                  <a:srgbClr val="727880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1">
                <a:solidFill>
                  <a:srgbClr val="9AA0A7"/>
                </a:solidFill>
                <a:latin typeface="Segoe UI"/>
              </a:rPr>
              <a:t>FUERA DE ALCANCE (BUCKET 99)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B45309"/>
                </a:solidFill>
                <a:latin typeface="Segoe UI"/>
              </a:rPr>
              <a:t>No tiene bucket 99</a:t>
            </a:r>
            <a:r>
              <a:rPr sz="1050" b="0">
                <a:solidFill>
                  <a:srgbClr val="6B542B"/>
                </a:solidFill>
                <a:latin typeface="Segoe UI"/>
              </a:rPr>
              <a:t> — el fuera-de-alcance va junto con el dirty en flg_clean = 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" b="0">
                <a:solidFill>
                  <a:srgbClr val="727880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F2428"/>
                </a:solidFill>
                <a:latin typeface="Segoe UI"/>
              </a:rPr>
              <a:t>Calibra sobre </a:t>
            </a:r>
            <a:r>
              <a:rPr sz="1050" b="1">
                <a:solidFill>
                  <a:srgbClr val="007A3D"/>
                </a:solidFill>
                <a:latin typeface="Segoe UI"/>
              </a:rPr>
              <a:t>clean (≈65%)</a:t>
            </a:r>
            <a:r>
              <a:rPr sz="1050" b="0">
                <a:solidFill>
                  <a:srgbClr val="1F2428"/>
                </a:solidFill>
                <a:latin typeface="Segoe UI"/>
              </a:rPr>
              <a:t>; el dirty queda excluido.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19088"/>
            <a:ext cx="11384280" cy="38404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727880"/>
                </a:solidFill>
                <a:latin typeface="Segoe UI"/>
              </a:rPr>
              <a:t>Nota: </a:t>
            </a:r>
            <a:r>
              <a:rPr sz="950" b="0">
                <a:solidFill>
                  <a:srgbClr val="9AA0A7"/>
                </a:solidFill>
                <a:latin typeface="Segoe UI"/>
              </a:rPr>
              <a:t>los % no son directamente comparables — TC usa flg_clean binario (dirty + fuera de alcance juntos), mientras PP separa el fuera-de-alcance en un bucket 99. Categorías de dsc_flg_malo_12m del Reproceso de cada producto.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65760"/>
            <a:ext cx="8961120" cy="8686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2428"/>
                </a:solidFill>
                <a:latin typeface="Segoe UI"/>
              </a:rPr>
              <a:t>Próximos pasos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27880"/>
                </a:solidFill>
                <a:latin typeface="Segoe UI"/>
              </a:rPr>
              <a:t>Cronograma de entregas — calibración PD Visión Cliente · semana del 4 sep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12680" y="45720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9525">
            <a:solidFill>
              <a:srgbClr val="CDE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50" b="1">
                <a:solidFill>
                  <a:srgbClr val="007A3D"/>
                </a:solidFill>
                <a:latin typeface="Segoe UI"/>
              </a:rPr>
              <a:t>Cronograma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14600"/>
            <a:ext cx="94640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514600"/>
            <a:ext cx="2057400" cy="1783080"/>
          </a:xfrm>
          <a:prstGeom prst="roundRect">
            <a:avLst>
              <a:gd name="adj" fmla="val 6000"/>
            </a:avLst>
          </a:prstGeom>
          <a:solidFill>
            <a:srgbClr val="00A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VIERNES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624328"/>
            <a:ext cx="6949440" cy="156362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007A3D"/>
                </a:solidFill>
                <a:latin typeface="Segoe UI"/>
              </a:rPr>
              <a:t>●  </a:t>
            </a:r>
            <a:r>
              <a:rPr sz="1400" b="0">
                <a:solidFill>
                  <a:srgbClr val="1F2428"/>
                </a:solidFill>
                <a:latin typeface="Segoe UI"/>
              </a:rPr>
              <a:t>Entrega de altas scoreadas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007A3D"/>
                </a:solidFill>
                <a:latin typeface="Segoe UI"/>
              </a:rPr>
              <a:t>●  </a:t>
            </a:r>
            <a:r>
              <a:rPr sz="1400" b="0">
                <a:solidFill>
                  <a:srgbClr val="1F2428"/>
                </a:solidFill>
                <a:latin typeface="Segoe UI"/>
              </a:rPr>
              <a:t>Reproceso de 3 últimos meses de cada calibración</a:t>
            </a:r>
          </a:p>
        </p:txBody>
      </p:sp>
      <p:sp>
        <p:nvSpPr>
          <p:cNvPr id="7" name="Down Arrow 6"/>
          <p:cNvSpPr/>
          <p:nvPr/>
        </p:nvSpPr>
        <p:spPr>
          <a:xfrm>
            <a:off x="2286000" y="4434840"/>
            <a:ext cx="228600" cy="384048"/>
          </a:xfrm>
          <a:prstGeom prst="downArrow">
            <a:avLst/>
          </a:prstGeom>
          <a:solidFill>
            <a:srgbClr val="CDE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4956048"/>
            <a:ext cx="94640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4956048"/>
            <a:ext cx="2057400" cy="1417320"/>
          </a:xfrm>
          <a:prstGeom prst="roundRect">
            <a:avLst>
              <a:gd name="adj" fmla="val 6000"/>
            </a:avLst>
          </a:prstGeom>
          <a:solidFill>
            <a:srgbClr val="00A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LUNES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065776"/>
            <a:ext cx="6949440" cy="119786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007A3D"/>
                </a:solidFill>
                <a:latin typeface="Segoe UI"/>
              </a:rPr>
              <a:t>●  </a:t>
            </a:r>
            <a:r>
              <a:rPr sz="1400" b="0">
                <a:solidFill>
                  <a:srgbClr val="1F2428"/>
                </a:solidFill>
                <a:latin typeface="Segoe UI"/>
              </a:rPr>
              <a:t>6 escenarios FEN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