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7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 (estrés)</c:v>
                </c:pt>
              </c:strCache>
            </c:strRef>
          </c:tx>
          <c:spPr>
            <a:solidFill>
              <a:srgbClr val="009F46"/>
            </a:solidFill>
            <a:ln>
              <a:noFill/>
            </a:ln>
          </c:spPr>
          <c:dPt>
            <c:idx val="0"/>
            <c:spPr>
              <a:solidFill>
                <a:srgbClr val="3FAE77"/>
              </a:solidFill>
            </c:spPr>
          </c:dPt>
          <c:dPt>
            <c:idx val="1"/>
            <c:spPr>
              <a:solidFill>
                <a:srgbClr val="E0A800"/>
              </a:solidFill>
            </c:spPr>
          </c:dPt>
          <c:dPt>
            <c:idx val="2"/>
            <c:spPr>
              <a:solidFill>
                <a:srgbClr val="D35400"/>
              </a:solidFill>
            </c:spPr>
          </c:dPt>
          <c:cat>
            <c:strRef>
              <c:f>Sheet1!$A$2:$A$4</c:f>
              <c:strCache>
                <c:ptCount val="3"/>
                <c:pt idx="0">
                  <c:v>Urbano servicios</c:v>
                </c:pt>
                <c:pt idx="1">
                  <c:v>Agro sierra</c:v>
                </c:pt>
                <c:pt idx="2">
                  <c:v>Caleta pesca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-3.75</c:v>
                </c:pt>
                <c:pt idx="1">
                  <c:v>1.08</c:v>
                </c:pt>
                <c:pt idx="2">
                  <c:v>9.77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>
                  <a:solidFill>
                    <a:srgbClr val="333333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3"/>
            </a:solidFill>
          </a:ln>
        </c:spPr>
        <c:txPr>
          <a:bodyPr/>
          <a:lstStyle/>
          <a:p>
            <a:pPr>
              <a:defRPr sz="800">
                <a:solidFill>
                  <a:srgbClr val="97A19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numFmt formatCode="0.0" sourceLinked="0"/>
        <c:majorTickMark val="none"/>
        <c:minorTickMark val="none"/>
        <c:tickLblPos val="nextTo"/>
        <c:spPr>
          <a:ln>
            <a:solidFill>
              <a:srgbClr val="E2E5E3"/>
            </a:solidFill>
          </a:ln>
        </c:spPr>
        <c:txPr>
          <a:bodyPr/>
          <a:lstStyle/>
          <a:p>
            <a:pPr>
              <a:defRPr sz="800">
                <a:solidFill>
                  <a:srgbClr val="97A19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97A19B"/>
          </a:solidFill>
          <a:latin typeface="Poppin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12648" y="475488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47548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48056"/>
            <a:ext cx="10619201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9F46"/>
                </a:solidFill>
                <a:latin typeface="Poppins"/>
              </a:rPr>
              <a:t>Overlay de estrés FEN · canal de actividad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749808"/>
            <a:ext cx="10966673" cy="829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0" i="0">
                <a:solidFill>
                  <a:srgbClr val="005F1E"/>
                </a:solidFill>
                <a:latin typeface="Poppins"/>
              </a:rPr>
              <a:t>Score indirecto s: cómo el empleo del distrito mide su exposición al FEN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670812"/>
            <a:ext cx="10966673" cy="417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Poppins"/>
              </a:rPr>
              <a:t>Cada distrito se pondera por su </a:t>
            </a:r>
            <a:r>
              <a:rPr sz="1200" b="1" i="0">
                <a:solidFill>
                  <a:srgbClr val="005F1E"/>
                </a:solidFill>
                <a:latin typeface="Poppins"/>
              </a:rPr>
              <a:t>% de empleo en cada sector</a:t>
            </a:r>
            <a:r>
              <a:rPr sz="1200" b="0" i="0">
                <a:solidFill>
                  <a:srgbClr val="333333"/>
                </a:solidFill>
                <a:latin typeface="Poppins"/>
              </a:rPr>
              <a:t> × la </a:t>
            </a:r>
            <a:r>
              <a:rPr sz="1200" b="1" i="0">
                <a:solidFill>
                  <a:srgbClr val="005F1E"/>
                </a:solidFill>
                <a:latin typeface="Poppins"/>
              </a:rPr>
              <a:t>caída que Apoyo proyecta para ese sector</a:t>
            </a:r>
            <a:r>
              <a:rPr sz="1200" b="0" i="0">
                <a:solidFill>
                  <a:srgbClr val="333333"/>
                </a:solidFill>
                <a:latin typeface="Poppins"/>
              </a:rPr>
              <a:t> bajo el golpe FEN (base 2026).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307945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5F1E"/>
                </a:solidFill>
                <a:latin typeface="Poppins"/>
              </a:rPr>
              <a:t>EL PIPELINE · CUATRO PASOS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2600553"/>
            <a:ext cx="2570218" cy="896112"/>
          </a:xfrm>
          <a:prstGeom prst="roundRect">
            <a:avLst>
              <a:gd name="adj" fmla="val 4500"/>
            </a:avLst>
          </a:prstGeom>
          <a:solidFill>
            <a:srgbClr val="FAFAFA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67512" y="2673705"/>
            <a:ext cx="246049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05F1E"/>
                </a:solidFill>
                <a:latin typeface="Poppins"/>
              </a:rPr>
              <a:t>1 · Empleo por rama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838297"/>
            <a:ext cx="2460490" cy="108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00" b="0" i="0">
                <a:solidFill>
                  <a:srgbClr val="97A19B"/>
                </a:solidFill>
                <a:latin typeface="Poppins"/>
              </a:rPr>
              <a:t>Censo 2017 (Cuadro 11)
21 ramas × distrito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866" y="2600553"/>
            <a:ext cx="228600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7A19B"/>
                </a:solidFill>
                <a:latin typeface="Poppin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1466" y="2600553"/>
            <a:ext cx="2570218" cy="896112"/>
          </a:xfrm>
          <a:prstGeom prst="roundRect">
            <a:avLst>
              <a:gd name="adj" fmla="val 4500"/>
            </a:avLst>
          </a:prstGeom>
          <a:solidFill>
            <a:srgbClr val="FAFAFA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66330" y="2673705"/>
            <a:ext cx="246049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05F1E"/>
                </a:solidFill>
                <a:latin typeface="Poppins"/>
              </a:rPr>
              <a:t>2 · Reagrupar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6330" y="2838297"/>
            <a:ext cx="2460490" cy="2169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00" b="0" i="0">
                <a:solidFill>
                  <a:srgbClr val="97A19B"/>
                </a:solidFill>
                <a:latin typeface="Poppins"/>
              </a:rPr>
              <a:t>21 ramas → 8 sectores Apoyo
(+ pesca separada por CENEC)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1684" y="2600553"/>
            <a:ext cx="228600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7A19B"/>
                </a:solidFill>
                <a:latin typeface="Poppin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284" y="2600553"/>
            <a:ext cx="2570218" cy="896112"/>
          </a:xfrm>
          <a:prstGeom prst="roundRect">
            <a:avLst>
              <a:gd name="adj" fmla="val 4500"/>
            </a:avLst>
          </a:prstGeom>
          <a:solidFill>
            <a:srgbClr val="FAFAFA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65148" y="2673705"/>
            <a:ext cx="246049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05F1E"/>
                </a:solidFill>
                <a:latin typeface="Poppins"/>
              </a:rPr>
              <a:t>3 · Factor por sector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5148" y="2838297"/>
            <a:ext cx="2460490" cy="108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00" b="0" i="0">
                <a:solidFill>
                  <a:srgbClr val="97A19B"/>
                </a:solidFill>
                <a:latin typeface="Poppins"/>
              </a:rPr>
              <a:t>= −(caída base Apoyo 2026)
positivo = cae = estrés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0503" y="2600553"/>
            <a:ext cx="228600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7A19B"/>
                </a:solidFill>
                <a:latin typeface="Poppin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9103" y="2600553"/>
            <a:ext cx="2570218" cy="896112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009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063967" y="2673705"/>
            <a:ext cx="246049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05F1E"/>
                </a:solidFill>
                <a:latin typeface="Poppins"/>
              </a:rPr>
              <a:t>4 · Score del distrito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3967" y="2838297"/>
            <a:ext cx="2460490" cy="108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00" b="0" i="0">
                <a:solidFill>
                  <a:srgbClr val="97A19B"/>
                </a:solidFill>
                <a:latin typeface="Poppins"/>
              </a:rPr>
              <a:t>s = Σ %empleo × factor
s alto = más golpe FEN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" y="3798417"/>
            <a:ext cx="10972800" cy="457200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12648" y="3798417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25" b="1" i="0">
                <a:solidFill>
                  <a:srgbClr val="FFFFFF"/>
                </a:solidFill>
                <a:latin typeface="Poppins"/>
              </a:rPr>
              <a:t>s[distrito]</a:t>
            </a:r>
            <a:r>
              <a:rPr sz="825" b="0" i="0">
                <a:solidFill>
                  <a:srgbClr val="FFFFFF"/>
                </a:solidFill>
                <a:latin typeface="Poppins"/>
              </a:rPr>
              <a:t>   =   Σₛₑₜₜₒᵣ  ( %empleo del distrito en el sector   ×   factor del sector 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4438497"/>
            <a:ext cx="3527541" cy="167106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2648" y="4438497"/>
            <a:ext cx="27432" cy="167106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8096" y="4529937"/>
            <a:ext cx="3244077" cy="1239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9F46"/>
                </a:solidFill>
                <a:latin typeface="Poppins"/>
              </a:rPr>
              <a:t>POR QUÉ EL EMPLEO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4745329"/>
            <a:ext cx="3244077" cy="5113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25" b="0" i="0">
                <a:solidFill>
                  <a:srgbClr val="97A19B"/>
                </a:solidFill>
                <a:latin typeface="Poppins"/>
              </a:rPr>
              <a:t>Un distrito sufre el FEN por dónde trabaja su gente. Si emplea en pesca o agro (sectores que caen), su ingreso se estresa; si emplea en servicios o comercio (que crecen), se protege.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2213" y="4438497"/>
            <a:ext cx="3527541" cy="1671066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332213" y="4438497"/>
            <a:ext cx="27432" cy="167106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487661" y="4529937"/>
            <a:ext cx="3244077" cy="1239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9F46"/>
                </a:solidFill>
                <a:latin typeface="Poppins"/>
              </a:rPr>
              <a:t>POR QUÉ EL FACTOR = −CAÍDA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7661" y="4745329"/>
            <a:ext cx="3244077" cy="3834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25" b="0" i="0">
                <a:solidFill>
                  <a:srgbClr val="97A19B"/>
                </a:solidFill>
                <a:latin typeface="Poppins"/>
              </a:rPr>
              <a:t>Apoyo proyecta la variación de cada sector en 2026. Se invierte el signo: sector que cae → factor positivo → suma estrés; sector que crece → factor negativo → alivia.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51779" y="4438497"/>
            <a:ext cx="3527541" cy="167106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051779" y="4438497"/>
            <a:ext cx="27432" cy="167106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07227" y="4529937"/>
            <a:ext cx="3244077" cy="1239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9F46"/>
                </a:solidFill>
                <a:latin typeface="Poppins"/>
              </a:rPr>
              <a:t>SUMA 100% DEL EMPLEO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7227" y="4745329"/>
            <a:ext cx="3244077" cy="3834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25" b="0" i="0">
                <a:solidFill>
                  <a:srgbClr val="97A19B"/>
                </a:solidFill>
                <a:latin typeface="Poppins"/>
              </a:rPr>
              <a:t>Los pesos son el % de empleo del distrito, que suman 100%. Así s es un promedio ponderado de las caídas sectoriales, comparable entre distritos.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5F1E"/>
                </a:solidFill>
                <a:latin typeface="Poppins"/>
              </a:rPr>
              <a:t>Overlay de estrés FEN · canal de actividad (score s)</a:t>
            </a:r>
            <a:r>
              <a:rPr sz="800" b="0" i="0">
                <a:solidFill>
                  <a:srgbClr val="97A19B"/>
                </a:solidFill>
                <a:latin typeface="Poppins"/>
              </a:rPr>
              <a:t> · Riesgo de Crédito — MRM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7A19B"/>
                </a:solidFill>
                <a:latin typeface="Poppins"/>
              </a:rPr>
              <a:t>1 de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12648" y="475488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47548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48056"/>
            <a:ext cx="10619201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9F46"/>
                </a:solidFill>
                <a:latin typeface="Poppins"/>
              </a:rPr>
              <a:t>Overlay de estrés FEN · insumos del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749808"/>
            <a:ext cx="10966673" cy="4422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0" i="0">
                <a:solidFill>
                  <a:srgbClr val="005F1E"/>
                </a:solidFill>
                <a:latin typeface="Poppins"/>
              </a:rPr>
              <a:t>Los 8 sectores de Apoyo, su mapeo desde el Censo y el factor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283462"/>
            <a:ext cx="10966673" cy="231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Poppins"/>
              </a:rPr>
              <a:t>Las 21 ramas del Censo se reagrupan en los </a:t>
            </a:r>
            <a:r>
              <a:rPr sz="1200" b="1" i="0">
                <a:solidFill>
                  <a:srgbClr val="005F1E"/>
                </a:solidFill>
                <a:latin typeface="Poppins"/>
              </a:rPr>
              <a:t>8 sectores económicos de Apoyo</a:t>
            </a:r>
            <a:r>
              <a:rPr sz="1200" b="0" i="0">
                <a:solidFill>
                  <a:srgbClr val="333333"/>
                </a:solidFill>
                <a:latin typeface="Poppins"/>
              </a:rPr>
              <a:t>; cada uno lleva el factor = −(su caída base 2026).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2648" y="1771192"/>
          <a:ext cx="6675120" cy="3218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94430"/>
                <a:gridCol w="3487003"/>
                <a:gridCol w="896658"/>
                <a:gridCol w="797029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5F1E"/>
                          </a:solidFill>
                          <a:latin typeface="Poppins"/>
                        </a:rPr>
                        <a:t>Sector Apoyo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5F1E"/>
                          </a:solidFill>
                          <a:latin typeface="Poppins"/>
                        </a:rPr>
                        <a:t>ramas del Censo (mapeo CIIU)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5F1E"/>
                          </a:solidFill>
                          <a:latin typeface="Poppins"/>
                        </a:rPr>
                        <a:t>var% 26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5F1E"/>
                          </a:solidFill>
                          <a:latin typeface="Poppins"/>
                        </a:rPr>
                        <a:t>factor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009F46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5F1E"/>
                          </a:solidFill>
                          <a:latin typeface="Poppins"/>
                        </a:rPr>
                        <a:t>Pesca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5F1E"/>
                          </a:solidFill>
                          <a:latin typeface="Poppins"/>
                        </a:rPr>
                        <a:t>de 'agricultura…pesca', vía CENEC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5F1E"/>
                          </a:solidFill>
                          <a:latin typeface="Poppins"/>
                        </a:rPr>
                        <a:t>−31,1%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5F1E"/>
                          </a:solidFill>
                          <a:latin typeface="Poppins"/>
                        </a:rPr>
                        <a:t>+31,1</a:t>
                      </a:r>
                    </a:p>
                  </a:txBody>
                  <a:tcPr marL="73152" marR="73152" marT="27432" marB="27432" anchor="ctr">
                    <a:solidFill>
                      <a:srgbClr val="E7F4EC"/>
                    </a:solidFill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Agropecuario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Agricultura, ganadería, silvicultura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−1,5%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+1,5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Manufactura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Industrias manufactureras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−1,5%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+1,5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Minería e hidroc.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Minas y canteras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−0,8%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+0,8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Servicios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Transporte, financieras, salud, enseñanza… (14 ramas)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+3,2%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−3,2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Electricidad y agua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Electricidad/gas + Agua/saneamiento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+4,4%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−4,4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Comercio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Comercio y reparación de vehículos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+5,7%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−5,7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Construcción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Construcción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+9,4%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Poppins"/>
                        </a:rPr>
                        <a:t>−9,4</a:t>
                      </a:r>
                    </a:p>
                  </a:txBody>
                  <a:tcPr marL="73152" marR="73152" marT="27432" marB="27432" anchor="ctr">
                    <a:noFill/>
                    <a:lnB w="9525">
                      <a:solidFill>
                        <a:srgbClr val="E2E5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648" y="5063032"/>
            <a:ext cx="6675120" cy="1162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97A19B"/>
                </a:solidFill>
                <a:latin typeface="Poppins"/>
              </a:rPr>
              <a:t>Positivo = el sector cae = estrés FEN (pesca y agro). Negativo = crece = alivio. Editable en la hoja 'Factores'.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44967" y="1771192"/>
            <a:ext cx="3840480" cy="1822399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744967" y="1771192"/>
            <a:ext cx="27432" cy="1822399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900415" y="1862632"/>
            <a:ext cx="3557016" cy="1239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9F46"/>
                </a:solidFill>
                <a:latin typeface="Poppins"/>
              </a:rPr>
              <a:t>EJEMPLO · COMANDANTE NOEL (ÁNCASH)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0415" y="2078024"/>
            <a:ext cx="3557016" cy="1549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05F1E"/>
                </a:solidFill>
                <a:latin typeface="Poppins"/>
              </a:rPr>
              <a:t>Pesca 34% × (+31,1) = +10,6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0415" y="2251252"/>
            <a:ext cx="3557016" cy="127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25" b="0" i="0">
                <a:solidFill>
                  <a:srgbClr val="97A19B"/>
                </a:solidFill>
                <a:latin typeface="Poppins"/>
              </a:rPr>
              <a:t>la pesca domina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0415" y="2424798"/>
            <a:ext cx="3557016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900415" y="2470518"/>
            <a:ext cx="3557016" cy="1549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05F1E"/>
                </a:solidFill>
                <a:latin typeface="Poppins"/>
              </a:rPr>
              <a:t>Agro 28% × (+1,5) = +0,4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0415" y="2671178"/>
            <a:ext cx="3557016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900415" y="2716898"/>
            <a:ext cx="3557016" cy="1549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05F1E"/>
                </a:solidFill>
                <a:latin typeface="Poppins"/>
              </a:rPr>
              <a:t>Serv+Comercio+Constr = −1,5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0415" y="2890126"/>
            <a:ext cx="3557016" cy="127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25" b="0" i="0">
                <a:solidFill>
                  <a:srgbClr val="97A19B"/>
                </a:solidFill>
                <a:latin typeface="Poppins"/>
              </a:rPr>
              <a:t>los que crecen restan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0415" y="3063671"/>
            <a:ext cx="3557016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900415" y="3109391"/>
            <a:ext cx="3557016" cy="1549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05F1E"/>
                </a:solidFill>
                <a:latin typeface="Poppins"/>
              </a:rPr>
              <a:t>s = 9,77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0415" y="3282619"/>
            <a:ext cx="3557016" cy="127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25" b="0" i="0">
                <a:solidFill>
                  <a:srgbClr val="97A19B"/>
                </a:solidFill>
                <a:latin typeface="Poppins"/>
              </a:rPr>
              <a:t>caleta = máximo estrés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44967" y="4203496"/>
            <a:ext cx="3840480" cy="1183233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7744967" y="4203496"/>
            <a:ext cx="27432" cy="1183233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900415" y="4294936"/>
            <a:ext cx="3557016" cy="1239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9F46"/>
                </a:solidFill>
                <a:latin typeface="Poppins"/>
              </a:rPr>
              <a:t>DOS CORTES FINOS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0415" y="4510328"/>
            <a:ext cx="3557016" cy="1549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05F1E"/>
                </a:solidFill>
                <a:latin typeface="Poppins"/>
              </a:rPr>
              <a:t>Pesca se separa del agro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0415" y="4683556"/>
            <a:ext cx="3557016" cy="127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25" b="0" i="0">
                <a:solidFill>
                  <a:srgbClr val="97A19B"/>
                </a:solidFill>
                <a:latin typeface="Poppins"/>
              </a:rPr>
              <a:t>el Censo los combina; se corta con pesca_personal (CENEC)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0415" y="4857102"/>
            <a:ext cx="3557016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900415" y="4902822"/>
            <a:ext cx="3557016" cy="1549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05F1E"/>
                </a:solidFill>
                <a:latin typeface="Poppins"/>
              </a:rPr>
              <a:t>Sin PEA → el peor caso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0415" y="5076050"/>
            <a:ext cx="3557016" cy="127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25" b="0" i="0">
                <a:solidFill>
                  <a:srgbClr val="97A19B"/>
                </a:solidFill>
                <a:latin typeface="Poppins"/>
              </a:rPr>
              <a:t>26 distritos post-2017 sin empleo → s máx (conservador)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5F1E"/>
                </a:solidFill>
                <a:latin typeface="Poppins"/>
              </a:rPr>
              <a:t>Overlay de estrés FEN · canal de actividad (score s)</a:t>
            </a:r>
            <a:r>
              <a:rPr sz="800" b="0" i="0">
                <a:solidFill>
                  <a:srgbClr val="97A19B"/>
                </a:solidFill>
                <a:latin typeface="Poppins"/>
              </a:rPr>
              <a:t> · Riesgo de Crédito — MRM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7A19B"/>
                </a:solidFill>
                <a:latin typeface="Poppins"/>
              </a:rPr>
              <a:t>2 de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12648" y="475488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47548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48056"/>
            <a:ext cx="10619201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9F46"/>
                </a:solidFill>
                <a:latin typeface="Poppins"/>
              </a:rPr>
              <a:t>Overlay de estrés FEN · resultado del score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749808"/>
            <a:ext cx="10966673" cy="4422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0" i="0">
                <a:solidFill>
                  <a:srgbClr val="005F1E"/>
                </a:solidFill>
                <a:latin typeface="Poppins"/>
              </a:rPr>
              <a:t>Pesca y agro cargan el estrés; servicios y construcción lo alivian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283462"/>
            <a:ext cx="10966673" cy="417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Poppins"/>
              </a:rPr>
              <a:t>1 891 distritos. La </a:t>
            </a:r>
            <a:r>
              <a:rPr sz="1200" b="1" i="0">
                <a:solidFill>
                  <a:srgbClr val="005F1E"/>
                </a:solidFill>
                <a:latin typeface="Poppins"/>
              </a:rPr>
              <a:t>mayoría queda en alivio</a:t>
            </a:r>
            <a:r>
              <a:rPr sz="1200" b="0" i="0">
                <a:solidFill>
                  <a:srgbClr val="333333"/>
                </a:solidFill>
                <a:latin typeface="Poppins"/>
              </a:rPr>
              <a:t> (los sectores en expansión pesan más); el estrés se concentra en las </a:t>
            </a:r>
            <a:r>
              <a:rPr sz="1200" b="1" i="0">
                <a:solidFill>
                  <a:srgbClr val="005F1E"/>
                </a:solidFill>
                <a:latin typeface="Poppins"/>
              </a:rPr>
              <a:t>caletas de pesca y el agro</a:t>
            </a:r>
            <a:r>
              <a:rPr sz="1200" b="0" i="0">
                <a:solidFill>
                  <a:srgbClr val="333333"/>
                </a:solidFill>
                <a:latin typeface="Poppin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47672"/>
            <a:ext cx="3527541" cy="960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12648" y="1947672"/>
            <a:ext cx="27432" cy="96012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8096" y="2039112"/>
            <a:ext cx="3244077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9F46"/>
                </a:solidFill>
                <a:latin typeface="Poppins"/>
              </a:rPr>
              <a:t>MEDIANA DE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21991"/>
            <a:ext cx="3244077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005F1E"/>
                </a:solidFill>
                <a:latin typeface="Poppins"/>
              </a:rPr>
              <a:t>−0,54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679191"/>
            <a:ext cx="3244077" cy="1162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97A19B"/>
                </a:solidFill>
                <a:latin typeface="Poppins"/>
              </a:rPr>
              <a:t>la mayoría alivia (crecen servicios)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2213" y="1947672"/>
            <a:ext cx="3527541" cy="960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32213" y="1947672"/>
            <a:ext cx="27432" cy="96012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87661" y="2039112"/>
            <a:ext cx="3244077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9F46"/>
                </a:solidFill>
                <a:latin typeface="Poppins"/>
              </a:rPr>
              <a:t>DISTRITOS CON ESTRÉS (S&gt;0)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7661" y="2221991"/>
            <a:ext cx="3244077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005F1E"/>
                </a:solidFill>
                <a:latin typeface="Poppins"/>
              </a:rPr>
              <a:t>34%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7661" y="2679191"/>
            <a:ext cx="3244077" cy="1162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97A19B"/>
                </a:solidFill>
                <a:latin typeface="Poppins"/>
              </a:rPr>
              <a:t>631 de 1 865 con dato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1779" y="1947672"/>
            <a:ext cx="3527541" cy="960120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51779" y="1947672"/>
            <a:ext cx="27432" cy="960120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07227" y="2039112"/>
            <a:ext cx="3244077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9F46"/>
                </a:solidFill>
                <a:latin typeface="Poppins"/>
              </a:rPr>
              <a:t>MÁXIMO (CALETA PESCA)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7227" y="2221991"/>
            <a:ext cx="3244077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005F1E"/>
                </a:solidFill>
                <a:latin typeface="Poppins"/>
              </a:rPr>
              <a:t>9,77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7227" y="2679191"/>
            <a:ext cx="3244077" cy="1162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97A19B"/>
                </a:solidFill>
                <a:latin typeface="Poppins"/>
              </a:rPr>
              <a:t>Comandante Noel · Áncash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12648" y="3108960"/>
          <a:ext cx="5486400" cy="31821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12648" y="627278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97A19B"/>
                </a:solidFill>
                <a:latin typeface="Poppins"/>
              </a:rPr>
              <a:t>3 arquetipos: el signo lo decide qué sector emplea más.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56248" y="3108960"/>
            <a:ext cx="5029200" cy="790956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556248" y="3108960"/>
            <a:ext cx="27432" cy="79095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711696" y="3200400"/>
            <a:ext cx="4745736" cy="1239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9F46"/>
                </a:solidFill>
                <a:latin typeface="Poppins"/>
              </a:rPr>
              <a:t>ESTRÉS ALTO · PESCA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11696" y="3415792"/>
            <a:ext cx="4745736" cy="1549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05F1E"/>
                </a:solidFill>
                <a:latin typeface="Poppins"/>
              </a:rPr>
              <a:t>Comandante Noel 9,8 · Samanco 8,4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1696" y="3589020"/>
            <a:ext cx="4745736" cy="127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25" b="0" i="0">
                <a:solidFill>
                  <a:srgbClr val="97A19B"/>
                </a:solidFill>
                <a:latin typeface="Poppins"/>
              </a:rPr>
              <a:t>caletas: pesca cae −31%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56248" y="3950208"/>
            <a:ext cx="5029200" cy="79095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556248" y="3950208"/>
            <a:ext cx="27432" cy="79095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711696" y="4041648"/>
            <a:ext cx="4745736" cy="1239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9F46"/>
                </a:solidFill>
                <a:latin typeface="Poppins"/>
              </a:rPr>
              <a:t>ESTRÉS MEDIO · AGRO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11696" y="4257040"/>
            <a:ext cx="4745736" cy="1549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05F1E"/>
                </a:solidFill>
                <a:latin typeface="Poppins"/>
              </a:rPr>
              <a:t>Sierra agropecuaria ≈ +1,1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11696" y="4430268"/>
            <a:ext cx="4745736" cy="127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25" b="0" i="0">
                <a:solidFill>
                  <a:srgbClr val="97A19B"/>
                </a:solidFill>
                <a:latin typeface="Poppins"/>
              </a:rPr>
              <a:t>agro cae leve −1,5%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56248" y="4791456"/>
            <a:ext cx="5029200" cy="79095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556248" y="4791456"/>
            <a:ext cx="27432" cy="79095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711696" y="4882896"/>
            <a:ext cx="4745736" cy="1239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9F46"/>
                </a:solidFill>
                <a:latin typeface="Poppins"/>
              </a:rPr>
              <a:t>ALIVIO · SERVICIOS / COMERCIO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11696" y="5098288"/>
            <a:ext cx="4745736" cy="1549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05F1E"/>
                </a:solidFill>
                <a:latin typeface="Poppins"/>
              </a:rPr>
              <a:t>Urbano ≈ −3,8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11696" y="5271516"/>
            <a:ext cx="4745736" cy="127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25" b="0" i="0">
                <a:solidFill>
                  <a:srgbClr val="97A19B"/>
                </a:solidFill>
                <a:latin typeface="Poppins"/>
              </a:rPr>
              <a:t>comercio +5,7% y servicios +3,2% pesan más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56248" y="5632704"/>
            <a:ext cx="5029200" cy="79095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6556248" y="5632704"/>
            <a:ext cx="27432" cy="79095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711696" y="5724144"/>
            <a:ext cx="4745736" cy="1239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9F46"/>
                </a:solidFill>
                <a:latin typeface="Poppins"/>
              </a:rPr>
              <a:t>SIN DATO → EL PEOR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11696" y="5939536"/>
            <a:ext cx="4745736" cy="1549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05F1E"/>
                </a:solidFill>
                <a:latin typeface="Poppins"/>
              </a:rPr>
              <a:t>26 distritos post-2017 → 9,77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11696" y="6112764"/>
            <a:ext cx="4745736" cy="127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25" b="0" i="0">
                <a:solidFill>
                  <a:srgbClr val="97A19B"/>
                </a:solidFill>
                <a:latin typeface="Poppins"/>
              </a:rPr>
              <a:t>sin PEA: se asume el máximo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5F1E"/>
                </a:solidFill>
                <a:latin typeface="Poppins"/>
              </a:rPr>
              <a:t>Overlay de estrés FEN · canal de actividad (score s)</a:t>
            </a:r>
            <a:r>
              <a:rPr sz="800" b="0" i="0">
                <a:solidFill>
                  <a:srgbClr val="97A19B"/>
                </a:solidFill>
                <a:latin typeface="Poppins"/>
              </a:rPr>
              <a:t> · Riesgo de Crédito — MRM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50521" y="6473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7A19B"/>
                </a:solidFill>
                <a:latin typeface="Poppins"/>
              </a:rPr>
              <a:t>3 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