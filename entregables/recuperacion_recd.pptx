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rec_d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dPt>
            <c:idx val="0"/>
            <c:spPr>
              <a:solidFill>
                <a:srgbClr val="D35400"/>
              </a:solidFill>
            </c:spPr>
          </c:dPt>
          <c:dPt>
            <c:idx val="1"/>
            <c:spPr>
              <a:solidFill>
                <a:srgbClr val="E0A800"/>
              </a:solidFill>
            </c:spPr>
          </c:dPt>
          <c:dPt>
            <c:idx val="2"/>
            <c:spPr>
              <a:solidFill>
                <a:srgbClr val="E0A800"/>
              </a:solidFill>
            </c:spPr>
          </c:dPt>
          <c:dPt>
            <c:idx val="3"/>
            <c:spPr>
              <a:solidFill>
                <a:srgbClr val="E0A800"/>
              </a:solidFill>
            </c:spPr>
          </c:dPt>
          <c:dPt>
            <c:idx val="4"/>
            <c:spPr>
              <a:solidFill>
                <a:srgbClr val="3FAE77"/>
              </a:solidFill>
            </c:spPr>
          </c:dPt>
          <c:dPt>
            <c:idx val="5"/>
            <c:spPr>
              <a:solidFill>
                <a:srgbClr val="3FAE77"/>
              </a:solidFill>
            </c:spPr>
          </c:dPt>
          <c:dPt>
            <c:idx val="6"/>
            <c:spPr>
              <a:solidFill>
                <a:srgbClr val="3FAE77"/>
              </a:solidFill>
            </c:spPr>
          </c:dPt>
          <c:dPt>
            <c:idx val="7"/>
            <c:spPr>
              <a:solidFill>
                <a:srgbClr val="3FAE77"/>
              </a:solidFill>
            </c:spPr>
          </c:dPt>
          <c:dPt>
            <c:idx val="8"/>
            <c:spPr>
              <a:solidFill>
                <a:srgbClr val="3FAE77"/>
              </a:solidFill>
            </c:spPr>
          </c:dPt>
          <c:dPt>
            <c:idx val="9"/>
            <c:spPr>
              <a:solidFill>
                <a:srgbClr val="3FAE77"/>
              </a:solidFill>
            </c:spPr>
          </c:dPt>
          <c:dPt>
            <c:idx val="10"/>
            <c:spPr>
              <a:solidFill>
                <a:srgbClr val="009F46"/>
              </a:solidFill>
            </c:spPr>
          </c:dPt>
          <c:cat>
            <c:strRef>
              <c:f>Sheet1!$A$2:$A$12</c:f>
              <c:strCache>
                <c:ptCount val="11"/>
                <c:pt idx="0">
                  <c:v>Ica</c:v>
                </c:pt>
                <c:pt idx="1">
                  <c:v>Tumbes</c:v>
                </c:pt>
                <c:pt idx="2">
                  <c:v>Piura</c:v>
                </c:pt>
                <c:pt idx="3">
                  <c:v>Lambayeque</c:v>
                </c:pt>
                <c:pt idx="4">
                  <c:v>Ancash</c:v>
                </c:pt>
                <c:pt idx="5">
                  <c:v>Moquegua</c:v>
                </c:pt>
                <c:pt idx="6">
                  <c:v>Lima</c:v>
                </c:pt>
                <c:pt idx="7">
                  <c:v>La Libertad</c:v>
                </c:pt>
                <c:pt idx="8">
                  <c:v>Callao</c:v>
                </c:pt>
                <c:pt idx="9">
                  <c:v>Arequipa</c:v>
                </c:pt>
                <c:pt idx="10">
                  <c:v>Tacna</c:v>
                </c:pt>
              </c:strCache>
            </c:strRef>
          </c:cat>
          <c:val>
            <c:numRef>
              <c:f>Sheet1!$B$2:$B$12</c:f>
              <c:numCache>
                <c:formatCode>0.000</c:formatCode>
                <c:ptCount val="11"/>
                <c:pt idx="0">
                  <c:v>0.375</c:v>
                </c:pt>
                <c:pt idx="1">
                  <c:v>0.5</c:v>
                </c:pt>
                <c:pt idx="2">
                  <c:v>0.625</c:v>
                </c:pt>
                <c:pt idx="3">
                  <c:v>0.625</c:v>
                </c:pt>
                <c:pt idx="4">
                  <c:v>0.75</c:v>
                </c:pt>
                <c:pt idx="5">
                  <c:v>0.875</c:v>
                </c:pt>
                <c:pt idx="6">
                  <c:v>0.875</c:v>
                </c:pt>
                <c:pt idx="7">
                  <c:v>0.875</c:v>
                </c:pt>
                <c:pt idx="8">
                  <c:v>0.875</c:v>
                </c:pt>
                <c:pt idx="9">
                  <c:v>0.875</c:v>
                </c:pt>
                <c:pt idx="10">
                  <c:v>1.0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0.000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448056"/>
            <a:ext cx="1096667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Overlay de estrés FEN · canal de recuperación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49808"/>
            <a:ext cx="10966673" cy="829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Recuperación (rec_d): cuánto la economía local amortigua el golpe FEN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70812"/>
            <a:ext cx="10966673" cy="417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Cada departamento atenúa el estrés según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qué tan rápido recupera su actividad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. Se arma en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2 pasos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: el rango de meses de recuperación y un ajuste por la pendiente de hoy.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07945"/>
            <a:ext cx="525473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PASO 1 · RANGO DE MESES DE RECUPERACIÓN (ANÁLOGO YAKU-2023)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2600553"/>
          <a:ext cx="5254737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08421"/>
                <a:gridCol w="1751579"/>
                <a:gridCol w="1094737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Nivel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meses (m50)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rec_d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Resiliente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5F1E"/>
                          </a:solidFill>
                          <a:latin typeface="Poppins"/>
                        </a:rPr>
                        <a:t>≤ 3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5F1E"/>
                          </a:solidFill>
                          <a:latin typeface="Poppins"/>
                        </a:rPr>
                        <a:t>1,00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Moderada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4 – 6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0,75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Normal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7 – 9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0,50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Lenta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&gt; 9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0,25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" y="4228185"/>
            <a:ext cx="5254736" cy="232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m50 = media vida: meses desde el piso hasta recuperar el 50% de la caída bajo su normal, sobre el índice IBK+ suavizado. Alto rec_d = resiliente = atenúa más.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584" y="2307945"/>
            <a:ext cx="525473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PASO 2 · AJUSTE POR LA PENDIENTE 2026 (SIMÉTRICO, PASO 0,125)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584" y="2600553"/>
            <a:ext cx="5254736" cy="36576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4312" y="2600553"/>
            <a:ext cx="5035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Poppins"/>
              </a:rPr>
              <a:t>señal</a:t>
            </a:r>
            <a:r>
              <a:rPr sz="825" b="0" i="0">
                <a:solidFill>
                  <a:srgbClr val="FFFFFF"/>
                </a:solidFill>
                <a:latin typeface="Poppins"/>
              </a:rPr>
              <a:t>  =  prom(Abr–Set 2026)  −  prom(Oct 2025–Mar 2026)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24584" y="3076041"/>
          <a:ext cx="5254737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82775"/>
                <a:gridCol w="167196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Momentum (|señal|)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paso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estable  (&lt; 0,15)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leve  (0,15 – 0,5)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± 0,125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moderada  (0,5 – 1,0)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± 0,25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fuerte  (&gt; 1,0)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± 0,375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24584" y="4557369"/>
            <a:ext cx="5254736" cy="726948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24584" y="4557369"/>
            <a:ext cx="27432" cy="726948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80032" y="4648809"/>
            <a:ext cx="4971272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EJEMPLO · LAMBAYEQUE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32" y="4864201"/>
            <a:ext cx="4971272" cy="255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Su actividad pasó de 2,49 a 1,10 (cae −1,39 = fuerte) → −0,375. Era Resiliente en Yaku (1,00) pero cae hoy → rec_d 0,625.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5724144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9808" y="5724144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25" b="1" i="0">
                <a:solidFill>
                  <a:srgbClr val="005F1E"/>
                </a:solidFill>
                <a:latin typeface="Poppins"/>
              </a:rPr>
              <a:t>Motor:  </a:t>
            </a:r>
            <a:r>
              <a:rPr sz="825" b="0" i="0">
                <a:solidFill>
                  <a:srgbClr val="97A19B"/>
                </a:solidFill>
                <a:latin typeface="Poppins"/>
              </a:rPr>
              <a:t>PD* = Φ( Φ⁻¹(PD₀) + λ·γ·costa·e′·</a:t>
            </a:r>
            <a:r>
              <a:rPr sz="825" b="1" i="0">
                <a:solidFill>
                  <a:srgbClr val="D35400"/>
                </a:solidFill>
                <a:latin typeface="Poppins"/>
              </a:rPr>
              <a:t>(1 − wrec·rec_d)</a:t>
            </a:r>
            <a:r>
              <a:rPr sz="825" b="0" i="0">
                <a:solidFill>
                  <a:srgbClr val="97A19B"/>
                </a:solidFill>
                <a:latin typeface="Poppins"/>
              </a:rPr>
              <a:t> ).  rec_d alto → atenúa hasta 30% el estrés FEN; bajo → casi no atenúa.   Fuente: </a:t>
            </a:r>
            <a:r>
              <a:rPr sz="825" b="1" i="0">
                <a:solidFill>
                  <a:srgbClr val="005F1E"/>
                </a:solidFill>
                <a:latin typeface="Poppins"/>
              </a:rPr>
              <a:t>IBK+ donde hay serie; inflación (IPC INEI) donde no</a:t>
            </a:r>
            <a:r>
              <a:rPr sz="825" b="0" i="0">
                <a:solidFill>
                  <a:srgbClr val="97A19B"/>
                </a:solidFill>
                <a:latin typeface="Poppins"/>
              </a:rPr>
              <a:t> (Tumbes/Moquegua/Tacna).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Overlay de estrés FEN · componente recuperación (rec_d)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Riesgo de Crédito — MRM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7A19B"/>
                </a:solidFill>
                <a:latin typeface="Poppins"/>
              </a:rPr>
              <a:t>1 de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448056"/>
            <a:ext cx="1096667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Overlay de estrés FEN · recuperación por departamento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49808"/>
            <a:ext cx="10966673" cy="4422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El norte que cae retiene estrés; el que recupera, atenúa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83462"/>
            <a:ext cx="10966673" cy="417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rec_d por departamento de la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costa Pacífico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 (donde el gate FEN está activo). El paso 2 baja a los que caen hoy (Lambayeque, Tumbes) y sube a los que recuperan.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" y="1947672"/>
          <a:ext cx="67665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36408" y="1947672"/>
            <a:ext cx="3749039" cy="1183233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836408" y="1947672"/>
            <a:ext cx="27432" cy="118323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2039112"/>
            <a:ext cx="3465575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RESILIENTE → ATENÚA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254504"/>
            <a:ext cx="3465575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Arequipa 0,875 · Áncash 0,75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2427732"/>
            <a:ext cx="3465575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recuperan rápido y mejoran en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2601277"/>
            <a:ext cx="3465575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91856" y="2646997"/>
            <a:ext cx="3465575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La Libertad · Lima · Callao 0,875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2820225"/>
            <a:ext cx="3465575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moderada + mejora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36408" y="3258921"/>
            <a:ext cx="3749039" cy="118323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36408" y="3258921"/>
            <a:ext cx="27432" cy="118323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91856" y="3350361"/>
            <a:ext cx="3465575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CAE HOY → RETIENE ESTRÉS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565753"/>
            <a:ext cx="3465575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Lambayeque 0,625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3738981"/>
            <a:ext cx="3465575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caída fuerte 2026 (−1,39)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3912527"/>
            <a:ext cx="3465575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91856" y="3958247"/>
            <a:ext cx="3465575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Tumbes 0,50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4131475"/>
            <a:ext cx="3465575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inflación local al alza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36408" y="4570171"/>
            <a:ext cx="3749039" cy="7909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836408" y="4570171"/>
            <a:ext cx="27432" cy="79095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91856" y="4661611"/>
            <a:ext cx="3465575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LENTO → RETIENE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4877003"/>
            <a:ext cx="3465575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Ica 0,375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5050231"/>
            <a:ext cx="3465575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recuperó lento del Yaku (18m)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5470855"/>
            <a:ext cx="3749039" cy="232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Tacna/Moquegua arriba = sur lejano, baja exposición FEN (casi no mueve). Callao = Lima metro. Inflación solo donde no hay IBK+.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Overlay de estrés FEN · componente recuperación (rec_d)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Riesgo de Crédito — MRM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7A19B"/>
                </a:solidFill>
                <a:latin typeface="Poppins"/>
              </a:rPr>
              <a:t>2 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