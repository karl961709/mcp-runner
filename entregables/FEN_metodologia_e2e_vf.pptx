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5" r:id="rId3"/>
    <p:sldId id="268" r:id="rId4"/>
    <p:sldId id="266" r:id="rId5"/>
    <p:sldId id="270" r:id="rId6"/>
    <p:sldId id="272" r:id="rId7"/>
    <p:sldId id="274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27E"/>
    <a:srgbClr val="00733A"/>
    <a:srgbClr val="A1A8B0"/>
    <a:srgbClr val="E3E8EC"/>
    <a:srgbClr val="FFFFFF"/>
    <a:srgbClr val="6D7984"/>
    <a:srgbClr val="2F7B67"/>
    <a:srgbClr val="16202A"/>
    <a:srgbClr val="CE3B2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35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0D99-732A-71CF-7A2A-54ACE549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48548-90C1-F7AD-8BDE-DAA1857B3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E19AF3-5752-97DF-63AD-AC933DD65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5EDAF-5D58-0EC7-D47A-600CBB028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85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1FB4-FF32-8A2A-AABE-FA494BFC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55A70-ADCA-D394-6CE0-4091F2C65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797D4-B136-EBAA-0EC6-48262E00C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C8BA5-9307-EF9F-9862-9E147C6A0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3693-AAAA-80C4-766A-8E38B8CE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B7994-D7D0-3132-0FE9-F0D90E92B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C83FA-53BE-46C3-4DF9-0AA48A02C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B1922-445B-E678-64C3-BC5EC95F4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8B6F-E6AA-F2AE-4A81-EF368F82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39B72-ACB6-6E7E-DF38-8025BA835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0C0AB-40A2-0CA6-894D-A95DE25EF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03B25-1431-1734-333F-EEBF08541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18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724FC-7061-F476-0CE2-D80AEDB9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080E8-58A8-CE18-4F3B-E4F2764D7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24C37-18BF-DF6F-F637-34D49CB83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00245-C4AD-D56D-4A5B-CEC1DFC72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00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6DCB-BF0D-39A6-0D5C-23225059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53E38-B3F7-1800-E844-F0B1538F7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39BEB-4BB7-DD44-A222-AFCF96584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D183-5E93-1346-7C6B-07267EF9A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26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E6EC-7252-BE51-451A-8E7ABB7E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0B8DE-26E1-A954-BA1E-8FAF156BA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3F034-2CDD-BBAD-CFBD-4D0CC3943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CEEF0-4441-BA65-53ED-E75B9BE24A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0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75EE-E0F5-27E6-7321-57FFA4AE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CA68DD-9A2E-541F-7CC3-106625C67230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C052AE-50D8-3315-D58A-7E161F2F3782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D8097B-5A2D-87B3-A0F5-AD952E0CAD2C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2F67445D-6160-E110-28F8-0A5BFD5E48F6}"/>
              </a:ext>
            </a:extLst>
          </p:cNvPr>
          <p:cNvSpPr/>
          <p:nvPr/>
        </p:nvSpPr>
        <p:spPr>
          <a:xfrm>
            <a:off x="609600" y="609600"/>
            <a:ext cx="10287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Framework de estrés </a:t>
            </a:r>
            <a:r>
              <a:rPr lang="en-US" sz="3000" b="1" dirty="0" err="1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por</a:t>
            </a:r>
            <a:r>
              <a:rPr lang="en-US" sz="30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FEN</a:t>
            </a:r>
            <a:endParaRPr lang="en-US" sz="3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74537F38-51F5-C6B2-2A8D-1DE6FDC5C87A}"/>
              </a:ext>
            </a:extLst>
          </p:cNvPr>
          <p:cNvSpPr/>
          <p:nvPr/>
        </p:nvSpPr>
        <p:spPr>
          <a:xfrm>
            <a:off x="622498" y="1003300"/>
            <a:ext cx="1097249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Se aplica sobre la Probabilidad de Default (PD) </a:t>
            </a:r>
            <a:r>
              <a:rPr lang="en-US" sz="1250" dirty="0" err="1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calibrada</a:t>
            </a:r>
            <a:r>
              <a:rPr lang="en-US" sz="125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con visión forward-looking nacional. El estrés se ejecuta distrito a distrito y cliente a cliente, en función de cinco componentes.</a:t>
            </a:r>
            <a:endParaRPr lang="en-US" sz="1250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Shape 5">
            <a:extLst>
              <a:ext uri="{FF2B5EF4-FFF2-40B4-BE49-F238E27FC236}">
                <a16:creationId xmlns:a16="http://schemas.microsoft.com/office/drawing/2014/main" id="{E823DED7-F9EC-EF99-821E-B5B37608D8EA}"/>
              </a:ext>
            </a:extLst>
          </p:cNvPr>
          <p:cNvSpPr/>
          <p:nvPr/>
        </p:nvSpPr>
        <p:spPr>
          <a:xfrm>
            <a:off x="609600" y="1689100"/>
            <a:ext cx="2685974" cy="698500"/>
          </a:xfrm>
          <a:prstGeom prst="roundRect">
            <a:avLst>
              <a:gd name="adj" fmla="val 5714"/>
            </a:avLst>
          </a:prstGeom>
          <a:noFill/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>
              <a:solidFill>
                <a:srgbClr val="6D7984"/>
              </a:solidFill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090094ED-0F04-43F2-F53A-3FE6C7FEBC15}"/>
              </a:ext>
            </a:extLst>
          </p:cNvPr>
          <p:cNvSpPr/>
          <p:nvPr/>
        </p:nvSpPr>
        <p:spPr>
          <a:xfrm>
            <a:off x="736600" y="1739900"/>
            <a:ext cx="1143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D7984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1.98</a:t>
            </a:r>
            <a:endParaRPr lang="en-US" sz="2400" b="1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B2941EEE-3AC8-12FA-A9B8-AF86C4A3007F}"/>
              </a:ext>
            </a:extLst>
          </p:cNvPr>
          <p:cNvSpPr/>
          <p:nvPr/>
        </p:nvSpPr>
        <p:spPr>
          <a:xfrm>
            <a:off x="736600" y="2133600"/>
            <a:ext cx="243197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ICEN </a:t>
            </a:r>
            <a:r>
              <a:rPr lang="en-US" sz="600" dirty="0" err="1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observado</a:t>
            </a: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Mayo 2026</a:t>
            </a:r>
            <a:endParaRPr lang="en-US" sz="600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787948DC-FEA1-EB58-2BBE-2B5FD9542C46}"/>
              </a:ext>
            </a:extLst>
          </p:cNvPr>
          <p:cNvSpPr/>
          <p:nvPr/>
        </p:nvSpPr>
        <p:spPr>
          <a:xfrm>
            <a:off x="3371774" y="1689100"/>
            <a:ext cx="2685974" cy="698500"/>
          </a:xfrm>
          <a:prstGeom prst="roundRect">
            <a:avLst>
              <a:gd name="adj" fmla="val 5714"/>
            </a:avLst>
          </a:prstGeom>
          <a:noFill/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>
              <a:solidFill>
                <a:srgbClr val="6D7984"/>
              </a:solidFill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624BEDB0-5A04-207D-E77E-F9E3B1F03D1F}"/>
              </a:ext>
            </a:extLst>
          </p:cNvPr>
          <p:cNvSpPr/>
          <p:nvPr/>
        </p:nvSpPr>
        <p:spPr>
          <a:xfrm>
            <a:off x="3498774" y="1739900"/>
            <a:ext cx="1143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D7984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4.4</a:t>
            </a:r>
            <a:endParaRPr lang="en-US" sz="2400" b="1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4B0EB0E5-01F9-7AF6-0536-16691FF4F51B}"/>
              </a:ext>
            </a:extLst>
          </p:cNvPr>
          <p:cNvSpPr/>
          <p:nvPr/>
        </p:nvSpPr>
        <p:spPr>
          <a:xfrm>
            <a:off x="3498774" y="2133600"/>
            <a:ext cx="2431974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ICEN proyectado a Nov 2026, </a:t>
            </a:r>
            <a:r>
              <a:rPr lang="en-US" sz="600" dirty="0" err="1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categoría</a:t>
            </a: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Extraordinario</a:t>
            </a:r>
            <a:endParaRPr lang="en-US" sz="600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278E262B-6F5E-289A-9E3A-F9EC59D987EF}"/>
              </a:ext>
            </a:extLst>
          </p:cNvPr>
          <p:cNvSpPr/>
          <p:nvPr/>
        </p:nvSpPr>
        <p:spPr>
          <a:xfrm>
            <a:off x="6133948" y="1689100"/>
            <a:ext cx="2685974" cy="698500"/>
          </a:xfrm>
          <a:prstGeom prst="roundRect">
            <a:avLst>
              <a:gd name="adj" fmla="val 5714"/>
            </a:avLst>
          </a:prstGeom>
          <a:noFill/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>
              <a:solidFill>
                <a:srgbClr val="6D7984"/>
              </a:solidFill>
            </a:endParaRPr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FB1C53C9-4C85-305C-B99D-5013BB8394E0}"/>
              </a:ext>
            </a:extLst>
          </p:cNvPr>
          <p:cNvSpPr/>
          <p:nvPr/>
        </p:nvSpPr>
        <p:spPr>
          <a:xfrm>
            <a:off x="6260948" y="1739900"/>
            <a:ext cx="1143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6D7984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796</a:t>
            </a:r>
            <a:endParaRPr lang="en-US" sz="2400" b="1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13C3C2D4-502B-9266-F05B-FBDBF9BA6403}"/>
              </a:ext>
            </a:extLst>
          </p:cNvPr>
          <p:cNvSpPr/>
          <p:nvPr/>
        </p:nvSpPr>
        <p:spPr>
          <a:xfrm>
            <a:off x="6260948" y="2133600"/>
            <a:ext cx="243197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600" dirty="0" err="1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Distritos</a:t>
            </a: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con </a:t>
            </a:r>
            <a:r>
              <a:rPr lang="en-US" sz="600" dirty="0" err="1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declaratoria</a:t>
            </a:r>
            <a:r>
              <a:rPr lang="en-US" sz="6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de emergencia</a:t>
            </a:r>
            <a:endParaRPr lang="en-US" sz="600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124E9291-0A59-4F75-3C1A-D0F27974DA09}"/>
              </a:ext>
            </a:extLst>
          </p:cNvPr>
          <p:cNvSpPr/>
          <p:nvPr/>
        </p:nvSpPr>
        <p:spPr>
          <a:xfrm>
            <a:off x="603250" y="2597150"/>
            <a:ext cx="2123379" cy="1778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3" name="Shape 19">
            <a:extLst>
              <a:ext uri="{FF2B5EF4-FFF2-40B4-BE49-F238E27FC236}">
                <a16:creationId xmlns:a16="http://schemas.microsoft.com/office/drawing/2014/main" id="{83A692A7-3C2C-0672-0E24-E9F7A3BB75CB}"/>
              </a:ext>
            </a:extLst>
          </p:cNvPr>
          <p:cNvSpPr/>
          <p:nvPr/>
        </p:nvSpPr>
        <p:spPr>
          <a:xfrm>
            <a:off x="603250" y="2597150"/>
            <a:ext cx="2123379" cy="31750"/>
          </a:xfrm>
          <a:prstGeom prst="rect">
            <a:avLst/>
          </a:prstGeom>
          <a:solidFill>
            <a:srgbClr val="16202A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F857189D-E90A-C96F-B96A-DA4023D73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" y="2749550"/>
            <a:ext cx="165100" cy="165100"/>
          </a:xfrm>
          <a:prstGeom prst="rect">
            <a:avLst/>
          </a:prstGeom>
        </p:spPr>
      </p:pic>
      <p:sp>
        <p:nvSpPr>
          <p:cNvPr id="67" name="Text 20">
            <a:extLst>
              <a:ext uri="{FF2B5EF4-FFF2-40B4-BE49-F238E27FC236}">
                <a16:creationId xmlns:a16="http://schemas.microsoft.com/office/drawing/2014/main" id="{15C0289E-6784-1633-CC0B-F92A3F85DB64}"/>
              </a:ext>
            </a:extLst>
          </p:cNvPr>
          <p:cNvSpPr/>
          <p:nvPr/>
        </p:nvSpPr>
        <p:spPr>
          <a:xfrm>
            <a:off x="2345629" y="274955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01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9E0BBE93-CFE1-6C8F-382B-ECD036859A7F}"/>
              </a:ext>
            </a:extLst>
          </p:cNvPr>
          <p:cNvSpPr/>
          <p:nvPr/>
        </p:nvSpPr>
        <p:spPr>
          <a:xfrm>
            <a:off x="730250" y="3003550"/>
            <a:ext cx="186937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Score directo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EE9530DE-E56E-30C7-2B6A-19967F41B8EC}"/>
              </a:ext>
            </a:extLst>
          </p:cNvPr>
          <p:cNvSpPr/>
          <p:nvPr/>
        </p:nvSpPr>
        <p:spPr>
          <a:xfrm>
            <a:off x="730250" y="3155950"/>
            <a:ext cx="1869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D7984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Peligro físico</a:t>
            </a:r>
            <a:endParaRPr lang="en-US" sz="1100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23">
            <a:extLst>
              <a:ext uri="{FF2B5EF4-FFF2-40B4-BE49-F238E27FC236}">
                <a16:creationId xmlns:a16="http://schemas.microsoft.com/office/drawing/2014/main" id="{5A835086-F154-ADE0-E508-950D21932300}"/>
              </a:ext>
            </a:extLst>
          </p:cNvPr>
          <p:cNvSpPr/>
          <p:nvPr/>
        </p:nvSpPr>
        <p:spPr>
          <a:xfrm>
            <a:off x="730250" y="3359150"/>
            <a:ext cx="186937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Inundación y huaico.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Eje R0 a R5.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719A4433-A7BA-7FBC-C8DF-1B04DC2FC191}"/>
              </a:ext>
            </a:extLst>
          </p:cNvPr>
          <p:cNvSpPr/>
          <p:nvPr/>
        </p:nvSpPr>
        <p:spPr>
          <a:xfrm>
            <a:off x="609600" y="3892550"/>
            <a:ext cx="2110679" cy="476250"/>
          </a:xfrm>
          <a:prstGeom prst="rect">
            <a:avLst/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4BECC753-10DF-BA49-C2FD-490A50C1EFF1}"/>
              </a:ext>
            </a:extLst>
          </p:cNvPr>
          <p:cNvSpPr/>
          <p:nvPr/>
        </p:nvSpPr>
        <p:spPr>
          <a:xfrm>
            <a:off x="730250" y="3968750"/>
            <a:ext cx="186937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BASE</a:t>
            </a:r>
            <a:endParaRPr lang="en-US" sz="6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6EC2FFB9-64A2-387D-5BBF-9445D2FC9A8E}"/>
              </a:ext>
            </a:extLst>
          </p:cNvPr>
          <p:cNvSpPr/>
          <p:nvPr/>
        </p:nvSpPr>
        <p:spPr>
          <a:xfrm>
            <a:off x="730250" y="4083050"/>
            <a:ext cx="18693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DesInventar · INDECI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SINPAD · CENEPRED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Shape 27">
            <a:extLst>
              <a:ext uri="{FF2B5EF4-FFF2-40B4-BE49-F238E27FC236}">
                <a16:creationId xmlns:a16="http://schemas.microsoft.com/office/drawing/2014/main" id="{B4693E1A-AAE7-43DE-14F1-EDAE10E2DF36}"/>
              </a:ext>
            </a:extLst>
          </p:cNvPr>
          <p:cNvSpPr/>
          <p:nvPr/>
        </p:nvSpPr>
        <p:spPr>
          <a:xfrm>
            <a:off x="2815529" y="2597150"/>
            <a:ext cx="2123379" cy="1778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A0DBCB60-DEE5-F5DF-3A34-3AC866264E58}"/>
              </a:ext>
            </a:extLst>
          </p:cNvPr>
          <p:cNvSpPr/>
          <p:nvPr/>
        </p:nvSpPr>
        <p:spPr>
          <a:xfrm>
            <a:off x="2815529" y="2597150"/>
            <a:ext cx="2123379" cy="31750"/>
          </a:xfrm>
          <a:prstGeom prst="rect">
            <a:avLst/>
          </a:prstGeom>
          <a:solidFill>
            <a:srgbClr val="16202A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85" name="Image 2" descr="preencoded.png">
            <a:extLst>
              <a:ext uri="{FF2B5EF4-FFF2-40B4-BE49-F238E27FC236}">
                <a16:creationId xmlns:a16="http://schemas.microsoft.com/office/drawing/2014/main" id="{CC70AF0A-D0EC-7A0A-C27E-2E550835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529" y="2749550"/>
            <a:ext cx="165100" cy="165100"/>
          </a:xfrm>
          <a:prstGeom prst="rect">
            <a:avLst/>
          </a:prstGeom>
        </p:spPr>
      </p:pic>
      <p:sp>
        <p:nvSpPr>
          <p:cNvPr id="87" name="Text 29">
            <a:extLst>
              <a:ext uri="{FF2B5EF4-FFF2-40B4-BE49-F238E27FC236}">
                <a16:creationId xmlns:a16="http://schemas.microsoft.com/office/drawing/2014/main" id="{B1D21359-A8DC-FFD4-46F2-240C8AEF4EE7}"/>
              </a:ext>
            </a:extLst>
          </p:cNvPr>
          <p:cNvSpPr/>
          <p:nvPr/>
        </p:nvSpPr>
        <p:spPr>
          <a:xfrm>
            <a:off x="4557908" y="274955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02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A0886081-EB1E-5B91-69ED-C8B595D198DB}"/>
              </a:ext>
            </a:extLst>
          </p:cNvPr>
          <p:cNvSpPr/>
          <p:nvPr/>
        </p:nvSpPr>
        <p:spPr>
          <a:xfrm>
            <a:off x="2942529" y="3003550"/>
            <a:ext cx="186937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Score indirecto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31">
            <a:extLst>
              <a:ext uri="{FF2B5EF4-FFF2-40B4-BE49-F238E27FC236}">
                <a16:creationId xmlns:a16="http://schemas.microsoft.com/office/drawing/2014/main" id="{9BA89933-5C33-0083-32E9-BAE59C2800BA}"/>
              </a:ext>
            </a:extLst>
          </p:cNvPr>
          <p:cNvSpPr/>
          <p:nvPr/>
        </p:nvSpPr>
        <p:spPr>
          <a:xfrm>
            <a:off x="2942529" y="3155950"/>
            <a:ext cx="1869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Actividad económica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E59AF3E6-B326-9A02-7A71-AE51C25BAF90}"/>
              </a:ext>
            </a:extLst>
          </p:cNvPr>
          <p:cNvSpPr/>
          <p:nvPr/>
        </p:nvSpPr>
        <p:spPr>
          <a:xfrm>
            <a:off x="2942529" y="3359150"/>
            <a:ext cx="186937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Cuánto le cuesta el evento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 la economía del distrito.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4A3ABC42-23CB-1EAA-A4A7-F43ADC687EF9}"/>
              </a:ext>
            </a:extLst>
          </p:cNvPr>
          <p:cNvSpPr/>
          <p:nvPr/>
        </p:nvSpPr>
        <p:spPr>
          <a:xfrm>
            <a:off x="2821879" y="3892550"/>
            <a:ext cx="2110679" cy="476250"/>
          </a:xfrm>
          <a:prstGeom prst="rect">
            <a:avLst/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7" name="Text 34">
            <a:extLst>
              <a:ext uri="{FF2B5EF4-FFF2-40B4-BE49-F238E27FC236}">
                <a16:creationId xmlns:a16="http://schemas.microsoft.com/office/drawing/2014/main" id="{ABFBF449-1C74-0ADE-02D0-9081575C90AC}"/>
              </a:ext>
            </a:extLst>
          </p:cNvPr>
          <p:cNvSpPr/>
          <p:nvPr/>
        </p:nvSpPr>
        <p:spPr>
          <a:xfrm>
            <a:off x="2942529" y="3968750"/>
            <a:ext cx="186937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BASE</a:t>
            </a:r>
            <a:endParaRPr lang="en-US" sz="6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35">
            <a:extLst>
              <a:ext uri="{FF2B5EF4-FFF2-40B4-BE49-F238E27FC236}">
                <a16:creationId xmlns:a16="http://schemas.microsoft.com/office/drawing/2014/main" id="{001E13AF-85FF-684F-0038-61B6DD0558C1}"/>
              </a:ext>
            </a:extLst>
          </p:cNvPr>
          <p:cNvSpPr/>
          <p:nvPr/>
        </p:nvSpPr>
        <p:spPr>
          <a:xfrm>
            <a:off x="2942529" y="4083050"/>
            <a:ext cx="18693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Censo 2017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Actividad económica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Shape 36">
            <a:extLst>
              <a:ext uri="{FF2B5EF4-FFF2-40B4-BE49-F238E27FC236}">
                <a16:creationId xmlns:a16="http://schemas.microsoft.com/office/drawing/2014/main" id="{E64E73FD-A8E0-C5E3-7C5C-72694FD52D7B}"/>
              </a:ext>
            </a:extLst>
          </p:cNvPr>
          <p:cNvSpPr/>
          <p:nvPr/>
        </p:nvSpPr>
        <p:spPr>
          <a:xfrm>
            <a:off x="5027808" y="2597150"/>
            <a:ext cx="2123379" cy="1778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3" name="Shape 37">
            <a:extLst>
              <a:ext uri="{FF2B5EF4-FFF2-40B4-BE49-F238E27FC236}">
                <a16:creationId xmlns:a16="http://schemas.microsoft.com/office/drawing/2014/main" id="{BE0A1CFF-5DFD-FCB5-8EF6-3A7487D309F2}"/>
              </a:ext>
            </a:extLst>
          </p:cNvPr>
          <p:cNvSpPr/>
          <p:nvPr/>
        </p:nvSpPr>
        <p:spPr>
          <a:xfrm>
            <a:off x="5027808" y="2597150"/>
            <a:ext cx="2123379" cy="31750"/>
          </a:xfrm>
          <a:prstGeom prst="rect">
            <a:avLst/>
          </a:prstGeom>
          <a:solidFill>
            <a:srgbClr val="00A94F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05" name="Image 3" descr="preencoded.png">
            <a:extLst>
              <a:ext uri="{FF2B5EF4-FFF2-40B4-BE49-F238E27FC236}">
                <a16:creationId xmlns:a16="http://schemas.microsoft.com/office/drawing/2014/main" id="{7AC38A78-A775-360E-5074-FBAEABB8B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808" y="2749550"/>
            <a:ext cx="165100" cy="165100"/>
          </a:xfrm>
          <a:prstGeom prst="rect">
            <a:avLst/>
          </a:prstGeom>
        </p:spPr>
      </p:pic>
      <p:sp>
        <p:nvSpPr>
          <p:cNvPr id="107" name="Text 38">
            <a:extLst>
              <a:ext uri="{FF2B5EF4-FFF2-40B4-BE49-F238E27FC236}">
                <a16:creationId xmlns:a16="http://schemas.microsoft.com/office/drawing/2014/main" id="{E3AE0723-BC1F-7359-3D53-8E3BDA400BEA}"/>
              </a:ext>
            </a:extLst>
          </p:cNvPr>
          <p:cNvSpPr/>
          <p:nvPr/>
        </p:nvSpPr>
        <p:spPr>
          <a:xfrm>
            <a:off x="6770187" y="274955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03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39">
            <a:extLst>
              <a:ext uri="{FF2B5EF4-FFF2-40B4-BE49-F238E27FC236}">
                <a16:creationId xmlns:a16="http://schemas.microsoft.com/office/drawing/2014/main" id="{E48AF1AB-EF18-2010-2488-175205C358FD}"/>
              </a:ext>
            </a:extLst>
          </p:cNvPr>
          <p:cNvSpPr/>
          <p:nvPr/>
        </p:nvSpPr>
        <p:spPr>
          <a:xfrm>
            <a:off x="5154808" y="3003550"/>
            <a:ext cx="186937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Recuperación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40">
            <a:extLst>
              <a:ext uri="{FF2B5EF4-FFF2-40B4-BE49-F238E27FC236}">
                <a16:creationId xmlns:a16="http://schemas.microsoft.com/office/drawing/2014/main" id="{037D0D37-C77B-B245-13BA-5EE53935672E}"/>
              </a:ext>
            </a:extLst>
          </p:cNvPr>
          <p:cNvSpPr/>
          <p:nvPr/>
        </p:nvSpPr>
        <p:spPr>
          <a:xfrm>
            <a:off x="5154808" y="3155950"/>
            <a:ext cx="1869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733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Expectativa de consumo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41">
            <a:extLst>
              <a:ext uri="{FF2B5EF4-FFF2-40B4-BE49-F238E27FC236}">
                <a16:creationId xmlns:a16="http://schemas.microsoft.com/office/drawing/2014/main" id="{73468A75-0593-3D0B-6994-9430686378AE}"/>
              </a:ext>
            </a:extLst>
          </p:cNvPr>
          <p:cNvSpPr/>
          <p:nvPr/>
        </p:nvSpPr>
        <p:spPr>
          <a:xfrm>
            <a:off x="5154808" y="3359150"/>
            <a:ext cx="186937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La proyección estima cuándo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cada región retoma su nivel.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Shape 42">
            <a:extLst>
              <a:ext uri="{FF2B5EF4-FFF2-40B4-BE49-F238E27FC236}">
                <a16:creationId xmlns:a16="http://schemas.microsoft.com/office/drawing/2014/main" id="{150CA215-C6A4-8ED1-803C-0C7C70F3019D}"/>
              </a:ext>
            </a:extLst>
          </p:cNvPr>
          <p:cNvSpPr/>
          <p:nvPr/>
        </p:nvSpPr>
        <p:spPr>
          <a:xfrm>
            <a:off x="5034158" y="3892550"/>
            <a:ext cx="2110679" cy="476250"/>
          </a:xfrm>
          <a:prstGeom prst="rect">
            <a:avLst/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7" name="Text 43">
            <a:extLst>
              <a:ext uri="{FF2B5EF4-FFF2-40B4-BE49-F238E27FC236}">
                <a16:creationId xmlns:a16="http://schemas.microsoft.com/office/drawing/2014/main" id="{F8E8A7D1-F64B-6939-B2F9-D4B2C5BE59D7}"/>
              </a:ext>
            </a:extLst>
          </p:cNvPr>
          <p:cNvSpPr/>
          <p:nvPr/>
        </p:nvSpPr>
        <p:spPr>
          <a:xfrm>
            <a:off x="5154808" y="3968750"/>
            <a:ext cx="186937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BASE</a:t>
            </a:r>
            <a:endParaRPr lang="en-US" sz="6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44">
            <a:extLst>
              <a:ext uri="{FF2B5EF4-FFF2-40B4-BE49-F238E27FC236}">
                <a16:creationId xmlns:a16="http://schemas.microsoft.com/office/drawing/2014/main" id="{78CB9B72-0180-845C-1BEB-1613225A7785}"/>
              </a:ext>
            </a:extLst>
          </p:cNvPr>
          <p:cNvSpPr/>
          <p:nvPr/>
        </p:nvSpPr>
        <p:spPr>
          <a:xfrm>
            <a:off x="5154808" y="4083050"/>
            <a:ext cx="18693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Índice IBK+ 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600" dirty="0" err="1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Proyección</a:t>
            </a: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 regional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Shape 45">
            <a:extLst>
              <a:ext uri="{FF2B5EF4-FFF2-40B4-BE49-F238E27FC236}">
                <a16:creationId xmlns:a16="http://schemas.microsoft.com/office/drawing/2014/main" id="{2F6EA9F0-CE2B-E3B1-83FC-F27386C3792D}"/>
              </a:ext>
            </a:extLst>
          </p:cNvPr>
          <p:cNvSpPr/>
          <p:nvPr/>
        </p:nvSpPr>
        <p:spPr>
          <a:xfrm>
            <a:off x="7240087" y="2597150"/>
            <a:ext cx="2123379" cy="1778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3" name="Shape 46">
            <a:extLst>
              <a:ext uri="{FF2B5EF4-FFF2-40B4-BE49-F238E27FC236}">
                <a16:creationId xmlns:a16="http://schemas.microsoft.com/office/drawing/2014/main" id="{26A1AEB4-E573-F832-F0D3-1DBA022ECD2E}"/>
              </a:ext>
            </a:extLst>
          </p:cNvPr>
          <p:cNvSpPr/>
          <p:nvPr/>
        </p:nvSpPr>
        <p:spPr>
          <a:xfrm>
            <a:off x="7240087" y="2597150"/>
            <a:ext cx="2123379" cy="31750"/>
          </a:xfrm>
          <a:prstGeom prst="rect">
            <a:avLst/>
          </a:prstGeom>
          <a:solidFill>
            <a:srgbClr val="00A94F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25" name="Image 4" descr="preencoded.png">
            <a:extLst>
              <a:ext uri="{FF2B5EF4-FFF2-40B4-BE49-F238E27FC236}">
                <a16:creationId xmlns:a16="http://schemas.microsoft.com/office/drawing/2014/main" id="{BE9026D5-29D3-4CAD-8A3D-C108EAF80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7087" y="2749550"/>
            <a:ext cx="165100" cy="165100"/>
          </a:xfrm>
          <a:prstGeom prst="rect">
            <a:avLst/>
          </a:prstGeom>
        </p:spPr>
      </p:pic>
      <p:sp>
        <p:nvSpPr>
          <p:cNvPr id="127" name="Text 47">
            <a:extLst>
              <a:ext uri="{FF2B5EF4-FFF2-40B4-BE49-F238E27FC236}">
                <a16:creationId xmlns:a16="http://schemas.microsoft.com/office/drawing/2014/main" id="{E46D288C-4BCB-ED1A-8479-192054EB1AB4}"/>
              </a:ext>
            </a:extLst>
          </p:cNvPr>
          <p:cNvSpPr/>
          <p:nvPr/>
        </p:nvSpPr>
        <p:spPr>
          <a:xfrm>
            <a:off x="8982466" y="274955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04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48">
            <a:extLst>
              <a:ext uri="{FF2B5EF4-FFF2-40B4-BE49-F238E27FC236}">
                <a16:creationId xmlns:a16="http://schemas.microsoft.com/office/drawing/2014/main" id="{4E6200CE-F2F2-315F-4982-52D47B79EC3D}"/>
              </a:ext>
            </a:extLst>
          </p:cNvPr>
          <p:cNvSpPr/>
          <p:nvPr/>
        </p:nvSpPr>
        <p:spPr>
          <a:xfrm>
            <a:off x="7367087" y="3003550"/>
            <a:ext cx="186937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Ubicación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49">
            <a:extLst>
              <a:ext uri="{FF2B5EF4-FFF2-40B4-BE49-F238E27FC236}">
                <a16:creationId xmlns:a16="http://schemas.microsoft.com/office/drawing/2014/main" id="{FEEDD412-031A-88DE-A74F-F6BDE1219075}"/>
              </a:ext>
            </a:extLst>
          </p:cNvPr>
          <p:cNvSpPr/>
          <p:nvPr/>
        </p:nvSpPr>
        <p:spPr>
          <a:xfrm>
            <a:off x="7367087" y="3155950"/>
            <a:ext cx="1869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733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Lead o cliente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50">
            <a:extLst>
              <a:ext uri="{FF2B5EF4-FFF2-40B4-BE49-F238E27FC236}">
                <a16:creationId xmlns:a16="http://schemas.microsoft.com/office/drawing/2014/main" id="{A4258F6B-103F-4B06-4EEE-548E20A47EBC}"/>
              </a:ext>
            </a:extLst>
          </p:cNvPr>
          <p:cNvSpPr/>
          <p:nvPr/>
        </p:nvSpPr>
        <p:spPr>
          <a:xfrm>
            <a:off x="7367087" y="3359150"/>
            <a:ext cx="186937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Distrito en admisión.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Punto y exposición en stock.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Shape 51">
            <a:extLst>
              <a:ext uri="{FF2B5EF4-FFF2-40B4-BE49-F238E27FC236}">
                <a16:creationId xmlns:a16="http://schemas.microsoft.com/office/drawing/2014/main" id="{6C5D566A-2305-FF63-B7A0-803E9BF9B373}"/>
              </a:ext>
            </a:extLst>
          </p:cNvPr>
          <p:cNvSpPr/>
          <p:nvPr/>
        </p:nvSpPr>
        <p:spPr>
          <a:xfrm>
            <a:off x="7246437" y="3892550"/>
            <a:ext cx="2110679" cy="476250"/>
          </a:xfrm>
          <a:prstGeom prst="rect">
            <a:avLst/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7" name="Text 52">
            <a:extLst>
              <a:ext uri="{FF2B5EF4-FFF2-40B4-BE49-F238E27FC236}">
                <a16:creationId xmlns:a16="http://schemas.microsoft.com/office/drawing/2014/main" id="{1EC836AA-441E-106A-6385-A42F11789CDF}"/>
              </a:ext>
            </a:extLst>
          </p:cNvPr>
          <p:cNvSpPr/>
          <p:nvPr/>
        </p:nvSpPr>
        <p:spPr>
          <a:xfrm>
            <a:off x="7367087" y="3968750"/>
            <a:ext cx="186937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BASE</a:t>
            </a:r>
            <a:endParaRPr lang="en-US" sz="6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53">
            <a:extLst>
              <a:ext uri="{FF2B5EF4-FFF2-40B4-BE49-F238E27FC236}">
                <a16:creationId xmlns:a16="http://schemas.microsoft.com/office/drawing/2014/main" id="{4AEF14D0-77A1-98C2-0E67-0B0D971DDC92}"/>
              </a:ext>
            </a:extLst>
          </p:cNvPr>
          <p:cNvSpPr/>
          <p:nvPr/>
        </p:nvSpPr>
        <p:spPr>
          <a:xfrm>
            <a:off x="7367087" y="4083050"/>
            <a:ext cx="18693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RENIEC · censo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Geoposiciones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Shape 54">
            <a:extLst>
              <a:ext uri="{FF2B5EF4-FFF2-40B4-BE49-F238E27FC236}">
                <a16:creationId xmlns:a16="http://schemas.microsoft.com/office/drawing/2014/main" id="{E1A576B8-5353-62CA-3FF5-38ADADA3B1E1}"/>
              </a:ext>
            </a:extLst>
          </p:cNvPr>
          <p:cNvSpPr/>
          <p:nvPr/>
        </p:nvSpPr>
        <p:spPr>
          <a:xfrm>
            <a:off x="9452366" y="2597150"/>
            <a:ext cx="2123379" cy="177800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3" name="Shape 55">
            <a:extLst>
              <a:ext uri="{FF2B5EF4-FFF2-40B4-BE49-F238E27FC236}">
                <a16:creationId xmlns:a16="http://schemas.microsoft.com/office/drawing/2014/main" id="{1F538616-1D70-03D7-771D-F857CA6B5095}"/>
              </a:ext>
            </a:extLst>
          </p:cNvPr>
          <p:cNvSpPr/>
          <p:nvPr/>
        </p:nvSpPr>
        <p:spPr>
          <a:xfrm>
            <a:off x="9452366" y="2597150"/>
            <a:ext cx="2123379" cy="31750"/>
          </a:xfrm>
          <a:prstGeom prst="rect">
            <a:avLst/>
          </a:prstGeom>
          <a:solidFill>
            <a:srgbClr val="98A3AE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45" name="Image 5" descr="preencoded.png">
            <a:extLst>
              <a:ext uri="{FF2B5EF4-FFF2-40B4-BE49-F238E27FC236}">
                <a16:creationId xmlns:a16="http://schemas.microsoft.com/office/drawing/2014/main" id="{2781377C-B05C-C840-79C1-3B4895E341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9366" y="2749550"/>
            <a:ext cx="165100" cy="165100"/>
          </a:xfrm>
          <a:prstGeom prst="rect">
            <a:avLst/>
          </a:prstGeom>
        </p:spPr>
      </p:pic>
      <p:sp>
        <p:nvSpPr>
          <p:cNvPr id="147" name="Text 56">
            <a:extLst>
              <a:ext uri="{FF2B5EF4-FFF2-40B4-BE49-F238E27FC236}">
                <a16:creationId xmlns:a16="http://schemas.microsoft.com/office/drawing/2014/main" id="{D5EB5A89-4CD7-9816-5366-B707E93FFC0B}"/>
              </a:ext>
            </a:extLst>
          </p:cNvPr>
          <p:cNvSpPr/>
          <p:nvPr/>
        </p:nvSpPr>
        <p:spPr>
          <a:xfrm>
            <a:off x="11194745" y="2749550"/>
            <a:ext cx="254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05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57">
            <a:extLst>
              <a:ext uri="{FF2B5EF4-FFF2-40B4-BE49-F238E27FC236}">
                <a16:creationId xmlns:a16="http://schemas.microsoft.com/office/drawing/2014/main" id="{559C9EC8-5709-81CD-3A7A-4FA5B2AE3406}"/>
              </a:ext>
            </a:extLst>
          </p:cNvPr>
          <p:cNvSpPr/>
          <p:nvPr/>
        </p:nvSpPr>
        <p:spPr>
          <a:xfrm>
            <a:off x="9579366" y="3003550"/>
            <a:ext cx="1869379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Confirmación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58">
            <a:extLst>
              <a:ext uri="{FF2B5EF4-FFF2-40B4-BE49-F238E27FC236}">
                <a16:creationId xmlns:a16="http://schemas.microsoft.com/office/drawing/2014/main" id="{A0132101-4160-46D1-91D7-3E80382AA1CA}"/>
              </a:ext>
            </a:extLst>
          </p:cNvPr>
          <p:cNvSpPr/>
          <p:nvPr/>
        </p:nvSpPr>
        <p:spPr>
          <a:xfrm>
            <a:off x="9579366" y="3155950"/>
            <a:ext cx="1869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98A3A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Verificación ex post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59">
            <a:extLst>
              <a:ext uri="{FF2B5EF4-FFF2-40B4-BE49-F238E27FC236}">
                <a16:creationId xmlns:a16="http://schemas.microsoft.com/office/drawing/2014/main" id="{52130B97-F9B7-109C-E7D9-3FAFD033B522}"/>
              </a:ext>
            </a:extLst>
          </p:cNvPr>
          <p:cNvSpPr/>
          <p:nvPr/>
        </p:nvSpPr>
        <p:spPr>
          <a:xfrm>
            <a:off x="9579366" y="3359150"/>
            <a:ext cx="186937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Contrasta el pronóstico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contra el impacto observado.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Shape 60">
            <a:extLst>
              <a:ext uri="{FF2B5EF4-FFF2-40B4-BE49-F238E27FC236}">
                <a16:creationId xmlns:a16="http://schemas.microsoft.com/office/drawing/2014/main" id="{0859AFA8-368E-1218-0A43-63AE28EA0211}"/>
              </a:ext>
            </a:extLst>
          </p:cNvPr>
          <p:cNvSpPr/>
          <p:nvPr/>
        </p:nvSpPr>
        <p:spPr>
          <a:xfrm>
            <a:off x="9458716" y="3892550"/>
            <a:ext cx="2110679" cy="476250"/>
          </a:xfrm>
          <a:prstGeom prst="rect">
            <a:avLst/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7" name="Text 61">
            <a:extLst>
              <a:ext uri="{FF2B5EF4-FFF2-40B4-BE49-F238E27FC236}">
                <a16:creationId xmlns:a16="http://schemas.microsoft.com/office/drawing/2014/main" id="{D12A8AAF-2F16-141F-341B-FEDC691BD850}"/>
              </a:ext>
            </a:extLst>
          </p:cNvPr>
          <p:cNvSpPr/>
          <p:nvPr/>
        </p:nvSpPr>
        <p:spPr>
          <a:xfrm>
            <a:off x="9579366" y="3968750"/>
            <a:ext cx="1869379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BASE</a:t>
            </a:r>
            <a:endParaRPr lang="en-US" sz="6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62">
            <a:extLst>
              <a:ext uri="{FF2B5EF4-FFF2-40B4-BE49-F238E27FC236}">
                <a16:creationId xmlns:a16="http://schemas.microsoft.com/office/drawing/2014/main" id="{1FA8DFFC-3CA3-1D03-AB28-AAE69C9B8433}"/>
              </a:ext>
            </a:extLst>
          </p:cNvPr>
          <p:cNvSpPr/>
          <p:nvPr/>
        </p:nvSpPr>
        <p:spPr>
          <a:xfrm>
            <a:off x="9579366" y="4083050"/>
            <a:ext cx="186937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IPC por ciudad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6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INEI, mes a mes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Shape 64">
            <a:extLst>
              <a:ext uri="{FF2B5EF4-FFF2-40B4-BE49-F238E27FC236}">
                <a16:creationId xmlns:a16="http://schemas.microsoft.com/office/drawing/2014/main" id="{249F1D2C-972D-C187-0255-43AE3CAA4904}"/>
              </a:ext>
            </a:extLst>
          </p:cNvPr>
          <p:cNvSpPr/>
          <p:nvPr/>
        </p:nvSpPr>
        <p:spPr>
          <a:xfrm>
            <a:off x="983890" y="4632633"/>
            <a:ext cx="3810000" cy="1206500"/>
          </a:xfrm>
          <a:prstGeom prst="roundRect">
            <a:avLst>
              <a:gd name="adj" fmla="val 3411"/>
            </a:avLst>
          </a:prstGeom>
          <a:solidFill>
            <a:srgbClr val="00A94F"/>
          </a:solidFill>
          <a:ln w="12700">
            <a:noFill/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3" name="Text 65">
            <a:extLst>
              <a:ext uri="{FF2B5EF4-FFF2-40B4-BE49-F238E27FC236}">
                <a16:creationId xmlns:a16="http://schemas.microsoft.com/office/drawing/2014/main" id="{284D3F8E-3F0D-53E6-6A59-26D1D422FDEC}"/>
              </a:ext>
            </a:extLst>
          </p:cNvPr>
          <p:cNvSpPr/>
          <p:nvPr/>
        </p:nvSpPr>
        <p:spPr>
          <a:xfrm>
            <a:off x="1136290" y="4746933"/>
            <a:ext cx="3505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B7ECC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COMPONENTE NUEVO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66">
            <a:extLst>
              <a:ext uri="{FF2B5EF4-FFF2-40B4-BE49-F238E27FC236}">
                <a16:creationId xmlns:a16="http://schemas.microsoft.com/office/drawing/2014/main" id="{F3AFBF41-23C2-3D37-598C-72C1B9FD8BBC}"/>
              </a:ext>
            </a:extLst>
          </p:cNvPr>
          <p:cNvSpPr/>
          <p:nvPr/>
        </p:nvSpPr>
        <p:spPr>
          <a:xfrm>
            <a:off x="1136290" y="4886633"/>
            <a:ext cx="35052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Ajuste FEN</a:t>
            </a:r>
            <a:endParaRPr lang="en-US" sz="1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67">
            <a:extLst>
              <a:ext uri="{FF2B5EF4-FFF2-40B4-BE49-F238E27FC236}">
                <a16:creationId xmlns:a16="http://schemas.microsoft.com/office/drawing/2014/main" id="{34E92D92-3446-033C-E513-A5205448F588}"/>
              </a:ext>
            </a:extLst>
          </p:cNvPr>
          <p:cNvSpPr/>
          <p:nvPr/>
        </p:nvSpPr>
        <p:spPr>
          <a:xfrm>
            <a:off x="1136290" y="5153333"/>
            <a:ext cx="350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DFF6E9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Resultante de los cinco componentes, asignado a cada cliente según su ubicación.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69">
            <a:extLst>
              <a:ext uri="{FF2B5EF4-FFF2-40B4-BE49-F238E27FC236}">
                <a16:creationId xmlns:a16="http://schemas.microsoft.com/office/drawing/2014/main" id="{E37D4C8E-AA9C-E764-EE7B-53FE097BECAE}"/>
              </a:ext>
            </a:extLst>
          </p:cNvPr>
          <p:cNvSpPr/>
          <p:nvPr/>
        </p:nvSpPr>
        <p:spPr>
          <a:xfrm>
            <a:off x="4793890" y="5070783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98A3AE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+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Shape 70">
            <a:extLst>
              <a:ext uri="{FF2B5EF4-FFF2-40B4-BE49-F238E27FC236}">
                <a16:creationId xmlns:a16="http://schemas.microsoft.com/office/drawing/2014/main" id="{2B30801F-8BC7-9B1A-D5FA-65C557F03F57}"/>
              </a:ext>
            </a:extLst>
          </p:cNvPr>
          <p:cNvSpPr/>
          <p:nvPr/>
        </p:nvSpPr>
        <p:spPr>
          <a:xfrm>
            <a:off x="5124090" y="4632633"/>
            <a:ext cx="2730500" cy="1206500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5" name="Text 71">
            <a:extLst>
              <a:ext uri="{FF2B5EF4-FFF2-40B4-BE49-F238E27FC236}">
                <a16:creationId xmlns:a16="http://schemas.microsoft.com/office/drawing/2014/main" id="{27E0904C-B2C8-FCD5-A2A9-A21D61B9DCAB}"/>
              </a:ext>
            </a:extLst>
          </p:cNvPr>
          <p:cNvSpPr/>
          <p:nvPr/>
        </p:nvSpPr>
        <p:spPr>
          <a:xfrm>
            <a:off x="5124090" y="4810433"/>
            <a:ext cx="2730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VIGENTE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72">
            <a:extLst>
              <a:ext uri="{FF2B5EF4-FFF2-40B4-BE49-F238E27FC236}">
                <a16:creationId xmlns:a16="http://schemas.microsoft.com/office/drawing/2014/main" id="{8A2C1480-C61F-CFD4-8EC8-4879058A5D2D}"/>
              </a:ext>
            </a:extLst>
          </p:cNvPr>
          <p:cNvSpPr/>
          <p:nvPr/>
        </p:nvSpPr>
        <p:spPr>
          <a:xfrm>
            <a:off x="5124090" y="4950133"/>
            <a:ext cx="273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D7984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PD base calibrada</a:t>
            </a:r>
            <a:endParaRPr lang="en-US" sz="1900" b="1" dirty="0">
              <a:solidFill>
                <a:srgbClr val="6D798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73">
            <a:extLst>
              <a:ext uri="{FF2B5EF4-FFF2-40B4-BE49-F238E27FC236}">
                <a16:creationId xmlns:a16="http://schemas.microsoft.com/office/drawing/2014/main" id="{093A36B6-AB47-7F57-EC8E-E72030C5C200}"/>
              </a:ext>
            </a:extLst>
          </p:cNvPr>
          <p:cNvSpPr/>
          <p:nvPr/>
        </p:nvSpPr>
        <p:spPr>
          <a:xfrm>
            <a:off x="5124090" y="5242233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Incorpora variables macroeconómicas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nacionales. No se modifica.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 74">
            <a:extLst>
              <a:ext uri="{FF2B5EF4-FFF2-40B4-BE49-F238E27FC236}">
                <a16:creationId xmlns:a16="http://schemas.microsoft.com/office/drawing/2014/main" id="{8E9B7B0D-4028-A3DB-847F-95477AAC14DA}"/>
              </a:ext>
            </a:extLst>
          </p:cNvPr>
          <p:cNvSpPr/>
          <p:nvPr/>
        </p:nvSpPr>
        <p:spPr>
          <a:xfrm>
            <a:off x="7854590" y="5070783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98A3AE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=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Shape 75">
            <a:extLst>
              <a:ext uri="{FF2B5EF4-FFF2-40B4-BE49-F238E27FC236}">
                <a16:creationId xmlns:a16="http://schemas.microsoft.com/office/drawing/2014/main" id="{301353EF-4B5F-067D-2279-BD756B880ECD}"/>
              </a:ext>
            </a:extLst>
          </p:cNvPr>
          <p:cNvSpPr/>
          <p:nvPr/>
        </p:nvSpPr>
        <p:spPr>
          <a:xfrm>
            <a:off x="8184790" y="4632633"/>
            <a:ext cx="2921000" cy="1206500"/>
          </a:xfrm>
          <a:prstGeom prst="roundRect">
            <a:avLst>
              <a:gd name="adj" fmla="val 3411"/>
            </a:avLst>
          </a:prstGeom>
          <a:solidFill>
            <a:srgbClr val="0020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5" name="Text 76">
            <a:extLst>
              <a:ext uri="{FF2B5EF4-FFF2-40B4-BE49-F238E27FC236}">
                <a16:creationId xmlns:a16="http://schemas.microsoft.com/office/drawing/2014/main" id="{D3BF4C29-0724-DED1-189B-8B69242D7717}"/>
              </a:ext>
            </a:extLst>
          </p:cNvPr>
          <p:cNvSpPr/>
          <p:nvPr/>
        </p:nvSpPr>
        <p:spPr>
          <a:xfrm>
            <a:off x="8184790" y="4810433"/>
            <a:ext cx="292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kern="0" spc="150" dirty="0">
                <a:solidFill>
                  <a:srgbClr val="8B99A6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RESULTADO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77">
            <a:extLst>
              <a:ext uri="{FF2B5EF4-FFF2-40B4-BE49-F238E27FC236}">
                <a16:creationId xmlns:a16="http://schemas.microsoft.com/office/drawing/2014/main" id="{06E2709C-8449-E3CB-A030-158D99AEE32B}"/>
              </a:ext>
            </a:extLst>
          </p:cNvPr>
          <p:cNvSpPr/>
          <p:nvPr/>
        </p:nvSpPr>
        <p:spPr>
          <a:xfrm>
            <a:off x="8184790" y="4950133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PD </a:t>
            </a:r>
            <a:r>
              <a:rPr lang="en-US" sz="2000" b="1" dirty="0" err="1">
                <a:solidFill>
                  <a:srgbClr val="FFFFFF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Estresada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78">
            <a:extLst>
              <a:ext uri="{FF2B5EF4-FFF2-40B4-BE49-F238E27FC236}">
                <a16:creationId xmlns:a16="http://schemas.microsoft.com/office/drawing/2014/main" id="{786B4603-EC37-0EF1-ECCC-C3A864DE551C}"/>
              </a:ext>
            </a:extLst>
          </p:cNvPr>
          <p:cNvSpPr/>
          <p:nvPr/>
        </p:nvSpPr>
        <p:spPr>
          <a:xfrm>
            <a:off x="8184790" y="5242233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AEBAC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Cliente a cliente.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AEBAC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Sin desplazamiento del punto de corte.</a:t>
            </a:r>
            <a:endParaRPr lang="en-US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79">
            <a:extLst>
              <a:ext uri="{FF2B5EF4-FFF2-40B4-BE49-F238E27FC236}">
                <a16:creationId xmlns:a16="http://schemas.microsoft.com/office/drawing/2014/main" id="{3AFB8699-F890-0E68-456F-059A19E3B60C}"/>
              </a:ext>
            </a:extLst>
          </p:cNvPr>
          <p:cNvSpPr/>
          <p:nvPr/>
        </p:nvSpPr>
        <p:spPr>
          <a:xfrm>
            <a:off x="609600" y="6146800"/>
            <a:ext cx="1097249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98A3A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La calibración base incorpora el ciclo macroeconómico nacional y no captura el componente climático regional. Los cinco componentes lo introducen durante la temporada y se retiran conforme cada región recupera su nivel de actividad.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riángulo isósceles 192">
            <a:extLst>
              <a:ext uri="{FF2B5EF4-FFF2-40B4-BE49-F238E27FC236}">
                <a16:creationId xmlns:a16="http://schemas.microsoft.com/office/drawing/2014/main" id="{81FD33F1-2598-1804-71F4-3F60CE72DA1A}"/>
              </a:ext>
            </a:extLst>
          </p:cNvPr>
          <p:cNvSpPr/>
          <p:nvPr/>
        </p:nvSpPr>
        <p:spPr>
          <a:xfrm>
            <a:off x="4067175" y="1812132"/>
            <a:ext cx="223837" cy="20081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214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0846-7D01-1050-9EF8-7BAA4BC9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BE2564-4957-82FA-40CA-7A6010FF913F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9C157C-B020-AC81-D470-A510803F11A3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19FFAA-0773-8AD9-B307-BD468164FC19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8" name="Text 3">
            <a:extLst>
              <a:ext uri="{FF2B5EF4-FFF2-40B4-BE49-F238E27FC236}">
                <a16:creationId xmlns:a16="http://schemas.microsoft.com/office/drawing/2014/main" id="{F7452728-1502-C4EC-8727-C17CD223A47D}"/>
              </a:ext>
            </a:extLst>
          </p:cNvPr>
          <p:cNvSpPr/>
          <p:nvPr/>
        </p:nvSpPr>
        <p:spPr>
          <a:xfrm>
            <a:off x="609600" y="596900"/>
            <a:ext cx="10287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El peligro físico se concentra en </a:t>
            </a:r>
            <a:r>
              <a:rPr lang="en-US" sz="2800" b="1" dirty="0">
                <a:solidFill>
                  <a:srgbClr val="CE3B23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195</a:t>
            </a:r>
            <a:r>
              <a:rPr lang="en-US" sz="2800" b="1" dirty="0">
                <a:solidFill>
                  <a:srgbClr val="00B050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</a:t>
            </a:r>
            <a:r>
              <a:rPr lang="en-US" sz="28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distritos de 1,891</a:t>
            </a: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0" name="Text 4">
            <a:extLst>
              <a:ext uri="{FF2B5EF4-FFF2-40B4-BE49-F238E27FC236}">
                <a16:creationId xmlns:a16="http://schemas.microsoft.com/office/drawing/2014/main" id="{F8F78F4C-C4EC-F161-B64C-4C537767F24E}"/>
              </a:ext>
            </a:extLst>
          </p:cNvPr>
          <p:cNvSpPr/>
          <p:nvPr/>
        </p:nvSpPr>
        <p:spPr>
          <a:xfrm>
            <a:off x="609600" y="9906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Construida con daño observado en cuatro eventos: 1983, 1998, 2017 y 2023-24.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2" name="Shape 5">
            <a:extLst>
              <a:ext uri="{FF2B5EF4-FFF2-40B4-BE49-F238E27FC236}">
                <a16:creationId xmlns:a16="http://schemas.microsoft.com/office/drawing/2014/main" id="{30D9B7E1-7265-DE49-8DD8-09E6AFA677FC}"/>
              </a:ext>
            </a:extLst>
          </p:cNvPr>
          <p:cNvSpPr/>
          <p:nvPr/>
        </p:nvSpPr>
        <p:spPr>
          <a:xfrm>
            <a:off x="609600" y="1371600"/>
            <a:ext cx="3556000" cy="4876800"/>
          </a:xfrm>
          <a:prstGeom prst="roundRect">
            <a:avLst>
              <a:gd name="adj" fmla="val 514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pic>
        <p:nvPicPr>
          <p:cNvPr id="234" name="Image 0" descr="C:/Users/CARLOS/elnino_ibk/03_deck/mapa_R_limpio.png">
            <a:extLst>
              <a:ext uri="{FF2B5EF4-FFF2-40B4-BE49-F238E27FC236}">
                <a16:creationId xmlns:a16="http://schemas.microsoft.com/office/drawing/2014/main" id="{1B83BC2F-D7D9-67BE-A147-9D42188B1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69" y="1498600"/>
            <a:ext cx="3044662" cy="4419600"/>
          </a:xfrm>
          <a:prstGeom prst="rect">
            <a:avLst/>
          </a:prstGeom>
        </p:spPr>
      </p:pic>
      <p:sp>
        <p:nvSpPr>
          <p:cNvPr id="236" name="Text 6">
            <a:extLst>
              <a:ext uri="{FF2B5EF4-FFF2-40B4-BE49-F238E27FC236}">
                <a16:creationId xmlns:a16="http://schemas.microsoft.com/office/drawing/2014/main" id="{8C870950-484B-1443-B1C9-A66F2CD414EB}"/>
              </a:ext>
            </a:extLst>
          </p:cNvPr>
          <p:cNvSpPr/>
          <p:nvPr/>
        </p:nvSpPr>
        <p:spPr>
          <a:xfrm>
            <a:off x="762000" y="5981700"/>
            <a:ext cx="32512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Nivel de peligro de lluvia · 1 891 </a:t>
            </a:r>
            <a:r>
              <a:rPr lang="en-US" sz="800" dirty="0" err="1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distritos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8" name="Shape 7">
            <a:extLst>
              <a:ext uri="{FF2B5EF4-FFF2-40B4-BE49-F238E27FC236}">
                <a16:creationId xmlns:a16="http://schemas.microsoft.com/office/drawing/2014/main" id="{F1E162CE-55CE-B377-E628-F5C54741D7A0}"/>
              </a:ext>
            </a:extLst>
          </p:cNvPr>
          <p:cNvSpPr/>
          <p:nvPr/>
        </p:nvSpPr>
        <p:spPr>
          <a:xfrm>
            <a:off x="4292600" y="1371600"/>
            <a:ext cx="2730500" cy="1981200"/>
          </a:xfrm>
          <a:prstGeom prst="roundRect">
            <a:avLst>
              <a:gd name="adj" fmla="val 92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40" name="Shape 8">
            <a:extLst>
              <a:ext uri="{FF2B5EF4-FFF2-40B4-BE49-F238E27FC236}">
                <a16:creationId xmlns:a16="http://schemas.microsoft.com/office/drawing/2014/main" id="{AA47549A-979B-6AA5-2AD2-6F39CB4457BE}"/>
              </a:ext>
            </a:extLst>
          </p:cNvPr>
          <p:cNvSpPr/>
          <p:nvPr/>
        </p:nvSpPr>
        <p:spPr>
          <a:xfrm>
            <a:off x="4305300" y="1384300"/>
            <a:ext cx="2705100" cy="304800"/>
          </a:xfrm>
          <a:prstGeom prst="rect">
            <a:avLst/>
          </a:prstGeom>
          <a:solidFill>
            <a:srgbClr val="FEF4F1"/>
          </a:solidFill>
          <a:ln w="12700">
            <a:noFill/>
            <a:prstDash val="solid"/>
          </a:ln>
        </p:spPr>
      </p:sp>
      <p:sp>
        <p:nvSpPr>
          <p:cNvPr id="242" name="Shape 9">
            <a:extLst>
              <a:ext uri="{FF2B5EF4-FFF2-40B4-BE49-F238E27FC236}">
                <a16:creationId xmlns:a16="http://schemas.microsoft.com/office/drawing/2014/main" id="{65AE33A3-E365-D840-65F5-1CAFEC7DD7C8}"/>
              </a:ext>
            </a:extLst>
          </p:cNvPr>
          <p:cNvSpPr/>
          <p:nvPr/>
        </p:nvSpPr>
        <p:spPr>
          <a:xfrm>
            <a:off x="4419600" y="14668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CE3B23"/>
          </a:solidFill>
          <a:ln w="12700">
            <a:noFill/>
            <a:prstDash val="solid"/>
          </a:ln>
        </p:spPr>
      </p:sp>
      <p:sp>
        <p:nvSpPr>
          <p:cNvPr id="244" name="Text 10">
            <a:extLst>
              <a:ext uri="{FF2B5EF4-FFF2-40B4-BE49-F238E27FC236}">
                <a16:creationId xmlns:a16="http://schemas.microsoft.com/office/drawing/2014/main" id="{75A9C6C1-88B6-88D4-890D-B3C1EF134E64}"/>
              </a:ext>
            </a:extLst>
          </p:cNvPr>
          <p:cNvSpPr/>
          <p:nvPr/>
        </p:nvSpPr>
        <p:spPr>
          <a:xfrm>
            <a:off x="4711700" y="13716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R5 · Extremo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6" name="Text 11">
            <a:extLst>
              <a:ext uri="{FF2B5EF4-FFF2-40B4-BE49-F238E27FC236}">
                <a16:creationId xmlns:a16="http://schemas.microsoft.com/office/drawing/2014/main" id="{C3CA924B-D128-B40E-D0C1-C5657BE05907}"/>
              </a:ext>
            </a:extLst>
          </p:cNvPr>
          <p:cNvSpPr/>
          <p:nvPr/>
        </p:nvSpPr>
        <p:spPr>
          <a:xfrm>
            <a:off x="6261100" y="13716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E3B23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54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8" name="Shape 12">
            <a:extLst>
              <a:ext uri="{FF2B5EF4-FFF2-40B4-BE49-F238E27FC236}">
                <a16:creationId xmlns:a16="http://schemas.microsoft.com/office/drawing/2014/main" id="{89C74EB8-733F-8068-F209-1DB62F59CB64}"/>
              </a:ext>
            </a:extLst>
          </p:cNvPr>
          <p:cNvSpPr/>
          <p:nvPr/>
        </p:nvSpPr>
        <p:spPr>
          <a:xfrm>
            <a:off x="4292600" y="1701800"/>
            <a:ext cx="2730500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50" name="Shape 13">
            <a:extLst>
              <a:ext uri="{FF2B5EF4-FFF2-40B4-BE49-F238E27FC236}">
                <a16:creationId xmlns:a16="http://schemas.microsoft.com/office/drawing/2014/main" id="{7DA25F23-5BDA-7276-BA73-D646A24E2028}"/>
              </a:ext>
            </a:extLst>
          </p:cNvPr>
          <p:cNvSpPr/>
          <p:nvPr/>
        </p:nvSpPr>
        <p:spPr>
          <a:xfrm>
            <a:off x="4305300" y="1714500"/>
            <a:ext cx="2705100" cy="304800"/>
          </a:xfrm>
          <a:prstGeom prst="rect">
            <a:avLst/>
          </a:prstGeom>
          <a:solidFill>
            <a:srgbClr val="FEF4F1"/>
          </a:solidFill>
          <a:ln w="12700">
            <a:noFill/>
            <a:prstDash val="solid"/>
          </a:ln>
        </p:spPr>
      </p:sp>
      <p:sp>
        <p:nvSpPr>
          <p:cNvPr id="252" name="Shape 14">
            <a:extLst>
              <a:ext uri="{FF2B5EF4-FFF2-40B4-BE49-F238E27FC236}">
                <a16:creationId xmlns:a16="http://schemas.microsoft.com/office/drawing/2014/main" id="{EF244A01-8DDA-991A-5209-8D3413B14975}"/>
              </a:ext>
            </a:extLst>
          </p:cNvPr>
          <p:cNvSpPr/>
          <p:nvPr/>
        </p:nvSpPr>
        <p:spPr>
          <a:xfrm>
            <a:off x="4419600" y="17970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E86A3A"/>
          </a:solidFill>
          <a:ln w="12700">
            <a:noFill/>
            <a:prstDash val="solid"/>
          </a:ln>
        </p:spPr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B57CCA40-80D8-C6B5-E57C-C2D78458F413}"/>
              </a:ext>
            </a:extLst>
          </p:cNvPr>
          <p:cNvSpPr/>
          <p:nvPr/>
        </p:nvSpPr>
        <p:spPr>
          <a:xfrm>
            <a:off x="4711700" y="17018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R4 · Alto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6" name="Text 16">
            <a:extLst>
              <a:ext uri="{FF2B5EF4-FFF2-40B4-BE49-F238E27FC236}">
                <a16:creationId xmlns:a16="http://schemas.microsoft.com/office/drawing/2014/main" id="{E11CD659-57D4-E83A-EB9F-AFB60F208C64}"/>
              </a:ext>
            </a:extLst>
          </p:cNvPr>
          <p:cNvSpPr/>
          <p:nvPr/>
        </p:nvSpPr>
        <p:spPr>
          <a:xfrm>
            <a:off x="6261100" y="17018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CE3B23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141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8" name="Shape 17">
            <a:extLst>
              <a:ext uri="{FF2B5EF4-FFF2-40B4-BE49-F238E27FC236}">
                <a16:creationId xmlns:a16="http://schemas.microsoft.com/office/drawing/2014/main" id="{7791386D-B15D-6B68-EB13-BDFEDC2E1715}"/>
              </a:ext>
            </a:extLst>
          </p:cNvPr>
          <p:cNvSpPr/>
          <p:nvPr/>
        </p:nvSpPr>
        <p:spPr>
          <a:xfrm>
            <a:off x="4292600" y="2032000"/>
            <a:ext cx="2730500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60" name="Shape 18">
            <a:extLst>
              <a:ext uri="{FF2B5EF4-FFF2-40B4-BE49-F238E27FC236}">
                <a16:creationId xmlns:a16="http://schemas.microsoft.com/office/drawing/2014/main" id="{AFD1ED36-C991-25F5-ACB4-72C8F32327ED}"/>
              </a:ext>
            </a:extLst>
          </p:cNvPr>
          <p:cNvSpPr/>
          <p:nvPr/>
        </p:nvSpPr>
        <p:spPr>
          <a:xfrm>
            <a:off x="4419600" y="21272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F79445"/>
          </a:solidFill>
          <a:ln w="12700">
            <a:noFill/>
            <a:prstDash val="solid"/>
          </a:ln>
        </p:spPr>
      </p:sp>
      <p:sp>
        <p:nvSpPr>
          <p:cNvPr id="262" name="Text 19">
            <a:extLst>
              <a:ext uri="{FF2B5EF4-FFF2-40B4-BE49-F238E27FC236}">
                <a16:creationId xmlns:a16="http://schemas.microsoft.com/office/drawing/2014/main" id="{070EFA95-C1C8-5D65-222C-1079E71CDDCB}"/>
              </a:ext>
            </a:extLst>
          </p:cNvPr>
          <p:cNvSpPr/>
          <p:nvPr/>
        </p:nvSpPr>
        <p:spPr>
          <a:xfrm>
            <a:off x="4711700" y="20320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R3 · Medio-alto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4" name="Text 20">
            <a:extLst>
              <a:ext uri="{FF2B5EF4-FFF2-40B4-BE49-F238E27FC236}">
                <a16:creationId xmlns:a16="http://schemas.microsoft.com/office/drawing/2014/main" id="{00BB672F-3109-EE0C-99AC-79D0A04D4B6E}"/>
              </a:ext>
            </a:extLst>
          </p:cNvPr>
          <p:cNvSpPr/>
          <p:nvPr/>
        </p:nvSpPr>
        <p:spPr>
          <a:xfrm>
            <a:off x="6261100" y="20320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280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" name="Shape 21">
            <a:extLst>
              <a:ext uri="{FF2B5EF4-FFF2-40B4-BE49-F238E27FC236}">
                <a16:creationId xmlns:a16="http://schemas.microsoft.com/office/drawing/2014/main" id="{B3BF9205-0215-5005-3271-BA3BA23B2002}"/>
              </a:ext>
            </a:extLst>
          </p:cNvPr>
          <p:cNvSpPr/>
          <p:nvPr/>
        </p:nvSpPr>
        <p:spPr>
          <a:xfrm>
            <a:off x="4292600" y="2362200"/>
            <a:ext cx="2730500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68" name="Shape 22">
            <a:extLst>
              <a:ext uri="{FF2B5EF4-FFF2-40B4-BE49-F238E27FC236}">
                <a16:creationId xmlns:a16="http://schemas.microsoft.com/office/drawing/2014/main" id="{22F27A5F-478B-0050-09A6-492E9A0A27EB}"/>
              </a:ext>
            </a:extLst>
          </p:cNvPr>
          <p:cNvSpPr/>
          <p:nvPr/>
        </p:nvSpPr>
        <p:spPr>
          <a:xfrm>
            <a:off x="4419600" y="24574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FDBC6B"/>
          </a:solidFill>
          <a:ln w="12700">
            <a:noFill/>
            <a:prstDash val="solid"/>
          </a:ln>
        </p:spPr>
      </p:sp>
      <p:sp>
        <p:nvSpPr>
          <p:cNvPr id="270" name="Text 23">
            <a:extLst>
              <a:ext uri="{FF2B5EF4-FFF2-40B4-BE49-F238E27FC236}">
                <a16:creationId xmlns:a16="http://schemas.microsoft.com/office/drawing/2014/main" id="{CFE57D8D-1D88-05AB-4FC4-A854A4210373}"/>
              </a:ext>
            </a:extLst>
          </p:cNvPr>
          <p:cNvSpPr/>
          <p:nvPr/>
        </p:nvSpPr>
        <p:spPr>
          <a:xfrm>
            <a:off x="4711700" y="23622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R2 · Medio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2" name="Text 24">
            <a:extLst>
              <a:ext uri="{FF2B5EF4-FFF2-40B4-BE49-F238E27FC236}">
                <a16:creationId xmlns:a16="http://schemas.microsoft.com/office/drawing/2014/main" id="{8F6E30C3-69A0-1AEC-AA1F-C5B759D11322}"/>
              </a:ext>
            </a:extLst>
          </p:cNvPr>
          <p:cNvSpPr/>
          <p:nvPr/>
        </p:nvSpPr>
        <p:spPr>
          <a:xfrm>
            <a:off x="6261100" y="23622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176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4" name="Shape 25">
            <a:extLst>
              <a:ext uri="{FF2B5EF4-FFF2-40B4-BE49-F238E27FC236}">
                <a16:creationId xmlns:a16="http://schemas.microsoft.com/office/drawing/2014/main" id="{11E54368-BFA6-19B1-70C3-D4A4EDD6BBCD}"/>
              </a:ext>
            </a:extLst>
          </p:cNvPr>
          <p:cNvSpPr/>
          <p:nvPr/>
        </p:nvSpPr>
        <p:spPr>
          <a:xfrm>
            <a:off x="4292600" y="2692400"/>
            <a:ext cx="2730500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76" name="Shape 26">
            <a:extLst>
              <a:ext uri="{FF2B5EF4-FFF2-40B4-BE49-F238E27FC236}">
                <a16:creationId xmlns:a16="http://schemas.microsoft.com/office/drawing/2014/main" id="{B24B872D-82FF-AEF4-9624-993CF7E7A847}"/>
              </a:ext>
            </a:extLst>
          </p:cNvPr>
          <p:cNvSpPr/>
          <p:nvPr/>
        </p:nvSpPr>
        <p:spPr>
          <a:xfrm>
            <a:off x="4419600" y="27876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FFD9A3"/>
          </a:solidFill>
          <a:ln w="12700">
            <a:noFill/>
            <a:prstDash val="solid"/>
          </a:ln>
        </p:spPr>
      </p:sp>
      <p:sp>
        <p:nvSpPr>
          <p:cNvPr id="278" name="Text 27">
            <a:extLst>
              <a:ext uri="{FF2B5EF4-FFF2-40B4-BE49-F238E27FC236}">
                <a16:creationId xmlns:a16="http://schemas.microsoft.com/office/drawing/2014/main" id="{47252562-A5AE-0044-2AFF-CAE21B23252B}"/>
              </a:ext>
            </a:extLst>
          </p:cNvPr>
          <p:cNvSpPr/>
          <p:nvPr/>
        </p:nvSpPr>
        <p:spPr>
          <a:xfrm>
            <a:off x="4711700" y="26924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R1 · Marginal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0" name="Text 28">
            <a:extLst>
              <a:ext uri="{FF2B5EF4-FFF2-40B4-BE49-F238E27FC236}">
                <a16:creationId xmlns:a16="http://schemas.microsoft.com/office/drawing/2014/main" id="{169DB658-DD77-787F-70CF-28E99E50109D}"/>
              </a:ext>
            </a:extLst>
          </p:cNvPr>
          <p:cNvSpPr/>
          <p:nvPr/>
        </p:nvSpPr>
        <p:spPr>
          <a:xfrm>
            <a:off x="6261100" y="26924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125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2" name="Shape 29">
            <a:extLst>
              <a:ext uri="{FF2B5EF4-FFF2-40B4-BE49-F238E27FC236}">
                <a16:creationId xmlns:a16="http://schemas.microsoft.com/office/drawing/2014/main" id="{283716A6-AAC5-45A0-C343-2BF0A7952878}"/>
              </a:ext>
            </a:extLst>
          </p:cNvPr>
          <p:cNvSpPr/>
          <p:nvPr/>
        </p:nvSpPr>
        <p:spPr>
          <a:xfrm>
            <a:off x="4292600" y="3022600"/>
            <a:ext cx="2730500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84" name="Shape 30">
            <a:extLst>
              <a:ext uri="{FF2B5EF4-FFF2-40B4-BE49-F238E27FC236}">
                <a16:creationId xmlns:a16="http://schemas.microsoft.com/office/drawing/2014/main" id="{0CB5B5D0-9FF4-1C1A-5C32-0AF6661397CF}"/>
              </a:ext>
            </a:extLst>
          </p:cNvPr>
          <p:cNvSpPr/>
          <p:nvPr/>
        </p:nvSpPr>
        <p:spPr>
          <a:xfrm>
            <a:off x="4419600" y="3117850"/>
            <a:ext cx="215900" cy="139700"/>
          </a:xfrm>
          <a:prstGeom prst="roundRect">
            <a:avLst>
              <a:gd name="adj" fmla="val 104727"/>
            </a:avLst>
          </a:prstGeom>
          <a:solidFill>
            <a:srgbClr val="DDE3E7"/>
          </a:solidFill>
          <a:ln w="12700">
            <a:noFill/>
            <a:prstDash val="solid"/>
          </a:ln>
        </p:spPr>
      </p:sp>
      <p:sp>
        <p:nvSpPr>
          <p:cNvPr id="286" name="Text 31">
            <a:extLst>
              <a:ext uri="{FF2B5EF4-FFF2-40B4-BE49-F238E27FC236}">
                <a16:creationId xmlns:a16="http://schemas.microsoft.com/office/drawing/2014/main" id="{75FB4316-D473-1A63-DE49-D2214988F3B9}"/>
              </a:ext>
            </a:extLst>
          </p:cNvPr>
          <p:cNvSpPr/>
          <p:nvPr/>
        </p:nvSpPr>
        <p:spPr>
          <a:xfrm>
            <a:off x="4711700" y="3022600"/>
            <a:ext cx="152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202A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R0 · Fuera del eje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" name="Text 32">
            <a:extLst>
              <a:ext uri="{FF2B5EF4-FFF2-40B4-BE49-F238E27FC236}">
                <a16:creationId xmlns:a16="http://schemas.microsoft.com/office/drawing/2014/main" id="{B59005FA-9199-D7F0-AE97-3B36F60388C1}"/>
              </a:ext>
            </a:extLst>
          </p:cNvPr>
          <p:cNvSpPr/>
          <p:nvPr/>
        </p:nvSpPr>
        <p:spPr>
          <a:xfrm>
            <a:off x="6261100" y="3022600"/>
            <a:ext cx="63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1,115</a:t>
            </a:r>
            <a:endParaRPr lang="en-US" sz="12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0" name="Shape 33">
            <a:extLst>
              <a:ext uri="{FF2B5EF4-FFF2-40B4-BE49-F238E27FC236}">
                <a16:creationId xmlns:a16="http://schemas.microsoft.com/office/drawing/2014/main" id="{5266CACC-9E20-3419-AF5A-A80B0AAC70CF}"/>
              </a:ext>
            </a:extLst>
          </p:cNvPr>
          <p:cNvSpPr/>
          <p:nvPr/>
        </p:nvSpPr>
        <p:spPr>
          <a:xfrm>
            <a:off x="4292600" y="3479800"/>
            <a:ext cx="2730500" cy="2768600"/>
          </a:xfrm>
          <a:prstGeom prst="roundRect">
            <a:avLst>
              <a:gd name="adj" fmla="val 670"/>
            </a:avLst>
          </a:prstGeom>
          <a:solidFill>
            <a:srgbClr val="CE3B23"/>
          </a:solidFill>
          <a:ln w="12700">
            <a:noFill/>
            <a:prstDash val="solid"/>
          </a:ln>
        </p:spPr>
      </p:sp>
      <p:pic>
        <p:nvPicPr>
          <p:cNvPr id="292" name="Image 1" descr="preencoded.png">
            <a:extLst>
              <a:ext uri="{FF2B5EF4-FFF2-40B4-BE49-F238E27FC236}">
                <a16:creationId xmlns:a16="http://schemas.microsoft.com/office/drawing/2014/main" id="{BCECC8FA-466D-C2C9-E287-36B321B3C984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4457700" y="3644900"/>
            <a:ext cx="165100" cy="165100"/>
          </a:xfrm>
          <a:prstGeom prst="rect">
            <a:avLst/>
          </a:prstGeom>
        </p:spPr>
      </p:pic>
      <p:sp>
        <p:nvSpPr>
          <p:cNvPr id="294" name="Text 34">
            <a:extLst>
              <a:ext uri="{FF2B5EF4-FFF2-40B4-BE49-F238E27FC236}">
                <a16:creationId xmlns:a16="http://schemas.microsoft.com/office/drawing/2014/main" id="{5345EA6A-9B8E-20C6-8C9C-D9A921D9818A}"/>
              </a:ext>
            </a:extLst>
          </p:cNvPr>
          <p:cNvSpPr/>
          <p:nvPr/>
        </p:nvSpPr>
        <p:spPr>
          <a:xfrm>
            <a:off x="4457700" y="3873500"/>
            <a:ext cx="24003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195</a:t>
            </a:r>
            <a:endParaRPr lang="en-US" sz="4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6" name="Text 35">
            <a:extLst>
              <a:ext uri="{FF2B5EF4-FFF2-40B4-BE49-F238E27FC236}">
                <a16:creationId xmlns:a16="http://schemas.microsoft.com/office/drawing/2014/main" id="{96D17618-B9FF-77A9-C5F2-CD77D23C06F5}"/>
              </a:ext>
            </a:extLst>
          </p:cNvPr>
          <p:cNvSpPr/>
          <p:nvPr/>
        </p:nvSpPr>
        <p:spPr>
          <a:xfrm>
            <a:off x="4457700" y="4673600"/>
            <a:ext cx="2400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distritos concentran el riesgo alto y extremo</a:t>
            </a:r>
            <a:endParaRPr lang="en-US" sz="13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8" name="Shape 36">
            <a:extLst>
              <a:ext uri="{FF2B5EF4-FFF2-40B4-BE49-F238E27FC236}">
                <a16:creationId xmlns:a16="http://schemas.microsoft.com/office/drawing/2014/main" id="{8DB93A78-7415-4E89-FEC1-99607654F276}"/>
              </a:ext>
            </a:extLst>
          </p:cNvPr>
          <p:cNvSpPr/>
          <p:nvPr/>
        </p:nvSpPr>
        <p:spPr>
          <a:xfrm>
            <a:off x="7150100" y="1371600"/>
            <a:ext cx="4431995" cy="4876800"/>
          </a:xfrm>
          <a:prstGeom prst="roundRect">
            <a:avLst>
              <a:gd name="adj" fmla="val 413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00" name="Text 37">
            <a:extLst>
              <a:ext uri="{FF2B5EF4-FFF2-40B4-BE49-F238E27FC236}">
                <a16:creationId xmlns:a16="http://schemas.microsoft.com/office/drawing/2014/main" id="{EE0A0FDE-C008-6755-F783-F70FC355C4A9}"/>
              </a:ext>
            </a:extLst>
          </p:cNvPr>
          <p:cNvSpPr/>
          <p:nvPr/>
        </p:nvSpPr>
        <p:spPr>
          <a:xfrm>
            <a:off x="7302500" y="1511300"/>
            <a:ext cx="41271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kern="0" spc="16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CÓMO SE CONSTRUYE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2" name="Shape 38">
            <a:extLst>
              <a:ext uri="{FF2B5EF4-FFF2-40B4-BE49-F238E27FC236}">
                <a16:creationId xmlns:a16="http://schemas.microsoft.com/office/drawing/2014/main" id="{8432727F-7206-D338-3D7C-0FE4038CE438}"/>
              </a:ext>
            </a:extLst>
          </p:cNvPr>
          <p:cNvSpPr/>
          <p:nvPr/>
        </p:nvSpPr>
        <p:spPr>
          <a:xfrm>
            <a:off x="7391400" y="1879600"/>
            <a:ext cx="0" cy="3759200"/>
          </a:xfrm>
          <a:prstGeom prst="line">
            <a:avLst/>
          </a:prstGeom>
          <a:noFill/>
          <a:ln w="25400">
            <a:solidFill>
              <a:srgbClr val="CBD8D0"/>
            </a:solidFill>
            <a:prstDash val="solid"/>
          </a:ln>
        </p:spPr>
      </p:sp>
      <p:sp>
        <p:nvSpPr>
          <p:cNvPr id="304" name="Shape 39">
            <a:extLst>
              <a:ext uri="{FF2B5EF4-FFF2-40B4-BE49-F238E27FC236}">
                <a16:creationId xmlns:a16="http://schemas.microsoft.com/office/drawing/2014/main" id="{111E3E3E-1633-908E-80B7-D7770707A3DA}"/>
              </a:ext>
            </a:extLst>
          </p:cNvPr>
          <p:cNvSpPr/>
          <p:nvPr/>
        </p:nvSpPr>
        <p:spPr>
          <a:xfrm>
            <a:off x="7346950" y="1841500"/>
            <a:ext cx="88900" cy="88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4F"/>
            </a:solidFill>
            <a:prstDash val="solid"/>
          </a:ln>
        </p:spPr>
      </p:sp>
      <p:pic>
        <p:nvPicPr>
          <p:cNvPr id="306" name="Image 2" descr="preencoded.png">
            <a:extLst>
              <a:ext uri="{FF2B5EF4-FFF2-40B4-BE49-F238E27FC236}">
                <a16:creationId xmlns:a16="http://schemas.microsoft.com/office/drawing/2014/main" id="{715F1B69-7169-47C5-0C9A-CAF3B0298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1100" y="1822450"/>
            <a:ext cx="120650" cy="120650"/>
          </a:xfrm>
          <a:prstGeom prst="rect">
            <a:avLst/>
          </a:prstGeom>
        </p:spPr>
      </p:pic>
      <p:sp>
        <p:nvSpPr>
          <p:cNvPr id="308" name="Text 40">
            <a:extLst>
              <a:ext uri="{FF2B5EF4-FFF2-40B4-BE49-F238E27FC236}">
                <a16:creationId xmlns:a16="http://schemas.microsoft.com/office/drawing/2014/main" id="{E33C0913-5AAC-C946-1EC9-DA1AA5CA0C8A}"/>
              </a:ext>
            </a:extLst>
          </p:cNvPr>
          <p:cNvSpPr/>
          <p:nvPr/>
        </p:nvSpPr>
        <p:spPr>
          <a:xfrm>
            <a:off x="7708900" y="1803400"/>
            <a:ext cx="366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Severidad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0" name="Text 41">
            <a:extLst>
              <a:ext uri="{FF2B5EF4-FFF2-40B4-BE49-F238E27FC236}">
                <a16:creationId xmlns:a16="http://schemas.microsoft.com/office/drawing/2014/main" id="{4A0E4277-6A21-D8BD-EACF-6013FCDDF868}"/>
              </a:ext>
            </a:extLst>
          </p:cNvPr>
          <p:cNvSpPr/>
          <p:nvPr/>
        </p:nvSpPr>
        <p:spPr>
          <a:xfrm>
            <a:off x="7531100" y="1968500"/>
            <a:ext cx="3847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damnificados y viviendas destruidas</a:t>
            </a:r>
            <a:endParaRPr lang="en-US" sz="9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2" name="Shape 42">
            <a:extLst>
              <a:ext uri="{FF2B5EF4-FFF2-40B4-BE49-F238E27FC236}">
                <a16:creationId xmlns:a16="http://schemas.microsoft.com/office/drawing/2014/main" id="{6E5F53F2-15AB-9B06-3326-D34A3A5A6780}"/>
              </a:ext>
            </a:extLst>
          </p:cNvPr>
          <p:cNvSpPr/>
          <p:nvPr/>
        </p:nvSpPr>
        <p:spPr>
          <a:xfrm>
            <a:off x="7531100" y="2197100"/>
            <a:ext cx="3847795" cy="241300"/>
          </a:xfrm>
          <a:prstGeom prst="roundRect">
            <a:avLst>
              <a:gd name="adj" fmla="val 5305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14" name="Text 43">
            <a:extLst>
              <a:ext uri="{FF2B5EF4-FFF2-40B4-BE49-F238E27FC236}">
                <a16:creationId xmlns:a16="http://schemas.microsoft.com/office/drawing/2014/main" id="{29E07813-55E2-DC29-15F2-AA7C89ADE8D7}"/>
              </a:ext>
            </a:extLst>
          </p:cNvPr>
          <p:cNvSpPr/>
          <p:nvPr/>
        </p:nvSpPr>
        <p:spPr>
          <a:xfrm>
            <a:off x="7594600" y="2197100"/>
            <a:ext cx="372079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DesInventar 83 y 98 · INDECI 2017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6" name="Shape 44">
            <a:extLst>
              <a:ext uri="{FF2B5EF4-FFF2-40B4-BE49-F238E27FC236}">
                <a16:creationId xmlns:a16="http://schemas.microsoft.com/office/drawing/2014/main" id="{9287615A-7FE0-9DFC-8B75-4C85DD64B85F}"/>
              </a:ext>
            </a:extLst>
          </p:cNvPr>
          <p:cNvSpPr/>
          <p:nvPr/>
        </p:nvSpPr>
        <p:spPr>
          <a:xfrm>
            <a:off x="7346950" y="2585720"/>
            <a:ext cx="88900" cy="88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4F"/>
            </a:solidFill>
            <a:prstDash val="solid"/>
          </a:ln>
        </p:spPr>
      </p:sp>
      <p:pic>
        <p:nvPicPr>
          <p:cNvPr id="318" name="Image 3" descr="preencoded.png">
            <a:extLst>
              <a:ext uri="{FF2B5EF4-FFF2-40B4-BE49-F238E27FC236}">
                <a16:creationId xmlns:a16="http://schemas.microsoft.com/office/drawing/2014/main" id="{D4606E6E-A60D-1C6E-1320-14F021CBFE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100" y="2566670"/>
            <a:ext cx="120650" cy="120650"/>
          </a:xfrm>
          <a:prstGeom prst="rect">
            <a:avLst/>
          </a:prstGeom>
        </p:spPr>
      </p:pic>
      <p:sp>
        <p:nvSpPr>
          <p:cNvPr id="320" name="Text 45">
            <a:extLst>
              <a:ext uri="{FF2B5EF4-FFF2-40B4-BE49-F238E27FC236}">
                <a16:creationId xmlns:a16="http://schemas.microsoft.com/office/drawing/2014/main" id="{8DEC2029-6CE5-E022-CAEF-8600237D4273}"/>
              </a:ext>
            </a:extLst>
          </p:cNvPr>
          <p:cNvSpPr/>
          <p:nvPr/>
        </p:nvSpPr>
        <p:spPr>
          <a:xfrm>
            <a:off x="7708900" y="2547620"/>
            <a:ext cx="366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Recurrencia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2" name="Text 46">
            <a:extLst>
              <a:ext uri="{FF2B5EF4-FFF2-40B4-BE49-F238E27FC236}">
                <a16:creationId xmlns:a16="http://schemas.microsoft.com/office/drawing/2014/main" id="{2F96588C-D539-53E0-23F1-45742A2FE599}"/>
              </a:ext>
            </a:extLst>
          </p:cNvPr>
          <p:cNvSpPr/>
          <p:nvPr/>
        </p:nvSpPr>
        <p:spPr>
          <a:xfrm>
            <a:off x="7531100" y="2712720"/>
            <a:ext cx="3847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en cuántos de los cuatro eventos se activó</a:t>
            </a:r>
            <a:endParaRPr lang="en-US" sz="9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4" name="Shape 47">
            <a:extLst>
              <a:ext uri="{FF2B5EF4-FFF2-40B4-BE49-F238E27FC236}">
                <a16:creationId xmlns:a16="http://schemas.microsoft.com/office/drawing/2014/main" id="{8DCE7828-D5F5-53DC-72CA-6BB6B11CCF60}"/>
              </a:ext>
            </a:extLst>
          </p:cNvPr>
          <p:cNvSpPr/>
          <p:nvPr/>
        </p:nvSpPr>
        <p:spPr>
          <a:xfrm>
            <a:off x="7531100" y="2941320"/>
            <a:ext cx="3847795" cy="241300"/>
          </a:xfrm>
          <a:prstGeom prst="roundRect">
            <a:avLst>
              <a:gd name="adj" fmla="val 5305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26" name="Text 48">
            <a:extLst>
              <a:ext uri="{FF2B5EF4-FFF2-40B4-BE49-F238E27FC236}">
                <a16:creationId xmlns:a16="http://schemas.microsoft.com/office/drawing/2014/main" id="{576FD1AA-79F7-3535-29F9-E7999937D952}"/>
              </a:ext>
            </a:extLst>
          </p:cNvPr>
          <p:cNvSpPr/>
          <p:nvPr/>
        </p:nvSpPr>
        <p:spPr>
          <a:xfrm>
            <a:off x="7594600" y="2941320"/>
            <a:ext cx="372079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DesInventar · INDECI · SINPAD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8" name="Shape 49">
            <a:extLst>
              <a:ext uri="{FF2B5EF4-FFF2-40B4-BE49-F238E27FC236}">
                <a16:creationId xmlns:a16="http://schemas.microsoft.com/office/drawing/2014/main" id="{CBEA91E2-274E-4364-6964-3D8A4FFD09F4}"/>
              </a:ext>
            </a:extLst>
          </p:cNvPr>
          <p:cNvSpPr/>
          <p:nvPr/>
        </p:nvSpPr>
        <p:spPr>
          <a:xfrm>
            <a:off x="7346950" y="3329940"/>
            <a:ext cx="88900" cy="88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4F"/>
            </a:solidFill>
            <a:prstDash val="solid"/>
          </a:ln>
        </p:spPr>
      </p:sp>
      <p:pic>
        <p:nvPicPr>
          <p:cNvPr id="330" name="Image 4" descr="preencoded.png">
            <a:extLst>
              <a:ext uri="{FF2B5EF4-FFF2-40B4-BE49-F238E27FC236}">
                <a16:creationId xmlns:a16="http://schemas.microsoft.com/office/drawing/2014/main" id="{59EC8595-4D32-42CA-2A0E-6E44EC4337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100" y="3310890"/>
            <a:ext cx="120650" cy="120650"/>
          </a:xfrm>
          <a:prstGeom prst="rect">
            <a:avLst/>
          </a:prstGeom>
        </p:spPr>
      </p:pic>
      <p:sp>
        <p:nvSpPr>
          <p:cNvPr id="332" name="Text 50">
            <a:extLst>
              <a:ext uri="{FF2B5EF4-FFF2-40B4-BE49-F238E27FC236}">
                <a16:creationId xmlns:a16="http://schemas.microsoft.com/office/drawing/2014/main" id="{E09C9B9D-030F-8720-EA4C-887EE33231A7}"/>
              </a:ext>
            </a:extLst>
          </p:cNvPr>
          <p:cNvSpPr/>
          <p:nvPr/>
        </p:nvSpPr>
        <p:spPr>
          <a:xfrm>
            <a:off x="7708900" y="3291840"/>
            <a:ext cx="366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Fragilidad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4" name="Text 51">
            <a:extLst>
              <a:ext uri="{FF2B5EF4-FFF2-40B4-BE49-F238E27FC236}">
                <a16:creationId xmlns:a16="http://schemas.microsoft.com/office/drawing/2014/main" id="{56DAB8FE-8AAF-38DB-2702-852DFB4398E8}"/>
              </a:ext>
            </a:extLst>
          </p:cNvPr>
          <p:cNvSpPr/>
          <p:nvPr/>
        </p:nvSpPr>
        <p:spPr>
          <a:xfrm>
            <a:off x="7531100" y="3456940"/>
            <a:ext cx="3847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activación en los eventos recientes</a:t>
            </a:r>
            <a:endParaRPr lang="en-US" sz="9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6" name="Shape 52">
            <a:extLst>
              <a:ext uri="{FF2B5EF4-FFF2-40B4-BE49-F238E27FC236}">
                <a16:creationId xmlns:a16="http://schemas.microsoft.com/office/drawing/2014/main" id="{E4206CF2-1134-934E-0E28-5F1232CF4155}"/>
              </a:ext>
            </a:extLst>
          </p:cNvPr>
          <p:cNvSpPr/>
          <p:nvPr/>
        </p:nvSpPr>
        <p:spPr>
          <a:xfrm>
            <a:off x="7531100" y="3685540"/>
            <a:ext cx="3847795" cy="241300"/>
          </a:xfrm>
          <a:prstGeom prst="roundRect">
            <a:avLst>
              <a:gd name="adj" fmla="val 5305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38" name="Text 53">
            <a:extLst>
              <a:ext uri="{FF2B5EF4-FFF2-40B4-BE49-F238E27FC236}">
                <a16:creationId xmlns:a16="http://schemas.microsoft.com/office/drawing/2014/main" id="{2B955920-4C9E-8B44-014C-9537570EC630}"/>
              </a:ext>
            </a:extLst>
          </p:cNvPr>
          <p:cNvSpPr/>
          <p:nvPr/>
        </p:nvSpPr>
        <p:spPr>
          <a:xfrm>
            <a:off x="7594600" y="3685540"/>
            <a:ext cx="372079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SINPAD 2017 y 2023-24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0" name="Shape 54">
            <a:extLst>
              <a:ext uri="{FF2B5EF4-FFF2-40B4-BE49-F238E27FC236}">
                <a16:creationId xmlns:a16="http://schemas.microsoft.com/office/drawing/2014/main" id="{DA6E700D-7C88-905E-B188-16CDCE8D8ABC}"/>
              </a:ext>
            </a:extLst>
          </p:cNvPr>
          <p:cNvSpPr/>
          <p:nvPr/>
        </p:nvSpPr>
        <p:spPr>
          <a:xfrm>
            <a:off x="7346950" y="4074160"/>
            <a:ext cx="88900" cy="88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4F"/>
            </a:solidFill>
            <a:prstDash val="solid"/>
          </a:ln>
        </p:spPr>
      </p:sp>
      <p:pic>
        <p:nvPicPr>
          <p:cNvPr id="342" name="Image 5" descr="preencoded.png">
            <a:extLst>
              <a:ext uri="{FF2B5EF4-FFF2-40B4-BE49-F238E27FC236}">
                <a16:creationId xmlns:a16="http://schemas.microsoft.com/office/drawing/2014/main" id="{780F2A11-44B0-10F9-DD9F-CD4FF61657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1100" y="4055110"/>
            <a:ext cx="120650" cy="120650"/>
          </a:xfrm>
          <a:prstGeom prst="rect">
            <a:avLst/>
          </a:prstGeom>
        </p:spPr>
      </p:pic>
      <p:sp>
        <p:nvSpPr>
          <p:cNvPr id="344" name="Text 55">
            <a:extLst>
              <a:ext uri="{FF2B5EF4-FFF2-40B4-BE49-F238E27FC236}">
                <a16:creationId xmlns:a16="http://schemas.microsoft.com/office/drawing/2014/main" id="{AEADA813-9043-3620-078F-0D7536637003}"/>
              </a:ext>
            </a:extLst>
          </p:cNvPr>
          <p:cNvSpPr/>
          <p:nvPr/>
        </p:nvSpPr>
        <p:spPr>
          <a:xfrm>
            <a:off x="7708900" y="4036060"/>
            <a:ext cx="366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Exposición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6" name="Text 56">
            <a:extLst>
              <a:ext uri="{FF2B5EF4-FFF2-40B4-BE49-F238E27FC236}">
                <a16:creationId xmlns:a16="http://schemas.microsoft.com/office/drawing/2014/main" id="{CC4162B2-D89E-5CCD-40C0-128D922EE360}"/>
              </a:ext>
            </a:extLst>
          </p:cNvPr>
          <p:cNvSpPr/>
          <p:nvPr/>
        </p:nvSpPr>
        <p:spPr>
          <a:xfrm>
            <a:off x="7531100" y="4201160"/>
            <a:ext cx="3847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población en zona inundable</a:t>
            </a:r>
            <a:endParaRPr lang="en-US" sz="9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8" name="Shape 57">
            <a:extLst>
              <a:ext uri="{FF2B5EF4-FFF2-40B4-BE49-F238E27FC236}">
                <a16:creationId xmlns:a16="http://schemas.microsoft.com/office/drawing/2014/main" id="{96581284-93BA-6C07-53BA-AEF604B2D776}"/>
              </a:ext>
            </a:extLst>
          </p:cNvPr>
          <p:cNvSpPr/>
          <p:nvPr/>
        </p:nvSpPr>
        <p:spPr>
          <a:xfrm>
            <a:off x="7531100" y="4429760"/>
            <a:ext cx="3847795" cy="241300"/>
          </a:xfrm>
          <a:prstGeom prst="roundRect">
            <a:avLst>
              <a:gd name="adj" fmla="val 5305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50" name="Text 58">
            <a:extLst>
              <a:ext uri="{FF2B5EF4-FFF2-40B4-BE49-F238E27FC236}">
                <a16:creationId xmlns:a16="http://schemas.microsoft.com/office/drawing/2014/main" id="{6A745733-311C-0B29-E294-29BF9280BF18}"/>
              </a:ext>
            </a:extLst>
          </p:cNvPr>
          <p:cNvSpPr/>
          <p:nvPr/>
        </p:nvSpPr>
        <p:spPr>
          <a:xfrm>
            <a:off x="7594600" y="4429760"/>
            <a:ext cx="372079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CENEPRED · escenario FEN 2023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2" name="Shape 59">
            <a:extLst>
              <a:ext uri="{FF2B5EF4-FFF2-40B4-BE49-F238E27FC236}">
                <a16:creationId xmlns:a16="http://schemas.microsoft.com/office/drawing/2014/main" id="{97292BCD-8F19-2F73-2930-E7D6C858082D}"/>
              </a:ext>
            </a:extLst>
          </p:cNvPr>
          <p:cNvSpPr/>
          <p:nvPr/>
        </p:nvSpPr>
        <p:spPr>
          <a:xfrm>
            <a:off x="7346950" y="4818380"/>
            <a:ext cx="88900" cy="889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A94F"/>
            </a:solidFill>
            <a:prstDash val="solid"/>
          </a:ln>
        </p:spPr>
      </p:sp>
      <p:pic>
        <p:nvPicPr>
          <p:cNvPr id="354" name="Image 6" descr="preencoded.png">
            <a:extLst>
              <a:ext uri="{FF2B5EF4-FFF2-40B4-BE49-F238E27FC236}">
                <a16:creationId xmlns:a16="http://schemas.microsoft.com/office/drawing/2014/main" id="{735D0CA9-8BB7-DE99-1453-2E47BFFD0D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1100" y="4799330"/>
            <a:ext cx="120650" cy="120650"/>
          </a:xfrm>
          <a:prstGeom prst="rect">
            <a:avLst/>
          </a:prstGeom>
        </p:spPr>
      </p:pic>
      <p:sp>
        <p:nvSpPr>
          <p:cNvPr id="356" name="Text 60">
            <a:extLst>
              <a:ext uri="{FF2B5EF4-FFF2-40B4-BE49-F238E27FC236}">
                <a16:creationId xmlns:a16="http://schemas.microsoft.com/office/drawing/2014/main" id="{CC0A1002-963A-FF2C-1792-32845228EB93}"/>
              </a:ext>
            </a:extLst>
          </p:cNvPr>
          <p:cNvSpPr/>
          <p:nvPr/>
        </p:nvSpPr>
        <p:spPr>
          <a:xfrm>
            <a:off x="7708900" y="4780280"/>
            <a:ext cx="366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Atribución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8" name="Text 61">
            <a:extLst>
              <a:ext uri="{FF2B5EF4-FFF2-40B4-BE49-F238E27FC236}">
                <a16:creationId xmlns:a16="http://schemas.microsoft.com/office/drawing/2014/main" id="{50228823-4D29-4A36-5A23-3EC486764363}"/>
              </a:ext>
            </a:extLst>
          </p:cNvPr>
          <p:cNvSpPr/>
          <p:nvPr/>
        </p:nvSpPr>
        <p:spPr>
          <a:xfrm>
            <a:off x="7531100" y="4945380"/>
            <a:ext cx="38477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concentración del daño en años El Niño</a:t>
            </a:r>
            <a:endParaRPr lang="en-US" sz="9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0" name="Shape 62">
            <a:extLst>
              <a:ext uri="{FF2B5EF4-FFF2-40B4-BE49-F238E27FC236}">
                <a16:creationId xmlns:a16="http://schemas.microsoft.com/office/drawing/2014/main" id="{EB9ED854-F42B-9E2F-5F96-6E2917F34834}"/>
              </a:ext>
            </a:extLst>
          </p:cNvPr>
          <p:cNvSpPr/>
          <p:nvPr/>
        </p:nvSpPr>
        <p:spPr>
          <a:xfrm>
            <a:off x="7531100" y="5173980"/>
            <a:ext cx="3847795" cy="241300"/>
          </a:xfrm>
          <a:prstGeom prst="roundRect">
            <a:avLst>
              <a:gd name="adj" fmla="val 53053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362" name="Text 63">
            <a:extLst>
              <a:ext uri="{FF2B5EF4-FFF2-40B4-BE49-F238E27FC236}">
                <a16:creationId xmlns:a16="http://schemas.microsoft.com/office/drawing/2014/main" id="{793E19DC-1CC0-118B-E2C7-658F5B646E94}"/>
              </a:ext>
            </a:extLst>
          </p:cNvPr>
          <p:cNvSpPr/>
          <p:nvPr/>
        </p:nvSpPr>
        <p:spPr>
          <a:xfrm>
            <a:off x="7594600" y="5173980"/>
            <a:ext cx="372079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Cuencas del ANA · ICEN del IGP</a:t>
            </a:r>
            <a:endParaRPr lang="en-US" sz="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4" name="Shape 64">
            <a:extLst>
              <a:ext uri="{FF2B5EF4-FFF2-40B4-BE49-F238E27FC236}">
                <a16:creationId xmlns:a16="http://schemas.microsoft.com/office/drawing/2014/main" id="{8D53A1D3-FF2C-08B1-68CD-DD208FF8A7AC}"/>
              </a:ext>
            </a:extLst>
          </p:cNvPr>
          <p:cNvSpPr/>
          <p:nvPr/>
        </p:nvSpPr>
        <p:spPr>
          <a:xfrm>
            <a:off x="7277100" y="5600700"/>
            <a:ext cx="4177995" cy="520700"/>
          </a:xfrm>
          <a:prstGeom prst="roundRect">
            <a:avLst>
              <a:gd name="adj" fmla="val 10537"/>
            </a:avLst>
          </a:prstGeom>
          <a:solidFill>
            <a:srgbClr val="00A94F"/>
          </a:solidFill>
          <a:ln w="12700">
            <a:noFill/>
            <a:prstDash val="solid"/>
          </a:ln>
        </p:spPr>
      </p:sp>
      <p:sp>
        <p:nvSpPr>
          <p:cNvPr id="368" name="Text 66">
            <a:extLst>
              <a:ext uri="{FF2B5EF4-FFF2-40B4-BE49-F238E27FC236}">
                <a16:creationId xmlns:a16="http://schemas.microsoft.com/office/drawing/2014/main" id="{51B75CF3-5085-31CA-49DC-21D935B8F445}"/>
              </a:ext>
            </a:extLst>
          </p:cNvPr>
          <p:cNvSpPr/>
          <p:nvPr/>
        </p:nvSpPr>
        <p:spPr>
          <a:xfrm>
            <a:off x="7471302" y="5791200"/>
            <a:ext cx="39493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Nivel R0 a R5 por distrito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0" name="Text 2">
            <a:extLst>
              <a:ext uri="{FF2B5EF4-FFF2-40B4-BE49-F238E27FC236}">
                <a16:creationId xmlns:a16="http://schemas.microsoft.com/office/drawing/2014/main" id="{2EB9AA45-9564-9477-CF1D-6E38BB804FE8}"/>
              </a:ext>
            </a:extLst>
          </p:cNvPr>
          <p:cNvSpPr/>
          <p:nvPr/>
        </p:nvSpPr>
        <p:spPr>
          <a:xfrm>
            <a:off x="8450072" y="350520"/>
            <a:ext cx="317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01 · PELIGRO FÍSICO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3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DE4D-AF96-2486-C260-3B5FA848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6E967E-9D33-58C7-AF72-F00E5E04BC48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6EB7A01-C5E8-C499-F22E-4B6C12DDA34F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7F6BCB-4E9D-13EA-E663-BC1C8C7D6E0E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C26F368-D352-9138-979F-AF312789E164}"/>
              </a:ext>
            </a:extLst>
          </p:cNvPr>
          <p:cNvSpPr/>
          <p:nvPr/>
        </p:nvSpPr>
        <p:spPr>
          <a:xfrm>
            <a:off x="8026095" y="279400"/>
            <a:ext cx="3556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02 · ACTIVIDAD ECONÓMICA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B90CAF3-1664-F18B-9722-9CB12CE69F3C}"/>
              </a:ext>
            </a:extLst>
          </p:cNvPr>
          <p:cNvSpPr/>
          <p:nvPr/>
        </p:nvSpPr>
        <p:spPr>
          <a:xfrm>
            <a:off x="609600" y="596900"/>
            <a:ext cx="102870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La </a:t>
            </a:r>
            <a:r>
              <a:rPr lang="en-US" sz="2800" b="1" dirty="0" err="1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agricultura</a:t>
            </a:r>
            <a:r>
              <a:rPr lang="en-US" sz="28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cubre el país, pero es solo el </a:t>
            </a:r>
            <a:r>
              <a:rPr lang="en-US" sz="2800" b="1" dirty="0">
                <a:solidFill>
                  <a:srgbClr val="6E8B3D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17 % del empleo</a:t>
            </a: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F2DFDA1-2264-AC61-8D7E-F53F2075FAD4}"/>
              </a:ext>
            </a:extLst>
          </p:cNvPr>
          <p:cNvSpPr/>
          <p:nvPr/>
        </p:nvSpPr>
        <p:spPr>
          <a:xfrm>
            <a:off x="609600" y="1003300"/>
            <a:ext cx="952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qué vive cada distrito, y cuánta gente trabaja realmente en eso. Censo 2017 y Censo Económico 2022.</a:t>
            </a:r>
            <a:endParaRPr lang="en-US" sz="12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FDF57458-101B-51DF-B109-1AC6F6B37A7E}"/>
              </a:ext>
            </a:extLst>
          </p:cNvPr>
          <p:cNvSpPr/>
          <p:nvPr/>
        </p:nvSpPr>
        <p:spPr>
          <a:xfrm>
            <a:off x="609600" y="1384300"/>
            <a:ext cx="3175000" cy="4876800"/>
          </a:xfrm>
          <a:prstGeom prst="roundRect">
            <a:avLst>
              <a:gd name="adj" fmla="val 576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pic>
        <p:nvPicPr>
          <p:cNvPr id="17" name="Image 0" descr="C:/Users/CARLOS/elnino_ibk/03_deck/mapa_tipo_limpio.png">
            <a:extLst>
              <a:ext uri="{FF2B5EF4-FFF2-40B4-BE49-F238E27FC236}">
                <a16:creationId xmlns:a16="http://schemas.microsoft.com/office/drawing/2014/main" id="{532362B4-5EB4-4F53-5558-C943634C5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3" y="1485900"/>
            <a:ext cx="3114655" cy="4521200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4213DAA2-2EE7-494D-7A2B-B147F6EB5556}"/>
              </a:ext>
            </a:extLst>
          </p:cNvPr>
          <p:cNvSpPr/>
          <p:nvPr/>
        </p:nvSpPr>
        <p:spPr>
          <a:xfrm>
            <a:off x="749300" y="6045200"/>
            <a:ext cx="2895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 de actividad dominante · 1 891 distritos</a:t>
            </a:r>
            <a:endParaRPr lang="en-US" sz="7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65473BC0-3D6A-5A09-AC60-46BA567D69A6}"/>
              </a:ext>
            </a:extLst>
          </p:cNvPr>
          <p:cNvSpPr/>
          <p:nvPr/>
        </p:nvSpPr>
        <p:spPr>
          <a:xfrm>
            <a:off x="3911600" y="1384300"/>
            <a:ext cx="7670495" cy="4876800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D6C59A0-44A3-FBB9-ADAB-11CCB446BBCC}"/>
              </a:ext>
            </a:extLst>
          </p:cNvPr>
          <p:cNvSpPr/>
          <p:nvPr/>
        </p:nvSpPr>
        <p:spPr>
          <a:xfrm>
            <a:off x="8362772" y="1536700"/>
            <a:ext cx="12318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0" b="1" kern="0" spc="13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DISTRITOS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DB59A91-2704-ED39-40E3-696B74A005F5}"/>
              </a:ext>
            </a:extLst>
          </p:cNvPr>
          <p:cNvSpPr/>
          <p:nvPr/>
        </p:nvSpPr>
        <p:spPr>
          <a:xfrm>
            <a:off x="9840991" y="1536700"/>
            <a:ext cx="1601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00" b="1" kern="0" spc="13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% DEL EMPLEO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EF28EC4E-915D-6B00-DFC7-400044FEBFD6}"/>
              </a:ext>
            </a:extLst>
          </p:cNvPr>
          <p:cNvSpPr/>
          <p:nvPr/>
        </p:nvSpPr>
        <p:spPr>
          <a:xfrm>
            <a:off x="4051300" y="1829858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1F6FA8"/>
          </a:solidFill>
          <a:ln w="12700">
            <a:noFill/>
            <a:prstDash val="solid"/>
          </a:ln>
        </p:spPr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A18D7F89-AAA3-28A8-9CBE-B03631762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1874308"/>
            <a:ext cx="127000" cy="127000"/>
          </a:xfrm>
          <a:prstGeom prst="rect">
            <a:avLst/>
          </a:prstGeom>
        </p:spPr>
      </p:pic>
      <p:sp>
        <p:nvSpPr>
          <p:cNvPr id="45" name="Text 11">
            <a:extLst>
              <a:ext uri="{FF2B5EF4-FFF2-40B4-BE49-F238E27FC236}">
                <a16:creationId xmlns:a16="http://schemas.microsoft.com/office/drawing/2014/main" id="{4AB9C0BC-B543-D267-436E-A2B0193C581C}"/>
              </a:ext>
            </a:extLst>
          </p:cNvPr>
          <p:cNvSpPr/>
          <p:nvPr/>
        </p:nvSpPr>
        <p:spPr>
          <a:xfrm>
            <a:off x="4356100" y="1752600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Pesquero</a:t>
            </a:r>
            <a:endParaRPr lang="en-US" sz="11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81774194-A1EC-6F42-A768-7F56181A3968}"/>
              </a:ext>
            </a:extLst>
          </p:cNvPr>
          <p:cNvSpPr/>
          <p:nvPr/>
        </p:nvSpPr>
        <p:spPr>
          <a:xfrm>
            <a:off x="4356100" y="1905000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mar se calienta y para</a:t>
            </a:r>
            <a:endParaRPr lang="en-US" sz="9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CCB340EF-6F2C-5010-2553-5F5DA22F2700}"/>
              </a:ext>
            </a:extLst>
          </p:cNvPr>
          <p:cNvSpPr/>
          <p:nvPr/>
        </p:nvSpPr>
        <p:spPr>
          <a:xfrm>
            <a:off x="8362772" y="1714500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35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529F7E25-1265-DC3F-B2AA-0365609AE4C8}"/>
              </a:ext>
            </a:extLst>
          </p:cNvPr>
          <p:cNvSpPr/>
          <p:nvPr/>
        </p:nvSpPr>
        <p:spPr>
          <a:xfrm>
            <a:off x="9840991" y="1714500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1,6 %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955457B7-DFAA-D15E-39D8-48A164841EB5}"/>
              </a:ext>
            </a:extLst>
          </p:cNvPr>
          <p:cNvSpPr/>
          <p:nvPr/>
        </p:nvSpPr>
        <p:spPr>
          <a:xfrm>
            <a:off x="4051300" y="2148417"/>
            <a:ext cx="7391095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193" name="Shape 16">
            <a:extLst>
              <a:ext uri="{FF2B5EF4-FFF2-40B4-BE49-F238E27FC236}">
                <a16:creationId xmlns:a16="http://schemas.microsoft.com/office/drawing/2014/main" id="{D4112087-CA86-8FA8-3B93-C7F12265B500}"/>
              </a:ext>
            </a:extLst>
          </p:cNvPr>
          <p:cNvSpPr/>
          <p:nvPr/>
        </p:nvSpPr>
        <p:spPr>
          <a:xfrm>
            <a:off x="4051300" y="2276475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6E8B3D"/>
          </a:solidFill>
          <a:ln w="12700">
            <a:noFill/>
            <a:prstDash val="solid"/>
          </a:ln>
        </p:spPr>
      </p:sp>
      <p:pic>
        <p:nvPicPr>
          <p:cNvPr id="197" name="Image 2" descr="preencoded.png">
            <a:extLst>
              <a:ext uri="{FF2B5EF4-FFF2-40B4-BE49-F238E27FC236}">
                <a16:creationId xmlns:a16="http://schemas.microsoft.com/office/drawing/2014/main" id="{02E41F3B-CB30-A250-E86E-23143741F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2320925"/>
            <a:ext cx="127000" cy="127000"/>
          </a:xfrm>
          <a:prstGeom prst="rect">
            <a:avLst/>
          </a:prstGeom>
        </p:spPr>
      </p:pic>
      <p:sp>
        <p:nvSpPr>
          <p:cNvPr id="201" name="Text 17">
            <a:extLst>
              <a:ext uri="{FF2B5EF4-FFF2-40B4-BE49-F238E27FC236}">
                <a16:creationId xmlns:a16="http://schemas.microsoft.com/office/drawing/2014/main" id="{EDDFE68C-B987-FA35-0EF5-64B38DE6C113}"/>
              </a:ext>
            </a:extLst>
          </p:cNvPr>
          <p:cNvSpPr/>
          <p:nvPr/>
        </p:nvSpPr>
        <p:spPr>
          <a:xfrm>
            <a:off x="4356100" y="2199217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Agrícola</a:t>
            </a:r>
            <a:endParaRPr lang="en-US" sz="1100" dirty="0"/>
          </a:p>
        </p:txBody>
      </p:sp>
      <p:sp>
        <p:nvSpPr>
          <p:cNvPr id="205" name="Text 18">
            <a:extLst>
              <a:ext uri="{FF2B5EF4-FFF2-40B4-BE49-F238E27FC236}">
                <a16:creationId xmlns:a16="http://schemas.microsoft.com/office/drawing/2014/main" id="{D7A77A4C-BD44-552D-A012-BC6B9C7F5852}"/>
              </a:ext>
            </a:extLst>
          </p:cNvPr>
          <p:cNvSpPr/>
          <p:nvPr/>
        </p:nvSpPr>
        <p:spPr>
          <a:xfrm>
            <a:off x="4356100" y="2351617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vive de la campaña</a:t>
            </a:r>
            <a:endParaRPr lang="en-US" sz="900" dirty="0"/>
          </a:p>
        </p:txBody>
      </p:sp>
      <p:sp>
        <p:nvSpPr>
          <p:cNvPr id="209" name="Text 19">
            <a:extLst>
              <a:ext uri="{FF2B5EF4-FFF2-40B4-BE49-F238E27FC236}">
                <a16:creationId xmlns:a16="http://schemas.microsoft.com/office/drawing/2014/main" id="{82E1AC7B-1FD9-75A3-98EC-EEEB633E8F0A}"/>
              </a:ext>
            </a:extLst>
          </p:cNvPr>
          <p:cNvSpPr/>
          <p:nvPr/>
        </p:nvSpPr>
        <p:spPr>
          <a:xfrm>
            <a:off x="8362772" y="2161117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1275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3" name="Text 20">
            <a:extLst>
              <a:ext uri="{FF2B5EF4-FFF2-40B4-BE49-F238E27FC236}">
                <a16:creationId xmlns:a16="http://schemas.microsoft.com/office/drawing/2014/main" id="{A4C302B2-3159-EAB7-886C-6C9FD3222B9C}"/>
              </a:ext>
            </a:extLst>
          </p:cNvPr>
          <p:cNvSpPr/>
          <p:nvPr/>
        </p:nvSpPr>
        <p:spPr>
          <a:xfrm>
            <a:off x="9840991" y="2161117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17,2 %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A2AC488F-29AB-D2DB-DB18-2D60AF9F3D15}"/>
              </a:ext>
            </a:extLst>
          </p:cNvPr>
          <p:cNvSpPr/>
          <p:nvPr/>
        </p:nvSpPr>
        <p:spPr>
          <a:xfrm>
            <a:off x="4051300" y="2595033"/>
            <a:ext cx="7391095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21" name="Shape 22">
            <a:extLst>
              <a:ext uri="{FF2B5EF4-FFF2-40B4-BE49-F238E27FC236}">
                <a16:creationId xmlns:a16="http://schemas.microsoft.com/office/drawing/2014/main" id="{AA85DDE0-8ADC-9E78-C11D-87EF718E5518}"/>
              </a:ext>
            </a:extLst>
          </p:cNvPr>
          <p:cNvSpPr/>
          <p:nvPr/>
        </p:nvSpPr>
        <p:spPr>
          <a:xfrm>
            <a:off x="4051300" y="2723092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B5C48A"/>
          </a:solidFill>
          <a:ln w="12700">
            <a:noFill/>
            <a:prstDash val="solid"/>
          </a:ln>
        </p:spPr>
      </p:sp>
      <p:pic>
        <p:nvPicPr>
          <p:cNvPr id="225" name="Image 3" descr="preencoded.png">
            <a:extLst>
              <a:ext uri="{FF2B5EF4-FFF2-40B4-BE49-F238E27FC236}">
                <a16:creationId xmlns:a16="http://schemas.microsoft.com/office/drawing/2014/main" id="{E67AA541-F1DC-1AF2-A63E-E03BCC8F1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2767542"/>
            <a:ext cx="127000" cy="127000"/>
          </a:xfrm>
          <a:prstGeom prst="rect">
            <a:avLst/>
          </a:prstGeom>
        </p:spPr>
      </p:pic>
      <p:sp>
        <p:nvSpPr>
          <p:cNvPr id="228" name="Text 23">
            <a:extLst>
              <a:ext uri="{FF2B5EF4-FFF2-40B4-BE49-F238E27FC236}">
                <a16:creationId xmlns:a16="http://schemas.microsoft.com/office/drawing/2014/main" id="{87EF3209-911D-F7EE-7827-764E05B32D6E}"/>
              </a:ext>
            </a:extLst>
          </p:cNvPr>
          <p:cNvSpPr/>
          <p:nvPr/>
        </p:nvSpPr>
        <p:spPr>
          <a:xfrm>
            <a:off x="4356100" y="2645833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Agro no mayoritario</a:t>
            </a:r>
            <a:endParaRPr lang="en-US" sz="1100" dirty="0"/>
          </a:p>
        </p:txBody>
      </p:sp>
      <p:sp>
        <p:nvSpPr>
          <p:cNvPr id="231" name="Text 24">
            <a:extLst>
              <a:ext uri="{FF2B5EF4-FFF2-40B4-BE49-F238E27FC236}">
                <a16:creationId xmlns:a16="http://schemas.microsoft.com/office/drawing/2014/main" id="{F9145077-AAEE-D5A9-DB92-0B1A5F711D68}"/>
              </a:ext>
            </a:extLst>
          </p:cNvPr>
          <p:cNvSpPr/>
          <p:nvPr/>
        </p:nvSpPr>
        <p:spPr>
          <a:xfrm>
            <a:off x="4356100" y="2798233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agro manda sin ser mayoría</a:t>
            </a:r>
            <a:endParaRPr lang="en-US" sz="900" dirty="0"/>
          </a:p>
        </p:txBody>
      </p:sp>
      <p:sp>
        <p:nvSpPr>
          <p:cNvPr id="234" name="Text 25">
            <a:extLst>
              <a:ext uri="{FF2B5EF4-FFF2-40B4-BE49-F238E27FC236}">
                <a16:creationId xmlns:a16="http://schemas.microsoft.com/office/drawing/2014/main" id="{BFA75475-290A-E712-FFA5-FC9B4E588FCC}"/>
              </a:ext>
            </a:extLst>
          </p:cNvPr>
          <p:cNvSpPr/>
          <p:nvPr/>
        </p:nvSpPr>
        <p:spPr>
          <a:xfrm>
            <a:off x="8362772" y="2607733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249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6" name="Text 26">
            <a:extLst>
              <a:ext uri="{FF2B5EF4-FFF2-40B4-BE49-F238E27FC236}">
                <a16:creationId xmlns:a16="http://schemas.microsoft.com/office/drawing/2014/main" id="{53ABF5A0-DEFC-5874-EBC5-B37415969C23}"/>
              </a:ext>
            </a:extLst>
          </p:cNvPr>
          <p:cNvSpPr/>
          <p:nvPr/>
        </p:nvSpPr>
        <p:spPr>
          <a:xfrm>
            <a:off x="9840991" y="2607733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7,2 %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9" name="Shape 27">
            <a:extLst>
              <a:ext uri="{FF2B5EF4-FFF2-40B4-BE49-F238E27FC236}">
                <a16:creationId xmlns:a16="http://schemas.microsoft.com/office/drawing/2014/main" id="{E8EC51CD-3ACE-78C2-B420-D19B7CB1AAA8}"/>
              </a:ext>
            </a:extLst>
          </p:cNvPr>
          <p:cNvSpPr/>
          <p:nvPr/>
        </p:nvSpPr>
        <p:spPr>
          <a:xfrm>
            <a:off x="4051300" y="3041650"/>
            <a:ext cx="7391095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42" name="Shape 28">
            <a:extLst>
              <a:ext uri="{FF2B5EF4-FFF2-40B4-BE49-F238E27FC236}">
                <a16:creationId xmlns:a16="http://schemas.microsoft.com/office/drawing/2014/main" id="{F90A0643-8A8A-45EB-0CFD-A2C68A6FF99B}"/>
              </a:ext>
            </a:extLst>
          </p:cNvPr>
          <p:cNvSpPr/>
          <p:nvPr/>
        </p:nvSpPr>
        <p:spPr>
          <a:xfrm>
            <a:off x="4051300" y="3169708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C99B38"/>
          </a:solidFill>
          <a:ln w="12700">
            <a:noFill/>
            <a:prstDash val="solid"/>
          </a:ln>
        </p:spPr>
      </p:sp>
      <p:pic>
        <p:nvPicPr>
          <p:cNvPr id="244" name="Image 4" descr="preencoded.png">
            <a:extLst>
              <a:ext uri="{FF2B5EF4-FFF2-40B4-BE49-F238E27FC236}">
                <a16:creationId xmlns:a16="http://schemas.microsoft.com/office/drawing/2014/main" id="{C995B67B-B5E3-3B12-DA6B-9E97295467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0" y="3214158"/>
            <a:ext cx="127000" cy="127000"/>
          </a:xfrm>
          <a:prstGeom prst="rect">
            <a:avLst/>
          </a:prstGeom>
        </p:spPr>
      </p:pic>
      <p:sp>
        <p:nvSpPr>
          <p:cNvPr id="247" name="Text 29">
            <a:extLst>
              <a:ext uri="{FF2B5EF4-FFF2-40B4-BE49-F238E27FC236}">
                <a16:creationId xmlns:a16="http://schemas.microsoft.com/office/drawing/2014/main" id="{C464C898-37A6-6562-6AB3-519E9ABD6795}"/>
              </a:ext>
            </a:extLst>
          </p:cNvPr>
          <p:cNvSpPr/>
          <p:nvPr/>
        </p:nvSpPr>
        <p:spPr>
          <a:xfrm>
            <a:off x="4356100" y="3092450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Comercial urbano</a:t>
            </a:r>
            <a:endParaRPr lang="en-US" sz="1100" dirty="0"/>
          </a:p>
        </p:txBody>
      </p:sp>
      <p:sp>
        <p:nvSpPr>
          <p:cNvPr id="250" name="Text 30">
            <a:extLst>
              <a:ext uri="{FF2B5EF4-FFF2-40B4-BE49-F238E27FC236}">
                <a16:creationId xmlns:a16="http://schemas.microsoft.com/office/drawing/2014/main" id="{14EEEE59-0F2F-5635-7FB3-0B0F4F4C5C12}"/>
              </a:ext>
            </a:extLst>
          </p:cNvPr>
          <p:cNvSpPr/>
          <p:nvPr/>
        </p:nvSpPr>
        <p:spPr>
          <a:xfrm>
            <a:off x="4356100" y="3244850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local, stock y días</a:t>
            </a:r>
            <a:endParaRPr lang="en-US" sz="900" dirty="0"/>
          </a:p>
        </p:txBody>
      </p:sp>
      <p:sp>
        <p:nvSpPr>
          <p:cNvPr id="252" name="Text 31">
            <a:extLst>
              <a:ext uri="{FF2B5EF4-FFF2-40B4-BE49-F238E27FC236}">
                <a16:creationId xmlns:a16="http://schemas.microsoft.com/office/drawing/2014/main" id="{0CDB864F-02F8-E852-9FFD-1B5314247E8D}"/>
              </a:ext>
            </a:extLst>
          </p:cNvPr>
          <p:cNvSpPr/>
          <p:nvPr/>
        </p:nvSpPr>
        <p:spPr>
          <a:xfrm>
            <a:off x="8362772" y="3054350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201</a:t>
            </a:r>
            <a:endParaRPr lang="en-US" sz="13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5" name="Text 32">
            <a:extLst>
              <a:ext uri="{FF2B5EF4-FFF2-40B4-BE49-F238E27FC236}">
                <a16:creationId xmlns:a16="http://schemas.microsoft.com/office/drawing/2014/main" id="{8B835DD9-4A54-FB50-0BD2-A6942B34A676}"/>
              </a:ext>
            </a:extLst>
          </p:cNvPr>
          <p:cNvSpPr/>
          <p:nvPr/>
        </p:nvSpPr>
        <p:spPr>
          <a:xfrm>
            <a:off x="9840991" y="3054350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57,7 %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8" name="Shape 33">
            <a:extLst>
              <a:ext uri="{FF2B5EF4-FFF2-40B4-BE49-F238E27FC236}">
                <a16:creationId xmlns:a16="http://schemas.microsoft.com/office/drawing/2014/main" id="{725B75B4-D481-75D6-6FD3-C0DE92CDAE6F}"/>
              </a:ext>
            </a:extLst>
          </p:cNvPr>
          <p:cNvSpPr/>
          <p:nvPr/>
        </p:nvSpPr>
        <p:spPr>
          <a:xfrm>
            <a:off x="4051300" y="3488267"/>
            <a:ext cx="7391095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60" name="Shape 34">
            <a:extLst>
              <a:ext uri="{FF2B5EF4-FFF2-40B4-BE49-F238E27FC236}">
                <a16:creationId xmlns:a16="http://schemas.microsoft.com/office/drawing/2014/main" id="{D5A572E9-6EEB-2AE0-ECE2-9C53DB3236CC}"/>
              </a:ext>
            </a:extLst>
          </p:cNvPr>
          <p:cNvSpPr/>
          <p:nvPr/>
        </p:nvSpPr>
        <p:spPr>
          <a:xfrm>
            <a:off x="4051300" y="3616325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9AA8B5"/>
          </a:solidFill>
          <a:ln w="12700">
            <a:noFill/>
            <a:prstDash val="solid"/>
          </a:ln>
        </p:spPr>
      </p:sp>
      <p:pic>
        <p:nvPicPr>
          <p:cNvPr id="263" name="Image 5" descr="preencoded.png">
            <a:extLst>
              <a:ext uri="{FF2B5EF4-FFF2-40B4-BE49-F238E27FC236}">
                <a16:creationId xmlns:a16="http://schemas.microsoft.com/office/drawing/2014/main" id="{05D67269-26FB-11B3-1A9B-62124FC91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5750" y="3660775"/>
            <a:ext cx="127000" cy="127000"/>
          </a:xfrm>
          <a:prstGeom prst="rect">
            <a:avLst/>
          </a:prstGeom>
        </p:spPr>
      </p:pic>
      <p:sp>
        <p:nvSpPr>
          <p:cNvPr id="266" name="Text 35">
            <a:extLst>
              <a:ext uri="{FF2B5EF4-FFF2-40B4-BE49-F238E27FC236}">
                <a16:creationId xmlns:a16="http://schemas.microsoft.com/office/drawing/2014/main" id="{95C765EE-7AEC-07FD-1DCC-B9A179A6F7A1}"/>
              </a:ext>
            </a:extLst>
          </p:cNvPr>
          <p:cNvSpPr/>
          <p:nvPr/>
        </p:nvSpPr>
        <p:spPr>
          <a:xfrm>
            <a:off x="4356100" y="3539067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Servicios no mayorit.</a:t>
            </a:r>
            <a:endParaRPr lang="en-US" sz="1100" dirty="0"/>
          </a:p>
        </p:txBody>
      </p:sp>
      <p:sp>
        <p:nvSpPr>
          <p:cNvPr id="268" name="Text 36">
            <a:extLst>
              <a:ext uri="{FF2B5EF4-FFF2-40B4-BE49-F238E27FC236}">
                <a16:creationId xmlns:a16="http://schemas.microsoft.com/office/drawing/2014/main" id="{F3B9A68B-F34C-54D2-07F1-3DBF8E15D14B}"/>
              </a:ext>
            </a:extLst>
          </p:cNvPr>
          <p:cNvSpPr/>
          <p:nvPr/>
        </p:nvSpPr>
        <p:spPr>
          <a:xfrm>
            <a:off x="4356100" y="3691467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servicios sin ser mayoría</a:t>
            </a:r>
            <a:endParaRPr lang="en-US" sz="900" dirty="0"/>
          </a:p>
        </p:txBody>
      </p:sp>
      <p:sp>
        <p:nvSpPr>
          <p:cNvPr id="271" name="Text 37">
            <a:extLst>
              <a:ext uri="{FF2B5EF4-FFF2-40B4-BE49-F238E27FC236}">
                <a16:creationId xmlns:a16="http://schemas.microsoft.com/office/drawing/2014/main" id="{37C77478-E370-C73B-CEBE-AEA88D7B20B1}"/>
              </a:ext>
            </a:extLst>
          </p:cNvPr>
          <p:cNvSpPr/>
          <p:nvPr/>
        </p:nvSpPr>
        <p:spPr>
          <a:xfrm>
            <a:off x="8362772" y="3500967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88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4" name="Text 38">
            <a:extLst>
              <a:ext uri="{FF2B5EF4-FFF2-40B4-BE49-F238E27FC236}">
                <a16:creationId xmlns:a16="http://schemas.microsoft.com/office/drawing/2014/main" id="{9B76A611-CACE-E961-422E-C6C7EDF436FB}"/>
              </a:ext>
            </a:extLst>
          </p:cNvPr>
          <p:cNvSpPr/>
          <p:nvPr/>
        </p:nvSpPr>
        <p:spPr>
          <a:xfrm>
            <a:off x="9840991" y="3500967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9,7 %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6" name="Shape 39">
            <a:extLst>
              <a:ext uri="{FF2B5EF4-FFF2-40B4-BE49-F238E27FC236}">
                <a16:creationId xmlns:a16="http://schemas.microsoft.com/office/drawing/2014/main" id="{EF288EA5-48F6-0E61-BD41-9301DC7564E7}"/>
              </a:ext>
            </a:extLst>
          </p:cNvPr>
          <p:cNvSpPr/>
          <p:nvPr/>
        </p:nvSpPr>
        <p:spPr>
          <a:xfrm>
            <a:off x="4051300" y="3934883"/>
            <a:ext cx="7391095" cy="0"/>
          </a:xfrm>
          <a:prstGeom prst="line">
            <a:avLst/>
          </a:prstGeom>
          <a:noFill/>
          <a:ln w="9525">
            <a:solidFill>
              <a:srgbClr val="E3E8EC"/>
            </a:solidFill>
            <a:prstDash val="solid"/>
          </a:ln>
        </p:spPr>
      </p:sp>
      <p:sp>
        <p:nvSpPr>
          <p:cNvPr id="279" name="Shape 40">
            <a:extLst>
              <a:ext uri="{FF2B5EF4-FFF2-40B4-BE49-F238E27FC236}">
                <a16:creationId xmlns:a16="http://schemas.microsoft.com/office/drawing/2014/main" id="{0269F3F5-4551-ACD8-5C24-47CF2FBF50C6}"/>
              </a:ext>
            </a:extLst>
          </p:cNvPr>
          <p:cNvSpPr/>
          <p:nvPr/>
        </p:nvSpPr>
        <p:spPr>
          <a:xfrm>
            <a:off x="4051300" y="4062942"/>
            <a:ext cx="215900" cy="215900"/>
          </a:xfrm>
          <a:prstGeom prst="roundRect">
            <a:avLst>
              <a:gd name="adj" fmla="val 67765"/>
            </a:avLst>
          </a:prstGeom>
          <a:solidFill>
            <a:srgbClr val="4A5A6B"/>
          </a:solidFill>
          <a:ln w="12700">
            <a:noFill/>
            <a:prstDash val="solid"/>
          </a:ln>
        </p:spPr>
      </p:sp>
      <p:pic>
        <p:nvPicPr>
          <p:cNvPr id="282" name="Image 6" descr="preencoded.png">
            <a:extLst>
              <a:ext uri="{FF2B5EF4-FFF2-40B4-BE49-F238E27FC236}">
                <a16:creationId xmlns:a16="http://schemas.microsoft.com/office/drawing/2014/main" id="{6C340B93-34B3-F5C7-5DD8-0A1861011E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5750" y="4107392"/>
            <a:ext cx="127000" cy="127000"/>
          </a:xfrm>
          <a:prstGeom prst="rect">
            <a:avLst/>
          </a:prstGeom>
        </p:spPr>
      </p:pic>
      <p:sp>
        <p:nvSpPr>
          <p:cNvPr id="284" name="Text 41">
            <a:extLst>
              <a:ext uri="{FF2B5EF4-FFF2-40B4-BE49-F238E27FC236}">
                <a16:creationId xmlns:a16="http://schemas.microsoft.com/office/drawing/2014/main" id="{35AF008A-6A8C-8F06-5012-553D07B043BF}"/>
              </a:ext>
            </a:extLst>
          </p:cNvPr>
          <p:cNvSpPr/>
          <p:nvPr/>
        </p:nvSpPr>
        <p:spPr>
          <a:xfrm>
            <a:off x="4356100" y="3985683"/>
            <a:ext cx="36955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Servicios y público</a:t>
            </a:r>
            <a:endParaRPr lang="en-US" sz="1100" dirty="0"/>
          </a:p>
        </p:txBody>
      </p:sp>
      <p:sp>
        <p:nvSpPr>
          <p:cNvPr id="287" name="Text 42">
            <a:extLst>
              <a:ext uri="{FF2B5EF4-FFF2-40B4-BE49-F238E27FC236}">
                <a16:creationId xmlns:a16="http://schemas.microsoft.com/office/drawing/2014/main" id="{0D4D372E-EAFF-C104-A347-774B21000FB5}"/>
              </a:ext>
            </a:extLst>
          </p:cNvPr>
          <p:cNvSpPr/>
          <p:nvPr/>
        </p:nvSpPr>
        <p:spPr>
          <a:xfrm>
            <a:off x="4356100" y="4138083"/>
            <a:ext cx="369554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mayoría cobra sueldo igual</a:t>
            </a:r>
            <a:endParaRPr lang="en-US" sz="900" dirty="0"/>
          </a:p>
        </p:txBody>
      </p:sp>
      <p:sp>
        <p:nvSpPr>
          <p:cNvPr id="290" name="Text 43">
            <a:extLst>
              <a:ext uri="{FF2B5EF4-FFF2-40B4-BE49-F238E27FC236}">
                <a16:creationId xmlns:a16="http://schemas.microsoft.com/office/drawing/2014/main" id="{903315FF-48B8-6BC5-F1D5-2E2C7CCCFF1F}"/>
              </a:ext>
            </a:extLst>
          </p:cNvPr>
          <p:cNvSpPr/>
          <p:nvPr/>
        </p:nvSpPr>
        <p:spPr>
          <a:xfrm>
            <a:off x="8362772" y="3947583"/>
            <a:ext cx="1231849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6202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43</a:t>
            </a:r>
            <a:endParaRPr lang="en-US" sz="13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2" name="Text 44">
            <a:extLst>
              <a:ext uri="{FF2B5EF4-FFF2-40B4-BE49-F238E27FC236}">
                <a16:creationId xmlns:a16="http://schemas.microsoft.com/office/drawing/2014/main" id="{ECAA7891-48C0-CD48-2596-C82739BB45DF}"/>
              </a:ext>
            </a:extLst>
          </p:cNvPr>
          <p:cNvSpPr/>
          <p:nvPr/>
        </p:nvSpPr>
        <p:spPr>
          <a:xfrm>
            <a:off x="9840991" y="3947583"/>
            <a:ext cx="1601404" cy="4466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6727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6,6 %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5" name="Shape 45">
            <a:extLst>
              <a:ext uri="{FF2B5EF4-FFF2-40B4-BE49-F238E27FC236}">
                <a16:creationId xmlns:a16="http://schemas.microsoft.com/office/drawing/2014/main" id="{37CE70F1-A87D-AC19-BD8B-8BD826DF8E5F}"/>
              </a:ext>
            </a:extLst>
          </p:cNvPr>
          <p:cNvSpPr/>
          <p:nvPr/>
        </p:nvSpPr>
        <p:spPr>
          <a:xfrm>
            <a:off x="4000500" y="4621742"/>
            <a:ext cx="7492695" cy="1320797"/>
          </a:xfrm>
          <a:prstGeom prst="roundRect">
            <a:avLst>
              <a:gd name="adj" fmla="val 161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298" name="Text 46">
            <a:extLst>
              <a:ext uri="{FF2B5EF4-FFF2-40B4-BE49-F238E27FC236}">
                <a16:creationId xmlns:a16="http://schemas.microsoft.com/office/drawing/2014/main" id="{9CD486EB-494F-51B5-39AB-66D9BFCB20CE}"/>
              </a:ext>
            </a:extLst>
          </p:cNvPr>
          <p:cNvSpPr/>
          <p:nvPr/>
        </p:nvSpPr>
        <p:spPr>
          <a:xfrm>
            <a:off x="4127500" y="4748742"/>
            <a:ext cx="72386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B99A6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LA SUPERFICIE NO REFLEJA EL PESO ECONÓMICO</a:t>
            </a:r>
            <a:endParaRPr lang="en-US" sz="7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0" name="Text 47">
            <a:extLst>
              <a:ext uri="{FF2B5EF4-FFF2-40B4-BE49-F238E27FC236}">
                <a16:creationId xmlns:a16="http://schemas.microsoft.com/office/drawing/2014/main" id="{73C29977-2350-0EB8-80D9-1FFEA370F143}"/>
              </a:ext>
            </a:extLst>
          </p:cNvPr>
          <p:cNvSpPr/>
          <p:nvPr/>
        </p:nvSpPr>
        <p:spPr>
          <a:xfrm>
            <a:off x="4127500" y="4977342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AEBAC5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DISTRITOS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3" name="Shape 48">
            <a:extLst>
              <a:ext uri="{FF2B5EF4-FFF2-40B4-BE49-F238E27FC236}">
                <a16:creationId xmlns:a16="http://schemas.microsoft.com/office/drawing/2014/main" id="{61BC08C6-9F2A-9EA1-461E-A788CEE5B440}"/>
              </a:ext>
            </a:extLst>
          </p:cNvPr>
          <p:cNvSpPr/>
          <p:nvPr/>
        </p:nvSpPr>
        <p:spPr>
          <a:xfrm>
            <a:off x="4851400" y="4977342"/>
            <a:ext cx="119170" cy="190500"/>
          </a:xfrm>
          <a:prstGeom prst="rect">
            <a:avLst/>
          </a:prstGeom>
          <a:solidFill>
            <a:srgbClr val="1F6FA8"/>
          </a:solidFill>
          <a:ln w="12700">
            <a:noFill/>
            <a:prstDash val="solid"/>
          </a:ln>
        </p:spPr>
      </p:sp>
      <p:sp>
        <p:nvSpPr>
          <p:cNvPr id="306" name="Shape 49">
            <a:extLst>
              <a:ext uri="{FF2B5EF4-FFF2-40B4-BE49-F238E27FC236}">
                <a16:creationId xmlns:a16="http://schemas.microsoft.com/office/drawing/2014/main" id="{FBB373EA-4E03-D58D-837C-016AFADCABE4}"/>
              </a:ext>
            </a:extLst>
          </p:cNvPr>
          <p:cNvSpPr/>
          <p:nvPr/>
        </p:nvSpPr>
        <p:spPr>
          <a:xfrm>
            <a:off x="4970570" y="4977342"/>
            <a:ext cx="4341200" cy="190500"/>
          </a:xfrm>
          <a:prstGeom prst="rect">
            <a:avLst/>
          </a:prstGeom>
          <a:solidFill>
            <a:srgbClr val="6E8B3D"/>
          </a:solidFill>
          <a:ln w="12700">
            <a:noFill/>
            <a:prstDash val="solid"/>
          </a:ln>
        </p:spPr>
      </p:sp>
      <p:sp>
        <p:nvSpPr>
          <p:cNvPr id="308" name="Text 50">
            <a:extLst>
              <a:ext uri="{FF2B5EF4-FFF2-40B4-BE49-F238E27FC236}">
                <a16:creationId xmlns:a16="http://schemas.microsoft.com/office/drawing/2014/main" id="{3DD6A949-C6FB-4512-E899-EAD887362772}"/>
              </a:ext>
            </a:extLst>
          </p:cNvPr>
          <p:cNvSpPr/>
          <p:nvPr/>
        </p:nvSpPr>
        <p:spPr>
          <a:xfrm>
            <a:off x="4970570" y="4977342"/>
            <a:ext cx="434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67 %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1" name="Shape 51">
            <a:extLst>
              <a:ext uri="{FF2B5EF4-FFF2-40B4-BE49-F238E27FC236}">
                <a16:creationId xmlns:a16="http://schemas.microsoft.com/office/drawing/2014/main" id="{EB04CE73-16E1-4E20-56FD-65ACA18E481F}"/>
              </a:ext>
            </a:extLst>
          </p:cNvPr>
          <p:cNvSpPr/>
          <p:nvPr/>
        </p:nvSpPr>
        <p:spPr>
          <a:xfrm>
            <a:off x="9311770" y="4977342"/>
            <a:ext cx="847811" cy="190500"/>
          </a:xfrm>
          <a:prstGeom prst="rect">
            <a:avLst/>
          </a:prstGeom>
          <a:solidFill>
            <a:srgbClr val="B5C48A"/>
          </a:solidFill>
          <a:ln w="12700">
            <a:noFill/>
            <a:prstDash val="solid"/>
          </a:ln>
        </p:spPr>
      </p:sp>
      <p:sp>
        <p:nvSpPr>
          <p:cNvPr id="314" name="Text 52">
            <a:extLst>
              <a:ext uri="{FF2B5EF4-FFF2-40B4-BE49-F238E27FC236}">
                <a16:creationId xmlns:a16="http://schemas.microsoft.com/office/drawing/2014/main" id="{9F51F373-8BC7-64B8-F728-C5C9D683C371}"/>
              </a:ext>
            </a:extLst>
          </p:cNvPr>
          <p:cNvSpPr/>
          <p:nvPr/>
        </p:nvSpPr>
        <p:spPr>
          <a:xfrm>
            <a:off x="9311770" y="4977342"/>
            <a:ext cx="8478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A22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13 %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6" name="Shape 53">
            <a:extLst>
              <a:ext uri="{FF2B5EF4-FFF2-40B4-BE49-F238E27FC236}">
                <a16:creationId xmlns:a16="http://schemas.microsoft.com/office/drawing/2014/main" id="{4BF32D36-B934-9E80-5040-890CEB9EFD12}"/>
              </a:ext>
            </a:extLst>
          </p:cNvPr>
          <p:cNvSpPr/>
          <p:nvPr/>
        </p:nvSpPr>
        <p:spPr>
          <a:xfrm>
            <a:off x="10159581" y="4977342"/>
            <a:ext cx="684377" cy="190500"/>
          </a:xfrm>
          <a:prstGeom prst="rect">
            <a:avLst/>
          </a:prstGeom>
          <a:solidFill>
            <a:srgbClr val="C99B38"/>
          </a:solidFill>
          <a:ln w="12700">
            <a:noFill/>
            <a:prstDash val="solid"/>
          </a:ln>
        </p:spPr>
      </p:sp>
      <p:sp>
        <p:nvSpPr>
          <p:cNvPr id="319" name="Text 54">
            <a:extLst>
              <a:ext uri="{FF2B5EF4-FFF2-40B4-BE49-F238E27FC236}">
                <a16:creationId xmlns:a16="http://schemas.microsoft.com/office/drawing/2014/main" id="{DEBDBEC2-7235-B60C-34B7-E1A8326DC5EB}"/>
              </a:ext>
            </a:extLst>
          </p:cNvPr>
          <p:cNvSpPr/>
          <p:nvPr/>
        </p:nvSpPr>
        <p:spPr>
          <a:xfrm>
            <a:off x="10159581" y="4977342"/>
            <a:ext cx="6843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11 %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2" name="Shape 55">
            <a:extLst>
              <a:ext uri="{FF2B5EF4-FFF2-40B4-BE49-F238E27FC236}">
                <a16:creationId xmlns:a16="http://schemas.microsoft.com/office/drawing/2014/main" id="{61DE761F-D603-0A3B-6649-B7E8392976A9}"/>
              </a:ext>
            </a:extLst>
          </p:cNvPr>
          <p:cNvSpPr/>
          <p:nvPr/>
        </p:nvSpPr>
        <p:spPr>
          <a:xfrm>
            <a:off x="10843958" y="4977342"/>
            <a:ext cx="299628" cy="190500"/>
          </a:xfrm>
          <a:prstGeom prst="rect">
            <a:avLst/>
          </a:prstGeom>
          <a:solidFill>
            <a:srgbClr val="9AA8B5"/>
          </a:solidFill>
          <a:ln w="12700">
            <a:noFill/>
            <a:prstDash val="solid"/>
          </a:ln>
        </p:spPr>
      </p:sp>
      <p:sp>
        <p:nvSpPr>
          <p:cNvPr id="324" name="Shape 56">
            <a:extLst>
              <a:ext uri="{FF2B5EF4-FFF2-40B4-BE49-F238E27FC236}">
                <a16:creationId xmlns:a16="http://schemas.microsoft.com/office/drawing/2014/main" id="{5A69DB9F-1F23-9E5E-C0DC-D6362F1E8760}"/>
              </a:ext>
            </a:extLst>
          </p:cNvPr>
          <p:cNvSpPr/>
          <p:nvPr/>
        </p:nvSpPr>
        <p:spPr>
          <a:xfrm>
            <a:off x="11143586" y="4977342"/>
            <a:ext cx="146409" cy="190500"/>
          </a:xfrm>
          <a:prstGeom prst="rect">
            <a:avLst/>
          </a:prstGeom>
          <a:solidFill>
            <a:srgbClr val="4A5A6B"/>
          </a:solidFill>
          <a:ln w="12700">
            <a:noFill/>
            <a:prstDash val="solid"/>
          </a:ln>
        </p:spPr>
      </p:sp>
      <p:sp>
        <p:nvSpPr>
          <p:cNvPr id="327" name="Text 57">
            <a:extLst>
              <a:ext uri="{FF2B5EF4-FFF2-40B4-BE49-F238E27FC236}">
                <a16:creationId xmlns:a16="http://schemas.microsoft.com/office/drawing/2014/main" id="{0E8D8DD2-0DAF-C2D1-4B34-85A6F4308BE9}"/>
              </a:ext>
            </a:extLst>
          </p:cNvPr>
          <p:cNvSpPr/>
          <p:nvPr/>
        </p:nvSpPr>
        <p:spPr>
          <a:xfrm>
            <a:off x="4140304" y="5396442"/>
            <a:ext cx="66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AEBAC5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EMPLEO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0" name="Shape 58">
            <a:extLst>
              <a:ext uri="{FF2B5EF4-FFF2-40B4-BE49-F238E27FC236}">
                <a16:creationId xmlns:a16="http://schemas.microsoft.com/office/drawing/2014/main" id="{C8E85F83-C017-8E84-386F-4F1F9B3DBC45}"/>
              </a:ext>
            </a:extLst>
          </p:cNvPr>
          <p:cNvSpPr/>
          <p:nvPr/>
        </p:nvSpPr>
        <p:spPr>
          <a:xfrm>
            <a:off x="4851400" y="5396442"/>
            <a:ext cx="100688" cy="190500"/>
          </a:xfrm>
          <a:prstGeom prst="rect">
            <a:avLst/>
          </a:prstGeom>
          <a:solidFill>
            <a:srgbClr val="1F6FA8"/>
          </a:solidFill>
          <a:ln w="12700">
            <a:noFill/>
            <a:prstDash val="solid"/>
          </a:ln>
        </p:spPr>
      </p:sp>
      <p:sp>
        <p:nvSpPr>
          <p:cNvPr id="332" name="Shape 59">
            <a:extLst>
              <a:ext uri="{FF2B5EF4-FFF2-40B4-BE49-F238E27FC236}">
                <a16:creationId xmlns:a16="http://schemas.microsoft.com/office/drawing/2014/main" id="{EEAB71BB-C6AC-C802-1E33-E8385A61EB42}"/>
              </a:ext>
            </a:extLst>
          </p:cNvPr>
          <p:cNvSpPr/>
          <p:nvPr/>
        </p:nvSpPr>
        <p:spPr>
          <a:xfrm>
            <a:off x="4952088" y="5396442"/>
            <a:ext cx="1106236" cy="190500"/>
          </a:xfrm>
          <a:prstGeom prst="rect">
            <a:avLst/>
          </a:prstGeom>
          <a:solidFill>
            <a:srgbClr val="6E8B3D"/>
          </a:solidFill>
          <a:ln w="12700">
            <a:noFill/>
            <a:prstDash val="solid"/>
          </a:ln>
        </p:spPr>
      </p:sp>
      <p:sp>
        <p:nvSpPr>
          <p:cNvPr id="335" name="Text 60">
            <a:extLst>
              <a:ext uri="{FF2B5EF4-FFF2-40B4-BE49-F238E27FC236}">
                <a16:creationId xmlns:a16="http://schemas.microsoft.com/office/drawing/2014/main" id="{DFD00D10-CF37-714B-B193-94B97EE4CB30}"/>
              </a:ext>
            </a:extLst>
          </p:cNvPr>
          <p:cNvSpPr/>
          <p:nvPr/>
        </p:nvSpPr>
        <p:spPr>
          <a:xfrm>
            <a:off x="4952088" y="5396442"/>
            <a:ext cx="11062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17 %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8" name="Shape 61">
            <a:extLst>
              <a:ext uri="{FF2B5EF4-FFF2-40B4-BE49-F238E27FC236}">
                <a16:creationId xmlns:a16="http://schemas.microsoft.com/office/drawing/2014/main" id="{B683EFBB-A526-B620-8127-9CDFF9EF92AF}"/>
              </a:ext>
            </a:extLst>
          </p:cNvPr>
          <p:cNvSpPr/>
          <p:nvPr/>
        </p:nvSpPr>
        <p:spPr>
          <a:xfrm>
            <a:off x="6058325" y="5396442"/>
            <a:ext cx="465071" cy="190500"/>
          </a:xfrm>
          <a:prstGeom prst="rect">
            <a:avLst/>
          </a:prstGeom>
          <a:solidFill>
            <a:srgbClr val="B5C48A"/>
          </a:solidFill>
          <a:ln w="12700">
            <a:noFill/>
            <a:prstDash val="solid"/>
          </a:ln>
        </p:spPr>
      </p:sp>
      <p:sp>
        <p:nvSpPr>
          <p:cNvPr id="340" name="Text 62">
            <a:extLst>
              <a:ext uri="{FF2B5EF4-FFF2-40B4-BE49-F238E27FC236}">
                <a16:creationId xmlns:a16="http://schemas.microsoft.com/office/drawing/2014/main" id="{CA24BC70-C82D-2465-914F-D5792C495914}"/>
              </a:ext>
            </a:extLst>
          </p:cNvPr>
          <p:cNvSpPr/>
          <p:nvPr/>
        </p:nvSpPr>
        <p:spPr>
          <a:xfrm>
            <a:off x="6058325" y="5396442"/>
            <a:ext cx="465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A22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7 %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3" name="Shape 63">
            <a:extLst>
              <a:ext uri="{FF2B5EF4-FFF2-40B4-BE49-F238E27FC236}">
                <a16:creationId xmlns:a16="http://schemas.microsoft.com/office/drawing/2014/main" id="{5A62820D-0291-F45B-C56A-6E3F32629E9E}"/>
              </a:ext>
            </a:extLst>
          </p:cNvPr>
          <p:cNvSpPr/>
          <p:nvPr/>
        </p:nvSpPr>
        <p:spPr>
          <a:xfrm>
            <a:off x="6523396" y="5396442"/>
            <a:ext cx="3715513" cy="190500"/>
          </a:xfrm>
          <a:prstGeom prst="rect">
            <a:avLst/>
          </a:prstGeom>
          <a:solidFill>
            <a:srgbClr val="C99B38"/>
          </a:solidFill>
          <a:ln w="12700">
            <a:noFill/>
            <a:prstDash val="solid"/>
          </a:ln>
        </p:spPr>
      </p:sp>
      <p:sp>
        <p:nvSpPr>
          <p:cNvPr id="346" name="Text 64">
            <a:extLst>
              <a:ext uri="{FF2B5EF4-FFF2-40B4-BE49-F238E27FC236}">
                <a16:creationId xmlns:a16="http://schemas.microsoft.com/office/drawing/2014/main" id="{CCFE40A8-D803-5D03-33FC-4985D6E6C223}"/>
              </a:ext>
            </a:extLst>
          </p:cNvPr>
          <p:cNvSpPr/>
          <p:nvPr/>
        </p:nvSpPr>
        <p:spPr>
          <a:xfrm>
            <a:off x="6523396" y="5396442"/>
            <a:ext cx="37155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58 %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8" name="Shape 65">
            <a:extLst>
              <a:ext uri="{FF2B5EF4-FFF2-40B4-BE49-F238E27FC236}">
                <a16:creationId xmlns:a16="http://schemas.microsoft.com/office/drawing/2014/main" id="{B0CF0496-9AB8-3FBB-BFF0-8CC0EB4F88AC}"/>
              </a:ext>
            </a:extLst>
          </p:cNvPr>
          <p:cNvSpPr/>
          <p:nvPr/>
        </p:nvSpPr>
        <p:spPr>
          <a:xfrm>
            <a:off x="10238908" y="5396442"/>
            <a:ext cx="625092" cy="190500"/>
          </a:xfrm>
          <a:prstGeom prst="rect">
            <a:avLst/>
          </a:prstGeom>
          <a:solidFill>
            <a:srgbClr val="9AA8B5"/>
          </a:solidFill>
          <a:ln w="12700">
            <a:noFill/>
            <a:prstDash val="solid"/>
          </a:ln>
        </p:spPr>
      </p:sp>
      <p:sp>
        <p:nvSpPr>
          <p:cNvPr id="351" name="Text 66">
            <a:extLst>
              <a:ext uri="{FF2B5EF4-FFF2-40B4-BE49-F238E27FC236}">
                <a16:creationId xmlns:a16="http://schemas.microsoft.com/office/drawing/2014/main" id="{210DDE0E-40B2-1C6A-1215-BBF62C636652}"/>
              </a:ext>
            </a:extLst>
          </p:cNvPr>
          <p:cNvSpPr/>
          <p:nvPr/>
        </p:nvSpPr>
        <p:spPr>
          <a:xfrm>
            <a:off x="10238908" y="5396442"/>
            <a:ext cx="6250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10 %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4" name="Shape 67">
            <a:extLst>
              <a:ext uri="{FF2B5EF4-FFF2-40B4-BE49-F238E27FC236}">
                <a16:creationId xmlns:a16="http://schemas.microsoft.com/office/drawing/2014/main" id="{0C1F5AC3-0919-E54E-4F31-F37BD2E90811}"/>
              </a:ext>
            </a:extLst>
          </p:cNvPr>
          <p:cNvSpPr/>
          <p:nvPr/>
        </p:nvSpPr>
        <p:spPr>
          <a:xfrm>
            <a:off x="10864001" y="5396442"/>
            <a:ext cx="425994" cy="190500"/>
          </a:xfrm>
          <a:prstGeom prst="rect">
            <a:avLst/>
          </a:prstGeom>
          <a:solidFill>
            <a:srgbClr val="4A5A6B"/>
          </a:solidFill>
          <a:ln w="12700">
            <a:noFill/>
            <a:prstDash val="solid"/>
          </a:ln>
        </p:spPr>
      </p:sp>
      <p:sp>
        <p:nvSpPr>
          <p:cNvPr id="356" name="Text 68">
            <a:extLst>
              <a:ext uri="{FF2B5EF4-FFF2-40B4-BE49-F238E27FC236}">
                <a16:creationId xmlns:a16="http://schemas.microsoft.com/office/drawing/2014/main" id="{879D7179-6869-B00D-2837-3A30ABA22C00}"/>
              </a:ext>
            </a:extLst>
          </p:cNvPr>
          <p:cNvSpPr/>
          <p:nvPr/>
        </p:nvSpPr>
        <p:spPr>
          <a:xfrm>
            <a:off x="10864001" y="5396442"/>
            <a:ext cx="425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7 %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14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9E318A-E6CF-C44B-8C0A-0F3FF7D7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481544-BF11-C6BB-3111-AD577746C224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428FE1B-400F-9A09-5546-DD17227EF98E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B9D8D8-F83B-F6BB-C5FB-6C824B12EFB6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3E3B93B-3564-8052-0027-5652C0573455}"/>
              </a:ext>
            </a:extLst>
          </p:cNvPr>
          <p:cNvSpPr/>
          <p:nvPr/>
        </p:nvSpPr>
        <p:spPr>
          <a:xfrm>
            <a:off x="8026095" y="279400"/>
            <a:ext cx="3556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02 · ACTIVIDAD ECONÓMICA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F23B958-95FB-CC6D-D7FD-C0E1563178E9}"/>
              </a:ext>
            </a:extLst>
          </p:cNvPr>
          <p:cNvSpPr/>
          <p:nvPr/>
        </p:nvSpPr>
        <p:spPr>
          <a:xfrm>
            <a:off x="609600" y="495300"/>
            <a:ext cx="1028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La actividad económica multiplica el daño hasta </a:t>
            </a:r>
            <a:r>
              <a:rPr lang="en-US" sz="2700" b="1" dirty="0">
                <a:solidFill>
                  <a:srgbClr val="2F7B67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×2,7</a:t>
            </a:r>
            <a:endParaRPr lang="en-US" sz="2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036C169-8B44-F2F8-9F0D-A179C964EDC0}"/>
              </a:ext>
            </a:extLst>
          </p:cNvPr>
          <p:cNvSpPr/>
          <p:nvPr/>
        </p:nvSpPr>
        <p:spPr>
          <a:xfrm>
            <a:off x="609600" y="983029"/>
            <a:ext cx="952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peligro físico dice cuánta agua llega. Este componente dice cuánto le cuesta esa agua a la economía local.</a:t>
            </a:r>
            <a:endParaRPr lang="en-US" sz="12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A2131F31-83BE-B239-C897-A72BA0778A2B}"/>
              </a:ext>
            </a:extLst>
          </p:cNvPr>
          <p:cNvSpPr/>
          <p:nvPr/>
        </p:nvSpPr>
        <p:spPr>
          <a:xfrm>
            <a:off x="609600" y="1612900"/>
            <a:ext cx="2730500" cy="4686300"/>
          </a:xfrm>
          <a:prstGeom prst="roundRect">
            <a:avLst>
              <a:gd name="adj" fmla="val 670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pic>
        <p:nvPicPr>
          <p:cNvPr id="16" name="Image 0" descr="C:/Users/CARLOS/elnino_ibk/03_deck/mapa_mult_limpio.png">
            <a:extLst>
              <a:ext uri="{FF2B5EF4-FFF2-40B4-BE49-F238E27FC236}">
                <a16:creationId xmlns:a16="http://schemas.microsoft.com/office/drawing/2014/main" id="{EE873B4B-6369-1AC7-B23D-21FB3066B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31" y="1714500"/>
            <a:ext cx="2808439" cy="4076700"/>
          </a:xfrm>
          <a:prstGeom prst="rect">
            <a:avLst/>
          </a:prstGeom>
        </p:spPr>
      </p:pic>
      <p:sp>
        <p:nvSpPr>
          <p:cNvPr id="18" name="Shape 6">
            <a:extLst>
              <a:ext uri="{FF2B5EF4-FFF2-40B4-BE49-F238E27FC236}">
                <a16:creationId xmlns:a16="http://schemas.microsoft.com/office/drawing/2014/main" id="{FAD59808-AFAD-605D-5056-6DDDB6CAF905}"/>
              </a:ext>
            </a:extLst>
          </p:cNvPr>
          <p:cNvSpPr/>
          <p:nvPr/>
        </p:nvSpPr>
        <p:spPr>
          <a:xfrm>
            <a:off x="762000" y="5765800"/>
            <a:ext cx="485140" cy="76200"/>
          </a:xfrm>
          <a:prstGeom prst="rect">
            <a:avLst/>
          </a:prstGeom>
          <a:solidFill>
            <a:srgbClr val="EDF4F1"/>
          </a:solidFill>
          <a:ln w="12700">
            <a:noFill/>
            <a:prstDash val="solid"/>
          </a:ln>
        </p:spPr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360F5163-D906-2D26-A47D-320086E6E73B}"/>
              </a:ext>
            </a:extLst>
          </p:cNvPr>
          <p:cNvSpPr/>
          <p:nvPr/>
        </p:nvSpPr>
        <p:spPr>
          <a:xfrm>
            <a:off x="1247140" y="5765800"/>
            <a:ext cx="485140" cy="76200"/>
          </a:xfrm>
          <a:prstGeom prst="rect">
            <a:avLst/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0F286D2-C3A0-39E7-66C2-C05F584820D4}"/>
              </a:ext>
            </a:extLst>
          </p:cNvPr>
          <p:cNvSpPr/>
          <p:nvPr/>
        </p:nvSpPr>
        <p:spPr>
          <a:xfrm>
            <a:off x="1732280" y="5765800"/>
            <a:ext cx="485140" cy="76200"/>
          </a:xfrm>
          <a:prstGeom prst="rect">
            <a:avLst/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BFB947CC-1074-D4ED-0AEC-00E483CF9C77}"/>
              </a:ext>
            </a:extLst>
          </p:cNvPr>
          <p:cNvSpPr/>
          <p:nvPr/>
        </p:nvSpPr>
        <p:spPr>
          <a:xfrm>
            <a:off x="2217420" y="5765800"/>
            <a:ext cx="485140" cy="76200"/>
          </a:xfrm>
          <a:prstGeom prst="rect">
            <a:avLst/>
          </a:prstGeom>
          <a:solidFill>
            <a:srgbClr val="5DA592"/>
          </a:solidFill>
          <a:ln w="12700">
            <a:noFill/>
            <a:prstDash val="solid"/>
          </a:ln>
        </p:spPr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15A564E-8FA5-8F48-37B1-0E82CCE29B5F}"/>
              </a:ext>
            </a:extLst>
          </p:cNvPr>
          <p:cNvSpPr/>
          <p:nvPr/>
        </p:nvSpPr>
        <p:spPr>
          <a:xfrm>
            <a:off x="2702560" y="5765800"/>
            <a:ext cx="485140" cy="76200"/>
          </a:xfrm>
          <a:prstGeom prst="rect">
            <a:avLst/>
          </a:prstGeom>
          <a:solidFill>
            <a:srgbClr val="2F7B67"/>
          </a:solidFill>
          <a:ln w="12700">
            <a:noFill/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9E5CD1B6-168B-0249-FF37-1CDF1779EE5A}"/>
              </a:ext>
            </a:extLst>
          </p:cNvPr>
          <p:cNvSpPr/>
          <p:nvPr/>
        </p:nvSpPr>
        <p:spPr>
          <a:xfrm>
            <a:off x="762000" y="5867400"/>
            <a:ext cx="12128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cuesta menos</a:t>
            </a:r>
            <a:endParaRPr lang="en-US" sz="7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CF8000D9-4FBB-5D54-778E-202746599C8E}"/>
              </a:ext>
            </a:extLst>
          </p:cNvPr>
          <p:cNvSpPr/>
          <p:nvPr/>
        </p:nvSpPr>
        <p:spPr>
          <a:xfrm>
            <a:off x="1974850" y="5867400"/>
            <a:ext cx="12128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cuesta más</a:t>
            </a:r>
            <a:endParaRPr lang="en-US" sz="7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625276A-7FC3-A02C-B581-BF0C7EDAE38E}"/>
              </a:ext>
            </a:extLst>
          </p:cNvPr>
          <p:cNvSpPr/>
          <p:nvPr/>
        </p:nvSpPr>
        <p:spPr>
          <a:xfrm>
            <a:off x="762000" y="6019800"/>
            <a:ext cx="24257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lnSpc>
                <a:spcPts val="1100"/>
              </a:lnSpc>
              <a:buNone/>
            </a:pPr>
            <a:r>
              <a:rPr lang="en-US" sz="75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Atenuado: el agua no llega, el multiplicador no se usa</a:t>
            </a:r>
            <a:endParaRPr lang="en-US" sz="7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040F71B9-A7CD-C521-A0AF-33AEB4595825}"/>
              </a:ext>
            </a:extLst>
          </p:cNvPr>
          <p:cNvSpPr/>
          <p:nvPr/>
        </p:nvSpPr>
        <p:spPr>
          <a:xfrm>
            <a:off x="3454400" y="1612900"/>
            <a:ext cx="3556000" cy="4686300"/>
          </a:xfrm>
          <a:prstGeom prst="roundRect">
            <a:avLst>
              <a:gd name="adj" fmla="val 514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61584F5-2CA5-1B56-473A-D2B3EE85BD07}"/>
              </a:ext>
            </a:extLst>
          </p:cNvPr>
          <p:cNvSpPr/>
          <p:nvPr/>
        </p:nvSpPr>
        <p:spPr>
          <a:xfrm>
            <a:off x="3594100" y="1739900"/>
            <a:ext cx="3276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DÓNDE PEGA MÁS · SOLO DONDE EL AGUA LLEGA</a:t>
            </a:r>
            <a:endParaRPr lang="en-US" sz="7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8259ECE3-D025-44E5-42C8-163CFEB56EB0}"/>
              </a:ext>
            </a:extLst>
          </p:cNvPr>
          <p:cNvSpPr/>
          <p:nvPr/>
        </p:nvSpPr>
        <p:spPr>
          <a:xfrm>
            <a:off x="3594100" y="1943100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Cajamarca</a:t>
            </a:r>
            <a:endParaRPr lang="en-US" sz="11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50BBAD75-5DC7-CAEE-4C41-59D30CC4BAAC}"/>
              </a:ext>
            </a:extLst>
          </p:cNvPr>
          <p:cNvSpPr/>
          <p:nvPr/>
        </p:nvSpPr>
        <p:spPr>
          <a:xfrm>
            <a:off x="4597400" y="2008065"/>
            <a:ext cx="1238510" cy="101600"/>
          </a:xfrm>
          <a:prstGeom prst="roundRect">
            <a:avLst>
              <a:gd name="adj" fmla="val 180000"/>
            </a:avLst>
          </a:prstGeom>
          <a:solidFill>
            <a:srgbClr val="5DA592"/>
          </a:solidFill>
          <a:ln w="12700">
            <a:noFill/>
            <a:prstDash val="solid"/>
          </a:ln>
        </p:spPr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AFD191B-C653-08E6-C24D-5DA88303D39C}"/>
              </a:ext>
            </a:extLst>
          </p:cNvPr>
          <p:cNvSpPr/>
          <p:nvPr/>
        </p:nvSpPr>
        <p:spPr>
          <a:xfrm>
            <a:off x="6400800" y="1943100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×1,26</a:t>
            </a:r>
            <a:endParaRPr lang="en-US" sz="11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4A39B6E-75AB-6C6E-4C21-A5A081EB2B12}"/>
              </a:ext>
            </a:extLst>
          </p:cNvPr>
          <p:cNvSpPr/>
          <p:nvPr/>
        </p:nvSpPr>
        <p:spPr>
          <a:xfrm>
            <a:off x="3594100" y="2174631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Huancavelica</a:t>
            </a:r>
            <a:endParaRPr lang="en-US" sz="110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C15CE9DD-B488-B460-956F-227DB30FB685}"/>
              </a:ext>
            </a:extLst>
          </p:cNvPr>
          <p:cNvSpPr/>
          <p:nvPr/>
        </p:nvSpPr>
        <p:spPr>
          <a:xfrm>
            <a:off x="4597400" y="2239596"/>
            <a:ext cx="1232521" cy="101600"/>
          </a:xfrm>
          <a:prstGeom prst="roundRect">
            <a:avLst>
              <a:gd name="adj" fmla="val 180000"/>
            </a:avLst>
          </a:prstGeom>
          <a:solidFill>
            <a:srgbClr val="5DA592"/>
          </a:solidFill>
          <a:ln w="12700">
            <a:noFill/>
            <a:prstDash val="solid"/>
          </a:ln>
        </p:spPr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8F37E35B-0187-F197-BED1-3E5BDC4B9CD4}"/>
              </a:ext>
            </a:extLst>
          </p:cNvPr>
          <p:cNvSpPr/>
          <p:nvPr/>
        </p:nvSpPr>
        <p:spPr>
          <a:xfrm>
            <a:off x="6400800" y="2174631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×1,25</a:t>
            </a:r>
            <a:endParaRPr lang="en-US" sz="11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311E294D-174B-771B-35A6-CEE4AB9FF799}"/>
              </a:ext>
            </a:extLst>
          </p:cNvPr>
          <p:cNvSpPr/>
          <p:nvPr/>
        </p:nvSpPr>
        <p:spPr>
          <a:xfrm>
            <a:off x="3594100" y="2406162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Ayacucho</a:t>
            </a:r>
            <a:endParaRPr lang="en-US" sz="110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27508018-6D62-3BA4-DF28-1433A7E79BE9}"/>
              </a:ext>
            </a:extLst>
          </p:cNvPr>
          <p:cNvSpPr/>
          <p:nvPr/>
        </p:nvSpPr>
        <p:spPr>
          <a:xfrm>
            <a:off x="4597400" y="2471127"/>
            <a:ext cx="1101997" cy="101600"/>
          </a:xfrm>
          <a:prstGeom prst="roundRect">
            <a:avLst>
              <a:gd name="adj" fmla="val 180000"/>
            </a:avLst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315F8C6-72F3-E563-8C39-01BDC7D02D25}"/>
              </a:ext>
            </a:extLst>
          </p:cNvPr>
          <p:cNvSpPr/>
          <p:nvPr/>
        </p:nvSpPr>
        <p:spPr>
          <a:xfrm>
            <a:off x="6400800" y="2406162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F7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×1,12</a:t>
            </a:r>
            <a:endParaRPr lang="en-US" sz="11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768C0561-9209-D0D1-46A8-68663D506AC7}"/>
              </a:ext>
            </a:extLst>
          </p:cNvPr>
          <p:cNvSpPr/>
          <p:nvPr/>
        </p:nvSpPr>
        <p:spPr>
          <a:xfrm>
            <a:off x="3594100" y="2637692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Piura</a:t>
            </a:r>
            <a:endParaRPr lang="en-US" sz="11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AC0C10A1-D834-4C38-CAF3-D32DC1EA6092}"/>
              </a:ext>
            </a:extLst>
          </p:cNvPr>
          <p:cNvSpPr/>
          <p:nvPr/>
        </p:nvSpPr>
        <p:spPr>
          <a:xfrm>
            <a:off x="4597400" y="2702658"/>
            <a:ext cx="1058098" cy="101600"/>
          </a:xfrm>
          <a:prstGeom prst="roundRect">
            <a:avLst>
              <a:gd name="adj" fmla="val 180000"/>
            </a:avLst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60" name="Text 27">
            <a:extLst>
              <a:ext uri="{FF2B5EF4-FFF2-40B4-BE49-F238E27FC236}">
                <a16:creationId xmlns:a16="http://schemas.microsoft.com/office/drawing/2014/main" id="{87570202-AE7B-BD2F-97F0-BA3225ED3CB6}"/>
              </a:ext>
            </a:extLst>
          </p:cNvPr>
          <p:cNvSpPr/>
          <p:nvPr/>
        </p:nvSpPr>
        <p:spPr>
          <a:xfrm>
            <a:off x="6400800" y="2637692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×1,07</a:t>
            </a:r>
            <a:endParaRPr lang="en-US" sz="11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FF3E3095-3AF5-A00C-A6EC-C41916F89C95}"/>
              </a:ext>
            </a:extLst>
          </p:cNvPr>
          <p:cNvSpPr/>
          <p:nvPr/>
        </p:nvSpPr>
        <p:spPr>
          <a:xfrm>
            <a:off x="3594100" y="2869223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Áncash</a:t>
            </a:r>
            <a:endParaRPr lang="en-US" sz="1100" dirty="0"/>
          </a:p>
        </p:txBody>
      </p:sp>
      <p:sp>
        <p:nvSpPr>
          <p:cNvPr id="192" name="Shape 29">
            <a:extLst>
              <a:ext uri="{FF2B5EF4-FFF2-40B4-BE49-F238E27FC236}">
                <a16:creationId xmlns:a16="http://schemas.microsoft.com/office/drawing/2014/main" id="{1B68CAC1-DB19-9736-F93A-6970D2909EDD}"/>
              </a:ext>
            </a:extLst>
          </p:cNvPr>
          <p:cNvSpPr/>
          <p:nvPr/>
        </p:nvSpPr>
        <p:spPr>
          <a:xfrm>
            <a:off x="4597400" y="2934188"/>
            <a:ext cx="1025387" cy="101600"/>
          </a:xfrm>
          <a:prstGeom prst="roundRect">
            <a:avLst>
              <a:gd name="adj" fmla="val 180000"/>
            </a:avLst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194" name="Text 30">
            <a:extLst>
              <a:ext uri="{FF2B5EF4-FFF2-40B4-BE49-F238E27FC236}">
                <a16:creationId xmlns:a16="http://schemas.microsoft.com/office/drawing/2014/main" id="{4841B9E1-22C2-23F3-AC64-92DFF5D2F616}"/>
              </a:ext>
            </a:extLst>
          </p:cNvPr>
          <p:cNvSpPr/>
          <p:nvPr/>
        </p:nvSpPr>
        <p:spPr>
          <a:xfrm>
            <a:off x="6400800" y="2869223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×1,04</a:t>
            </a:r>
            <a:endParaRPr lang="en-US" sz="1100" dirty="0"/>
          </a:p>
        </p:txBody>
      </p:sp>
      <p:sp>
        <p:nvSpPr>
          <p:cNvPr id="196" name="Text 31">
            <a:extLst>
              <a:ext uri="{FF2B5EF4-FFF2-40B4-BE49-F238E27FC236}">
                <a16:creationId xmlns:a16="http://schemas.microsoft.com/office/drawing/2014/main" id="{CD7884AD-406D-55B2-18A4-F3836604627B}"/>
              </a:ext>
            </a:extLst>
          </p:cNvPr>
          <p:cNvSpPr/>
          <p:nvPr/>
        </p:nvSpPr>
        <p:spPr>
          <a:xfrm>
            <a:off x="3594100" y="3100754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Libertad</a:t>
            </a:r>
            <a:endParaRPr lang="en-US" sz="1100" dirty="0"/>
          </a:p>
        </p:txBody>
      </p:sp>
      <p:sp>
        <p:nvSpPr>
          <p:cNvPr id="198" name="Shape 32">
            <a:extLst>
              <a:ext uri="{FF2B5EF4-FFF2-40B4-BE49-F238E27FC236}">
                <a16:creationId xmlns:a16="http://schemas.microsoft.com/office/drawing/2014/main" id="{20960ACA-8156-F577-B296-86CCA5AB9F97}"/>
              </a:ext>
            </a:extLst>
          </p:cNvPr>
          <p:cNvSpPr/>
          <p:nvPr/>
        </p:nvSpPr>
        <p:spPr>
          <a:xfrm>
            <a:off x="4597400" y="3165719"/>
            <a:ext cx="992358" cy="101600"/>
          </a:xfrm>
          <a:prstGeom prst="roundRect">
            <a:avLst>
              <a:gd name="adj" fmla="val 180000"/>
            </a:avLst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200" name="Text 33">
            <a:extLst>
              <a:ext uri="{FF2B5EF4-FFF2-40B4-BE49-F238E27FC236}">
                <a16:creationId xmlns:a16="http://schemas.microsoft.com/office/drawing/2014/main" id="{3F632521-CB2C-F6AC-2D3D-35C3CF147A23}"/>
              </a:ext>
            </a:extLst>
          </p:cNvPr>
          <p:cNvSpPr/>
          <p:nvPr/>
        </p:nvSpPr>
        <p:spPr>
          <a:xfrm>
            <a:off x="6400800" y="3100754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×1,01</a:t>
            </a:r>
            <a:endParaRPr lang="en-US" sz="1100" dirty="0"/>
          </a:p>
        </p:txBody>
      </p:sp>
      <p:sp>
        <p:nvSpPr>
          <p:cNvPr id="202" name="Text 34">
            <a:extLst>
              <a:ext uri="{FF2B5EF4-FFF2-40B4-BE49-F238E27FC236}">
                <a16:creationId xmlns:a16="http://schemas.microsoft.com/office/drawing/2014/main" id="{A25C9CEC-0397-96B1-087E-0557858526C0}"/>
              </a:ext>
            </a:extLst>
          </p:cNvPr>
          <p:cNvSpPr/>
          <p:nvPr/>
        </p:nvSpPr>
        <p:spPr>
          <a:xfrm>
            <a:off x="3594100" y="3332285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Ica</a:t>
            </a:r>
            <a:endParaRPr lang="en-US" sz="1100" dirty="0"/>
          </a:p>
        </p:txBody>
      </p:sp>
      <p:sp>
        <p:nvSpPr>
          <p:cNvPr id="204" name="Shape 35">
            <a:extLst>
              <a:ext uri="{FF2B5EF4-FFF2-40B4-BE49-F238E27FC236}">
                <a16:creationId xmlns:a16="http://schemas.microsoft.com/office/drawing/2014/main" id="{F1CE770C-01C9-C2F4-9CA3-D88D554F77DC}"/>
              </a:ext>
            </a:extLst>
          </p:cNvPr>
          <p:cNvSpPr/>
          <p:nvPr/>
        </p:nvSpPr>
        <p:spPr>
          <a:xfrm>
            <a:off x="4597400" y="3397250"/>
            <a:ext cx="988576" cy="101600"/>
          </a:xfrm>
          <a:prstGeom prst="roundRect">
            <a:avLst>
              <a:gd name="adj" fmla="val 180000"/>
            </a:avLst>
          </a:prstGeom>
          <a:solidFill>
            <a:srgbClr val="93C3B4"/>
          </a:solidFill>
          <a:ln w="12700">
            <a:noFill/>
            <a:prstDash val="solid"/>
          </a:ln>
        </p:spPr>
      </p:sp>
      <p:sp>
        <p:nvSpPr>
          <p:cNvPr id="206" name="Text 36">
            <a:extLst>
              <a:ext uri="{FF2B5EF4-FFF2-40B4-BE49-F238E27FC236}">
                <a16:creationId xmlns:a16="http://schemas.microsoft.com/office/drawing/2014/main" id="{721F2646-E3C3-E606-3E56-3C292F3DE0D4}"/>
              </a:ext>
            </a:extLst>
          </p:cNvPr>
          <p:cNvSpPr/>
          <p:nvPr/>
        </p:nvSpPr>
        <p:spPr>
          <a:xfrm>
            <a:off x="6400800" y="3332285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×1,00</a:t>
            </a:r>
            <a:endParaRPr lang="en-US" sz="1100" dirty="0"/>
          </a:p>
        </p:txBody>
      </p:sp>
      <p:sp>
        <p:nvSpPr>
          <p:cNvPr id="208" name="Text 37">
            <a:extLst>
              <a:ext uri="{FF2B5EF4-FFF2-40B4-BE49-F238E27FC236}">
                <a16:creationId xmlns:a16="http://schemas.microsoft.com/office/drawing/2014/main" id="{784FDD69-5F02-460F-FF76-B26C593E2547}"/>
              </a:ext>
            </a:extLst>
          </p:cNvPr>
          <p:cNvSpPr/>
          <p:nvPr/>
        </p:nvSpPr>
        <p:spPr>
          <a:xfrm>
            <a:off x="3594100" y="3563815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Tumbes</a:t>
            </a:r>
            <a:endParaRPr lang="en-US" sz="1100" dirty="0"/>
          </a:p>
        </p:txBody>
      </p:sp>
      <p:sp>
        <p:nvSpPr>
          <p:cNvPr id="210" name="Shape 38">
            <a:extLst>
              <a:ext uri="{FF2B5EF4-FFF2-40B4-BE49-F238E27FC236}">
                <a16:creationId xmlns:a16="http://schemas.microsoft.com/office/drawing/2014/main" id="{707F4E6F-54CC-8F40-AB36-782BE5379FE5}"/>
              </a:ext>
            </a:extLst>
          </p:cNvPr>
          <p:cNvSpPr/>
          <p:nvPr/>
        </p:nvSpPr>
        <p:spPr>
          <a:xfrm>
            <a:off x="4597400" y="3628781"/>
            <a:ext cx="983668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12" name="Text 39">
            <a:extLst>
              <a:ext uri="{FF2B5EF4-FFF2-40B4-BE49-F238E27FC236}">
                <a16:creationId xmlns:a16="http://schemas.microsoft.com/office/drawing/2014/main" id="{DCAEB0C5-7DA0-8880-D452-3A1E5479582A}"/>
              </a:ext>
            </a:extLst>
          </p:cNvPr>
          <p:cNvSpPr/>
          <p:nvPr/>
        </p:nvSpPr>
        <p:spPr>
          <a:xfrm>
            <a:off x="6400800" y="3563815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×1,00</a:t>
            </a:r>
            <a:endParaRPr lang="en-US" sz="1100" dirty="0"/>
          </a:p>
        </p:txBody>
      </p:sp>
      <p:sp>
        <p:nvSpPr>
          <p:cNvPr id="214" name="Text 40">
            <a:extLst>
              <a:ext uri="{FF2B5EF4-FFF2-40B4-BE49-F238E27FC236}">
                <a16:creationId xmlns:a16="http://schemas.microsoft.com/office/drawing/2014/main" id="{DC12C327-C711-974C-0C76-9181E0208928}"/>
              </a:ext>
            </a:extLst>
          </p:cNvPr>
          <p:cNvSpPr/>
          <p:nvPr/>
        </p:nvSpPr>
        <p:spPr>
          <a:xfrm>
            <a:off x="3594100" y="3795346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Lambayeque</a:t>
            </a:r>
            <a:endParaRPr lang="en-US" sz="1100" dirty="0"/>
          </a:p>
        </p:txBody>
      </p:sp>
      <p:sp>
        <p:nvSpPr>
          <p:cNvPr id="216" name="Shape 41">
            <a:extLst>
              <a:ext uri="{FF2B5EF4-FFF2-40B4-BE49-F238E27FC236}">
                <a16:creationId xmlns:a16="http://schemas.microsoft.com/office/drawing/2014/main" id="{7ED9ED28-B8E3-FD93-F7FC-AD611F0009D9}"/>
              </a:ext>
            </a:extLst>
          </p:cNvPr>
          <p:cNvSpPr/>
          <p:nvPr/>
        </p:nvSpPr>
        <p:spPr>
          <a:xfrm>
            <a:off x="4597400" y="3860312"/>
            <a:ext cx="978383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18" name="Text 42">
            <a:extLst>
              <a:ext uri="{FF2B5EF4-FFF2-40B4-BE49-F238E27FC236}">
                <a16:creationId xmlns:a16="http://schemas.microsoft.com/office/drawing/2014/main" id="{D7BC2307-F0BB-BAF2-829A-92ACA055BD8A}"/>
              </a:ext>
            </a:extLst>
          </p:cNvPr>
          <p:cNvSpPr/>
          <p:nvPr/>
        </p:nvSpPr>
        <p:spPr>
          <a:xfrm>
            <a:off x="6400800" y="3795346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×0,99</a:t>
            </a:r>
            <a:endParaRPr lang="en-US" sz="1100" dirty="0"/>
          </a:p>
        </p:txBody>
      </p:sp>
      <p:sp>
        <p:nvSpPr>
          <p:cNvPr id="220" name="Text 43">
            <a:extLst>
              <a:ext uri="{FF2B5EF4-FFF2-40B4-BE49-F238E27FC236}">
                <a16:creationId xmlns:a16="http://schemas.microsoft.com/office/drawing/2014/main" id="{69068595-F94A-130A-7E7A-58FDA8AD8424}"/>
              </a:ext>
            </a:extLst>
          </p:cNvPr>
          <p:cNvSpPr/>
          <p:nvPr/>
        </p:nvSpPr>
        <p:spPr>
          <a:xfrm>
            <a:off x="3594100" y="4026877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Tacna</a:t>
            </a:r>
            <a:endParaRPr lang="en-US" sz="1100" dirty="0"/>
          </a:p>
        </p:txBody>
      </p:sp>
      <p:sp>
        <p:nvSpPr>
          <p:cNvPr id="222" name="Shape 44">
            <a:extLst>
              <a:ext uri="{FF2B5EF4-FFF2-40B4-BE49-F238E27FC236}">
                <a16:creationId xmlns:a16="http://schemas.microsoft.com/office/drawing/2014/main" id="{E5A954D0-6896-6D3F-3DF6-FE67C23C9D1B}"/>
              </a:ext>
            </a:extLst>
          </p:cNvPr>
          <p:cNvSpPr/>
          <p:nvPr/>
        </p:nvSpPr>
        <p:spPr>
          <a:xfrm>
            <a:off x="4597400" y="4091842"/>
            <a:ext cx="903049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24" name="Text 45">
            <a:extLst>
              <a:ext uri="{FF2B5EF4-FFF2-40B4-BE49-F238E27FC236}">
                <a16:creationId xmlns:a16="http://schemas.microsoft.com/office/drawing/2014/main" id="{669A2918-0059-FDA5-3247-B0CD6A42E822}"/>
              </a:ext>
            </a:extLst>
          </p:cNvPr>
          <p:cNvSpPr/>
          <p:nvPr/>
        </p:nvSpPr>
        <p:spPr>
          <a:xfrm>
            <a:off x="6400800" y="4026877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×0,92</a:t>
            </a:r>
            <a:endParaRPr lang="en-US" sz="1100" dirty="0"/>
          </a:p>
        </p:txBody>
      </p:sp>
      <p:sp>
        <p:nvSpPr>
          <p:cNvPr id="226" name="Text 46">
            <a:extLst>
              <a:ext uri="{FF2B5EF4-FFF2-40B4-BE49-F238E27FC236}">
                <a16:creationId xmlns:a16="http://schemas.microsoft.com/office/drawing/2014/main" id="{4E23ED8D-2293-F1B0-F2B7-8B97CAC24F56}"/>
              </a:ext>
            </a:extLst>
          </p:cNvPr>
          <p:cNvSpPr/>
          <p:nvPr/>
        </p:nvSpPr>
        <p:spPr>
          <a:xfrm>
            <a:off x="3594100" y="4258408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Arequipa</a:t>
            </a:r>
            <a:endParaRPr lang="en-US" sz="1100" dirty="0"/>
          </a:p>
        </p:txBody>
      </p:sp>
      <p:sp>
        <p:nvSpPr>
          <p:cNvPr id="229" name="Shape 47">
            <a:extLst>
              <a:ext uri="{FF2B5EF4-FFF2-40B4-BE49-F238E27FC236}">
                <a16:creationId xmlns:a16="http://schemas.microsoft.com/office/drawing/2014/main" id="{5B68FC9F-8FAB-08C1-3156-DE73FABBA000}"/>
              </a:ext>
            </a:extLst>
          </p:cNvPr>
          <p:cNvSpPr/>
          <p:nvPr/>
        </p:nvSpPr>
        <p:spPr>
          <a:xfrm>
            <a:off x="4597400" y="4323373"/>
            <a:ext cx="862003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33" name="Text 48">
            <a:extLst>
              <a:ext uri="{FF2B5EF4-FFF2-40B4-BE49-F238E27FC236}">
                <a16:creationId xmlns:a16="http://schemas.microsoft.com/office/drawing/2014/main" id="{5E8F9206-92A2-8999-54E3-69BE11E788B2}"/>
              </a:ext>
            </a:extLst>
          </p:cNvPr>
          <p:cNvSpPr/>
          <p:nvPr/>
        </p:nvSpPr>
        <p:spPr>
          <a:xfrm>
            <a:off x="6400800" y="4258408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×0,87</a:t>
            </a:r>
            <a:endParaRPr lang="en-US" sz="1100" dirty="0"/>
          </a:p>
        </p:txBody>
      </p:sp>
      <p:sp>
        <p:nvSpPr>
          <p:cNvPr id="237" name="Text 49">
            <a:extLst>
              <a:ext uri="{FF2B5EF4-FFF2-40B4-BE49-F238E27FC236}">
                <a16:creationId xmlns:a16="http://schemas.microsoft.com/office/drawing/2014/main" id="{FE33DE8E-6AFC-61BD-0E8C-78E5D81BBD80}"/>
              </a:ext>
            </a:extLst>
          </p:cNvPr>
          <p:cNvSpPr/>
          <p:nvPr/>
        </p:nvSpPr>
        <p:spPr>
          <a:xfrm>
            <a:off x="3594100" y="4489938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Moquegua</a:t>
            </a:r>
            <a:endParaRPr lang="en-US" sz="1100" dirty="0"/>
          </a:p>
        </p:txBody>
      </p:sp>
      <p:sp>
        <p:nvSpPr>
          <p:cNvPr id="241" name="Shape 50">
            <a:extLst>
              <a:ext uri="{FF2B5EF4-FFF2-40B4-BE49-F238E27FC236}">
                <a16:creationId xmlns:a16="http://schemas.microsoft.com/office/drawing/2014/main" id="{A0078A61-8D61-58D5-3F6E-17973FBD2FAC}"/>
              </a:ext>
            </a:extLst>
          </p:cNvPr>
          <p:cNvSpPr/>
          <p:nvPr/>
        </p:nvSpPr>
        <p:spPr>
          <a:xfrm>
            <a:off x="4597400" y="4554904"/>
            <a:ext cx="792218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45" name="Text 51">
            <a:extLst>
              <a:ext uri="{FF2B5EF4-FFF2-40B4-BE49-F238E27FC236}">
                <a16:creationId xmlns:a16="http://schemas.microsoft.com/office/drawing/2014/main" id="{9B2FD028-3410-950D-B172-235100D69285}"/>
              </a:ext>
            </a:extLst>
          </p:cNvPr>
          <p:cNvSpPr/>
          <p:nvPr/>
        </p:nvSpPr>
        <p:spPr>
          <a:xfrm>
            <a:off x="6400800" y="4489938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×0,80</a:t>
            </a:r>
            <a:endParaRPr lang="en-US" sz="1100" dirty="0"/>
          </a:p>
        </p:txBody>
      </p:sp>
      <p:sp>
        <p:nvSpPr>
          <p:cNvPr id="249" name="Text 52">
            <a:extLst>
              <a:ext uri="{FF2B5EF4-FFF2-40B4-BE49-F238E27FC236}">
                <a16:creationId xmlns:a16="http://schemas.microsoft.com/office/drawing/2014/main" id="{A9A3BE11-AB54-7ABD-A16F-3A398CFE135E}"/>
              </a:ext>
            </a:extLst>
          </p:cNvPr>
          <p:cNvSpPr/>
          <p:nvPr/>
        </p:nvSpPr>
        <p:spPr>
          <a:xfrm>
            <a:off x="3594100" y="4721469"/>
            <a:ext cx="9525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Lima</a:t>
            </a:r>
            <a:endParaRPr lang="en-US" sz="1100" dirty="0"/>
          </a:p>
        </p:txBody>
      </p:sp>
      <p:sp>
        <p:nvSpPr>
          <p:cNvPr id="253" name="Shape 53">
            <a:extLst>
              <a:ext uri="{FF2B5EF4-FFF2-40B4-BE49-F238E27FC236}">
                <a16:creationId xmlns:a16="http://schemas.microsoft.com/office/drawing/2014/main" id="{9F052945-34AE-40FC-2DE0-6644677B5F31}"/>
              </a:ext>
            </a:extLst>
          </p:cNvPr>
          <p:cNvSpPr/>
          <p:nvPr/>
        </p:nvSpPr>
        <p:spPr>
          <a:xfrm>
            <a:off x="4597400" y="4786435"/>
            <a:ext cx="791594" cy="101600"/>
          </a:xfrm>
          <a:prstGeom prst="roundRect">
            <a:avLst>
              <a:gd name="adj" fmla="val 180000"/>
            </a:avLst>
          </a:prstGeom>
          <a:solidFill>
            <a:srgbClr val="C3DED5"/>
          </a:solidFill>
          <a:ln w="12700">
            <a:noFill/>
            <a:prstDash val="solid"/>
          </a:ln>
        </p:spPr>
      </p:sp>
      <p:sp>
        <p:nvSpPr>
          <p:cNvPr id="257" name="Text 54">
            <a:extLst>
              <a:ext uri="{FF2B5EF4-FFF2-40B4-BE49-F238E27FC236}">
                <a16:creationId xmlns:a16="http://schemas.microsoft.com/office/drawing/2014/main" id="{B14C65C5-854E-D724-8C03-EAD4A32DEB5A}"/>
              </a:ext>
            </a:extLst>
          </p:cNvPr>
          <p:cNvSpPr/>
          <p:nvPr/>
        </p:nvSpPr>
        <p:spPr>
          <a:xfrm>
            <a:off x="6400800" y="4721469"/>
            <a:ext cx="469900" cy="2315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672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×0,80</a:t>
            </a:r>
            <a:endParaRPr lang="en-US" sz="1100" dirty="0"/>
          </a:p>
        </p:txBody>
      </p:sp>
      <p:sp>
        <p:nvSpPr>
          <p:cNvPr id="261" name="Shape 55">
            <a:extLst>
              <a:ext uri="{FF2B5EF4-FFF2-40B4-BE49-F238E27FC236}">
                <a16:creationId xmlns:a16="http://schemas.microsoft.com/office/drawing/2014/main" id="{03BF52E5-2996-5C21-E440-E5C42BA7427F}"/>
              </a:ext>
            </a:extLst>
          </p:cNvPr>
          <p:cNvSpPr/>
          <p:nvPr/>
        </p:nvSpPr>
        <p:spPr>
          <a:xfrm>
            <a:off x="3543300" y="4978400"/>
            <a:ext cx="3378200" cy="1206500"/>
          </a:xfrm>
          <a:prstGeom prst="roundRect">
            <a:avLst>
              <a:gd name="adj" fmla="val 2274"/>
            </a:avLst>
          </a:prstGeom>
          <a:solidFill>
            <a:srgbClr val="2F7B67"/>
          </a:solidFill>
          <a:ln w="12700">
            <a:noFill/>
            <a:prstDash val="solid"/>
          </a:ln>
        </p:spPr>
      </p:sp>
      <p:sp>
        <p:nvSpPr>
          <p:cNvPr id="265" name="Text 56">
            <a:extLst>
              <a:ext uri="{FF2B5EF4-FFF2-40B4-BE49-F238E27FC236}">
                <a16:creationId xmlns:a16="http://schemas.microsoft.com/office/drawing/2014/main" id="{EC4DB5A9-EEA2-8744-005C-9FE59EFE1912}"/>
              </a:ext>
            </a:extLst>
          </p:cNvPr>
          <p:cNvSpPr/>
          <p:nvPr/>
        </p:nvSpPr>
        <p:spPr>
          <a:xfrm>
            <a:off x="3695700" y="5092700"/>
            <a:ext cx="307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×2,7</a:t>
            </a:r>
            <a:endParaRPr lang="en-US" sz="4000" dirty="0"/>
          </a:p>
        </p:txBody>
      </p:sp>
      <p:sp>
        <p:nvSpPr>
          <p:cNvPr id="269" name="Text 57">
            <a:extLst>
              <a:ext uri="{FF2B5EF4-FFF2-40B4-BE49-F238E27FC236}">
                <a16:creationId xmlns:a16="http://schemas.microsoft.com/office/drawing/2014/main" id="{99835CD9-0526-9CF7-A04E-19AA23A9F8FC}"/>
              </a:ext>
            </a:extLst>
          </p:cNvPr>
          <p:cNvSpPr/>
          <p:nvPr/>
        </p:nvSpPr>
        <p:spPr>
          <a:xfrm>
            <a:off x="3695700" y="5664200"/>
            <a:ext cx="307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 un distrito agrícola y uno de servicios, frente al mismo evento.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73" name="Shape 58">
            <a:extLst>
              <a:ext uri="{FF2B5EF4-FFF2-40B4-BE49-F238E27FC236}">
                <a16:creationId xmlns:a16="http://schemas.microsoft.com/office/drawing/2014/main" id="{91D46537-1334-8AE2-9D2C-528C6F625E5C}"/>
              </a:ext>
            </a:extLst>
          </p:cNvPr>
          <p:cNvSpPr/>
          <p:nvPr/>
        </p:nvSpPr>
        <p:spPr>
          <a:xfrm>
            <a:off x="7124700" y="1567961"/>
            <a:ext cx="4457395" cy="4686300"/>
          </a:xfrm>
          <a:prstGeom prst="roundRect">
            <a:avLst>
              <a:gd name="adj" fmla="val 410"/>
            </a:avLst>
          </a:prstGeom>
          <a:solidFill>
            <a:srgbClr val="F7F9FA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277" name="Text 59">
            <a:extLst>
              <a:ext uri="{FF2B5EF4-FFF2-40B4-BE49-F238E27FC236}">
                <a16:creationId xmlns:a16="http://schemas.microsoft.com/office/drawing/2014/main" id="{A9963026-952F-F5B6-332E-6ACBB1CADEC5}"/>
              </a:ext>
            </a:extLst>
          </p:cNvPr>
          <p:cNvSpPr/>
          <p:nvPr/>
        </p:nvSpPr>
        <p:spPr>
          <a:xfrm>
            <a:off x="7264400" y="1739900"/>
            <a:ext cx="417799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kern="0" spc="14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LO EMPUJA</a:t>
            </a:r>
            <a:endParaRPr lang="en-US" sz="750" dirty="0"/>
          </a:p>
        </p:txBody>
      </p:sp>
      <p:sp>
        <p:nvSpPr>
          <p:cNvPr id="281" name="Shape 60">
            <a:extLst>
              <a:ext uri="{FF2B5EF4-FFF2-40B4-BE49-F238E27FC236}">
                <a16:creationId xmlns:a16="http://schemas.microsoft.com/office/drawing/2014/main" id="{5D631558-4459-15F1-7187-E757C810B01A}"/>
              </a:ext>
            </a:extLst>
          </p:cNvPr>
          <p:cNvSpPr/>
          <p:nvPr/>
        </p:nvSpPr>
        <p:spPr>
          <a:xfrm>
            <a:off x="7340600" y="2057400"/>
            <a:ext cx="0" cy="3543300"/>
          </a:xfrm>
          <a:prstGeom prst="line">
            <a:avLst/>
          </a:prstGeom>
          <a:noFill/>
          <a:ln w="25400">
            <a:solidFill>
              <a:srgbClr val="D5DCE0"/>
            </a:solidFill>
            <a:prstDash val="solid"/>
          </a:ln>
        </p:spPr>
      </p:sp>
      <p:sp>
        <p:nvSpPr>
          <p:cNvPr id="285" name="Shape 61">
            <a:extLst>
              <a:ext uri="{FF2B5EF4-FFF2-40B4-BE49-F238E27FC236}">
                <a16:creationId xmlns:a16="http://schemas.microsoft.com/office/drawing/2014/main" id="{26517065-B1B3-A13A-9A89-C4F641C05258}"/>
              </a:ext>
            </a:extLst>
          </p:cNvPr>
          <p:cNvSpPr/>
          <p:nvPr/>
        </p:nvSpPr>
        <p:spPr>
          <a:xfrm>
            <a:off x="7302500" y="20256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289" name="Image 1" descr="preencoded.png">
            <a:extLst>
              <a:ext uri="{FF2B5EF4-FFF2-40B4-BE49-F238E27FC236}">
                <a16:creationId xmlns:a16="http://schemas.microsoft.com/office/drawing/2014/main" id="{9D64BD26-7FF2-874A-E660-AA4B025CB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900" y="2006600"/>
            <a:ext cx="114300" cy="114300"/>
          </a:xfrm>
          <a:prstGeom prst="rect">
            <a:avLst/>
          </a:prstGeom>
        </p:spPr>
      </p:pic>
      <p:sp>
        <p:nvSpPr>
          <p:cNvPr id="293" name="Text 62">
            <a:extLst>
              <a:ext uri="{FF2B5EF4-FFF2-40B4-BE49-F238E27FC236}">
                <a16:creationId xmlns:a16="http://schemas.microsoft.com/office/drawing/2014/main" id="{7C59A328-B3D1-DCE0-218F-46D6C04B2D1B}"/>
              </a:ext>
            </a:extLst>
          </p:cNvPr>
          <p:cNvSpPr/>
          <p:nvPr/>
        </p:nvSpPr>
        <p:spPr>
          <a:xfrm>
            <a:off x="7620000" y="19812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 · Producción hídrica</a:t>
            </a:r>
            <a:endParaRPr lang="en-US" sz="1050" dirty="0"/>
          </a:p>
        </p:txBody>
      </p:sp>
      <p:sp>
        <p:nvSpPr>
          <p:cNvPr id="297" name="Shape 63">
            <a:extLst>
              <a:ext uri="{FF2B5EF4-FFF2-40B4-BE49-F238E27FC236}">
                <a16:creationId xmlns:a16="http://schemas.microsoft.com/office/drawing/2014/main" id="{6AFC6FBA-1870-989E-DBFF-A491CE2A657A}"/>
              </a:ext>
            </a:extLst>
          </p:cNvPr>
          <p:cNvSpPr/>
          <p:nvPr/>
        </p:nvSpPr>
        <p:spPr>
          <a:xfrm>
            <a:off x="11010595" y="19939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4EFEA"/>
          </a:solidFill>
          <a:ln w="12700">
            <a:noFill/>
            <a:prstDash val="solid"/>
          </a:ln>
        </p:spPr>
      </p:sp>
      <p:sp>
        <p:nvSpPr>
          <p:cNvPr id="301" name="Text 64">
            <a:extLst>
              <a:ext uri="{FF2B5EF4-FFF2-40B4-BE49-F238E27FC236}">
                <a16:creationId xmlns:a16="http://schemas.microsoft.com/office/drawing/2014/main" id="{25418A5A-ADBD-9B33-ABD3-47A2F2291B01}"/>
              </a:ext>
            </a:extLst>
          </p:cNvPr>
          <p:cNvSpPr/>
          <p:nvPr/>
        </p:nvSpPr>
        <p:spPr>
          <a:xfrm>
            <a:off x="10997895" y="2022475"/>
            <a:ext cx="406400" cy="107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7B67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+1,2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5" name="Text 65">
            <a:extLst>
              <a:ext uri="{FF2B5EF4-FFF2-40B4-BE49-F238E27FC236}">
                <a16:creationId xmlns:a16="http://schemas.microsoft.com/office/drawing/2014/main" id="{2F66523B-BB28-BF5A-CEA0-A546F1C2CDE5}"/>
              </a:ext>
            </a:extLst>
          </p:cNvPr>
          <p:cNvSpPr/>
          <p:nvPr/>
        </p:nvSpPr>
        <p:spPr>
          <a:xfrm>
            <a:off x="7454900" y="21590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agricultura, ganadería y pesca</a:t>
            </a:r>
            <a:endParaRPr lang="en-US" sz="900" dirty="0"/>
          </a:p>
        </p:txBody>
      </p:sp>
      <p:sp>
        <p:nvSpPr>
          <p:cNvPr id="309" name="Shape 66">
            <a:extLst>
              <a:ext uri="{FF2B5EF4-FFF2-40B4-BE49-F238E27FC236}">
                <a16:creationId xmlns:a16="http://schemas.microsoft.com/office/drawing/2014/main" id="{4F543D1E-5089-45DF-F7E7-5CCFB063109A}"/>
              </a:ext>
            </a:extLst>
          </p:cNvPr>
          <p:cNvSpPr/>
          <p:nvPr/>
        </p:nvSpPr>
        <p:spPr>
          <a:xfrm>
            <a:off x="7302500" y="27241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313" name="Image 2" descr="preencoded.png">
            <a:extLst>
              <a:ext uri="{FF2B5EF4-FFF2-40B4-BE49-F238E27FC236}">
                <a16:creationId xmlns:a16="http://schemas.microsoft.com/office/drawing/2014/main" id="{55F55972-CA8D-D817-F404-6F3C67864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900" y="2705100"/>
            <a:ext cx="114300" cy="114300"/>
          </a:xfrm>
          <a:prstGeom prst="rect">
            <a:avLst/>
          </a:prstGeom>
        </p:spPr>
      </p:pic>
      <p:sp>
        <p:nvSpPr>
          <p:cNvPr id="317" name="Text 67">
            <a:extLst>
              <a:ext uri="{FF2B5EF4-FFF2-40B4-BE49-F238E27FC236}">
                <a16:creationId xmlns:a16="http://schemas.microsoft.com/office/drawing/2014/main" id="{C7C88CDA-0CC3-35CD-93E9-63DDF5AACA24}"/>
              </a:ext>
            </a:extLst>
          </p:cNvPr>
          <p:cNvSpPr/>
          <p:nvPr/>
        </p:nvSpPr>
        <p:spPr>
          <a:xfrm>
            <a:off x="7620000" y="26797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 · Activo fijo expuesto</a:t>
            </a:r>
            <a:endParaRPr lang="en-US" sz="1050" dirty="0"/>
          </a:p>
        </p:txBody>
      </p:sp>
      <p:sp>
        <p:nvSpPr>
          <p:cNvPr id="321" name="Shape 68">
            <a:extLst>
              <a:ext uri="{FF2B5EF4-FFF2-40B4-BE49-F238E27FC236}">
                <a16:creationId xmlns:a16="http://schemas.microsoft.com/office/drawing/2014/main" id="{B47A2B31-EBA4-C216-8D8B-7AAC00149C90}"/>
              </a:ext>
            </a:extLst>
          </p:cNvPr>
          <p:cNvSpPr/>
          <p:nvPr/>
        </p:nvSpPr>
        <p:spPr>
          <a:xfrm>
            <a:off x="11010595" y="26924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4EFEA"/>
          </a:solidFill>
          <a:ln w="12700">
            <a:noFill/>
            <a:prstDash val="solid"/>
          </a:ln>
        </p:spPr>
      </p:sp>
      <p:sp>
        <p:nvSpPr>
          <p:cNvPr id="325" name="Text 69">
            <a:extLst>
              <a:ext uri="{FF2B5EF4-FFF2-40B4-BE49-F238E27FC236}">
                <a16:creationId xmlns:a16="http://schemas.microsoft.com/office/drawing/2014/main" id="{F7D3ED13-24D5-A2AD-B6DB-BE36C14DE2FB}"/>
              </a:ext>
            </a:extLst>
          </p:cNvPr>
          <p:cNvSpPr/>
          <p:nvPr/>
        </p:nvSpPr>
        <p:spPr>
          <a:xfrm>
            <a:off x="10997895" y="2683607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7B67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+1,0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9" name="Text 70">
            <a:extLst>
              <a:ext uri="{FF2B5EF4-FFF2-40B4-BE49-F238E27FC236}">
                <a16:creationId xmlns:a16="http://schemas.microsoft.com/office/drawing/2014/main" id="{45C5BADA-29DC-0F5C-AAF3-0064E2BAA78E}"/>
              </a:ext>
            </a:extLst>
          </p:cNvPr>
          <p:cNvSpPr/>
          <p:nvPr/>
        </p:nvSpPr>
        <p:spPr>
          <a:xfrm>
            <a:off x="7454900" y="28575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comercio, manufactura, restaurantes</a:t>
            </a:r>
            <a:endParaRPr lang="en-US" sz="900" dirty="0"/>
          </a:p>
        </p:txBody>
      </p:sp>
      <p:sp>
        <p:nvSpPr>
          <p:cNvPr id="333" name="Shape 71">
            <a:extLst>
              <a:ext uri="{FF2B5EF4-FFF2-40B4-BE49-F238E27FC236}">
                <a16:creationId xmlns:a16="http://schemas.microsoft.com/office/drawing/2014/main" id="{0FF485A3-6500-F5E3-59CE-553A44A36C82}"/>
              </a:ext>
            </a:extLst>
          </p:cNvPr>
          <p:cNvSpPr/>
          <p:nvPr/>
        </p:nvSpPr>
        <p:spPr>
          <a:xfrm>
            <a:off x="7302500" y="34226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337" name="Image 3" descr="preencoded.png">
            <a:extLst>
              <a:ext uri="{FF2B5EF4-FFF2-40B4-BE49-F238E27FC236}">
                <a16:creationId xmlns:a16="http://schemas.microsoft.com/office/drawing/2014/main" id="{C4CEC03C-D801-24C7-3913-09E323E52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4900" y="3403600"/>
            <a:ext cx="114300" cy="114300"/>
          </a:xfrm>
          <a:prstGeom prst="rect">
            <a:avLst/>
          </a:prstGeom>
        </p:spPr>
      </p:pic>
      <p:sp>
        <p:nvSpPr>
          <p:cNvPr id="341" name="Text 72">
            <a:extLst>
              <a:ext uri="{FF2B5EF4-FFF2-40B4-BE49-F238E27FC236}">
                <a16:creationId xmlns:a16="http://schemas.microsoft.com/office/drawing/2014/main" id="{4D3C5EA1-D733-2419-A8D6-B7A4B9919F7E}"/>
              </a:ext>
            </a:extLst>
          </p:cNvPr>
          <p:cNvSpPr/>
          <p:nvPr/>
        </p:nvSpPr>
        <p:spPr>
          <a:xfrm>
            <a:off x="7620000" y="33782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 · Movilidad y logística</a:t>
            </a:r>
            <a:endParaRPr lang="en-US" sz="1050" dirty="0"/>
          </a:p>
        </p:txBody>
      </p:sp>
      <p:sp>
        <p:nvSpPr>
          <p:cNvPr id="345" name="Shape 73">
            <a:extLst>
              <a:ext uri="{FF2B5EF4-FFF2-40B4-BE49-F238E27FC236}">
                <a16:creationId xmlns:a16="http://schemas.microsoft.com/office/drawing/2014/main" id="{E2D11865-B14E-C6A9-8342-0A776FEA177A}"/>
              </a:ext>
            </a:extLst>
          </p:cNvPr>
          <p:cNvSpPr/>
          <p:nvPr/>
        </p:nvSpPr>
        <p:spPr>
          <a:xfrm>
            <a:off x="11010595" y="33909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4EFEA"/>
          </a:solidFill>
          <a:ln w="12700">
            <a:noFill/>
            <a:prstDash val="solid"/>
          </a:ln>
        </p:spPr>
      </p:sp>
      <p:sp>
        <p:nvSpPr>
          <p:cNvPr id="349" name="Text 74">
            <a:extLst>
              <a:ext uri="{FF2B5EF4-FFF2-40B4-BE49-F238E27FC236}">
                <a16:creationId xmlns:a16="http://schemas.microsoft.com/office/drawing/2014/main" id="{0EB3C338-CC8A-01A6-C5D2-3B2F0747A0F0}"/>
              </a:ext>
            </a:extLst>
          </p:cNvPr>
          <p:cNvSpPr/>
          <p:nvPr/>
        </p:nvSpPr>
        <p:spPr>
          <a:xfrm>
            <a:off x="11005527" y="33782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7B67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+0,8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3" name="Text 75">
            <a:extLst>
              <a:ext uri="{FF2B5EF4-FFF2-40B4-BE49-F238E27FC236}">
                <a16:creationId xmlns:a16="http://schemas.microsoft.com/office/drawing/2014/main" id="{53C293DA-FF25-8475-6786-9E8F32A6A587}"/>
              </a:ext>
            </a:extLst>
          </p:cNvPr>
          <p:cNvSpPr/>
          <p:nvPr/>
        </p:nvSpPr>
        <p:spPr>
          <a:xfrm>
            <a:off x="7454900" y="35560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transporte y almacenamiento</a:t>
            </a:r>
            <a:endParaRPr lang="en-US" sz="900" dirty="0"/>
          </a:p>
        </p:txBody>
      </p:sp>
      <p:sp>
        <p:nvSpPr>
          <p:cNvPr id="357" name="Shape 76">
            <a:extLst>
              <a:ext uri="{FF2B5EF4-FFF2-40B4-BE49-F238E27FC236}">
                <a16:creationId xmlns:a16="http://schemas.microsoft.com/office/drawing/2014/main" id="{0F61A888-1096-9E3E-62BE-9AB5FE3E7D08}"/>
              </a:ext>
            </a:extLst>
          </p:cNvPr>
          <p:cNvSpPr/>
          <p:nvPr/>
        </p:nvSpPr>
        <p:spPr>
          <a:xfrm>
            <a:off x="7302500" y="41211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361" name="Image 4" descr="preencoded.png">
            <a:extLst>
              <a:ext uri="{FF2B5EF4-FFF2-40B4-BE49-F238E27FC236}">
                <a16:creationId xmlns:a16="http://schemas.microsoft.com/office/drawing/2014/main" id="{4117EBDB-24FF-F65C-0CD0-342032508D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4900" y="4102100"/>
            <a:ext cx="114300" cy="114300"/>
          </a:xfrm>
          <a:prstGeom prst="rect">
            <a:avLst/>
          </a:prstGeom>
        </p:spPr>
      </p:pic>
      <p:sp>
        <p:nvSpPr>
          <p:cNvPr id="365" name="Text 77">
            <a:extLst>
              <a:ext uri="{FF2B5EF4-FFF2-40B4-BE49-F238E27FC236}">
                <a16:creationId xmlns:a16="http://schemas.microsoft.com/office/drawing/2014/main" id="{3E674E24-85D7-7AEC-797D-542A2B441C40}"/>
              </a:ext>
            </a:extLst>
          </p:cNvPr>
          <p:cNvSpPr/>
          <p:nvPr/>
        </p:nvSpPr>
        <p:spPr>
          <a:xfrm>
            <a:off x="7620000" y="40767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 · Informal sin resguardo</a:t>
            </a:r>
            <a:endParaRPr lang="en-US" sz="1050" dirty="0"/>
          </a:p>
        </p:txBody>
      </p:sp>
      <p:sp>
        <p:nvSpPr>
          <p:cNvPr id="367" name="Shape 78">
            <a:extLst>
              <a:ext uri="{FF2B5EF4-FFF2-40B4-BE49-F238E27FC236}">
                <a16:creationId xmlns:a16="http://schemas.microsoft.com/office/drawing/2014/main" id="{B6EACA14-29FA-5D3A-E6B5-0C9348167088}"/>
              </a:ext>
            </a:extLst>
          </p:cNvPr>
          <p:cNvSpPr/>
          <p:nvPr/>
        </p:nvSpPr>
        <p:spPr>
          <a:xfrm>
            <a:off x="11010595" y="40894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4EFEA"/>
          </a:solidFill>
          <a:ln w="12700">
            <a:noFill/>
            <a:prstDash val="solid"/>
          </a:ln>
        </p:spPr>
      </p:sp>
      <p:sp>
        <p:nvSpPr>
          <p:cNvPr id="371" name="Text 79">
            <a:extLst>
              <a:ext uri="{FF2B5EF4-FFF2-40B4-BE49-F238E27FC236}">
                <a16:creationId xmlns:a16="http://schemas.microsoft.com/office/drawing/2014/main" id="{FAB44AE4-DD2E-6EE9-52F6-669DAEE3AD24}"/>
              </a:ext>
            </a:extLst>
          </p:cNvPr>
          <p:cNvSpPr/>
          <p:nvPr/>
        </p:nvSpPr>
        <p:spPr>
          <a:xfrm>
            <a:off x="10997895" y="40767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7B67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+0,6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3" name="Text 80">
            <a:extLst>
              <a:ext uri="{FF2B5EF4-FFF2-40B4-BE49-F238E27FC236}">
                <a16:creationId xmlns:a16="http://schemas.microsoft.com/office/drawing/2014/main" id="{8A0D566B-FAEE-C2E0-C56A-780A308350C1}"/>
              </a:ext>
            </a:extLst>
          </p:cNvPr>
          <p:cNvSpPr/>
          <p:nvPr/>
        </p:nvSpPr>
        <p:spPr>
          <a:xfrm>
            <a:off x="7454900" y="42545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otros servicios y hogares</a:t>
            </a:r>
            <a:endParaRPr lang="en-US" sz="900" dirty="0"/>
          </a:p>
        </p:txBody>
      </p:sp>
      <p:sp>
        <p:nvSpPr>
          <p:cNvPr id="375" name="Shape 81">
            <a:extLst>
              <a:ext uri="{FF2B5EF4-FFF2-40B4-BE49-F238E27FC236}">
                <a16:creationId xmlns:a16="http://schemas.microsoft.com/office/drawing/2014/main" id="{5957EE63-B91C-5376-31B0-43950FAA7BA7}"/>
              </a:ext>
            </a:extLst>
          </p:cNvPr>
          <p:cNvSpPr/>
          <p:nvPr/>
        </p:nvSpPr>
        <p:spPr>
          <a:xfrm>
            <a:off x="7302500" y="48196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377" name="Image 5" descr="preencoded.png">
            <a:extLst>
              <a:ext uri="{FF2B5EF4-FFF2-40B4-BE49-F238E27FC236}">
                <a16:creationId xmlns:a16="http://schemas.microsoft.com/office/drawing/2014/main" id="{D3E4BA3B-8C83-091A-FBF1-5C61F4B27B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4900" y="4800600"/>
            <a:ext cx="114300" cy="114300"/>
          </a:xfrm>
          <a:prstGeom prst="rect">
            <a:avLst/>
          </a:prstGeom>
        </p:spPr>
      </p:pic>
      <p:sp>
        <p:nvSpPr>
          <p:cNvPr id="379" name="Text 82">
            <a:extLst>
              <a:ext uri="{FF2B5EF4-FFF2-40B4-BE49-F238E27FC236}">
                <a16:creationId xmlns:a16="http://schemas.microsoft.com/office/drawing/2014/main" id="{7993EEA1-DD1B-5F4A-3B82-7EC72D40D49C}"/>
              </a:ext>
            </a:extLst>
          </p:cNvPr>
          <p:cNvSpPr/>
          <p:nvPr/>
        </p:nvSpPr>
        <p:spPr>
          <a:xfrm>
            <a:off x="7620000" y="47752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 · Desacoplado del agua</a:t>
            </a:r>
            <a:endParaRPr lang="en-US" sz="1050" dirty="0"/>
          </a:p>
        </p:txBody>
      </p:sp>
      <p:sp>
        <p:nvSpPr>
          <p:cNvPr id="381" name="Shape 83">
            <a:extLst>
              <a:ext uri="{FF2B5EF4-FFF2-40B4-BE49-F238E27FC236}">
                <a16:creationId xmlns:a16="http://schemas.microsoft.com/office/drawing/2014/main" id="{1F8E53DB-AAAF-E0C7-BFE3-18BC592FB200}"/>
              </a:ext>
            </a:extLst>
          </p:cNvPr>
          <p:cNvSpPr/>
          <p:nvPr/>
        </p:nvSpPr>
        <p:spPr>
          <a:xfrm>
            <a:off x="11010595" y="47879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4EFEA"/>
          </a:solidFill>
          <a:ln w="12700">
            <a:noFill/>
            <a:prstDash val="solid"/>
          </a:ln>
        </p:spPr>
      </p:sp>
      <p:sp>
        <p:nvSpPr>
          <p:cNvPr id="383" name="Text 84">
            <a:extLst>
              <a:ext uri="{FF2B5EF4-FFF2-40B4-BE49-F238E27FC236}">
                <a16:creationId xmlns:a16="http://schemas.microsoft.com/office/drawing/2014/main" id="{B263BB90-A45C-FC82-5CF3-B61230F59AEC}"/>
              </a:ext>
            </a:extLst>
          </p:cNvPr>
          <p:cNvSpPr/>
          <p:nvPr/>
        </p:nvSpPr>
        <p:spPr>
          <a:xfrm>
            <a:off x="11010595" y="478790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7B67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0,0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5" name="Text 85">
            <a:extLst>
              <a:ext uri="{FF2B5EF4-FFF2-40B4-BE49-F238E27FC236}">
                <a16:creationId xmlns:a16="http://schemas.microsoft.com/office/drawing/2014/main" id="{6B785FA9-2CCC-7471-49A4-DA649BBFF943}"/>
              </a:ext>
            </a:extLst>
          </p:cNvPr>
          <p:cNvSpPr/>
          <p:nvPr/>
        </p:nvSpPr>
        <p:spPr>
          <a:xfrm>
            <a:off x="7454900" y="49530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minería, banca, educación, Estado</a:t>
            </a:r>
            <a:endParaRPr lang="en-US" sz="900" dirty="0"/>
          </a:p>
        </p:txBody>
      </p:sp>
      <p:sp>
        <p:nvSpPr>
          <p:cNvPr id="387" name="Shape 86">
            <a:extLst>
              <a:ext uri="{FF2B5EF4-FFF2-40B4-BE49-F238E27FC236}">
                <a16:creationId xmlns:a16="http://schemas.microsoft.com/office/drawing/2014/main" id="{257AC61F-1007-CCD4-831B-F93BB19A6FF2}"/>
              </a:ext>
            </a:extLst>
          </p:cNvPr>
          <p:cNvSpPr/>
          <p:nvPr/>
        </p:nvSpPr>
        <p:spPr>
          <a:xfrm>
            <a:off x="7302500" y="5518150"/>
            <a:ext cx="76200" cy="76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389" name="Image 6" descr="preencoded.png">
            <a:extLst>
              <a:ext uri="{FF2B5EF4-FFF2-40B4-BE49-F238E27FC236}">
                <a16:creationId xmlns:a16="http://schemas.microsoft.com/office/drawing/2014/main" id="{BC288792-94E1-88C1-7C0D-E4D672C92A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4900" y="5499100"/>
            <a:ext cx="114300" cy="114300"/>
          </a:xfrm>
          <a:prstGeom prst="rect">
            <a:avLst/>
          </a:prstGeom>
        </p:spPr>
      </p:pic>
      <p:sp>
        <p:nvSpPr>
          <p:cNvPr id="391" name="Text 87">
            <a:extLst>
              <a:ext uri="{FF2B5EF4-FFF2-40B4-BE49-F238E27FC236}">
                <a16:creationId xmlns:a16="http://schemas.microsoft.com/office/drawing/2014/main" id="{A9264EB9-4D4F-4913-43FA-97B205F51F36}"/>
              </a:ext>
            </a:extLst>
          </p:cNvPr>
          <p:cNvSpPr/>
          <p:nvPr/>
        </p:nvSpPr>
        <p:spPr>
          <a:xfrm>
            <a:off x="7620000" y="5473700"/>
            <a:ext cx="32127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 · Contracíclico</a:t>
            </a:r>
            <a:endParaRPr lang="en-US" sz="1050" dirty="0"/>
          </a:p>
        </p:txBody>
      </p:sp>
      <p:sp>
        <p:nvSpPr>
          <p:cNvPr id="393" name="Shape 88">
            <a:extLst>
              <a:ext uri="{FF2B5EF4-FFF2-40B4-BE49-F238E27FC236}">
                <a16:creationId xmlns:a16="http://schemas.microsoft.com/office/drawing/2014/main" id="{40144AE3-BB60-A409-B287-9AFFFFB4A77F}"/>
              </a:ext>
            </a:extLst>
          </p:cNvPr>
          <p:cNvSpPr/>
          <p:nvPr/>
        </p:nvSpPr>
        <p:spPr>
          <a:xfrm>
            <a:off x="11010595" y="5486400"/>
            <a:ext cx="406400" cy="139700"/>
          </a:xfrm>
          <a:prstGeom prst="roundRect">
            <a:avLst>
              <a:gd name="adj" fmla="val 130909"/>
            </a:avLst>
          </a:prstGeom>
          <a:solidFill>
            <a:srgbClr val="E6F0F5"/>
          </a:solidFill>
          <a:ln w="12700">
            <a:noFill/>
            <a:prstDash val="solid"/>
          </a:ln>
        </p:spPr>
      </p:sp>
      <p:sp>
        <p:nvSpPr>
          <p:cNvPr id="395" name="Text 89">
            <a:extLst>
              <a:ext uri="{FF2B5EF4-FFF2-40B4-BE49-F238E27FC236}">
                <a16:creationId xmlns:a16="http://schemas.microsoft.com/office/drawing/2014/main" id="{2C6E4AF9-F373-8FBF-C6ED-EB32381CD643}"/>
              </a:ext>
            </a:extLst>
          </p:cNvPr>
          <p:cNvSpPr/>
          <p:nvPr/>
        </p:nvSpPr>
        <p:spPr>
          <a:xfrm>
            <a:off x="10997895" y="5480050"/>
            <a:ext cx="406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6E8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−0,4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7" name="Text 90">
            <a:extLst>
              <a:ext uri="{FF2B5EF4-FFF2-40B4-BE49-F238E27FC236}">
                <a16:creationId xmlns:a16="http://schemas.microsoft.com/office/drawing/2014/main" id="{6A5A71F2-FD03-F235-5D3E-39CC5C1040A3}"/>
              </a:ext>
            </a:extLst>
          </p:cNvPr>
          <p:cNvSpPr/>
          <p:nvPr/>
        </p:nvSpPr>
        <p:spPr>
          <a:xfrm>
            <a:off x="7454900" y="5651500"/>
            <a:ext cx="4012895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construcción: la reconstrucción le sube la demanda</a:t>
            </a:r>
            <a:endParaRPr lang="en-US" sz="900" dirty="0"/>
          </a:p>
        </p:txBody>
      </p:sp>
      <p:sp>
        <p:nvSpPr>
          <p:cNvPr id="399" name="Text 91">
            <a:extLst>
              <a:ext uri="{FF2B5EF4-FFF2-40B4-BE49-F238E27FC236}">
                <a16:creationId xmlns:a16="http://schemas.microsoft.com/office/drawing/2014/main" id="{3A2F2297-071D-EFF3-ED8D-4C7EA177970D}"/>
              </a:ext>
            </a:extLst>
          </p:cNvPr>
          <p:cNvSpPr/>
          <p:nvPr/>
        </p:nvSpPr>
        <p:spPr>
          <a:xfrm>
            <a:off x="7264400" y="6083300"/>
            <a:ext cx="4177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98A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 BASE · Censo 2017, PEA por actividad económica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550094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A2016-54F4-02A0-21B1-F2617D95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4">
            <a:extLst>
              <a:ext uri="{FF2B5EF4-FFF2-40B4-BE49-F238E27FC236}">
                <a16:creationId xmlns:a16="http://schemas.microsoft.com/office/drawing/2014/main" id="{1AD5CBC4-8698-9874-01F8-BA633FCF580A}"/>
              </a:ext>
            </a:extLst>
          </p:cNvPr>
          <p:cNvSpPr/>
          <p:nvPr/>
        </p:nvSpPr>
        <p:spPr>
          <a:xfrm>
            <a:off x="392020" y="1152873"/>
            <a:ext cx="6899082" cy="5212415"/>
          </a:xfrm>
          <a:prstGeom prst="roundRect">
            <a:avLst>
              <a:gd name="adj" fmla="val 411"/>
            </a:avLst>
          </a:prstGeom>
          <a:solidFill>
            <a:srgbClr val="FFFFFF"/>
          </a:solidFill>
          <a:ln w="12700">
            <a:noFill/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C2C90D0-C38F-5104-AE3D-16D3B077F074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AF42FB-3AEA-1B70-73B9-E9DB13493155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41A67D-40C7-F704-90CA-B6F6DD79A374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618A204A-8F6F-62C1-2544-0DC4E3B17E07}"/>
              </a:ext>
            </a:extLst>
          </p:cNvPr>
          <p:cNvSpPr/>
          <p:nvPr/>
        </p:nvSpPr>
        <p:spPr>
          <a:xfrm>
            <a:off x="4668653" y="1714722"/>
            <a:ext cx="2082800" cy="2331720"/>
          </a:xfrm>
          <a:prstGeom prst="rect">
            <a:avLst/>
          </a:prstGeom>
          <a:solidFill>
            <a:srgbClr val="00B050">
              <a:alpha val="1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1E21A497-C821-A6D0-FDF5-CEE4F9C0DB8D}"/>
              </a:ext>
            </a:extLst>
          </p:cNvPr>
          <p:cNvSpPr/>
          <p:nvPr/>
        </p:nvSpPr>
        <p:spPr>
          <a:xfrm>
            <a:off x="1127893" y="1714722"/>
            <a:ext cx="3540760" cy="2331720"/>
          </a:xfrm>
          <a:prstGeom prst="rect">
            <a:avLst/>
          </a:prstGeom>
          <a:solidFill>
            <a:srgbClr val="FFC000">
              <a:alpha val="1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89C788AC-AE3C-8CA8-DD2D-C6D5BE5849C2}"/>
              </a:ext>
            </a:extLst>
          </p:cNvPr>
          <p:cNvSpPr/>
          <p:nvPr/>
        </p:nvSpPr>
        <p:spPr>
          <a:xfrm>
            <a:off x="1127893" y="4046442"/>
            <a:ext cx="3540760" cy="685800"/>
          </a:xfrm>
          <a:prstGeom prst="rect">
            <a:avLst/>
          </a:prstGeom>
          <a:solidFill>
            <a:srgbClr val="C0281C">
              <a:alpha val="10000"/>
            </a:srgbClr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4D89BBB5-1EC6-6012-0731-6679207EC1ED}"/>
              </a:ext>
            </a:extLst>
          </p:cNvPr>
          <p:cNvSpPr/>
          <p:nvPr/>
        </p:nvSpPr>
        <p:spPr>
          <a:xfrm>
            <a:off x="4668653" y="1714722"/>
            <a:ext cx="0" cy="3017520"/>
          </a:xfrm>
          <a:prstGeom prst="line">
            <a:avLst/>
          </a:prstGeom>
          <a:noFill/>
          <a:ln w="15875">
            <a:solidFill>
              <a:srgbClr val="5B6B7C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8A521774-A27D-8AD7-8BF1-E8ED081BBEAE}"/>
              </a:ext>
            </a:extLst>
          </p:cNvPr>
          <p:cNvSpPr/>
          <p:nvPr/>
        </p:nvSpPr>
        <p:spPr>
          <a:xfrm>
            <a:off x="1127893" y="4046442"/>
            <a:ext cx="5623560" cy="0"/>
          </a:xfrm>
          <a:prstGeom prst="line">
            <a:avLst/>
          </a:prstGeom>
          <a:noFill/>
          <a:ln w="15875">
            <a:solidFill>
              <a:srgbClr val="C9D6E3"/>
            </a:solidFill>
            <a:prstDash val="dash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5C66FFF8-5E4B-36C0-22D7-BE44699F4CED}"/>
              </a:ext>
            </a:extLst>
          </p:cNvPr>
          <p:cNvSpPr/>
          <p:nvPr/>
        </p:nvSpPr>
        <p:spPr>
          <a:xfrm>
            <a:off x="5196973" y="174215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b="1" dirty="0">
                <a:solidFill>
                  <a:srgbClr val="0B7A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RESILIENTE</a:t>
            </a:r>
            <a:endParaRPr lang="en-US" sz="11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7E2A81C4-21C6-C626-5DF9-09A66D66B87E}"/>
              </a:ext>
            </a:extLst>
          </p:cNvPr>
          <p:cNvSpPr/>
          <p:nvPr/>
        </p:nvSpPr>
        <p:spPr>
          <a:xfrm>
            <a:off x="1173613" y="174215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B06A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AFECTADA · recuperando</a:t>
            </a:r>
            <a:endParaRPr lang="en-US" sz="105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E43DA62C-1D02-9097-F387-02E952FD692F}"/>
              </a:ext>
            </a:extLst>
          </p:cNvPr>
          <p:cNvSpPr/>
          <p:nvPr/>
        </p:nvSpPr>
        <p:spPr>
          <a:xfrm>
            <a:off x="1173613" y="449449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b="1" dirty="0">
                <a:solidFill>
                  <a:srgbClr val="C0281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AFECTADA · agravándose</a:t>
            </a:r>
            <a:endParaRPr lang="en-US" sz="105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B83066E4-A1C7-9E11-6ADA-0781E753EC7A}"/>
              </a:ext>
            </a:extLst>
          </p:cNvPr>
          <p:cNvSpPr/>
          <p:nvPr/>
        </p:nvSpPr>
        <p:spPr>
          <a:xfrm>
            <a:off x="3329565" y="1934178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885956B1-E9C5-A3FF-53FA-727CD1D62FE1}"/>
              </a:ext>
            </a:extLst>
          </p:cNvPr>
          <p:cNvSpPr/>
          <p:nvPr/>
        </p:nvSpPr>
        <p:spPr>
          <a:xfrm>
            <a:off x="2145417" y="190217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Áncash</a:t>
            </a:r>
            <a:endParaRPr lang="en-US" sz="95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0168EA5-D912-22D1-D684-D74AD52FB034}"/>
              </a:ext>
            </a:extLst>
          </p:cNvPr>
          <p:cNvSpPr/>
          <p:nvPr/>
        </p:nvSpPr>
        <p:spPr>
          <a:xfrm>
            <a:off x="4784985" y="2041620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46226BF8-0FA1-4E31-6E7B-7C72C582DB76}"/>
              </a:ext>
            </a:extLst>
          </p:cNvPr>
          <p:cNvSpPr/>
          <p:nvPr/>
        </p:nvSpPr>
        <p:spPr>
          <a:xfrm>
            <a:off x="4945005" y="1991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Arequipa</a:t>
            </a:r>
            <a:endParaRPr lang="en-US" sz="95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7DB60433-2D5F-E533-B531-E85741DC7DA7}"/>
              </a:ext>
            </a:extLst>
          </p:cNvPr>
          <p:cNvSpPr/>
          <p:nvPr/>
        </p:nvSpPr>
        <p:spPr>
          <a:xfrm>
            <a:off x="3556133" y="3968718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A85D0F2D-206E-371B-F4B9-C5C605DAE5E9}"/>
              </a:ext>
            </a:extLst>
          </p:cNvPr>
          <p:cNvSpPr/>
          <p:nvPr/>
        </p:nvSpPr>
        <p:spPr>
          <a:xfrm>
            <a:off x="2353697" y="391842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Cajamarca</a:t>
            </a:r>
            <a:endParaRPr lang="en-US" sz="950" dirty="0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01AF3D38-C4B0-7BB3-B6F8-F342E9DEAC74}"/>
              </a:ext>
            </a:extLst>
          </p:cNvPr>
          <p:cNvSpPr/>
          <p:nvPr/>
        </p:nvSpPr>
        <p:spPr>
          <a:xfrm>
            <a:off x="3535305" y="2151348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1364CC1-8113-CF53-15D8-462CBE81D121}"/>
              </a:ext>
            </a:extLst>
          </p:cNvPr>
          <p:cNvSpPr/>
          <p:nvPr/>
        </p:nvSpPr>
        <p:spPr>
          <a:xfrm>
            <a:off x="2332869" y="21010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Cusco</a:t>
            </a:r>
            <a:endParaRPr lang="en-US" sz="950" dirty="0"/>
          </a:p>
        </p:txBody>
      </p:sp>
      <p:sp>
        <p:nvSpPr>
          <p:cNvPr id="54" name="Shape 19">
            <a:extLst>
              <a:ext uri="{FF2B5EF4-FFF2-40B4-BE49-F238E27FC236}">
                <a16:creationId xmlns:a16="http://schemas.microsoft.com/office/drawing/2014/main" id="{69F063D0-57BB-AEC2-DCCA-82BE0422FC00}"/>
              </a:ext>
            </a:extLst>
          </p:cNvPr>
          <p:cNvSpPr/>
          <p:nvPr/>
        </p:nvSpPr>
        <p:spPr>
          <a:xfrm>
            <a:off x="6141345" y="1879314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F6D3F079-243A-2DD0-7EF5-E18468823FA7}"/>
              </a:ext>
            </a:extLst>
          </p:cNvPr>
          <p:cNvSpPr/>
          <p:nvPr/>
        </p:nvSpPr>
        <p:spPr>
          <a:xfrm>
            <a:off x="6319653" y="184731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Ica</a:t>
            </a:r>
            <a:endParaRPr lang="en-US" sz="95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0E1989FF-4D6F-8B4F-B121-5A1951F87096}"/>
              </a:ext>
            </a:extLst>
          </p:cNvPr>
          <p:cNvSpPr/>
          <p:nvPr/>
        </p:nvSpPr>
        <p:spPr>
          <a:xfrm>
            <a:off x="3077089" y="2727420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D3616899-8D0B-912D-2A20-BDA3CD6D80F5}"/>
              </a:ext>
            </a:extLst>
          </p:cNvPr>
          <p:cNvSpPr/>
          <p:nvPr/>
        </p:nvSpPr>
        <p:spPr>
          <a:xfrm>
            <a:off x="1874653" y="2677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Junín</a:t>
            </a:r>
            <a:endParaRPr lang="en-US" sz="950" dirty="0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AFD4F35C-D204-598F-71E7-F8C4A2CBE1AA}"/>
              </a:ext>
            </a:extLst>
          </p:cNvPr>
          <p:cNvSpPr/>
          <p:nvPr/>
        </p:nvSpPr>
        <p:spPr>
          <a:xfrm>
            <a:off x="3725297" y="2743422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F898E34D-905D-64AE-48E0-998D7FE20CFE}"/>
              </a:ext>
            </a:extLst>
          </p:cNvPr>
          <p:cNvSpPr/>
          <p:nvPr/>
        </p:nvSpPr>
        <p:spPr>
          <a:xfrm>
            <a:off x="2541149" y="271141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Libertad</a:t>
            </a:r>
            <a:endParaRPr lang="en-US" sz="950" dirty="0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B740D428-FD4F-54CC-13FE-0C2A22BD2BC0}"/>
              </a:ext>
            </a:extLst>
          </p:cNvPr>
          <p:cNvSpPr/>
          <p:nvPr/>
        </p:nvSpPr>
        <p:spPr>
          <a:xfrm>
            <a:off x="1538357" y="4012152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9F298761-41F2-F92E-3B97-4452A0F36276}"/>
              </a:ext>
            </a:extLst>
          </p:cNvPr>
          <p:cNvSpPr/>
          <p:nvPr/>
        </p:nvSpPr>
        <p:spPr>
          <a:xfrm>
            <a:off x="354209" y="39801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Lambayeque</a:t>
            </a:r>
            <a:endParaRPr lang="en-US" sz="950" dirty="0"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FC5BF298-5F60-2EE4-8976-68DEB1778F9C}"/>
              </a:ext>
            </a:extLst>
          </p:cNvPr>
          <p:cNvSpPr/>
          <p:nvPr/>
        </p:nvSpPr>
        <p:spPr>
          <a:xfrm>
            <a:off x="5266569" y="2825718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A1556FFD-878C-FE08-0C04-C41D76497833}"/>
              </a:ext>
            </a:extLst>
          </p:cNvPr>
          <p:cNvSpPr/>
          <p:nvPr/>
        </p:nvSpPr>
        <p:spPr>
          <a:xfrm>
            <a:off x="5444877" y="279371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Lima</a:t>
            </a:r>
            <a:endParaRPr lang="en-US" sz="950" dirty="0"/>
          </a:p>
        </p:txBody>
      </p:sp>
      <p:sp>
        <p:nvSpPr>
          <p:cNvPr id="64" name="Shape 29">
            <a:extLst>
              <a:ext uri="{FF2B5EF4-FFF2-40B4-BE49-F238E27FC236}">
                <a16:creationId xmlns:a16="http://schemas.microsoft.com/office/drawing/2014/main" id="{B9758E1B-9669-9B76-574B-45504810F0F0}"/>
              </a:ext>
            </a:extLst>
          </p:cNvPr>
          <p:cNvSpPr/>
          <p:nvPr/>
        </p:nvSpPr>
        <p:spPr>
          <a:xfrm>
            <a:off x="3306197" y="3433794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A642323E-1F29-3E47-9245-968B44A0C9A4}"/>
              </a:ext>
            </a:extLst>
          </p:cNvPr>
          <p:cNvSpPr/>
          <p:nvPr/>
        </p:nvSpPr>
        <p:spPr>
          <a:xfrm>
            <a:off x="2103761" y="338350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Loreto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7777CCCA-6943-E25A-12BE-E185E894F8B6}"/>
              </a:ext>
            </a:extLst>
          </p:cNvPr>
          <p:cNvSpPr/>
          <p:nvPr/>
        </p:nvSpPr>
        <p:spPr>
          <a:xfrm>
            <a:off x="4850009" y="2715990"/>
            <a:ext cx="137160" cy="137160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1C96EBD-76D9-86C7-788E-F4DC884FE603}"/>
              </a:ext>
            </a:extLst>
          </p:cNvPr>
          <p:cNvSpPr/>
          <p:nvPr/>
        </p:nvSpPr>
        <p:spPr>
          <a:xfrm>
            <a:off x="5028317" y="268398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b="1" dirty="0">
                <a:solidFill>
                  <a:srgbClr val="00206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Piura</a:t>
            </a:r>
            <a:endParaRPr lang="en-US" sz="950" dirty="0"/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EC5E1CAC-868C-4E63-FCF1-B2A0DF253995}"/>
              </a:ext>
            </a:extLst>
          </p:cNvPr>
          <p:cNvSpPr/>
          <p:nvPr/>
        </p:nvSpPr>
        <p:spPr>
          <a:xfrm>
            <a:off x="4680845" y="2439384"/>
            <a:ext cx="100584" cy="100584"/>
          </a:xfrm>
          <a:prstGeom prst="ellipse">
            <a:avLst/>
          </a:prstGeom>
          <a:solidFill>
            <a:srgbClr val="8AA0B4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PE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59A63287-98C3-99E5-39AF-60ADD7210803}"/>
              </a:ext>
            </a:extLst>
          </p:cNvPr>
          <p:cNvSpPr/>
          <p:nvPr/>
        </p:nvSpPr>
        <p:spPr>
          <a:xfrm>
            <a:off x="4840865" y="23890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Puno</a:t>
            </a:r>
            <a:endParaRPr lang="en-US" sz="950" dirty="0"/>
          </a:p>
        </p:txBody>
      </p:sp>
      <p:sp>
        <p:nvSpPr>
          <p:cNvPr id="78" name="Text 3">
            <a:extLst>
              <a:ext uri="{FF2B5EF4-FFF2-40B4-BE49-F238E27FC236}">
                <a16:creationId xmlns:a16="http://schemas.microsoft.com/office/drawing/2014/main" id="{94E3FA16-D42F-A72F-CBEE-1040B940978F}"/>
              </a:ext>
            </a:extLst>
          </p:cNvPr>
          <p:cNvSpPr/>
          <p:nvPr/>
        </p:nvSpPr>
        <p:spPr>
          <a:xfrm>
            <a:off x="609600" y="483095"/>
            <a:ext cx="1028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3600"/>
              </a:lnSpc>
              <a:buNone/>
            </a:pPr>
            <a:r>
              <a:rPr lang="es-MX" sz="2700" b="1" dirty="0">
                <a:solidFill>
                  <a:srgbClr val="00B050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IBK+  </a:t>
            </a:r>
            <a:r>
              <a:rPr lang="es-MX" sz="27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Recuperación esperada por región </a:t>
            </a:r>
            <a:endParaRPr lang="en-US" sz="2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30550A6A-C225-B69B-F37B-F1A14C3B6E96}"/>
              </a:ext>
            </a:extLst>
          </p:cNvPr>
          <p:cNvSpPr/>
          <p:nvPr/>
        </p:nvSpPr>
        <p:spPr>
          <a:xfrm>
            <a:off x="566928" y="1264868"/>
            <a:ext cx="542909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DÓNDE ESTÁ CADA DEPARTAMENTO Y HACIA DÓNDE VA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86CB2BFD-82FC-765D-996E-511E3AE43A1C}"/>
              </a:ext>
            </a:extLst>
          </p:cNvPr>
          <p:cNvSpPr/>
          <p:nvPr/>
        </p:nvSpPr>
        <p:spPr>
          <a:xfrm>
            <a:off x="462413" y="1742154"/>
            <a:ext cx="7112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▴  mejora</a:t>
            </a:r>
            <a:endParaRPr lang="en-US" sz="95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068CF66B-3ACB-042F-B220-6C41B5F9526C}"/>
              </a:ext>
            </a:extLst>
          </p:cNvPr>
          <p:cNvSpPr/>
          <p:nvPr/>
        </p:nvSpPr>
        <p:spPr>
          <a:xfrm>
            <a:off x="462414" y="4526502"/>
            <a:ext cx="709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▾  se deteriora</a:t>
            </a:r>
            <a:endParaRPr lang="en-US" sz="950" dirty="0"/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B84BAC89-635B-EEA0-3C14-F9D13BE2BCE0}"/>
              </a:ext>
            </a:extLst>
          </p:cNvPr>
          <p:cNvSpPr/>
          <p:nvPr/>
        </p:nvSpPr>
        <p:spPr>
          <a:xfrm>
            <a:off x="8000797" y="279400"/>
            <a:ext cx="358129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03 · RECUPERACIÓN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Shape 51">
            <a:extLst>
              <a:ext uri="{FF2B5EF4-FFF2-40B4-BE49-F238E27FC236}">
                <a16:creationId xmlns:a16="http://schemas.microsoft.com/office/drawing/2014/main" id="{DE531C74-92F7-7477-AA6C-606697A5ED38}"/>
              </a:ext>
            </a:extLst>
          </p:cNvPr>
          <p:cNvSpPr/>
          <p:nvPr/>
        </p:nvSpPr>
        <p:spPr>
          <a:xfrm>
            <a:off x="7486247" y="1353768"/>
            <a:ext cx="3581298" cy="1422400"/>
          </a:xfrm>
          <a:prstGeom prst="roundRect">
            <a:avLst>
              <a:gd name="adj" fmla="val 1929"/>
            </a:avLst>
          </a:prstGeom>
          <a:solidFill>
            <a:srgbClr val="F8FAFB"/>
          </a:solidFill>
          <a:ln w="12700">
            <a:solidFill>
              <a:srgbClr val="E3E8EC"/>
            </a:solidFill>
            <a:prstDash val="solid"/>
          </a:ln>
        </p:spPr>
      </p:sp>
      <p:pic>
        <p:nvPicPr>
          <p:cNvPr id="104" name="Image 0" descr="preencoded.png">
            <a:extLst>
              <a:ext uri="{FF2B5EF4-FFF2-40B4-BE49-F238E27FC236}">
                <a16:creationId xmlns:a16="http://schemas.microsoft.com/office/drawing/2014/main" id="{52449529-29C6-4F43-C3E8-588641213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647" y="1506168"/>
            <a:ext cx="139700" cy="139700"/>
          </a:xfrm>
          <a:prstGeom prst="rect">
            <a:avLst/>
          </a:prstGeom>
        </p:spPr>
      </p:pic>
      <p:sp>
        <p:nvSpPr>
          <p:cNvPr id="106" name="Text 52">
            <a:extLst>
              <a:ext uri="{FF2B5EF4-FFF2-40B4-BE49-F238E27FC236}">
                <a16:creationId xmlns:a16="http://schemas.microsoft.com/office/drawing/2014/main" id="{E3475CED-ED67-C279-7ED4-D7B7654D7670}"/>
              </a:ext>
            </a:extLst>
          </p:cNvPr>
          <p:cNvSpPr/>
          <p:nvPr/>
        </p:nvSpPr>
        <p:spPr>
          <a:xfrm>
            <a:off x="7841847" y="1506168"/>
            <a:ext cx="30732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Qué mide</a:t>
            </a:r>
            <a:endParaRPr lang="en-US" sz="1250" dirty="0"/>
          </a:p>
        </p:txBody>
      </p:sp>
      <p:sp>
        <p:nvSpPr>
          <p:cNvPr id="108" name="Shape 53">
            <a:extLst>
              <a:ext uri="{FF2B5EF4-FFF2-40B4-BE49-F238E27FC236}">
                <a16:creationId xmlns:a16="http://schemas.microsoft.com/office/drawing/2014/main" id="{20DA8BF9-3B2C-B83A-6B43-8F01A7AB0E67}"/>
              </a:ext>
            </a:extLst>
          </p:cNvPr>
          <p:cNvSpPr/>
          <p:nvPr/>
        </p:nvSpPr>
        <p:spPr>
          <a:xfrm>
            <a:off x="7638647" y="1760168"/>
            <a:ext cx="482600" cy="215900"/>
          </a:xfrm>
          <a:prstGeom prst="roundRect">
            <a:avLst>
              <a:gd name="adj" fmla="val 67765"/>
            </a:avLst>
          </a:prstGeom>
          <a:solidFill>
            <a:srgbClr val="1620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54">
            <a:extLst>
              <a:ext uri="{FF2B5EF4-FFF2-40B4-BE49-F238E27FC236}">
                <a16:creationId xmlns:a16="http://schemas.microsoft.com/office/drawing/2014/main" id="{A4A2D83F-5654-70E8-DF70-BBCE53256569}"/>
              </a:ext>
            </a:extLst>
          </p:cNvPr>
          <p:cNvSpPr/>
          <p:nvPr/>
        </p:nvSpPr>
        <p:spPr>
          <a:xfrm>
            <a:off x="7669714" y="1760168"/>
            <a:ext cx="4826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IBK+</a:t>
            </a:r>
            <a:endParaRPr lang="en-US" sz="1400" dirty="0"/>
          </a:p>
        </p:txBody>
      </p:sp>
      <p:sp>
        <p:nvSpPr>
          <p:cNvPr id="112" name="Text 55">
            <a:extLst>
              <a:ext uri="{FF2B5EF4-FFF2-40B4-BE49-F238E27FC236}">
                <a16:creationId xmlns:a16="http://schemas.microsoft.com/office/drawing/2014/main" id="{6A65EA0F-0595-8967-E809-1846DF4D76AE}"/>
              </a:ext>
            </a:extLst>
          </p:cNvPr>
          <p:cNvSpPr/>
          <p:nvPr/>
        </p:nvSpPr>
        <p:spPr>
          <a:xfrm>
            <a:off x="7638647" y="2052268"/>
            <a:ext cx="327649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Consumo real, ticket a ticket, en los comercios del </a:t>
            </a:r>
            <a:r>
              <a:rPr lang="en-US" sz="1000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</a:t>
            </a:r>
            <a:r>
              <a:rPr lang="en-US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000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Intercorp</a:t>
            </a:r>
            <a:r>
              <a:rPr lang="en-US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114" name="Text 54">
            <a:extLst>
              <a:ext uri="{FF2B5EF4-FFF2-40B4-BE49-F238E27FC236}">
                <a16:creationId xmlns:a16="http://schemas.microsoft.com/office/drawing/2014/main" id="{49266008-8D15-FA64-B606-724FEA2B4C20}"/>
              </a:ext>
            </a:extLst>
          </p:cNvPr>
          <p:cNvSpPr/>
          <p:nvPr/>
        </p:nvSpPr>
        <p:spPr>
          <a:xfrm>
            <a:off x="681228" y="5445474"/>
            <a:ext cx="177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CUADRANTE</a:t>
            </a:r>
            <a:endParaRPr lang="en-US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55">
            <a:extLst>
              <a:ext uri="{FF2B5EF4-FFF2-40B4-BE49-F238E27FC236}">
                <a16:creationId xmlns:a16="http://schemas.microsoft.com/office/drawing/2014/main" id="{D4719F50-0289-2CE0-DC0B-51F1770B8C57}"/>
              </a:ext>
            </a:extLst>
          </p:cNvPr>
          <p:cNvSpPr/>
          <p:nvPr/>
        </p:nvSpPr>
        <p:spPr>
          <a:xfrm>
            <a:off x="2738628" y="5445474"/>
            <a:ext cx="800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RECUPERACIÓN</a:t>
            </a:r>
            <a:endParaRPr lang="en-US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56">
            <a:extLst>
              <a:ext uri="{FF2B5EF4-FFF2-40B4-BE49-F238E27FC236}">
                <a16:creationId xmlns:a16="http://schemas.microsoft.com/office/drawing/2014/main" id="{44261005-EDDE-FD9E-97A8-719AE3312974}"/>
              </a:ext>
            </a:extLst>
          </p:cNvPr>
          <p:cNvSpPr/>
          <p:nvPr/>
        </p:nvSpPr>
        <p:spPr>
          <a:xfrm>
            <a:off x="3754628" y="5445474"/>
            <a:ext cx="2032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kern="0" spc="12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EL ESTRÉS APLICADO</a:t>
            </a:r>
            <a:endParaRPr lang="en-US" sz="7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Shape 57">
            <a:extLst>
              <a:ext uri="{FF2B5EF4-FFF2-40B4-BE49-F238E27FC236}">
                <a16:creationId xmlns:a16="http://schemas.microsoft.com/office/drawing/2014/main" id="{80F8AC42-5B07-C58F-E5DA-26B2CCC6A2AD}"/>
              </a:ext>
            </a:extLst>
          </p:cNvPr>
          <p:cNvSpPr/>
          <p:nvPr/>
        </p:nvSpPr>
        <p:spPr>
          <a:xfrm>
            <a:off x="566928" y="5635974"/>
            <a:ext cx="82550" cy="82550"/>
          </a:xfrm>
          <a:prstGeom prst="ellipse">
            <a:avLst/>
          </a:prstGeom>
          <a:solidFill>
            <a:srgbClr val="00B050"/>
          </a:solidFill>
          <a:ln w="12700">
            <a:noFill/>
            <a:prstDash val="solid"/>
          </a:ln>
        </p:spPr>
      </p:sp>
      <p:sp>
        <p:nvSpPr>
          <p:cNvPr id="122" name="Text 58">
            <a:extLst>
              <a:ext uri="{FF2B5EF4-FFF2-40B4-BE49-F238E27FC236}">
                <a16:creationId xmlns:a16="http://schemas.microsoft.com/office/drawing/2014/main" id="{AD6AA1EA-C036-29EB-C5B3-4D01D1C764DD}"/>
              </a:ext>
            </a:extLst>
          </p:cNvPr>
          <p:cNvSpPr/>
          <p:nvPr/>
        </p:nvSpPr>
        <p:spPr>
          <a:xfrm>
            <a:off x="681228" y="5597874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Resiliente</a:t>
            </a:r>
            <a:endParaRPr lang="en-US" sz="1050" dirty="0"/>
          </a:p>
        </p:txBody>
      </p:sp>
      <p:sp>
        <p:nvSpPr>
          <p:cNvPr id="124" name="Text 59">
            <a:extLst>
              <a:ext uri="{FF2B5EF4-FFF2-40B4-BE49-F238E27FC236}">
                <a16:creationId xmlns:a16="http://schemas.microsoft.com/office/drawing/2014/main" id="{9D130BEC-256B-7932-B78F-13DE7125125B}"/>
              </a:ext>
            </a:extLst>
          </p:cNvPr>
          <p:cNvSpPr/>
          <p:nvPr/>
        </p:nvSpPr>
        <p:spPr>
          <a:xfrm>
            <a:off x="2548128" y="55978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26" name="Text 60">
            <a:extLst>
              <a:ext uri="{FF2B5EF4-FFF2-40B4-BE49-F238E27FC236}">
                <a16:creationId xmlns:a16="http://schemas.microsoft.com/office/drawing/2014/main" id="{DBCEFA06-4C30-D462-1261-60D6A3C2B5D0}"/>
              </a:ext>
            </a:extLst>
          </p:cNvPr>
          <p:cNvSpPr/>
          <p:nvPr/>
        </p:nvSpPr>
        <p:spPr>
          <a:xfrm>
            <a:off x="2738628" y="5597874"/>
            <a:ext cx="88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0B05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Rápida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128" name="Text 61">
            <a:extLst>
              <a:ext uri="{FF2B5EF4-FFF2-40B4-BE49-F238E27FC236}">
                <a16:creationId xmlns:a16="http://schemas.microsoft.com/office/drawing/2014/main" id="{611C48F4-268B-4553-F765-3CF369749F98}"/>
              </a:ext>
            </a:extLst>
          </p:cNvPr>
          <p:cNvSpPr/>
          <p:nvPr/>
        </p:nvSpPr>
        <p:spPr>
          <a:xfrm>
            <a:off x="3589528" y="55978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30" name="Text 62">
            <a:extLst>
              <a:ext uri="{FF2B5EF4-FFF2-40B4-BE49-F238E27FC236}">
                <a16:creationId xmlns:a16="http://schemas.microsoft.com/office/drawing/2014/main" id="{A059305D-B6CF-E664-DF93-06AA56582979}"/>
              </a:ext>
            </a:extLst>
          </p:cNvPr>
          <p:cNvSpPr/>
          <p:nvPr/>
        </p:nvSpPr>
        <p:spPr>
          <a:xfrm>
            <a:off x="3754628" y="5597874"/>
            <a:ext cx="372089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menor y se retira pronto</a:t>
            </a:r>
            <a:endParaRPr lang="en-US" sz="1050" dirty="0"/>
          </a:p>
        </p:txBody>
      </p:sp>
      <p:sp>
        <p:nvSpPr>
          <p:cNvPr id="132" name="Shape 63">
            <a:extLst>
              <a:ext uri="{FF2B5EF4-FFF2-40B4-BE49-F238E27FC236}">
                <a16:creationId xmlns:a16="http://schemas.microsoft.com/office/drawing/2014/main" id="{B6B608CA-368B-289B-747C-E23545EC1617}"/>
              </a:ext>
            </a:extLst>
          </p:cNvPr>
          <p:cNvSpPr/>
          <p:nvPr/>
        </p:nvSpPr>
        <p:spPr>
          <a:xfrm>
            <a:off x="566928" y="5826474"/>
            <a:ext cx="82550" cy="82550"/>
          </a:xfrm>
          <a:prstGeom prst="ellipse">
            <a:avLst/>
          </a:prstGeom>
          <a:solidFill>
            <a:srgbClr val="FFC000"/>
          </a:solidFill>
          <a:ln w="12700">
            <a:noFill/>
            <a:prstDash val="solid"/>
          </a:ln>
        </p:spPr>
      </p:sp>
      <p:sp>
        <p:nvSpPr>
          <p:cNvPr id="134" name="Text 64">
            <a:extLst>
              <a:ext uri="{FF2B5EF4-FFF2-40B4-BE49-F238E27FC236}">
                <a16:creationId xmlns:a16="http://schemas.microsoft.com/office/drawing/2014/main" id="{EC685BDB-E7A4-7563-6761-7028C4513C0F}"/>
              </a:ext>
            </a:extLst>
          </p:cNvPr>
          <p:cNvSpPr/>
          <p:nvPr/>
        </p:nvSpPr>
        <p:spPr>
          <a:xfrm>
            <a:off x="681228" y="5788374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Afectada, recuperando</a:t>
            </a:r>
            <a:endParaRPr lang="en-US" sz="1050" dirty="0"/>
          </a:p>
        </p:txBody>
      </p:sp>
      <p:sp>
        <p:nvSpPr>
          <p:cNvPr id="136" name="Text 65">
            <a:extLst>
              <a:ext uri="{FF2B5EF4-FFF2-40B4-BE49-F238E27FC236}">
                <a16:creationId xmlns:a16="http://schemas.microsoft.com/office/drawing/2014/main" id="{456997DA-CCA4-6E60-7CFF-20CD9B220D21}"/>
              </a:ext>
            </a:extLst>
          </p:cNvPr>
          <p:cNvSpPr/>
          <p:nvPr/>
        </p:nvSpPr>
        <p:spPr>
          <a:xfrm>
            <a:off x="2548128" y="57883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38" name="Text 66">
            <a:extLst>
              <a:ext uri="{FF2B5EF4-FFF2-40B4-BE49-F238E27FC236}">
                <a16:creationId xmlns:a16="http://schemas.microsoft.com/office/drawing/2014/main" id="{927EBAF9-5C2A-0570-F1EB-3B66022A8AF6}"/>
              </a:ext>
            </a:extLst>
          </p:cNvPr>
          <p:cNvSpPr/>
          <p:nvPr/>
        </p:nvSpPr>
        <p:spPr>
          <a:xfrm>
            <a:off x="2738628" y="5788374"/>
            <a:ext cx="88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C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Media</a:t>
            </a:r>
            <a:endParaRPr lang="en-US" sz="1050" dirty="0">
              <a:solidFill>
                <a:srgbClr val="FFC000"/>
              </a:solidFill>
            </a:endParaRPr>
          </a:p>
        </p:txBody>
      </p:sp>
      <p:sp>
        <p:nvSpPr>
          <p:cNvPr id="140" name="Text 67">
            <a:extLst>
              <a:ext uri="{FF2B5EF4-FFF2-40B4-BE49-F238E27FC236}">
                <a16:creationId xmlns:a16="http://schemas.microsoft.com/office/drawing/2014/main" id="{7DACF65B-4099-B38D-3C57-868A2F733C48}"/>
              </a:ext>
            </a:extLst>
          </p:cNvPr>
          <p:cNvSpPr/>
          <p:nvPr/>
        </p:nvSpPr>
        <p:spPr>
          <a:xfrm>
            <a:off x="3589528" y="57883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42" name="Text 68">
            <a:extLst>
              <a:ext uri="{FF2B5EF4-FFF2-40B4-BE49-F238E27FC236}">
                <a16:creationId xmlns:a16="http://schemas.microsoft.com/office/drawing/2014/main" id="{FD1CC7ED-FEFE-B6D5-3AAE-C9CAB411A84B}"/>
              </a:ext>
            </a:extLst>
          </p:cNvPr>
          <p:cNvSpPr/>
          <p:nvPr/>
        </p:nvSpPr>
        <p:spPr>
          <a:xfrm>
            <a:off x="3754628" y="5788374"/>
            <a:ext cx="372089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moderado, decae mes a mes</a:t>
            </a:r>
            <a:endParaRPr lang="en-US" sz="1050" dirty="0"/>
          </a:p>
        </p:txBody>
      </p:sp>
      <p:sp>
        <p:nvSpPr>
          <p:cNvPr id="144" name="Shape 69">
            <a:extLst>
              <a:ext uri="{FF2B5EF4-FFF2-40B4-BE49-F238E27FC236}">
                <a16:creationId xmlns:a16="http://schemas.microsoft.com/office/drawing/2014/main" id="{BD5EBD6D-1663-9DAB-58C3-F6A136442996}"/>
              </a:ext>
            </a:extLst>
          </p:cNvPr>
          <p:cNvSpPr/>
          <p:nvPr/>
        </p:nvSpPr>
        <p:spPr>
          <a:xfrm>
            <a:off x="566928" y="6016974"/>
            <a:ext cx="82550" cy="82550"/>
          </a:xfrm>
          <a:prstGeom prst="ellipse">
            <a:avLst/>
          </a:prstGeom>
          <a:solidFill>
            <a:srgbClr val="FF0000"/>
          </a:solidFill>
          <a:ln w="12700">
            <a:noFill/>
            <a:prstDash val="solid"/>
          </a:ln>
        </p:spPr>
      </p:sp>
      <p:sp>
        <p:nvSpPr>
          <p:cNvPr id="146" name="Text 70">
            <a:extLst>
              <a:ext uri="{FF2B5EF4-FFF2-40B4-BE49-F238E27FC236}">
                <a16:creationId xmlns:a16="http://schemas.microsoft.com/office/drawing/2014/main" id="{2D2AE3A3-948C-BC40-410C-FE22EEF92114}"/>
              </a:ext>
            </a:extLst>
          </p:cNvPr>
          <p:cNvSpPr/>
          <p:nvPr/>
        </p:nvSpPr>
        <p:spPr>
          <a:xfrm>
            <a:off x="681228" y="5978874"/>
            <a:ext cx="1905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6202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Afectada, agravándose</a:t>
            </a:r>
            <a:endParaRPr lang="en-US" sz="1050" dirty="0"/>
          </a:p>
        </p:txBody>
      </p:sp>
      <p:sp>
        <p:nvSpPr>
          <p:cNvPr id="148" name="Text 71">
            <a:extLst>
              <a:ext uri="{FF2B5EF4-FFF2-40B4-BE49-F238E27FC236}">
                <a16:creationId xmlns:a16="http://schemas.microsoft.com/office/drawing/2014/main" id="{24DCC050-966B-5DB0-332D-D04A1F8279B5}"/>
              </a:ext>
            </a:extLst>
          </p:cNvPr>
          <p:cNvSpPr/>
          <p:nvPr/>
        </p:nvSpPr>
        <p:spPr>
          <a:xfrm>
            <a:off x="2548128" y="59788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50" name="Text 72">
            <a:extLst>
              <a:ext uri="{FF2B5EF4-FFF2-40B4-BE49-F238E27FC236}">
                <a16:creationId xmlns:a16="http://schemas.microsoft.com/office/drawing/2014/main" id="{D34A707A-7949-8986-71D4-DC3B4744EE97}"/>
              </a:ext>
            </a:extLst>
          </p:cNvPr>
          <p:cNvSpPr/>
          <p:nvPr/>
        </p:nvSpPr>
        <p:spPr>
          <a:xfrm>
            <a:off x="2738628" y="5978874"/>
            <a:ext cx="8890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Lenta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52" name="Text 73">
            <a:extLst>
              <a:ext uri="{FF2B5EF4-FFF2-40B4-BE49-F238E27FC236}">
                <a16:creationId xmlns:a16="http://schemas.microsoft.com/office/drawing/2014/main" id="{799D5325-CCB9-8004-A959-7101D3F7DD36}"/>
              </a:ext>
            </a:extLst>
          </p:cNvPr>
          <p:cNvSpPr/>
          <p:nvPr/>
        </p:nvSpPr>
        <p:spPr>
          <a:xfrm>
            <a:off x="3589528" y="5978874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98A3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000" dirty="0"/>
          </a:p>
        </p:txBody>
      </p:sp>
      <p:sp>
        <p:nvSpPr>
          <p:cNvPr id="154" name="Text 74">
            <a:extLst>
              <a:ext uri="{FF2B5EF4-FFF2-40B4-BE49-F238E27FC236}">
                <a16:creationId xmlns:a16="http://schemas.microsoft.com/office/drawing/2014/main" id="{C58E8930-BF51-DF87-61FB-530F39FEB432}"/>
              </a:ext>
            </a:extLst>
          </p:cNvPr>
          <p:cNvSpPr/>
          <p:nvPr/>
        </p:nvSpPr>
        <p:spPr>
          <a:xfrm>
            <a:off x="3754628" y="5978874"/>
            <a:ext cx="3720897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pleno y se sostiene</a:t>
            </a:r>
            <a:endParaRPr lang="en-US" sz="1050" dirty="0"/>
          </a:p>
        </p:txBody>
      </p:sp>
      <p:sp>
        <p:nvSpPr>
          <p:cNvPr id="158" name="Shape 53">
            <a:extLst>
              <a:ext uri="{FF2B5EF4-FFF2-40B4-BE49-F238E27FC236}">
                <a16:creationId xmlns:a16="http://schemas.microsoft.com/office/drawing/2014/main" id="{AF46010C-E8CE-0D1E-60E8-2763EC30DCF1}"/>
              </a:ext>
            </a:extLst>
          </p:cNvPr>
          <p:cNvSpPr/>
          <p:nvPr/>
        </p:nvSpPr>
        <p:spPr>
          <a:xfrm>
            <a:off x="389109" y="5270747"/>
            <a:ext cx="6901994" cy="0"/>
          </a:xfrm>
          <a:prstGeom prst="line">
            <a:avLst/>
          </a:prstGeom>
          <a:noFill/>
          <a:ln w="12700">
            <a:solidFill>
              <a:srgbClr val="E3E8EC"/>
            </a:solidFill>
            <a:prstDash val="solid"/>
          </a:ln>
        </p:spPr>
      </p:sp>
      <p:sp>
        <p:nvSpPr>
          <p:cNvPr id="160" name="Text 35">
            <a:extLst>
              <a:ext uri="{FF2B5EF4-FFF2-40B4-BE49-F238E27FC236}">
                <a16:creationId xmlns:a16="http://schemas.microsoft.com/office/drawing/2014/main" id="{D17CAE8D-7FF5-7453-F6BB-22A14E0C665A}"/>
              </a:ext>
            </a:extLst>
          </p:cNvPr>
          <p:cNvSpPr/>
          <p:nvPr/>
        </p:nvSpPr>
        <p:spPr>
          <a:xfrm>
            <a:off x="2228850" y="4828635"/>
            <a:ext cx="4728971" cy="18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bajo su normal  ◄  </a:t>
            </a:r>
            <a:r>
              <a:rPr lang="en-US" sz="950" dirty="0" err="1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desvío</a:t>
            </a:r>
            <a:r>
              <a:rPr lang="en-US" sz="950" dirty="0">
                <a:solidFill>
                  <a:srgbClr val="5B6B7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►  sobre su normal</a:t>
            </a:r>
            <a:endParaRPr lang="en-US" sz="950" dirty="0"/>
          </a:p>
        </p:txBody>
      </p:sp>
      <p:sp>
        <p:nvSpPr>
          <p:cNvPr id="162" name="Shape 56">
            <a:extLst>
              <a:ext uri="{FF2B5EF4-FFF2-40B4-BE49-F238E27FC236}">
                <a16:creationId xmlns:a16="http://schemas.microsoft.com/office/drawing/2014/main" id="{B6E7720D-D504-A12A-DDF5-B358C80D41F2}"/>
              </a:ext>
            </a:extLst>
          </p:cNvPr>
          <p:cNvSpPr/>
          <p:nvPr/>
        </p:nvSpPr>
        <p:spPr>
          <a:xfrm>
            <a:off x="7486247" y="2865068"/>
            <a:ext cx="3581298" cy="1422400"/>
          </a:xfrm>
          <a:prstGeom prst="roundRect">
            <a:avLst>
              <a:gd name="adj" fmla="val 1929"/>
            </a:avLst>
          </a:prstGeom>
          <a:solidFill>
            <a:srgbClr val="FFFFFF"/>
          </a:solidFill>
          <a:ln w="12700">
            <a:solidFill>
              <a:srgbClr val="00A94F"/>
            </a:solidFill>
            <a:prstDash val="solid"/>
          </a:ln>
        </p:spPr>
      </p:sp>
      <p:pic>
        <p:nvPicPr>
          <p:cNvPr id="164" name="Image 1" descr="preencoded.png">
            <a:extLst>
              <a:ext uri="{FF2B5EF4-FFF2-40B4-BE49-F238E27FC236}">
                <a16:creationId xmlns:a16="http://schemas.microsoft.com/office/drawing/2014/main" id="{DC080AA4-A9C9-E6D8-02CF-F2D8FEB7F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647" y="3017468"/>
            <a:ext cx="139700" cy="139700"/>
          </a:xfrm>
          <a:prstGeom prst="rect">
            <a:avLst/>
          </a:prstGeom>
        </p:spPr>
      </p:pic>
      <p:sp>
        <p:nvSpPr>
          <p:cNvPr id="166" name="Text 57">
            <a:extLst>
              <a:ext uri="{FF2B5EF4-FFF2-40B4-BE49-F238E27FC236}">
                <a16:creationId xmlns:a16="http://schemas.microsoft.com/office/drawing/2014/main" id="{96DA56D6-7137-0D01-797F-6375FE3FCE71}"/>
              </a:ext>
            </a:extLst>
          </p:cNvPr>
          <p:cNvSpPr/>
          <p:nvPr/>
        </p:nvSpPr>
        <p:spPr>
          <a:xfrm>
            <a:off x="7841847" y="3017468"/>
            <a:ext cx="30732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04E28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Cómo aminora</a:t>
            </a:r>
            <a:endParaRPr lang="en-US" sz="1250" dirty="0"/>
          </a:p>
        </p:txBody>
      </p:sp>
      <p:sp>
        <p:nvSpPr>
          <p:cNvPr id="168" name="Text 58">
            <a:extLst>
              <a:ext uri="{FF2B5EF4-FFF2-40B4-BE49-F238E27FC236}">
                <a16:creationId xmlns:a16="http://schemas.microsoft.com/office/drawing/2014/main" id="{25754FCB-6FB4-5C30-D6AA-3DB90EA3F6E4}"/>
              </a:ext>
            </a:extLst>
          </p:cNvPr>
          <p:cNvSpPr/>
          <p:nvPr/>
        </p:nvSpPr>
        <p:spPr>
          <a:xfrm>
            <a:off x="7638647" y="3271468"/>
            <a:ext cx="3276498" cy="65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s-MX" sz="1000" dirty="0">
                <a:solidFill>
                  <a:srgbClr val="0073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deja de estresar en la medida en que el departamento vuelve a su normal. Al alcanzarla, el estrés es cero.</a:t>
            </a:r>
            <a:r>
              <a:rPr lang="en-US" sz="1000" dirty="0">
                <a:solidFill>
                  <a:srgbClr val="0073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170" name="Shape 59">
            <a:extLst>
              <a:ext uri="{FF2B5EF4-FFF2-40B4-BE49-F238E27FC236}">
                <a16:creationId xmlns:a16="http://schemas.microsoft.com/office/drawing/2014/main" id="{9A6C917F-2906-9847-ABEF-52363F2C0E0F}"/>
              </a:ext>
            </a:extLst>
          </p:cNvPr>
          <p:cNvSpPr/>
          <p:nvPr/>
        </p:nvSpPr>
        <p:spPr>
          <a:xfrm>
            <a:off x="7475525" y="4363669"/>
            <a:ext cx="3581298" cy="1625600"/>
          </a:xfrm>
          <a:prstGeom prst="roundRect">
            <a:avLst>
              <a:gd name="adj" fmla="val 1929"/>
            </a:avLst>
          </a:prstGeom>
          <a:solidFill>
            <a:srgbClr val="F8FAFB"/>
          </a:solidFill>
          <a:ln w="12700">
            <a:solidFill>
              <a:srgbClr val="E3E8EC"/>
            </a:solidFill>
            <a:prstDash val="solid"/>
          </a:ln>
        </p:spPr>
      </p:sp>
      <p:sp>
        <p:nvSpPr>
          <p:cNvPr id="172" name="Text 60">
            <a:extLst>
              <a:ext uri="{FF2B5EF4-FFF2-40B4-BE49-F238E27FC236}">
                <a16:creationId xmlns:a16="http://schemas.microsoft.com/office/drawing/2014/main" id="{270544E3-C1E0-C661-C69E-C4BC5A1167E4}"/>
              </a:ext>
            </a:extLst>
          </p:cNvPr>
          <p:cNvSpPr/>
          <p:nvPr/>
        </p:nvSpPr>
        <p:spPr>
          <a:xfrm>
            <a:off x="7831125" y="4516069"/>
            <a:ext cx="307329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Cómo se lee</a:t>
            </a:r>
            <a:endParaRPr lang="en-US" sz="1250" dirty="0"/>
          </a:p>
        </p:txBody>
      </p:sp>
      <p:sp>
        <p:nvSpPr>
          <p:cNvPr id="174" name="Text 61">
            <a:extLst>
              <a:ext uri="{FF2B5EF4-FFF2-40B4-BE49-F238E27FC236}">
                <a16:creationId xmlns:a16="http://schemas.microsoft.com/office/drawing/2014/main" id="{21DA2331-9226-A369-6E21-570B842C7088}"/>
              </a:ext>
            </a:extLst>
          </p:cNvPr>
          <p:cNvSpPr/>
          <p:nvPr/>
        </p:nvSpPr>
        <p:spPr>
          <a:xfrm>
            <a:off x="7627925" y="4770068"/>
            <a:ext cx="3276498" cy="1135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400"/>
              </a:lnSpc>
              <a:buNone/>
            </a:pPr>
            <a:r>
              <a:rPr lang="es-MX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▸ desvío: cuánto se aparta de su propia normal.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s-MX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▴ mejora: el último trimestre contra el anterior.</a:t>
            </a:r>
          </a:p>
          <a:p>
            <a:pPr marL="0" indent="0">
              <a:lnSpc>
                <a:spcPts val="1400"/>
              </a:lnSpc>
              <a:buNone/>
            </a:pPr>
            <a:endParaRPr lang="es-MX" sz="1000" dirty="0">
              <a:solidFill>
                <a:srgbClr val="66727E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s-MX" sz="10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departamentos con proyección propia. Los departamentos sin proyección propia toma la más lenta.</a:t>
            </a:r>
            <a:endParaRPr lang="en-US" sz="1000" dirty="0"/>
          </a:p>
        </p:txBody>
      </p:sp>
      <p:pic>
        <p:nvPicPr>
          <p:cNvPr id="176" name="Image 2" descr="preencoded.png">
            <a:extLst>
              <a:ext uri="{FF2B5EF4-FFF2-40B4-BE49-F238E27FC236}">
                <a16:creationId xmlns:a16="http://schemas.microsoft.com/office/drawing/2014/main" id="{7E9E52A5-E22F-13EE-2394-6F0F969F7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875" y="4563345"/>
            <a:ext cx="139700" cy="13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89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FD9C-E952-9FE2-4FFA-BDF55A63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D737C3-CEF1-2E7A-EC12-62ED45EC50E1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D81F57-9378-3885-BF1C-9E002B1F0755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F93E50-4BEA-E6F5-4EF0-B576EDF0FBCA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789215D3-6F15-F9A8-5F4D-E61932CD83B6}"/>
              </a:ext>
            </a:extLst>
          </p:cNvPr>
          <p:cNvSpPr/>
          <p:nvPr/>
        </p:nvSpPr>
        <p:spPr>
          <a:xfrm>
            <a:off x="8000797" y="279400"/>
            <a:ext cx="358129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04 · UBICACION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9FCABDC-C19B-E7EA-141F-38DAE43E7F0F}"/>
              </a:ext>
            </a:extLst>
          </p:cNvPr>
          <p:cNvSpPr/>
          <p:nvPr/>
        </p:nvSpPr>
        <p:spPr>
          <a:xfrm>
            <a:off x="609600" y="584200"/>
            <a:ext cx="1097249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En admisión el distrito alcanza. En stock </a:t>
            </a:r>
            <a:r>
              <a:rPr lang="en-US" sz="2500" b="1" dirty="0">
                <a:solidFill>
                  <a:srgbClr val="00733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conocemos el punto</a:t>
            </a:r>
            <a:endParaRPr lang="en-US" sz="25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EC6DC3C-6951-632D-6934-75FD575184D1}"/>
              </a:ext>
            </a:extLst>
          </p:cNvPr>
          <p:cNvSpPr/>
          <p:nvPr/>
        </p:nvSpPr>
        <p:spPr>
          <a:xfrm>
            <a:off x="660145" y="1106297"/>
            <a:ext cx="5415635" cy="3124200"/>
          </a:xfrm>
          <a:prstGeom prst="roundRect">
            <a:avLst>
              <a:gd name="adj" fmla="val 73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46474CEF-6776-7E1D-7D6E-C7A2AC74D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244600"/>
            <a:ext cx="139700" cy="139700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CE48BEDC-32A0-9B78-8F08-687504F4A67D}"/>
              </a:ext>
            </a:extLst>
          </p:cNvPr>
          <p:cNvSpPr/>
          <p:nvPr/>
        </p:nvSpPr>
        <p:spPr>
          <a:xfrm>
            <a:off x="977900" y="1244600"/>
            <a:ext cx="4895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ADMISIÓN · EL LEAD</a:t>
            </a:r>
            <a:endParaRPr lang="en-US" sz="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" name="Image 1" descr="C:/Users/CARLOS/elnino_ibk/03_deck/mapa_R_limpio.png">
            <a:extLst>
              <a:ext uri="{FF2B5EF4-FFF2-40B4-BE49-F238E27FC236}">
                <a16:creationId xmlns:a16="http://schemas.microsoft.com/office/drawing/2014/main" id="{732F5046-767D-FD69-F838-13AB9A0D1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50" y="1473200"/>
            <a:ext cx="1755267" cy="2547927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22D38E46-94B1-3588-0B38-9FC817464685}"/>
              </a:ext>
            </a:extLst>
          </p:cNvPr>
          <p:cNvSpPr/>
          <p:nvPr/>
        </p:nvSpPr>
        <p:spPr>
          <a:xfrm>
            <a:off x="749808" y="3949700"/>
            <a:ext cx="509889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Perú · 1 891 distritos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B53D337-B1EC-9054-C2CF-ECEFB69E9F38}"/>
              </a:ext>
            </a:extLst>
          </p:cNvPr>
          <p:cNvSpPr/>
          <p:nvPr/>
        </p:nvSpPr>
        <p:spPr>
          <a:xfrm>
            <a:off x="3444697" y="2168205"/>
            <a:ext cx="2272602" cy="1138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s-MX" sz="10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admisión no hay coordenada del lead, solo su distrito. Todos los clientes de ese distrito cargan el mismo estrés</a:t>
            </a:r>
            <a:r>
              <a:rPr lang="es-MX" sz="10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8EE8351-36FC-6C59-8B7F-CEC6418F4728}"/>
              </a:ext>
            </a:extLst>
          </p:cNvPr>
          <p:cNvSpPr/>
          <p:nvPr/>
        </p:nvSpPr>
        <p:spPr>
          <a:xfrm>
            <a:off x="6166460" y="1092200"/>
            <a:ext cx="5415636" cy="3124200"/>
          </a:xfrm>
          <a:prstGeom prst="roundRect">
            <a:avLst>
              <a:gd name="adj" fmla="val 732"/>
            </a:avLst>
          </a:prstGeom>
          <a:solidFill>
            <a:srgbClr val="FFFFFF"/>
          </a:solidFill>
          <a:ln w="12700">
            <a:solidFill>
              <a:srgbClr val="00733A"/>
            </a:solidFill>
            <a:prstDash val="solid"/>
          </a:ln>
        </p:spPr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174931ED-0A3B-D23E-930D-B46C4BE5C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820" y="1213453"/>
            <a:ext cx="139700" cy="139700"/>
          </a:xfrm>
          <a:prstGeom prst="rect">
            <a:avLst/>
          </a:prstGeom>
        </p:spPr>
      </p:pic>
      <p:sp>
        <p:nvSpPr>
          <p:cNvPr id="26" name="Text 10">
            <a:extLst>
              <a:ext uri="{FF2B5EF4-FFF2-40B4-BE49-F238E27FC236}">
                <a16:creationId xmlns:a16="http://schemas.microsoft.com/office/drawing/2014/main" id="{30B21FAF-78F0-0479-34BC-D23C0B6A43B5}"/>
              </a:ext>
            </a:extLst>
          </p:cNvPr>
          <p:cNvSpPr/>
          <p:nvPr/>
        </p:nvSpPr>
        <p:spPr>
          <a:xfrm>
            <a:off x="6510020" y="1213453"/>
            <a:ext cx="4895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40" dirty="0">
                <a:solidFill>
                  <a:srgbClr val="00733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STOCK · EL CLIENTE</a:t>
            </a:r>
            <a:endParaRPr lang="en-US" sz="9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340AF1EC-D69D-013A-9C13-7BB7F160575C}"/>
              </a:ext>
            </a:extLst>
          </p:cNvPr>
          <p:cNvSpPr/>
          <p:nvPr/>
        </p:nvSpPr>
        <p:spPr>
          <a:xfrm>
            <a:off x="609600" y="4343400"/>
            <a:ext cx="3581298" cy="1371600"/>
          </a:xfrm>
          <a:prstGeom prst="roundRect">
            <a:avLst>
              <a:gd name="adj" fmla="val 2000"/>
            </a:avLst>
          </a:prstGeom>
          <a:solidFill>
            <a:srgbClr val="F8FAFB"/>
          </a:solidFill>
          <a:ln w="12700">
            <a:solidFill>
              <a:srgbClr val="E3E8EC"/>
            </a:solidFill>
            <a:prstDash val="solid"/>
          </a:ln>
        </p:spPr>
      </p:sp>
      <p:pic>
        <p:nvPicPr>
          <p:cNvPr id="70" name="Image 4" descr="preencoded.png">
            <a:extLst>
              <a:ext uri="{FF2B5EF4-FFF2-40B4-BE49-F238E27FC236}">
                <a16:creationId xmlns:a16="http://schemas.microsoft.com/office/drawing/2014/main" id="{8EEC89CE-3301-0318-8C88-1E007BE00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483100"/>
            <a:ext cx="127000" cy="127000"/>
          </a:xfrm>
          <a:prstGeom prst="rect">
            <a:avLst/>
          </a:prstGeom>
        </p:spPr>
      </p:pic>
      <p:sp>
        <p:nvSpPr>
          <p:cNvPr id="72" name="Text 15">
            <a:extLst>
              <a:ext uri="{FF2B5EF4-FFF2-40B4-BE49-F238E27FC236}">
                <a16:creationId xmlns:a16="http://schemas.microsoft.com/office/drawing/2014/main" id="{42728959-E495-98E7-2EC6-F29DAD385F85}"/>
              </a:ext>
            </a:extLst>
          </p:cNvPr>
          <p:cNvSpPr/>
          <p:nvPr/>
        </p:nvSpPr>
        <p:spPr>
          <a:xfrm>
            <a:off x="952500" y="4483100"/>
            <a:ext cx="2657399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FUENTE DISTRITO</a:t>
            </a:r>
            <a:endParaRPr lang="en-US" sz="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16">
            <a:extLst>
              <a:ext uri="{FF2B5EF4-FFF2-40B4-BE49-F238E27FC236}">
                <a16:creationId xmlns:a16="http://schemas.microsoft.com/office/drawing/2014/main" id="{C8EB3892-3F48-FCAC-09EE-BA568C04321B}"/>
              </a:ext>
            </a:extLst>
          </p:cNvPr>
          <p:cNvSpPr/>
          <p:nvPr/>
        </p:nvSpPr>
        <p:spPr>
          <a:xfrm>
            <a:off x="762000" y="4711700"/>
            <a:ext cx="327649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6202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RENIEC</a:t>
            </a:r>
            <a:endParaRPr lang="en-US" sz="170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F167DB2C-B732-2FA4-257B-708BCE82F2BF}"/>
              </a:ext>
            </a:extLst>
          </p:cNvPr>
          <p:cNvSpPr/>
          <p:nvPr/>
        </p:nvSpPr>
        <p:spPr>
          <a:xfrm>
            <a:off x="762000" y="4933950"/>
            <a:ext cx="327649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MX" sz="10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Registrado para todo los habitantes del país</a:t>
            </a:r>
            <a:endParaRPr lang="en-US" sz="1050" dirty="0"/>
          </a:p>
        </p:txBody>
      </p:sp>
      <p:sp>
        <p:nvSpPr>
          <p:cNvPr id="79" name="Shape 18">
            <a:extLst>
              <a:ext uri="{FF2B5EF4-FFF2-40B4-BE49-F238E27FC236}">
                <a16:creationId xmlns:a16="http://schemas.microsoft.com/office/drawing/2014/main" id="{E2E829ED-72CC-7C19-FA5B-63DEC8B2FF1E}"/>
              </a:ext>
            </a:extLst>
          </p:cNvPr>
          <p:cNvSpPr/>
          <p:nvPr/>
        </p:nvSpPr>
        <p:spPr>
          <a:xfrm>
            <a:off x="4305198" y="4343400"/>
            <a:ext cx="7276897" cy="1371600"/>
          </a:xfrm>
          <a:prstGeom prst="roundRect">
            <a:avLst>
              <a:gd name="adj" fmla="val 2000"/>
            </a:avLst>
          </a:prstGeom>
          <a:solidFill>
            <a:srgbClr val="F8FAFB"/>
          </a:solidFill>
          <a:ln w="12700">
            <a:solidFill>
              <a:srgbClr val="00733A"/>
            </a:solidFill>
            <a:prstDash val="solid"/>
          </a:ln>
        </p:spPr>
        <p:txBody>
          <a:bodyPr/>
          <a:lstStyle/>
          <a:p>
            <a:endParaRPr lang="es-PE" dirty="0"/>
          </a:p>
        </p:txBody>
      </p:sp>
      <p:pic>
        <p:nvPicPr>
          <p:cNvPr id="82" name="Image 5" descr="preencoded.png">
            <a:extLst>
              <a:ext uri="{FF2B5EF4-FFF2-40B4-BE49-F238E27FC236}">
                <a16:creationId xmlns:a16="http://schemas.microsoft.com/office/drawing/2014/main" id="{D2C5D3F9-68EE-76B1-6ECA-363BCC4392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598" y="4483100"/>
            <a:ext cx="127000" cy="127000"/>
          </a:xfrm>
          <a:prstGeom prst="rect">
            <a:avLst/>
          </a:prstGeom>
        </p:spPr>
      </p:pic>
      <p:sp>
        <p:nvSpPr>
          <p:cNvPr id="85" name="Text 19">
            <a:extLst>
              <a:ext uri="{FF2B5EF4-FFF2-40B4-BE49-F238E27FC236}">
                <a16:creationId xmlns:a16="http://schemas.microsoft.com/office/drawing/2014/main" id="{B16FDA42-6C7A-A398-BD53-08C4D5B88280}"/>
              </a:ext>
            </a:extLst>
          </p:cNvPr>
          <p:cNvSpPr/>
          <p:nvPr/>
        </p:nvSpPr>
        <p:spPr>
          <a:xfrm>
            <a:off x="4648098" y="4483100"/>
            <a:ext cx="5429098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733A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LATITUD Y LONGITUD · CASCADA DE FUENTES</a:t>
            </a:r>
            <a:endParaRPr lang="en-US" sz="800" b="1" dirty="0">
              <a:solidFill>
                <a:srgbClr val="00733A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Shape 20">
            <a:extLst>
              <a:ext uri="{FF2B5EF4-FFF2-40B4-BE49-F238E27FC236}">
                <a16:creationId xmlns:a16="http://schemas.microsoft.com/office/drawing/2014/main" id="{EB8760E1-B0CF-122F-D6F4-DE4D7060EEBC}"/>
              </a:ext>
            </a:extLst>
          </p:cNvPr>
          <p:cNvSpPr/>
          <p:nvPr/>
        </p:nvSpPr>
        <p:spPr>
          <a:xfrm>
            <a:off x="4457598" y="4708525"/>
            <a:ext cx="139700" cy="19050"/>
          </a:xfrm>
          <a:prstGeom prst="rect">
            <a:avLst/>
          </a:prstGeom>
          <a:solidFill>
            <a:srgbClr val="00A94F"/>
          </a:solidFill>
          <a:ln w="12700">
            <a:noFill/>
            <a:prstDash val="solid"/>
          </a:ln>
        </p:spPr>
      </p:sp>
      <p:sp>
        <p:nvSpPr>
          <p:cNvPr id="91" name="Text 21">
            <a:extLst>
              <a:ext uri="{FF2B5EF4-FFF2-40B4-BE49-F238E27FC236}">
                <a16:creationId xmlns:a16="http://schemas.microsoft.com/office/drawing/2014/main" id="{484F44B6-A619-0BFE-5286-6326076F2323}"/>
              </a:ext>
            </a:extLst>
          </p:cNvPr>
          <p:cNvSpPr/>
          <p:nvPr/>
        </p:nvSpPr>
        <p:spPr>
          <a:xfrm>
            <a:off x="4457598" y="4759325"/>
            <a:ext cx="2197032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B050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01</a:t>
            </a:r>
            <a:endParaRPr lang="en-US" sz="900" b="1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476CB049-8678-F3C2-2FAB-843E0398BA1B}"/>
              </a:ext>
            </a:extLst>
          </p:cNvPr>
          <p:cNvSpPr/>
          <p:nvPr/>
        </p:nvSpPr>
        <p:spPr>
          <a:xfrm>
            <a:off x="4457598" y="4914900"/>
            <a:ext cx="21970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Geoposición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real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declarada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A6274265-4727-7389-80D2-549560F77CB3}"/>
              </a:ext>
            </a:extLst>
          </p:cNvPr>
          <p:cNvSpPr/>
          <p:nvPr/>
        </p:nvSpPr>
        <p:spPr>
          <a:xfrm>
            <a:off x="4457598" y="5283200"/>
            <a:ext cx="2197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cliente la declara y actualiza</a:t>
            </a:r>
            <a:endParaRPr lang="en-US" sz="950" dirty="0"/>
          </a:p>
        </p:txBody>
      </p:sp>
      <p:sp>
        <p:nvSpPr>
          <p:cNvPr id="97" name="Text 24">
            <a:extLst>
              <a:ext uri="{FF2B5EF4-FFF2-40B4-BE49-F238E27FC236}">
                <a16:creationId xmlns:a16="http://schemas.microsoft.com/office/drawing/2014/main" id="{09A7F929-24CC-4A05-79FA-79DC4B5C768A}"/>
              </a:ext>
            </a:extLst>
          </p:cNvPr>
          <p:cNvSpPr/>
          <p:nvPr/>
        </p:nvSpPr>
        <p:spPr>
          <a:xfrm>
            <a:off x="6207126" y="4825999"/>
            <a:ext cx="63800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5400" dirty="0">
                <a:solidFill>
                  <a:srgbClr val="98A3A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›</a:t>
            </a:r>
            <a:endParaRPr lang="en-US" sz="5400" dirty="0"/>
          </a:p>
        </p:txBody>
      </p:sp>
      <p:sp>
        <p:nvSpPr>
          <p:cNvPr id="99" name="Shape 25">
            <a:extLst>
              <a:ext uri="{FF2B5EF4-FFF2-40B4-BE49-F238E27FC236}">
                <a16:creationId xmlns:a16="http://schemas.microsoft.com/office/drawing/2014/main" id="{7E5AE649-C2A9-38E6-191E-E19FC4EA717E}"/>
              </a:ext>
            </a:extLst>
          </p:cNvPr>
          <p:cNvSpPr/>
          <p:nvPr/>
        </p:nvSpPr>
        <p:spPr>
          <a:xfrm>
            <a:off x="6845131" y="4708525"/>
            <a:ext cx="139700" cy="19050"/>
          </a:xfrm>
          <a:prstGeom prst="rect">
            <a:avLst/>
          </a:prstGeom>
          <a:solidFill>
            <a:srgbClr val="00A94F"/>
          </a:solidFill>
          <a:ln w="12700">
            <a:noFill/>
            <a:prstDash val="solid"/>
          </a:ln>
        </p:spPr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C41E8799-A374-76EE-26D4-C6E9FA218E51}"/>
              </a:ext>
            </a:extLst>
          </p:cNvPr>
          <p:cNvSpPr/>
          <p:nvPr/>
        </p:nvSpPr>
        <p:spPr>
          <a:xfrm>
            <a:off x="6845131" y="4759325"/>
            <a:ext cx="219703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B050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02</a:t>
            </a:r>
            <a:endParaRPr lang="en-US" sz="800" b="1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27">
            <a:extLst>
              <a:ext uri="{FF2B5EF4-FFF2-40B4-BE49-F238E27FC236}">
                <a16:creationId xmlns:a16="http://schemas.microsoft.com/office/drawing/2014/main" id="{CFFF9403-D48A-6547-8ABC-0CCFE77163B4}"/>
              </a:ext>
            </a:extLst>
          </p:cNvPr>
          <p:cNvSpPr/>
          <p:nvPr/>
        </p:nvSpPr>
        <p:spPr>
          <a:xfrm>
            <a:off x="6845131" y="4914900"/>
            <a:ext cx="21970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Geoposición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</a:t>
            </a: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estimada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por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</a:t>
            </a: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transacciones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B7F072A0-1145-BC71-4010-1E994E683FB7}"/>
              </a:ext>
            </a:extLst>
          </p:cNvPr>
          <p:cNvSpPr/>
          <p:nvPr/>
        </p:nvSpPr>
        <p:spPr>
          <a:xfrm>
            <a:off x="6845131" y="5283200"/>
            <a:ext cx="2197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</a:t>
            </a:r>
            <a:r>
              <a:rPr lang="en-US" sz="9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opera</a:t>
            </a:r>
            <a:endParaRPr lang="en-US" sz="950" dirty="0"/>
          </a:p>
        </p:txBody>
      </p:sp>
      <p:sp>
        <p:nvSpPr>
          <p:cNvPr id="117" name="Shape 30">
            <a:extLst>
              <a:ext uri="{FF2B5EF4-FFF2-40B4-BE49-F238E27FC236}">
                <a16:creationId xmlns:a16="http://schemas.microsoft.com/office/drawing/2014/main" id="{E4303ED0-5BAC-F603-BE28-B390B4E0F64E}"/>
              </a:ext>
            </a:extLst>
          </p:cNvPr>
          <p:cNvSpPr/>
          <p:nvPr/>
        </p:nvSpPr>
        <p:spPr>
          <a:xfrm>
            <a:off x="9232663" y="4708525"/>
            <a:ext cx="139700" cy="19050"/>
          </a:xfrm>
          <a:prstGeom prst="rect">
            <a:avLst/>
          </a:prstGeom>
          <a:solidFill>
            <a:srgbClr val="00A94F"/>
          </a:solidFill>
          <a:ln w="12700">
            <a:noFill/>
            <a:prstDash val="solid"/>
          </a:ln>
        </p:spPr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468E409F-44E4-856B-A100-1B32979433C3}"/>
              </a:ext>
            </a:extLst>
          </p:cNvPr>
          <p:cNvSpPr/>
          <p:nvPr/>
        </p:nvSpPr>
        <p:spPr>
          <a:xfrm>
            <a:off x="9232663" y="4759325"/>
            <a:ext cx="2197032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B050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03</a:t>
            </a:r>
            <a:endParaRPr lang="en-US" sz="800" b="1" dirty="0">
              <a:solidFill>
                <a:srgbClr val="00B05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32">
            <a:extLst>
              <a:ext uri="{FF2B5EF4-FFF2-40B4-BE49-F238E27FC236}">
                <a16:creationId xmlns:a16="http://schemas.microsoft.com/office/drawing/2014/main" id="{D15E11DF-0763-0ABE-A3C7-013574EDD9EE}"/>
              </a:ext>
            </a:extLst>
          </p:cNvPr>
          <p:cNvSpPr/>
          <p:nvPr/>
        </p:nvSpPr>
        <p:spPr>
          <a:xfrm>
            <a:off x="9232663" y="4914900"/>
            <a:ext cx="21970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Geoposición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</a:t>
            </a:r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por</a:t>
            </a:r>
            <a:r>
              <a:rPr lang="en-US" sz="1200" b="1" dirty="0">
                <a:solidFill>
                  <a:srgbClr val="16202A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 Censo 2017</a:t>
            </a:r>
            <a:endParaRPr lang="en-US" sz="12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33">
            <a:extLst>
              <a:ext uri="{FF2B5EF4-FFF2-40B4-BE49-F238E27FC236}">
                <a16:creationId xmlns:a16="http://schemas.microsoft.com/office/drawing/2014/main" id="{20999DC7-6FAE-8830-ADAD-B2F08A447F28}"/>
              </a:ext>
            </a:extLst>
          </p:cNvPr>
          <p:cNvSpPr/>
          <p:nvPr/>
        </p:nvSpPr>
        <p:spPr>
          <a:xfrm>
            <a:off x="9232663" y="5283200"/>
            <a:ext cx="2197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dónde fue censado</a:t>
            </a:r>
            <a:endParaRPr lang="en-US" sz="950" dirty="0"/>
          </a:p>
        </p:txBody>
      </p:sp>
      <p:pic>
        <p:nvPicPr>
          <p:cNvPr id="137" name="Image 0" descr="img/s6_0.png">
            <a:extLst>
              <a:ext uri="{FF2B5EF4-FFF2-40B4-BE49-F238E27FC236}">
                <a16:creationId xmlns:a16="http://schemas.microsoft.com/office/drawing/2014/main" id="{BF7D68A5-E7A3-2014-C657-65AE280BE1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132" y="1445831"/>
            <a:ext cx="1838477" cy="2518156"/>
          </a:xfrm>
          <a:prstGeom prst="rect">
            <a:avLst/>
          </a:prstGeom>
        </p:spPr>
      </p:pic>
      <p:sp>
        <p:nvSpPr>
          <p:cNvPr id="141" name="Text 7">
            <a:extLst>
              <a:ext uri="{FF2B5EF4-FFF2-40B4-BE49-F238E27FC236}">
                <a16:creationId xmlns:a16="http://schemas.microsoft.com/office/drawing/2014/main" id="{123DB072-CD2D-F944-5392-7AB2AD36B467}"/>
              </a:ext>
            </a:extLst>
          </p:cNvPr>
          <p:cNvSpPr/>
          <p:nvPr/>
        </p:nvSpPr>
        <p:spPr>
          <a:xfrm>
            <a:off x="6324829" y="3984244"/>
            <a:ext cx="509889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San Juan de Lurigancho · 1.3 </a:t>
            </a:r>
            <a:r>
              <a:rPr lang="en-US" sz="800" dirty="0" err="1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Millones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8">
            <a:extLst>
              <a:ext uri="{FF2B5EF4-FFF2-40B4-BE49-F238E27FC236}">
                <a16:creationId xmlns:a16="http://schemas.microsoft.com/office/drawing/2014/main" id="{1F12C4EC-4309-39B2-217A-BDA79C7BF19D}"/>
              </a:ext>
            </a:extLst>
          </p:cNvPr>
          <p:cNvSpPr/>
          <p:nvPr/>
        </p:nvSpPr>
        <p:spPr>
          <a:xfrm>
            <a:off x="9062575" y="1935162"/>
            <a:ext cx="254127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s-MX" sz="1000" b="1" dirty="0">
                <a:solidFill>
                  <a:srgbClr val="0073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San Juan de Lurigancho, la exposición alta cubre el 4 % del distrito. Al resto lo estaríamos estresando de más</a:t>
            </a:r>
            <a:r>
              <a:rPr lang="es-MX" sz="10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000" b="1" dirty="0">
              <a:solidFill>
                <a:srgbClr val="66727E"/>
              </a:solidFill>
            </a:endParaRPr>
          </a:p>
        </p:txBody>
      </p:sp>
      <p:sp>
        <p:nvSpPr>
          <p:cNvPr id="149" name="Text 24">
            <a:extLst>
              <a:ext uri="{FF2B5EF4-FFF2-40B4-BE49-F238E27FC236}">
                <a16:creationId xmlns:a16="http://schemas.microsoft.com/office/drawing/2014/main" id="{CA68CAE8-F02B-C443-AB71-FF95885F99F4}"/>
              </a:ext>
            </a:extLst>
          </p:cNvPr>
          <p:cNvSpPr/>
          <p:nvPr/>
        </p:nvSpPr>
        <p:spPr>
          <a:xfrm>
            <a:off x="8562738" y="4832349"/>
            <a:ext cx="63800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5400" dirty="0">
                <a:solidFill>
                  <a:srgbClr val="98A3A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›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94128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DC73-DA36-838D-F498-38E62DA2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D4D7D4-9C00-C63C-BD6F-B149E3B00D2E}"/>
              </a:ext>
            </a:extLst>
          </p:cNvPr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920174-5B0A-A93F-9891-3328A42B08A4}"/>
              </a:ext>
            </a:extLst>
          </p:cNvPr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9161F3-2F10-E25D-CAA1-EB1CAF558F7E}"/>
              </a:ext>
            </a:extLst>
          </p:cNvPr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POPPINS" panose="00000500000000000000" pitchFamily="2" charset="0"/>
                <a:ea typeface="Segoe UI" pitchFamily="34" charset="-122"/>
                <a:cs typeface="POPPINS" panose="00000500000000000000" pitchFamily="2" charset="0"/>
              </a:rPr>
              <a:t>FEN · RIESGO DE CRÉDITO · METODOLOGÍA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E5C5E929-BE38-053A-7F37-291B690340F2}"/>
              </a:ext>
            </a:extLst>
          </p:cNvPr>
          <p:cNvSpPr/>
          <p:nvPr/>
        </p:nvSpPr>
        <p:spPr>
          <a:xfrm>
            <a:off x="8000797" y="279400"/>
            <a:ext cx="3581298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kern="0" spc="200">
                <a:solidFill>
                  <a:srgbClr val="98A3AE"/>
                </a:solidFill>
                <a:latin typeface="POPPINS" panose="00000500000000000000" pitchFamily="2" charset="0"/>
                <a:ea typeface="Consolas" pitchFamily="34" charset="-122"/>
                <a:cs typeface="POPPINS" panose="00000500000000000000" pitchFamily="2" charset="0"/>
              </a:rPr>
              <a:t>05 · EJEMPLO</a:t>
            </a:r>
            <a:endParaRPr lang="en-US" sz="85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7D39D3F-2F19-C495-E8BE-59F46FDC8E6E}"/>
              </a:ext>
            </a:extLst>
          </p:cNvPr>
          <p:cNvSpPr/>
          <p:nvPr/>
        </p:nvSpPr>
        <p:spPr>
          <a:xfrm>
            <a:off x="609600" y="584200"/>
            <a:ext cx="1097249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MX" sz="2500" b="1" dirty="0"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El mismo departamento, </a:t>
            </a:r>
            <a:r>
              <a:rPr lang="es-MX" sz="2500" b="1" dirty="0">
                <a:solidFill>
                  <a:srgbClr val="00B050"/>
                </a:solidFill>
                <a:latin typeface="POPPINS" panose="00000500000000000000" pitchFamily="2" charset="0"/>
                <a:ea typeface="Poppins SemiBold" pitchFamily="34" charset="-122"/>
                <a:cs typeface="POPPINS" panose="00000500000000000000" pitchFamily="2" charset="0"/>
              </a:rPr>
              <a:t>distinto cliente</a:t>
            </a:r>
          </a:p>
        </p:txBody>
      </p:sp>
      <p:sp>
        <p:nvSpPr>
          <p:cNvPr id="330" name="Shape 92">
            <a:extLst>
              <a:ext uri="{FF2B5EF4-FFF2-40B4-BE49-F238E27FC236}">
                <a16:creationId xmlns:a16="http://schemas.microsoft.com/office/drawing/2014/main" id="{618C297E-1773-9203-0DF9-E6C80576A61B}"/>
              </a:ext>
            </a:extLst>
          </p:cNvPr>
          <p:cNvSpPr/>
          <p:nvPr/>
        </p:nvSpPr>
        <p:spPr>
          <a:xfrm>
            <a:off x="483551" y="5408168"/>
            <a:ext cx="10972495" cy="660400"/>
          </a:xfrm>
          <a:prstGeom prst="roundRect">
            <a:avLst>
              <a:gd name="adj" fmla="val 4154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s-PE" dirty="0"/>
          </a:p>
        </p:txBody>
      </p:sp>
      <p:sp>
        <p:nvSpPr>
          <p:cNvPr id="332" name="Text 94">
            <a:extLst>
              <a:ext uri="{FF2B5EF4-FFF2-40B4-BE49-F238E27FC236}">
                <a16:creationId xmlns:a16="http://schemas.microsoft.com/office/drawing/2014/main" id="{F58EB2D0-EDF9-E86A-67A1-926E06E6EC0D}"/>
              </a:ext>
            </a:extLst>
          </p:cNvPr>
          <p:cNvSpPr/>
          <p:nvPr/>
        </p:nvSpPr>
        <p:spPr>
          <a:xfrm>
            <a:off x="609600" y="5408168"/>
            <a:ext cx="1063912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estrés por daño físico y por actividad económica es </a:t>
            </a:r>
            <a:r>
              <a:rPr lang="en-US" sz="1200" b="1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</a:t>
            </a:r>
            <a:r>
              <a:rPr lang="en-US" sz="12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b="1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juicio</a:t>
            </a:r>
            <a:r>
              <a:rPr lang="en-US" sz="12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b="1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experto</a:t>
            </a:r>
            <a:r>
              <a:rPr lang="en-US" sz="12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(</a:t>
            </a:r>
            <a:r>
              <a:rPr lang="en-US" sz="1200" b="1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escenarios</a:t>
            </a:r>
            <a:r>
              <a:rPr lang="en-US" sz="1200" b="1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)</a:t>
            </a:r>
            <a:r>
              <a:rPr lang="en-US" sz="12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El score no fija cuánto: fija el reparto entre distritos y entre clientes. El estrés final sale de la conjugación de </a:t>
            </a:r>
            <a:r>
              <a:rPr lang="en-US" sz="1200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</a:t>
            </a:r>
            <a:r>
              <a:rPr lang="en-US" sz="12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sz="1200" dirty="0" err="1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componentes</a:t>
            </a:r>
            <a:r>
              <a:rPr lang="en-US" sz="1200" dirty="0">
                <a:solidFill>
                  <a:srgbClr val="66727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200" dirty="0">
              <a:solidFill>
                <a:srgbClr val="66727E"/>
              </a:solidFill>
            </a:endParaRPr>
          </a:p>
        </p:txBody>
      </p:sp>
      <p:graphicFrame>
        <p:nvGraphicFramePr>
          <p:cNvPr id="334" name="Table 0">
            <a:extLst>
              <a:ext uri="{FF2B5EF4-FFF2-40B4-BE49-F238E27FC236}">
                <a16:creationId xmlns:a16="http://schemas.microsoft.com/office/drawing/2014/main" id="{6B27D045-E5C6-3975-C41D-A17D322DD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27639"/>
              </p:ext>
            </p:extLst>
          </p:nvPr>
        </p:nvGraphicFramePr>
        <p:xfrm>
          <a:off x="566928" y="1638300"/>
          <a:ext cx="10972800" cy="2887980"/>
        </p:xfrm>
        <a:graphic>
          <a:graphicData uri="http://schemas.openxmlformats.org/drawingml/2006/table">
            <a:tbl>
              <a:tblPr/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Cliente</a:t>
                      </a:r>
                      <a:endParaRPr lang="en-US" sz="110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PD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calibrada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Daño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físico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 </a:t>
                      </a:r>
                      <a:r>
                        <a:rPr lang="en-US" sz="1050" b="1" dirty="0" err="1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Afectación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económica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 </a:t>
                      </a:r>
                      <a:r>
                        <a:rPr lang="en-US" sz="1050" b="1" dirty="0" err="1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Rezago</a:t>
                      </a: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 de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recuperación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= </a:t>
                      </a:r>
                      <a:r>
                        <a:rPr lang="en-US" sz="1050" b="1" dirty="0" err="1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Estrés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total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PD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estresada</a:t>
                      </a:r>
                      <a:endParaRPr lang="en-US" sz="10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anchor="b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7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kern="0" spc="130" dirty="0">
                          <a:solidFill>
                            <a:srgbClr val="00733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STOCK · SE CONOCE EL PUNTO DEL CLIENTE</a:t>
                      </a:r>
                      <a:endParaRPr lang="en-US" sz="7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marL="215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0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Chosica · junto a la quebrada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8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8,0 %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2,40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Extremo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×0,83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Comercial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×1,00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Resiliente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+1,99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4E28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9,99 %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02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Chosica · parte alta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88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8,0 %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0,30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Bajo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×0,83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Comercial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×1,00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Resiliente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+0,25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4E28"/>
                          </a:solidFill>
                          <a:latin typeface="Poppins SemiBold" pitchFamily="34" charset="0"/>
                          <a:ea typeface="Poppins SemiBold" pitchFamily="34" charset="-122"/>
                          <a:cs typeface="Poppins SemiBold" pitchFamily="34" charset="-120"/>
                        </a:rPr>
                        <a:t>8,25 %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 gridSpan="7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kern="0" spc="130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ADMISIÓN · SOLO SE CONOCE EL DISTRITO</a:t>
                      </a:r>
                      <a:endParaRPr lang="en-US" sz="750" b="1" dirty="0">
                        <a:latin typeface="POPPINS" panose="00000500000000000000" pitchFamily="2" charset="0"/>
                        <a:ea typeface="Consolas" charset="0"/>
                        <a:cs typeface="POPPINS" panose="00000500000000000000" pitchFamily="2" charset="0"/>
                      </a:endParaRPr>
                    </a:p>
                  </a:txBody>
                  <a:tcPr marL="215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San Juan de Lurigancho</a:t>
                      </a:r>
                      <a:endParaRPr lang="en-US" sz="1150" dirty="0">
                        <a:latin typeface="POPPINS" panose="00000500000000000000" pitchFamily="2" charset="0"/>
                        <a:ea typeface="Poppins" charset="0"/>
                        <a:cs typeface="POPPINS" panose="00000500000000000000" pitchFamily="2" charset="0"/>
                      </a:endParaRPr>
                    </a:p>
                  </a:txBody>
                  <a:tcPr marL="88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8,0 %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0,80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Medio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×0,89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Comercial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×1,00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Resiliente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+0,71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4E28"/>
                          </a:solidFill>
                          <a:latin typeface="POPPINS" panose="00000500000000000000" pitchFamily="2" charset="0"/>
                          <a:ea typeface="Poppins SemiBold" pitchFamily="34" charset="-122"/>
                          <a:cs typeface="POPPINS" panose="00000500000000000000" pitchFamily="2" charset="0"/>
                        </a:rPr>
                        <a:t>8,71 %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San Bartolo</a:t>
                      </a:r>
                      <a:endParaRPr lang="en-US" sz="1150" dirty="0">
                        <a:latin typeface="POPPINS" panose="00000500000000000000" pitchFamily="2" charset="0"/>
                        <a:ea typeface="Poppins" charset="0"/>
                        <a:cs typeface="POPPINS" panose="00000500000000000000" pitchFamily="2" charset="0"/>
                      </a:endParaRPr>
                    </a:p>
                  </a:txBody>
                  <a:tcPr marL="88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8,0 %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0,40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Marginal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×0,78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Pesquero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×1,00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Resiliente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+0,31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4E28"/>
                          </a:solidFill>
                          <a:latin typeface="POPPINS" panose="00000500000000000000" pitchFamily="2" charset="0"/>
                          <a:ea typeface="Poppins SemiBold" pitchFamily="34" charset="-122"/>
                          <a:cs typeface="POPPINS" panose="00000500000000000000" pitchFamily="2" charset="0"/>
                        </a:rPr>
                        <a:t>8,31 %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San Isidro</a:t>
                      </a:r>
                      <a:endParaRPr lang="en-US" sz="1150" dirty="0">
                        <a:latin typeface="POPPINS" panose="00000500000000000000" pitchFamily="2" charset="0"/>
                        <a:ea typeface="Poppins" charset="0"/>
                        <a:cs typeface="POPPINS" panose="00000500000000000000" pitchFamily="2" charset="0"/>
                      </a:endParaRPr>
                    </a:p>
                  </a:txBody>
                  <a:tcPr marL="88900" marR="0" marT="0" marB="0"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6727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8,0 %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0,00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Sin exposición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×0,45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Servicios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×1,00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Poppins" pitchFamily="34" charset="-122"/>
                          <a:cs typeface="POPPINS" panose="00000500000000000000" pitchFamily="2" charset="0"/>
                        </a:rPr>
                        <a:t>Resiliente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8A3AE"/>
                          </a:solidFill>
                          <a:latin typeface="POPPINS" panose="00000500000000000000" pitchFamily="2" charset="0"/>
                          <a:ea typeface="Consolas" pitchFamily="34" charset="-122"/>
                          <a:cs typeface="POPPINS" panose="00000500000000000000" pitchFamily="2" charset="0"/>
                        </a:rPr>
                        <a:t>0,00</a:t>
                      </a:r>
                      <a:endParaRPr lang="en-US" sz="1200" b="1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6202A"/>
                          </a:solidFill>
                          <a:latin typeface="POPPINS" panose="00000500000000000000" pitchFamily="2" charset="0"/>
                          <a:ea typeface="Poppins SemiBold" pitchFamily="34" charset="-122"/>
                          <a:cs typeface="POPPINS" panose="00000500000000000000" pitchFamily="2" charset="0"/>
                        </a:rPr>
                        <a:t>8,00 %</a:t>
                      </a:r>
                      <a:endParaRPr lang="en-US" sz="12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36" name="Image 0" descr="preencoded.png">
            <a:extLst>
              <a:ext uri="{FF2B5EF4-FFF2-40B4-BE49-F238E27FC236}">
                <a16:creationId xmlns:a16="http://schemas.microsoft.com/office/drawing/2014/main" id="{05A10EEF-A291-7BC4-7D6B-0939D666F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977" y="1670050"/>
            <a:ext cx="245237" cy="245237"/>
          </a:xfrm>
          <a:prstGeom prst="rect">
            <a:avLst/>
          </a:prstGeom>
        </p:spPr>
      </p:pic>
      <p:pic>
        <p:nvPicPr>
          <p:cNvPr id="338" name="Image 1" descr="preencoded.png">
            <a:extLst>
              <a:ext uri="{FF2B5EF4-FFF2-40B4-BE49-F238E27FC236}">
                <a16:creationId xmlns:a16="http://schemas.microsoft.com/office/drawing/2014/main" id="{1956D757-3754-70BC-11A9-398C81BAD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578" y="1686434"/>
            <a:ext cx="245236" cy="245236"/>
          </a:xfrm>
          <a:prstGeom prst="rect">
            <a:avLst/>
          </a:prstGeom>
        </p:spPr>
      </p:pic>
      <p:pic>
        <p:nvPicPr>
          <p:cNvPr id="340" name="Image 2" descr="preencoded.png">
            <a:extLst>
              <a:ext uri="{FF2B5EF4-FFF2-40B4-BE49-F238E27FC236}">
                <a16:creationId xmlns:a16="http://schemas.microsoft.com/office/drawing/2014/main" id="{3C2EE57D-4753-2196-0CE4-F4A445D1A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053" y="1706182"/>
            <a:ext cx="245235" cy="245235"/>
          </a:xfrm>
          <a:prstGeom prst="rect">
            <a:avLst/>
          </a:prstGeom>
        </p:spPr>
      </p:pic>
      <p:pic>
        <p:nvPicPr>
          <p:cNvPr id="342" name="Image 3" descr="preencoded.png">
            <a:extLst>
              <a:ext uri="{FF2B5EF4-FFF2-40B4-BE49-F238E27FC236}">
                <a16:creationId xmlns:a16="http://schemas.microsoft.com/office/drawing/2014/main" id="{666F4789-668A-0B5D-9F65-7BED4FF36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707" y="2068703"/>
            <a:ext cx="151130" cy="151130"/>
          </a:xfrm>
          <a:prstGeom prst="rect">
            <a:avLst/>
          </a:prstGeom>
        </p:spPr>
      </p:pic>
      <p:pic>
        <p:nvPicPr>
          <p:cNvPr id="344" name="Image 4" descr="preencoded.png">
            <a:extLst>
              <a:ext uri="{FF2B5EF4-FFF2-40B4-BE49-F238E27FC236}">
                <a16:creationId xmlns:a16="http://schemas.microsoft.com/office/drawing/2014/main" id="{99465070-00E6-2D86-2F45-2DE22A36B9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312" y="3101721"/>
            <a:ext cx="151130" cy="151130"/>
          </a:xfrm>
          <a:prstGeom prst="rect">
            <a:avLst/>
          </a:prstGeom>
        </p:spPr>
      </p:pic>
      <p:sp>
        <p:nvSpPr>
          <p:cNvPr id="346" name="Text 35">
            <a:extLst>
              <a:ext uri="{FF2B5EF4-FFF2-40B4-BE49-F238E27FC236}">
                <a16:creationId xmlns:a16="http://schemas.microsoft.com/office/drawing/2014/main" id="{ADD06C97-896F-A9CB-7BAC-D6544D398659}"/>
              </a:ext>
            </a:extLst>
          </p:cNvPr>
          <p:cNvSpPr/>
          <p:nvPr/>
        </p:nvSpPr>
        <p:spPr>
          <a:xfrm>
            <a:off x="6927228" y="4639119"/>
            <a:ext cx="4728971" cy="180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 err="1">
                <a:solidFill>
                  <a:srgbClr val="5B6B7C"/>
                </a:solidFill>
                <a:latin typeface="Poppins" pitchFamily="34" charset="0"/>
                <a:cs typeface="Poppins" pitchFamily="34" charset="-120"/>
              </a:rPr>
              <a:t>Ejemplo</a:t>
            </a:r>
            <a:r>
              <a:rPr lang="en-US" sz="950" dirty="0">
                <a:solidFill>
                  <a:srgbClr val="5B6B7C"/>
                </a:solidFill>
                <a:latin typeface="Poppins" pitchFamily="34" charset="0"/>
                <a:cs typeface="Poppins" pitchFamily="34" charset="-120"/>
              </a:rPr>
              <a:t> </a:t>
            </a:r>
            <a:r>
              <a:rPr lang="en-US" sz="950" dirty="0" err="1">
                <a:solidFill>
                  <a:srgbClr val="5B6B7C"/>
                </a:solidFill>
                <a:latin typeface="Poppins" pitchFamily="34" charset="0"/>
                <a:cs typeface="Poppins" pitchFamily="34" charset="-120"/>
              </a:rPr>
              <a:t>ilustrativo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8056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1259</Words>
  <Application>Microsoft Office PowerPoint</Application>
  <PresentationFormat>Panorámica</PresentationFormat>
  <Paragraphs>351</Paragraphs>
  <Slides>7</Slides>
  <Notes>7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Consolas</vt:lpstr>
      <vt:lpstr>POPPINS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</cp:lastModifiedBy>
  <cp:revision>9</cp:revision>
  <dcterms:created xsi:type="dcterms:W3CDTF">2026-08-03T20:43:11Z</dcterms:created>
  <dcterms:modified xsi:type="dcterms:W3CDTF">2026-08-07T05:10:47Z</dcterms:modified>
</cp:coreProperties>
</file>