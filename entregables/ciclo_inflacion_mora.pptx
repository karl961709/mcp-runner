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Mora Interbank</c:v>
                </c:pt>
              </c:strCache>
            </c:strRef>
          </c:tx>
          <c:spPr>
            <a:ln w="38100">
              <a:solidFill>
                <a:srgbClr val="0A0E27"/>
              </a:solidFill>
            </a:ln>
          </c:spPr>
          <c:marker>
            <c:symbol val="none"/>
          </c:marker>
          <c:cat>
            <c:strRef>
              <c:f>Sheet1!$A$2:$A$76</c:f>
              <c:strCache>
                <c:ptCount val="75"/>
                <c:pt idx="0">
                  <c:v>2021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2022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2023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2024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2025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2026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2027</c:v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Sheet1!$B$2:$B$76</c:f>
              <c:numCache>
                <c:formatCode>General</c:formatCode>
                <c:ptCount val="75"/>
                <c:pt idx="0">
                  <c:v>7.11</c:v>
                </c:pt>
                <c:pt idx="1">
                  <c:v>7.56</c:v>
                </c:pt>
                <c:pt idx="2">
                  <c:v>7.98</c:v>
                </c:pt>
                <c:pt idx="3">
                  <c:v>8.51</c:v>
                </c:pt>
                <c:pt idx="4">
                  <c:v>9.22</c:v>
                </c:pt>
                <c:pt idx="5">
                  <c:v>9.79</c:v>
                </c:pt>
                <c:pt idx="6">
                  <c:v>10.55</c:v>
                </c:pt>
                <c:pt idx="7">
                  <c:v>10.89</c:v>
                </c:pt>
                <c:pt idx="8">
                  <c:v>11.33</c:v>
                </c:pt>
                <c:pt idx="9">
                  <c:v>11.73</c:v>
                </c:pt>
                <c:pt idx="10">
                  <c:v>11.65</c:v>
                </c:pt>
                <c:pt idx="11">
                  <c:v>11.49</c:v>
                </c:pt>
                <c:pt idx="12">
                  <c:v>11.37</c:v>
                </c:pt>
                <c:pt idx="13">
                  <c:v>11.19</c:v>
                </c:pt>
                <c:pt idx="14">
                  <c:v>11.08</c:v>
                </c:pt>
                <c:pt idx="15">
                  <c:v>11.38</c:v>
                </c:pt>
                <c:pt idx="16">
                  <c:v>11.88</c:v>
                </c:pt>
                <c:pt idx="17">
                  <c:v>12.54</c:v>
                </c:pt>
                <c:pt idx="18">
                  <c:v>13.12</c:v>
                </c:pt>
                <c:pt idx="19">
                  <c:v>13.9</c:v>
                </c:pt>
                <c:pt idx="20">
                  <c:v>14.58</c:v>
                </c:pt>
                <c:pt idx="21">
                  <c:v>15.01</c:v>
                </c:pt>
                <c:pt idx="22">
                  <c:v>15.55</c:v>
                </c:pt>
                <c:pt idx="23">
                  <c:v>16.07</c:v>
                </c:pt>
                <c:pt idx="24">
                  <c:v>16.42</c:v>
                </c:pt>
                <c:pt idx="25">
                  <c:v>16.3</c:v>
                </c:pt>
                <c:pt idx="26">
                  <c:v>16.23</c:v>
                </c:pt>
                <c:pt idx="27">
                  <c:v>15.77</c:v>
                </c:pt>
                <c:pt idx="28">
                  <c:v>15.17</c:v>
                </c:pt>
                <c:pt idx="29">
                  <c:v>14.27</c:v>
                </c:pt>
                <c:pt idx="30">
                  <c:v>13.19</c:v>
                </c:pt>
                <c:pt idx="31">
                  <c:v>12.06</c:v>
                </c:pt>
                <c:pt idx="32">
                  <c:v>10.92</c:v>
                </c:pt>
                <c:pt idx="33">
                  <c:v>10.02</c:v>
                </c:pt>
                <c:pt idx="34">
                  <c:v>9.28</c:v>
                </c:pt>
                <c:pt idx="35">
                  <c:v>8.91</c:v>
                </c:pt>
                <c:pt idx="36">
                  <c:v>8.68</c:v>
                </c:pt>
                <c:pt idx="37">
                  <c:v>8.77</c:v>
                </c:pt>
                <c:pt idx="38">
                  <c:v>8.57</c:v>
                </c:pt>
                <c:pt idx="39">
                  <c:v>8.37</c:v>
                </c:pt>
                <c:pt idx="40">
                  <c:v>8.26</c:v>
                </c:pt>
                <c:pt idx="41">
                  <c:v>8.12</c:v>
                </c:pt>
                <c:pt idx="42">
                  <c:v>8.13</c:v>
                </c:pt>
                <c:pt idx="43">
                  <c:v>8.29</c:v>
                </c:pt>
                <c:pt idx="44">
                  <c:v>8.22</c:v>
                </c:pt>
                <c:pt idx="45">
                  <c:v>8.42</c:v>
                </c:pt>
                <c:pt idx="46">
                  <c:v>8.22</c:v>
                </c:pt>
                <c:pt idx="47">
                  <c:v>7.72</c:v>
                </c:pt>
                <c:pt idx="48">
                  <c:v>7.37</c:v>
                </c:pt>
                <c:pt idx="49">
                  <c:v>7.2</c:v>
                </c:pt>
                <c:pt idx="50">
                  <c:v>6.99</c:v>
                </c:pt>
                <c:pt idx="51">
                  <c:v>6.72</c:v>
                </c:pt>
                <c:pt idx="52">
                  <c:v>6.48</c:v>
                </c:pt>
                <c:pt idx="53">
                  <c:v>6.3</c:v>
                </c:pt>
                <c:pt idx="54">
                  <c:v>6.2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Mora Interbank (proyección V1)</c:v>
                </c:pt>
              </c:strCache>
            </c:strRef>
          </c:tx>
          <c:spPr>
            <a:ln w="38100">
              <a:solidFill>
                <a:srgbClr val="0A0E27"/>
              </a:solidFill>
              <a:prstDash val="dash"/>
            </a:ln>
          </c:spPr>
          <c:marker>
            <c:symbol val="none"/>
          </c:marker>
          <c:cat>
            <c:strRef>
              <c:f>Sheet1!$A$2:$A$76</c:f>
              <c:strCache>
                <c:ptCount val="75"/>
                <c:pt idx="0">
                  <c:v>2021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2022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2023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2024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2025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2026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2027</c:v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Sheet1!$C$2:$C$76</c:f>
              <c:numCache>
                <c:formatCode>General</c:formatCode>
                <c:ptCount val="75"/>
                <c:pt idx="54">
                  <c:v>6.2</c:v>
                </c:pt>
                <c:pt idx="55">
                  <c:v>5.82</c:v>
                </c:pt>
                <c:pt idx="56">
                  <c:v>5.82</c:v>
                </c:pt>
                <c:pt idx="57">
                  <c:v>6.26</c:v>
                </c:pt>
                <c:pt idx="58">
                  <c:v>7.02</c:v>
                </c:pt>
                <c:pt idx="59">
                  <c:v>8.06</c:v>
                </c:pt>
                <c:pt idx="60">
                  <c:v>8.36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Mora del sistema (otros bancos)</c:v>
                </c:pt>
              </c:strCache>
            </c:strRef>
          </c:tx>
          <c:spPr>
            <a:ln w="27940">
              <a:solidFill>
                <a:srgbClr val="54637A"/>
              </a:solidFill>
            </a:ln>
          </c:spPr>
          <c:marker>
            <c:symbol val="none"/>
          </c:marker>
          <c:cat>
            <c:strRef>
              <c:f>Sheet1!$A$2:$A$76</c:f>
              <c:strCache>
                <c:ptCount val="75"/>
                <c:pt idx="0">
                  <c:v>2021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2022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2023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2024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2025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2026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2027</c:v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Sheet1!$D$2:$D$76</c:f>
              <c:numCache>
                <c:formatCode>General</c:formatCode>
                <c:ptCount val="75"/>
                <c:pt idx="0">
                  <c:v>8.53</c:v>
                </c:pt>
                <c:pt idx="1">
                  <c:v>7.91</c:v>
                </c:pt>
                <c:pt idx="2">
                  <c:v>7.8</c:v>
                </c:pt>
                <c:pt idx="3">
                  <c:v>7.33</c:v>
                </c:pt>
                <c:pt idx="4">
                  <c:v>7.61</c:v>
                </c:pt>
                <c:pt idx="5">
                  <c:v>8.11</c:v>
                </c:pt>
                <c:pt idx="6">
                  <c:v>8.82</c:v>
                </c:pt>
                <c:pt idx="7">
                  <c:v>9.42</c:v>
                </c:pt>
                <c:pt idx="8">
                  <c:v>10.05</c:v>
                </c:pt>
                <c:pt idx="9">
                  <c:v>10.73</c:v>
                </c:pt>
                <c:pt idx="10">
                  <c:v>11.39</c:v>
                </c:pt>
                <c:pt idx="11">
                  <c:v>11.81</c:v>
                </c:pt>
                <c:pt idx="12">
                  <c:v>12.26</c:v>
                </c:pt>
                <c:pt idx="13">
                  <c:v>12.73</c:v>
                </c:pt>
                <c:pt idx="14">
                  <c:v>12.93</c:v>
                </c:pt>
                <c:pt idx="15">
                  <c:v>13.15</c:v>
                </c:pt>
                <c:pt idx="16">
                  <c:v>13.47</c:v>
                </c:pt>
                <c:pt idx="17">
                  <c:v>13.72</c:v>
                </c:pt>
                <c:pt idx="18">
                  <c:v>14.08</c:v>
                </c:pt>
                <c:pt idx="19">
                  <c:v>14.54</c:v>
                </c:pt>
                <c:pt idx="20">
                  <c:v>14.84</c:v>
                </c:pt>
                <c:pt idx="21">
                  <c:v>15.09</c:v>
                </c:pt>
                <c:pt idx="22">
                  <c:v>15.22</c:v>
                </c:pt>
                <c:pt idx="23">
                  <c:v>15.15</c:v>
                </c:pt>
                <c:pt idx="24">
                  <c:v>15.08</c:v>
                </c:pt>
                <c:pt idx="25">
                  <c:v>15.05</c:v>
                </c:pt>
                <c:pt idx="26">
                  <c:v>14.89</c:v>
                </c:pt>
                <c:pt idx="27">
                  <c:v>14.49</c:v>
                </c:pt>
                <c:pt idx="28">
                  <c:v>14.27</c:v>
                </c:pt>
                <c:pt idx="29">
                  <c:v>13.73</c:v>
                </c:pt>
                <c:pt idx="30">
                  <c:v>13.04</c:v>
                </c:pt>
                <c:pt idx="31">
                  <c:v>12.4</c:v>
                </c:pt>
                <c:pt idx="32">
                  <c:v>12.0</c:v>
                </c:pt>
                <c:pt idx="33">
                  <c:v>11.46</c:v>
                </c:pt>
                <c:pt idx="34">
                  <c:v>10.96</c:v>
                </c:pt>
                <c:pt idx="35">
                  <c:v>10.62</c:v>
                </c:pt>
                <c:pt idx="36">
                  <c:v>10.33</c:v>
                </c:pt>
                <c:pt idx="37">
                  <c:v>10.1</c:v>
                </c:pt>
                <c:pt idx="38">
                  <c:v>9.72</c:v>
                </c:pt>
                <c:pt idx="39">
                  <c:v>9.77</c:v>
                </c:pt>
                <c:pt idx="40">
                  <c:v>9.75</c:v>
                </c:pt>
                <c:pt idx="41">
                  <c:v>9.73</c:v>
                </c:pt>
                <c:pt idx="42">
                  <c:v>9.7</c:v>
                </c:pt>
                <c:pt idx="43">
                  <c:v>9.76</c:v>
                </c:pt>
                <c:pt idx="44">
                  <c:v>9.63</c:v>
                </c:pt>
                <c:pt idx="45">
                  <c:v>9.37</c:v>
                </c:pt>
                <c:pt idx="46">
                  <c:v>8.95</c:v>
                </c:pt>
                <c:pt idx="47">
                  <c:v>8.44</c:v>
                </c:pt>
                <c:pt idx="48">
                  <c:v>8.13</c:v>
                </c:pt>
                <c:pt idx="49">
                  <c:v>7.83</c:v>
                </c:pt>
                <c:pt idx="50">
                  <c:v>7.69</c:v>
                </c:pt>
                <c:pt idx="51">
                  <c:v>7.66</c:v>
                </c:pt>
                <c:pt idx="52">
                  <c:v>7.71</c:v>
                </c:pt>
                <c:pt idx="53">
                  <c:v>7.66</c:v>
                </c:pt>
                <c:pt idx="54">
                  <c:v>7.62</c:v>
                </c:pt>
              </c:numCache>
            </c:numRef>
          </c:val>
          <c:smooth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Mora del sistema (proyección)</c:v>
                </c:pt>
              </c:strCache>
            </c:strRef>
          </c:tx>
          <c:spPr>
            <a:ln w="27940">
              <a:solidFill>
                <a:srgbClr val="54637A"/>
              </a:solidFill>
              <a:prstDash val="dash"/>
            </a:ln>
          </c:spPr>
          <c:marker>
            <c:symbol val="none"/>
          </c:marker>
          <c:cat>
            <c:strRef>
              <c:f>Sheet1!$A$2:$A$76</c:f>
              <c:strCache>
                <c:ptCount val="75"/>
                <c:pt idx="0">
                  <c:v>2021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2022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2023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2024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2025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2026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2027</c:v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Sheet1!$E$2:$E$76</c:f>
              <c:numCache>
                <c:formatCode>General</c:formatCode>
                <c:ptCount val="75"/>
                <c:pt idx="54">
                  <c:v>7.62</c:v>
                </c:pt>
                <c:pt idx="55">
                  <c:v>7.8</c:v>
                </c:pt>
                <c:pt idx="56">
                  <c:v>7.8</c:v>
                </c:pt>
                <c:pt idx="57">
                  <c:v>8.24</c:v>
                </c:pt>
                <c:pt idx="58">
                  <c:v>9.0</c:v>
                </c:pt>
                <c:pt idx="59">
                  <c:v>10.04</c:v>
                </c:pt>
                <c:pt idx="60">
                  <c:v>10.34</c:v>
                </c:pt>
              </c:numCache>
            </c:numRef>
          </c:val>
          <c:smooth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Mora esperada por la inflación (factor ft)</c:v>
                </c:pt>
              </c:strCache>
            </c:strRef>
          </c:tx>
          <c:spPr>
            <a:ln w="35560">
              <a:solidFill>
                <a:srgbClr val="00B450"/>
              </a:solidFill>
            </a:ln>
          </c:spPr>
          <c:marker>
            <c:symbol val="none"/>
          </c:marker>
          <c:cat>
            <c:strRef>
              <c:f>Sheet1!$A$2:$A$76</c:f>
              <c:strCache>
                <c:ptCount val="75"/>
                <c:pt idx="0">
                  <c:v>2021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2022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2023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2024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2025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2026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2027</c:v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Sheet1!$F$2:$F$76</c:f>
              <c:numCache>
                <c:formatCode>General</c:formatCode>
                <c:ptCount val="75"/>
                <c:pt idx="0">
                  <c:v>7.16</c:v>
                </c:pt>
                <c:pt idx="1">
                  <c:v>7.23</c:v>
                </c:pt>
                <c:pt idx="2">
                  <c:v>7.38</c:v>
                </c:pt>
                <c:pt idx="3">
                  <c:v>7.31</c:v>
                </c:pt>
                <c:pt idx="4">
                  <c:v>7.32</c:v>
                </c:pt>
                <c:pt idx="5">
                  <c:v>7.49</c:v>
                </c:pt>
                <c:pt idx="6">
                  <c:v>7.85</c:v>
                </c:pt>
                <c:pt idx="7">
                  <c:v>8.53</c:v>
                </c:pt>
                <c:pt idx="8">
                  <c:v>9.1</c:v>
                </c:pt>
                <c:pt idx="9">
                  <c:v>9.7</c:v>
                </c:pt>
                <c:pt idx="10">
                  <c:v>9.92</c:v>
                </c:pt>
                <c:pt idx="11">
                  <c:v>10.3</c:v>
                </c:pt>
                <c:pt idx="12">
                  <c:v>10.25</c:v>
                </c:pt>
                <c:pt idx="13">
                  <c:v>10.41</c:v>
                </c:pt>
                <c:pt idx="14">
                  <c:v>10.54</c:v>
                </c:pt>
                <c:pt idx="15">
                  <c:v>11.3</c:v>
                </c:pt>
                <c:pt idx="16">
                  <c:v>11.98</c:v>
                </c:pt>
                <c:pt idx="17">
                  <c:v>12.71</c:v>
                </c:pt>
                <c:pt idx="18">
                  <c:v>13.0</c:v>
                </c:pt>
                <c:pt idx="19">
                  <c:v>13.12</c:v>
                </c:pt>
                <c:pt idx="20">
                  <c:v>13.01</c:v>
                </c:pt>
                <c:pt idx="21">
                  <c:v>12.83</c:v>
                </c:pt>
                <c:pt idx="22">
                  <c:v>12.85</c:v>
                </c:pt>
                <c:pt idx="23">
                  <c:v>12.83</c:v>
                </c:pt>
                <c:pt idx="24">
                  <c:v>12.97</c:v>
                </c:pt>
                <c:pt idx="25">
                  <c:v>13.05</c:v>
                </c:pt>
                <c:pt idx="26">
                  <c:v>13.03</c:v>
                </c:pt>
                <c:pt idx="27">
                  <c:v>12.76</c:v>
                </c:pt>
                <c:pt idx="28">
                  <c:v>12.48</c:v>
                </c:pt>
                <c:pt idx="29">
                  <c:v>11.78</c:v>
                </c:pt>
                <c:pt idx="30">
                  <c:v>11.06</c:v>
                </c:pt>
                <c:pt idx="31">
                  <c:v>10.3</c:v>
                </c:pt>
                <c:pt idx="32">
                  <c:v>9.85</c:v>
                </c:pt>
                <c:pt idx="33">
                  <c:v>9.38</c:v>
                </c:pt>
                <c:pt idx="34">
                  <c:v>8.82</c:v>
                </c:pt>
                <c:pt idx="35">
                  <c:v>8.31</c:v>
                </c:pt>
                <c:pt idx="36">
                  <c:v>7.96</c:v>
                </c:pt>
                <c:pt idx="37">
                  <c:v>7.87</c:v>
                </c:pt>
                <c:pt idx="38">
                  <c:v>7.81</c:v>
                </c:pt>
                <c:pt idx="39">
                  <c:v>7.66</c:v>
                </c:pt>
                <c:pt idx="40">
                  <c:v>7.33</c:v>
                </c:pt>
                <c:pt idx="41">
                  <c:v>7.15</c:v>
                </c:pt>
                <c:pt idx="42">
                  <c:v>7.07</c:v>
                </c:pt>
                <c:pt idx="43">
                  <c:v>7.08</c:v>
                </c:pt>
                <c:pt idx="44">
                  <c:v>6.96</c:v>
                </c:pt>
                <c:pt idx="45">
                  <c:v>6.93</c:v>
                </c:pt>
                <c:pt idx="46">
                  <c:v>6.99</c:v>
                </c:pt>
                <c:pt idx="47">
                  <c:v>7.03</c:v>
                </c:pt>
                <c:pt idx="48">
                  <c:v>6.99</c:v>
                </c:pt>
                <c:pt idx="49">
                  <c:v>6.81</c:v>
                </c:pt>
                <c:pt idx="50">
                  <c:v>6.65</c:v>
                </c:pt>
                <c:pt idx="51">
                  <c:v>6.6</c:v>
                </c:pt>
                <c:pt idx="52">
                  <c:v>6.65</c:v>
                </c:pt>
                <c:pt idx="53">
                  <c:v>6.74</c:v>
                </c:pt>
                <c:pt idx="54">
                  <c:v>6.75</c:v>
                </c:pt>
                <c:pt idx="55">
                  <c:v>6.62</c:v>
                </c:pt>
                <c:pt idx="56">
                  <c:v>6.54</c:v>
                </c:pt>
                <c:pt idx="57">
                  <c:v>6.47</c:v>
                </c:pt>
                <c:pt idx="58">
                  <c:v>6.52</c:v>
                </c:pt>
                <c:pt idx="59">
                  <c:v>6.56</c:v>
                </c:pt>
                <c:pt idx="60">
                  <c:v>6.64</c:v>
                </c:pt>
                <c:pt idx="61">
                  <c:v>6.84</c:v>
                </c:pt>
                <c:pt idx="62">
                  <c:v>7.39</c:v>
                </c:pt>
                <c:pt idx="63">
                  <c:v>7.99</c:v>
                </c:pt>
                <c:pt idx="64">
                  <c:v>8.45</c:v>
                </c:pt>
                <c:pt idx="65">
                  <c:v>8.51</c:v>
                </c:pt>
                <c:pt idx="66">
                  <c:v>8.52</c:v>
                </c:pt>
                <c:pt idx="67">
                  <c:v>8.66</c:v>
                </c:pt>
                <c:pt idx="68">
                  <c:v>8.74</c:v>
                </c:pt>
                <c:pt idx="69">
                  <c:v>8.84</c:v>
                </c:pt>
                <c:pt idx="70">
                  <c:v>8.88</c:v>
                </c:pt>
                <c:pt idx="71">
                  <c:v>9.01</c:v>
                </c:pt>
                <c:pt idx="72">
                  <c:v>9.15</c:v>
                </c:pt>
                <c:pt idx="73">
                  <c:v>9.21</c:v>
                </c:pt>
                <c:pt idx="74">
                  <c:v>8.91</c:v>
                </c:pt>
              </c:numCache>
            </c:numRef>
          </c:val>
          <c:smooth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HOY · sep-2026</c:v>
                </c:pt>
              </c:strCache>
            </c:strRef>
          </c:tx>
          <c:spPr>
            <a:ln w="3175">
              <a:solidFill>
                <a:srgbClr val="FFFFFF"/>
              </a:solidFill>
            </a:ln>
          </c:spPr>
          <c:marker>
            <c:symbol val="circle"/>
            <c:size val="15"/>
            <c:spPr>
              <a:solidFill>
                <a:srgbClr val="DC3545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Sheet1!$A$2:$A$76</c:f>
              <c:strCache>
                <c:ptCount val="75"/>
                <c:pt idx="0">
                  <c:v>2021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2022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2023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2024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2025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2026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2027</c:v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Sheet1!$G$2:$G$76</c:f>
              <c:numCache>
                <c:formatCode>General</c:formatCode>
                <c:ptCount val="75"/>
                <c:pt idx="68">
                  <c:v>8.74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CA3AF"/>
            </a:solidFill>
          </a:ln>
        </c:spPr>
        <c:txPr>
          <a:bodyPr/>
          <a:lstStyle/>
          <a:p>
            <a:pPr>
              <a:defRPr sz="950">
                <a:latin typeface="Inter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7.0"/>
          <c:min val="4.0"/>
        </c:scaling>
        <c:delete val="0"/>
        <c:axPos val="l"/>
        <c:majorGridlines>
          <c:spPr>
            <a:ln w="9525">
              <a:solidFill>
                <a:srgbClr val="EDEFF2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solidFill>
              <a:srgbClr val="E8EAED"/>
            </a:solidFill>
          </a:ln>
        </c:spPr>
        <c:txPr>
          <a:bodyPr/>
          <a:lstStyle/>
          <a:p>
            <a:pPr>
              <a:defRPr sz="900">
                <a:latin typeface="Inter"/>
              </a:defRPr>
            </a:pPr>
          </a:p>
        </c:txPr>
        <c:crossAx val="2118791784"/>
        <c:crosses val="autoZero"/>
        <c:majorUnit val="2.0"/>
      </c:valAx>
    </c:plotArea>
    <c:legend>
      <c:legendPos val="b"/>
      <c:layout/>
      <c:overlay val="0"/>
      <c:txPr>
        <a:bodyPr/>
        <a:lstStyle/>
        <a:p>
          <a:pPr>
            <a:defRPr sz="850">
              <a:latin typeface="Inter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R2</c:v>
                </c:pt>
              </c:strCache>
            </c:strRef>
          </c:tx>
          <c:spPr>
            <a:ln>
              <a:noFill/>
            </a:ln>
          </c:spPr>
          <c:dPt>
            <c:idx val="0"/>
            <c:spPr>
              <a:solidFill>
                <a:srgbClr val="9AA3B2"/>
              </a:solidFill>
              <a:ln>
                <a:noFill/>
              </a:ln>
            </c:spPr>
          </c:dPt>
          <c:dPt>
            <c:idx val="1"/>
            <c:spPr>
              <a:solidFill>
                <a:srgbClr val="9AA3B2"/>
              </a:solidFill>
              <a:ln>
                <a:noFill/>
              </a:ln>
            </c:spPr>
          </c:dPt>
          <c:dPt>
            <c:idx val="2"/>
            <c:spPr>
              <a:solidFill>
                <a:srgbClr val="54637A"/>
              </a:solidFill>
              <a:ln>
                <a:noFill/>
              </a:ln>
            </c:spPr>
          </c:dPt>
          <c:dPt>
            <c:idx val="3"/>
            <c:spPr>
              <a:solidFill>
                <a:srgbClr val="00B450"/>
              </a:solidFill>
              <a:ln>
                <a:noFill/>
              </a:ln>
            </c:spPr>
          </c:dPt>
          <c:dPt>
            <c:idx val="4"/>
            <c:spPr>
              <a:solidFill>
                <a:srgbClr val="00B450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Empleo</c:v>
                </c:pt>
                <c:pt idx="1">
                  <c:v>Tipo de cambio</c:v>
                </c:pt>
                <c:pt idx="2">
                  <c:v>Producción</c:v>
                </c:pt>
                <c:pt idx="3">
                  <c:v>Inflación núcleo</c:v>
                </c:pt>
                <c:pt idx="4">
                  <c:v>Inflación (modelo)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51</c:v>
                </c:pt>
                <c:pt idx="2">
                  <c:v>71</c:v>
                </c:pt>
                <c:pt idx="3">
                  <c:v>81</c:v>
                </c:pt>
                <c:pt idx="4">
                  <c:v>82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 b="1">
                  <a:solidFill>
                    <a:srgbClr val="2A2F4A"/>
                  </a:solidFill>
                  <a:latin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FFFFFF"/>
            </a:solidFill>
          </a:ln>
        </c:spPr>
        <c:txPr>
          <a:bodyPr/>
          <a:lstStyle/>
          <a:p>
            <a:pPr>
              <a:defRPr sz="950"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B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0B450"/>
                </a:solidFill>
                <a:latin typeface="Inter"/>
              </a:rPr>
              <a:t>●  SUSTENTO MACRO · PRÉSTAMO PERSONAL FÁCIL · SET-2026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A0E27"/>
                </a:solidFill>
                <a:latin typeface="Inter"/>
              </a:rPr>
              <a:t>La mora sigue a la inflación — y una sola variable basta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60704"/>
            <a:ext cx="7223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Inter"/>
              </a:rPr>
              <a:t>La inflación mueve la mora en Interbank y en todo el sistema. Es el factor dominante; el modelo usa una sola variable por parsimonia.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481328"/>
          <a:ext cx="7086600" cy="482803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6309360"/>
            <a:ext cx="7086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9CA3AF"/>
                </a:solidFill>
                <a:latin typeface="Inter"/>
              </a:rPr>
              <a:t>Variable del modelo: IPC var 12m · media móvil 3 m (MA3) · contemporáneo (β=0.053, μ=2.35). Verde = factor ft llevado a mora esperada, en la escala del modelo (ancla PP Fácil ≈7.6%); es un ciclo más suave que la mora observada —la del sistema es otra cartera y corre a otro nivel—. Lo que prueba la relación es el co-movimiento (correlación). Punteada = proyección V1. HOY = sep-2026. Fuente: BCRP / INEI.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481328"/>
            <a:ext cx="4069080" cy="1024128"/>
          </a:xfrm>
          <a:prstGeom prst="roundRect">
            <a:avLst>
              <a:gd name="adj" fmla="val 8000"/>
            </a:avLst>
          </a:prstGeom>
          <a:solidFill>
            <a:srgbClr val="E8F8EF"/>
          </a:solidFill>
          <a:ln w="12700">
            <a:solidFill>
              <a:srgbClr val="BFE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46136" y="1572768"/>
            <a:ext cx="3630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A6B36"/>
                </a:solidFill>
                <a:latin typeface="Inter"/>
              </a:rPr>
              <a:t>¿LA MORA SIGUE A LA INFLACIÓN?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46136" y="18288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0A6B36"/>
                </a:solidFill>
                <a:latin typeface="Inter"/>
              </a:rPr>
              <a:t>0.93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46136" y="230428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6B7280"/>
                </a:solidFill>
                <a:latin typeface="Inter"/>
              </a:rPr>
              <a:t>Sistema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19" y="18288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0A0E27"/>
                </a:solidFill>
                <a:latin typeface="Inter"/>
              </a:rPr>
              <a:t>0.80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19" y="230428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6B7280"/>
                </a:solidFill>
                <a:latin typeface="Inter"/>
              </a:rPr>
              <a:t>Interbank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9" y="1847088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Inter"/>
              </a:rPr>
              <a:t>correlación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6B7280"/>
                </a:solidFill>
                <a:latin typeface="Inter"/>
              </a:rPr>
              <a:t>2019–2025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Inter"/>
              </a:rPr>
              <a:t>(muy alta)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2578608"/>
            <a:ext cx="4069080" cy="1042415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46136" y="2660904"/>
            <a:ext cx="363016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1">
                <a:solidFill>
                  <a:srgbClr val="0A6B36"/>
                </a:solidFill>
                <a:latin typeface="Inter"/>
              </a:rPr>
              <a:t>●  ¿QUÉ ES LA LÍNEA VERDE?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40" b="0">
                <a:solidFill>
                  <a:srgbClr val="2A2F4A"/>
                </a:solidFill>
                <a:latin typeface="Inter"/>
              </a:rPr>
              <a:t>Es el factor de inflación (ft) convertido en mora: el modelo toma una sola entrada —la inflación— y calcula la mora que le corresponde, en la escala del modelo. Lo clave no es el nivel exacto, sino que sube y baja junto con la mora real.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712463"/>
            <a:ext cx="4069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0A0E27"/>
                </a:solidFill>
                <a:latin typeface="Inter"/>
              </a:rPr>
              <a:t>QUÉ TANTO EXPLICA CADA FACTOR, POR SÍ SOLO  (R², sistema)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7726679" y="3913632"/>
          <a:ext cx="4069080" cy="14630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7726679" y="5486400"/>
            <a:ext cx="4069080" cy="896112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46136" y="5568696"/>
            <a:ext cx="363016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1">
                <a:solidFill>
                  <a:srgbClr val="0A0E27"/>
                </a:solidFill>
                <a:latin typeface="Inter"/>
              </a:rPr>
              <a:t>¿POR QUÉ UNA SOLA VARIABLE?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60" b="0">
                <a:solidFill>
                  <a:srgbClr val="2A2F4A"/>
                </a:solidFill>
                <a:latin typeface="Inter"/>
              </a:rPr>
              <a:t>La inflación es la causa directa: a las familias les alcanza menos y se atrasan. El 2º factor (núcleo) es la misma inflación — por eso una variable, con proyección oficial del BCRP, basta.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